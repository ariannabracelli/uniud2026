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97" r:id="rId2"/>
    <p:sldId id="274" r:id="rId3"/>
    <p:sldId id="280" r:id="rId4"/>
    <p:sldId id="275" r:id="rId5"/>
    <p:sldId id="276" r:id="rId6"/>
    <p:sldId id="277" r:id="rId7"/>
    <p:sldId id="278" r:id="rId8"/>
    <p:sldId id="279" r:id="rId9"/>
    <p:sldId id="256" r:id="rId10"/>
    <p:sldId id="258" r:id="rId11"/>
    <p:sldId id="259" r:id="rId12"/>
    <p:sldId id="257" r:id="rId13"/>
    <p:sldId id="260" r:id="rId14"/>
    <p:sldId id="298" r:id="rId15"/>
    <p:sldId id="307" r:id="rId16"/>
    <p:sldId id="315" r:id="rId17"/>
    <p:sldId id="308" r:id="rId18"/>
    <p:sldId id="282" r:id="rId19"/>
    <p:sldId id="261" r:id="rId20"/>
    <p:sldId id="309" r:id="rId21"/>
    <p:sldId id="283" r:id="rId22"/>
    <p:sldId id="262" r:id="rId23"/>
    <p:sldId id="284" r:id="rId24"/>
    <p:sldId id="263" r:id="rId25"/>
    <p:sldId id="285" r:id="rId26"/>
    <p:sldId id="264" r:id="rId27"/>
    <p:sldId id="310" r:id="rId28"/>
    <p:sldId id="286" r:id="rId29"/>
    <p:sldId id="265" r:id="rId30"/>
    <p:sldId id="287" r:id="rId31"/>
    <p:sldId id="266" r:id="rId32"/>
    <p:sldId id="305" r:id="rId33"/>
    <p:sldId id="300" r:id="rId34"/>
    <p:sldId id="288" r:id="rId35"/>
    <p:sldId id="295" r:id="rId36"/>
    <p:sldId id="281" r:id="rId37"/>
    <p:sldId id="320" r:id="rId38"/>
    <p:sldId id="304" r:id="rId39"/>
    <p:sldId id="294" r:id="rId40"/>
    <p:sldId id="267" r:id="rId41"/>
    <p:sldId id="312" r:id="rId42"/>
    <p:sldId id="311" r:id="rId43"/>
    <p:sldId id="289" r:id="rId44"/>
    <p:sldId id="268" r:id="rId45"/>
    <p:sldId id="313" r:id="rId46"/>
    <p:sldId id="301" r:id="rId47"/>
    <p:sldId id="290" r:id="rId48"/>
    <p:sldId id="269" r:id="rId49"/>
    <p:sldId id="314" r:id="rId50"/>
    <p:sldId id="291" r:id="rId51"/>
    <p:sldId id="270" r:id="rId52"/>
    <p:sldId id="318" r:id="rId53"/>
    <p:sldId id="317" r:id="rId54"/>
    <p:sldId id="292" r:id="rId55"/>
    <p:sldId id="296" r:id="rId56"/>
    <p:sldId id="319" r:id="rId57"/>
    <p:sldId id="306" r:id="rId58"/>
    <p:sldId id="316" r:id="rId59"/>
    <p:sldId id="271" r:id="rId60"/>
    <p:sldId id="293" r:id="rId61"/>
    <p:sldId id="273" r:id="rId62"/>
    <p:sldId id="302" r:id="rId63"/>
    <p:sldId id="303" r:id="rId64"/>
  </p:sldIdLst>
  <p:sldSz cx="12192000" cy="6858000"/>
  <p:notesSz cx="6797675" cy="9928225"/>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E50E02-8D3F-4E11-94D0-7185F37CC94C}" v="26" dt="2026-10-12T14:13:10.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8" d="100"/>
          <a:sy n="108" d="100"/>
        </p:scale>
        <p:origin x="7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018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https://openstax.org/books/anatomy-and-physiology-2e/pages/3-2-the-cytoplasm-and-cellular-organelles</a:t>
            </a:r>
          </a:p>
          <a:p>
            <a:r>
              <a:t>https://openstax.org/books/anatomy-and-physiology-2e/pages/3-1-the-cell-membrane</a:t>
            </a:r>
          </a:p>
          <a:p>
            <a:r>
              <a:t>https://openstax.org/books/anatomy-and-physiology-2e/pages/3-3-the-nucleus-and-dna-replication</a:t>
            </a:r>
          </a:p>
          <a:p>
            <a:r>
              <a:t>Scheda di una cellula umana tipica. Le cellule differenziate possono avere strutture e dotazioni diverse.</a:t>
            </a:r>
          </a:p>
          <a:p>
            <a:r>
              <a:t>[/Sources]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rPr lang="it-IT"/>
              <a:t>Fonte</a:t>
            </a:r>
            <a:r>
              <a:t>: Biologia e Istologia_sorella Didò.pdf, </a:t>
            </a:r>
            <a:r>
              <a:rPr lang="it-IT"/>
              <a:t>Materiale Didattico </a:t>
            </a:r>
            <a:r>
              <a:t>II.VV</a:t>
            </a:r>
            <a:r>
              <a:rPr lang="it-IT"/>
              <a:t>.</a:t>
            </a:r>
          </a:p>
          <a:p>
            <a:r>
              <a:rPr lang="it-IT"/>
              <a:t>Sezioni: La fase mitotica; La meiosi; Mitosi e meiosi a confronto. Cristina Cavazzuti e Daniela Damiano, Biologia, Zanichelli 2019.</a:t>
            </a:r>
          </a:p>
          <a:p>
            <a:r>
              <a:rPr lang="it-IT"/>
              <a:t>Sintesi: duplicazione del DNA</a:t>
            </a:r>
            <a:r>
              <a:t>, </a:t>
            </a:r>
            <a:r>
              <a:rPr lang="it-IT"/>
              <a:t>due cellule figlie nella </a:t>
            </a:r>
            <a:r>
              <a:t>mitosi</a:t>
            </a:r>
            <a:r>
              <a:rPr lang="it-IT"/>
              <a:t>, due divisioni</a:t>
            </a:r>
            <a:r>
              <a:t> e </a:t>
            </a:r>
            <a:r>
              <a:rPr lang="it-IT"/>
              <a:t>quattro cellule aploidi nella meiosi</a:t>
            </a:r>
            <a:r>
              <a:t>, </a:t>
            </a:r>
            <a:r>
              <a:rPr lang="it-IT"/>
              <a:t>conservazione o dimezzamento </a:t>
            </a:r>
            <a:r>
              <a:t>del </a:t>
            </a:r>
            <a:r>
              <a:rPr lang="it-IT"/>
              <a:t>corredo cromosomico</a:t>
            </a:r>
            <a:r>
              <a:t>.</a:t>
            </a:r>
          </a:p>
          <a:p>
            <a:r>
              <a:rPr lang="it-IT"/>
              <a:t>Esempi aggiunti: essere umano, crescita del corpo per mitosi e formazione dei gameti per meiosi. Fonte: stesso materiale didattico, sezioni Riproduzione asessuata e sessuata e Il ciclo vitale umano. Entrambi i processi avvengono nello stesso organismo, in contesti cellulari diversi.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Fonte: Biologia e Istologia_sorella Didò.pdf, Materiale Didattico II.VV.</a:t>
            </a:r>
          </a:p>
          <a:p>
            <a:r>
              <a:t>Sezione: L’organizzazione del corpo umano è gerarchica, slide 26–27. Sadava et al., La nuova biologia.blu, Zanichelli 2016.</a:t>
            </a:r>
          </a:p>
          <a:p>
            <a:r>
              <a:t>La frase evidenziata e la parola tessuti mantengono la formattazione richiesta.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Fonte: Biologia e Istologia_sorella Didò.pdf, cartella Materiale Didattico/Biologia. Diapositive numerate 26–37: organizzazione gerarchica, quattro tipi di tessuti, organi, sistemi e apparati. Sintesi fedele del materiale del corso.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Fonti: Biologia e Istologia_sorella Didò.pdf</a:t>
            </a:r>
            <a:r>
              <a:rPr lang="it-IT"/>
              <a:t>, slide 28–29 (numero di strati e classificazione funzionale). App</a:t>
            </a:r>
            <a:r>
              <a:t>. </a:t>
            </a:r>
            <a:r>
              <a:rPr lang="it-IT"/>
              <a:t>Urinario e Tegumentario_dr.Gaeta.pdf, sezioni Annessi cutanei, Ghiandole sebacee </a:t>
            </a:r>
            <a:r>
              <a:t>e </a:t>
            </a:r>
            <a:r>
              <a:rPr lang="it-IT"/>
              <a:t>Ghiandole sudoripare.</a:t>
            </a:r>
          </a:p>
          <a:p>
            <a:r>
              <a:rPr lang="it-IT"/>
              <a:t>Distinzione</a:t>
            </a:r>
            <a:r>
              <a:t>: </a:t>
            </a:r>
            <a:r>
              <a:rPr lang="it-IT"/>
              <a:t>mono/pluristratificato descrive il numero di strati</a:t>
            </a:r>
            <a:r>
              <a:t>, </a:t>
            </a:r>
            <a:r>
              <a:rPr lang="it-IT"/>
              <a:t>rivestimento/sensoriale/ghiandolare descrive la funzione</a:t>
            </a:r>
            <a:r>
              <a:t>. </a:t>
            </a:r>
            <a:r>
              <a:rPr lang="it-IT"/>
              <a:t>Le ghiandole sebacee e sudoripare sono esempi cutanei, non una classificazione esaustiva dell’epitelio ghiandolare</a:t>
            </a:r>
            <a:r>
              <a:t>.</a:t>
            </a:r>
          </a:p>
          <a:p>
            <a:r>
              <a:rPr lang="it-IT"/>
              <a:t>Funzioni sintetizzate da App. Urinario e Tegumentario_dr.Gaeta.pdf: il sebo mantiene morbida e protegge la cute, limita l’evaporazione e lubrifica i peli. Il sudore contribuisce al raffreddamento del corpo tramite evaporazione.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Fonti: cartella Materiale Didattico/Biologia, Biologia e Istologia_sorella Didò.pdf. Diapositive numerate 33–35: matrice extracellulare, connettivi propriamente detti e specializzati. Sintesi didattica dei materiali già utilizzati nella presentazione.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Fonti: cartella Materiale Didattico/Biologia, Biologia e Istologia_sorella Didò.pdf. Diapositive numerate 30–32. App. Locomotore_dr.Mensa.pdf, pp. 33–45: tipi di tessuto muscolare, movimento e contrazione. Sintesi didattica dei materiali già utilizzati nella presentazione.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cNvSpPr>
            <a:spLocks noGrp="1"/>
          </p:cNvSpPr>
          <p:nvPr>
            <p:ph type="body" idx="1"/>
          </p:nvPr>
        </p:nvSpPr>
        <p:spPr/>
        <p:txBody>
          <a:bodyPr/>
          <a:lstStyle/>
          <a:p>
            <a:r>
              <a:t>Fonti: cartella Materiale Didattico/Biologia, Biologia e Istologia_sorella Didò.pdf. Diapositiva numerata 36: neuroni e cellule gliali. Sistema Nervoso Centrale e Periferico_dr.Marchesi.pdf: sostanza grigia e aree corticali. Sintesi didattica dei materiali già utilizzati nella presentazione.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Biologia e Istologia_sorella Didò.pdf, diapositive numerate 37–45 (pagine PDF 36–44).</a:t>
            </a:r>
          </a:p>
          <a:p>
            <a:r>
              <a:t>App. Locomotore_dr.Mensa.pdf, pp. 2–4, 11–16, 25–45.</a:t>
            </a:r>
          </a:p>
          <a:p>
            <a:r>
              <a:t>Sintesi didattica. Le immagini, quando presenti, provengono dai PDF citati. La classificazione comprende i sei apparati di Didò più il locomotore di Mensa, su richiesta dell’utente.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Biologia e Istologia_sorella Didò.pdf, diapositive numerate 37–45 (pagine PDF 36–44).</a:t>
            </a:r>
          </a:p>
          <a:p>
            <a:r>
              <a:t>Sistema Immunitario_dr.Berini.pdf e Sistema Immunitario_dr.Caprioli.pdf, sezioni risposta innata/acquisita, linfociti e memoria.</a:t>
            </a:r>
          </a:p>
          <a:p>
            <a:r>
              <a:t>Sistema Nervoso Centrale e Periferico_dr.Marchesi.pdf, sezioni encefalo, aree corticali e sistema periferico.</a:t>
            </a:r>
          </a:p>
          <a:p>
            <a:r>
              <a:t>Sistema Endocrino_dr.Arena.pdf, sezioni ipofisi, tiroide, paratiroidi, surreni e pancreas.</a:t>
            </a:r>
          </a:p>
          <a:p>
            <a:r>
              <a:t>App. Locomotore_dr.Mensa.pdf, pp. 2–4, 11–16, 25–45.</a:t>
            </a:r>
          </a:p>
          <a:p>
            <a:r>
              <a:t>Sintesi didattica. Le immagini, quando presenti, provengono dai PDF citati. La classificazione comprende i sei apparati di Didò più il locomotore di Mensa, su richiesta dell’utente.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Biologia e Istologia_sorella Didò.pdf, diapositive numerate 37–45 (pagine PDF 36–44).</a:t>
            </a:r>
          </a:p>
          <a:p>
            <a:r>
              <a:t>App. Locomotore_dr.Mensa.pdf, pp. 2–4, 11–16, 25–45.</a:t>
            </a:r>
          </a:p>
          <a:p>
            <a:r>
              <a:t>App. Urinario e Tegumentario_dr.Gaeta.pdf, pp. 88–102.</a:t>
            </a:r>
          </a:p>
          <a:p>
            <a:r>
              <a:t>App. Cardiocircolatorio_sorella Giardinelli.pdf, sezioni cuore, camere, circolazione e vasi.</a:t>
            </a:r>
          </a:p>
          <a:p>
            <a:r>
              <a:t>App. Gastroenterico_dr.Arena.pdf, pp. 2–12.</a:t>
            </a:r>
          </a:p>
          <a:p>
            <a:r>
              <a:t>App. Respiratorio_sorella Giardinelli.pdf, sezioni vie aeree, polmoni e respirazione.</a:t>
            </a:r>
          </a:p>
          <a:p>
            <a:r>
              <a:t>App. Urinario e Tegumentario_dr.Gaeta.pdf, sezioni reni, nefrone e vie urinarie.</a:t>
            </a:r>
          </a:p>
          <a:p>
            <a:r>
              <a:t>App.Riproduttivo FEMMINILE_sorella Giambitto.pdf e App.Riproduttivo MASCHILE_dr.Caprioli.pdf, sezioni anatomia, gonadi e gametogenesi.</a:t>
            </a:r>
          </a:p>
          <a:p>
            <a:r>
              <a:t>Sintesi didattica. Le immagini, quando presenti, provengono dai PDF citati. La classificazione comprende i sei apparati di Didò più il locomotore di Mensa, su richiesta dell’utente.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Biologia e Istologia_sorella Didò.pdf, diapositive numerate 37–45 (pagine PDF 36–44).</a:t>
            </a:r>
          </a:p>
          <a:p>
            <a:r>
              <a:t>App. Locomotore_dr.Mensa.pdf, pp. 2–4, 11–16, 25–45.</a:t>
            </a:r>
          </a:p>
          <a:p>
            <a:r>
              <a:t>Sistema Immunitario_dr.Berini.pdf e Sistema Immunitario_dr.Caprioli.pdf, sezioni risposta innata/acquisita, linfociti e memoria.</a:t>
            </a:r>
          </a:p>
          <a:p>
            <a:r>
              <a:t>Sistema Nervoso Centrale e Periferico_dr.Marchesi.pdf, sezioni encefalo, aree corticali e sistema periferico.</a:t>
            </a:r>
          </a:p>
          <a:p>
            <a:r>
              <a:t>Sistema Endocrino_dr.Arena.pdf, sezioni ipofisi, tiroide, paratiroidi, surreni e pancreas.</a:t>
            </a:r>
          </a:p>
          <a:p>
            <a:r>
              <a:t>App. Cardiocircolatorio_sorella Giardinelli.pdf, sezioni cuore, camere, circolazione e vasi.</a:t>
            </a:r>
          </a:p>
          <a:p>
            <a:r>
              <a:t>App. Gastroenterico_dr.Arena.pdf, pp. 2–12.</a:t>
            </a:r>
          </a:p>
          <a:p>
            <a:r>
              <a:t>App. Respiratorio_sorella Giardinelli.pdf, sezioni vie aeree, polmoni e respirazione.</a:t>
            </a:r>
          </a:p>
          <a:p>
            <a:r>
              <a:t>App. Urinario e Tegumentario_dr.Gaeta.pdf, sezioni reni, nefrone e vie urinarie.</a:t>
            </a:r>
          </a:p>
          <a:p>
            <a:r>
              <a:t>App.Riproduttivo FEMMINILE_sorella Giambitto.pdf e App.Riproduttivo MASCHILE_dr.Caprioli.pdf, sezioni anatomia, gonadi e gametogenesi.</a:t>
            </a:r>
          </a:p>
          <a:p>
            <a:r>
              <a:t>Sintesi didattica. Le immagini, quando presenti, provengono dai PDF citati. La classificazione comprende i sei apparati di Didò più il locomotore di Mensa, su richiesta dell’utente.</a:t>
            </a:r>
          </a:p>
          <a:p>
            <a:endParaRPr lang="it-IT"/>
          </a:p>
          <a:p>
            <a:r>
              <a:rPr lang="it-IT"/>
              <a:t>[Sources]</a:t>
            </a:r>
          </a:p>
          <a:p>
            <a:r>
              <a:rPr lang="it-IT"/>
              <a:t>https://openstax.org/books/anatomy-and-physiology-2e/pages/1-2-structural-organization-of-the-human-body</a:t>
            </a:r>
          </a:p>
          <a:p>
            <a:r>
              <a:rPr lang="it-IT"/>
              <a:t>https://openstax.org/books/anatomy-and-physiology-2e/pages/20-5-circulatory-pathways</a:t>
            </a:r>
          </a:p>
          <a:p>
            <a:r>
              <a:rPr lang="it-IT"/>
              <a:t>https://openstax.org/books/anatomy-and-physiology-2e/pages/21-1-anatomy-of-the-lymphatic-and-immune-systems</a:t>
            </a:r>
          </a:p>
          <a:p>
            <a:r>
              <a:rPr lang="it-IT"/>
              <a:t>Mappa funzionale didattica non esaustiva. Mantiene la classificazione di cinque sistemi e sette apparati adottata nella presentazione.</a:t>
            </a:r>
          </a:p>
          <a:p>
            <a:r>
              <a:rPr lang="it-IT"/>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Sistema Immunitario_dr.Berini.pdf e Sistema Immunitario_dr.Caprioli.pdf, sezioni risposta innata/acquisita, linfociti e memoria.</a:t>
            </a:r>
          </a:p>
          <a:p>
            <a:r>
              <a:t>Sintesi didattica. Le immagini, quando presenti, provengono dai PDF citati. La classificazione comprende i sei apparati di Didò più il locomotore di Mensa, su richiesta dell’utente.</a:t>
            </a:r>
          </a:p>
          <a:p>
            <a:r>
              <a:rPr lang="it-IT"/>
              <a:t>[Sources]</a:t>
            </a:r>
          </a:p>
          <a:p>
            <a:r>
              <a:rPr lang="it-IT"/>
              <a:t>Manuale MSD: Come i linfociti T riconoscono gli antigeni. https://www.msdmanuals.com/it/professionale/multimedia/image/come-i-linfociti-t-riconoscono-gli-antigeni</a:t>
            </a:r>
          </a:p>
          <a:p>
            <a:r>
              <a:rPr lang="it-IT"/>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https://openstax.org/books/anatomy-and-physiology-2e/pages/21-1-anatomy-of-the-lymphatic-and-immune-systems</a:t>
            </a:r>
          </a:p>
          <a:p>
            <a:r>
              <a:t>https://teachmeanatomy.info/the-basics/systems/lymphatic/</a:t>
            </a:r>
          </a:p>
          <a:p>
            <a:r>
              <a:t>I linfonodi filtrano la linfa, la milza filtra il sangue. Valvole, contrazioni dei vasi, movimento muscolare e respirazione favoriscono il flusso linfatico. I dotti sboccano agli angoli venosi giugulo-succlavi.</a:t>
            </a:r>
          </a:p>
          <a:p>
            <a:r>
              <a:t>[/Sources]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La milza</a:t>
            </a:r>
          </a:p>
          <a:p>
            <a:r>
              <a:t>Fonti per struttura e funzione:</a:t>
            </a:r>
          </a:p>
          <a:p>
            <a:r>
              <a:t>https://www.msdmanuals.com/professional/hematology/spleen-disorders/overview-of-the-spleen</a:t>
            </a:r>
          </a:p>
          <a:p>
            <a:r>
              <a:t>https://my.clevelandclinic.org/health/body/21567-spleen</a:t>
            </a:r>
          </a:p>
          <a:p>
            <a:r>
              <a:t>Illustrazione generata con IA: rappresentazione schematica, non in scala; non è un atlante anatomico né uno strumento diagnostico.</a:t>
            </a:r>
          </a:p>
          <a:p>
            <a:endParaRPr lang="it-IT"/>
          </a:p>
          <a:p>
            <a:r>
              <a:rPr lang="it-IT"/>
              <a:t>Fonti: https://www.msdmanuals.com/professional/hematology/spleen-disorders/overview-of-the-spleen</a:t>
            </a:r>
          </a:p>
          <a:p>
            <a:r>
              <a:rPr lang="it-IT"/>
              <a:t>https://my.clevelandclinic.org/health/body/21567-spleen</a:t>
            </a:r>
          </a:p>
          <a:p>
            <a:r>
              <a:rPr lang="it-IT"/>
              <a:t>https://teachmephysiology.com/gastrointestinal-system/other/function-of-spleen/</a:t>
            </a:r>
          </a:p>
          <a:p>
            <a:r>
              <a:rPr lang="it-IT"/>
              <a:t>La milza filtra il sangue. Polpa rossa: rimozione degli eritrociti e riciclo del ferro. Polpa bianca: risposta immunitaria. Deposito di una parte delle piastrine.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
          </p:nvPr>
        </p:nvSpPr>
        <p:spPr/>
        <p:txBody>
          <a:bodyPr/>
          <a:lstStyle/>
          <a:p>
            <a:r>
              <a:t>Fonti: https://my.clevelandclinic.org/health/body/23131-lymph-nodes</a:t>
            </a:r>
          </a:p>
          <a:p>
            <a:r>
              <a:t>https://my.clevelandclinic.org/health/body/21199-lymphatic-system</a:t>
            </a:r>
          </a:p>
          <a:p>
            <a:r>
              <a:t>https://pmc.ncbi.nlm.nih.gov/articles/PMC2326739/</a:t>
            </a:r>
          </a:p>
          <a:p>
            <a:r>
              <a:t>https://pmc.ncbi.nlm.nih.gov/articles/PMC7789254/</a:t>
            </a:r>
          </a:p>
          <a:p>
            <a:r>
              <a:t>I linfonodi filtrano la linfa proveniente dai tessuti e sono sedi di risposta immunitaria. I vasi afferenti portano la linfa al linfonodo, quelli efferenti la allontanano.</a:t>
            </a:r>
          </a:p>
          <a:p>
            <a:r>
              <a:t>Illustrazione anatomica schematica generata con IA, non immagine clinica.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Midollo osseo e timo</a:t>
            </a:r>
          </a:p>
          <a:p>
            <a:r>
              <a:t>Fonti per struttura e funzione:</a:t>
            </a:r>
          </a:p>
          <a:p>
            <a:r>
              <a:t>https://my.clevelandclinic.org/health/body/22818-bone-marrow</a:t>
            </a:r>
          </a:p>
          <a:p>
            <a:r>
              <a:t>https://my.clevelandclinic.org/health/body/23016-thymus</a:t>
            </a:r>
          </a:p>
          <a:p>
            <a:r>
              <a:t>https://anatomy.co.uk/organs-of-the-lymphatic-system</a:t>
            </a:r>
          </a:p>
          <a:p>
            <a:r>
              <a:t>Illustrazione generata con IA: rappresentazione schematica, non in scala; non è un atlante anatomico né uno strumento diagnostico.</a:t>
            </a:r>
          </a:p>
          <a:p>
            <a:endParaRPr lang="it-IT"/>
          </a:p>
          <a:p>
            <a:r>
              <a:rPr lang="it-IT"/>
              <a:t>Fonti per le funzioni dei linfociti B e T:</a:t>
            </a:r>
          </a:p>
          <a:p>
            <a:r>
              <a:rPr lang="it-IT"/>
              <a:t>https://www.cancer.gov/publications/dictionaries/cancer-terms/def/b-lymphocyte</a:t>
            </a:r>
          </a:p>
          <a:p>
            <a:r>
              <a:rPr lang="it-IT"/>
              <a:t>https://www.mdanderson.org/cancerwise/t-cells--b-cells-and-the-immune-system.h00-159465579.html</a:t>
            </a:r>
          </a:p>
          <a:p>
            <a:r>
              <a:rPr lang="it-IT"/>
              <a:t>I linfociti maturi partecipano alla difesa immunitaria attraverso sangue e organi linfatici.</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https://www.msdmanuals.com/it/professionale/disturbi-dell-apparato-cardiovascolare/malattie-del-sistema-linfatico/linfedema</a:t>
            </a:r>
          </a:p>
          <a:p>
            <a:r>
              <a:t>https://www.msdmanuals.com/it/professionale/immunologia-malattie-allergiche/disturbi-da-immunodeficienza/panoramica-sui-disturbi-da-immunodeficienza</a:t>
            </a:r>
          </a:p>
          <a:p>
            <a:endParaRPr lang="it-IT"/>
          </a:p>
          <a:p>
            <a:r>
              <a:rPr lang="it-IT"/>
              <a:t>Allergie: risposta immunitaria a sostanze normalmente innocue. Le manifestazioni variano, da rinite e disturbi cutanei a reazioni sistemiche gravi. L’anafilassi è una reazione potenzialmente letale che richiede soccorso immediato.</a:t>
            </a:r>
          </a:p>
          <a:p>
            <a:r>
              <a:rPr lang="it-IT"/>
              <a:t>Fonti: NHS, https://www.nhs.uk/conditions/allergies/</a:t>
            </a:r>
          </a:p>
          <a:p>
            <a:r>
              <a:rPr lang="it-IT"/>
              <a:t>NHS, https://www.nhs.uk/conditions/anaphylaxis/</a:t>
            </a:r>
          </a:p>
          <a:p>
            <a:r>
              <a:rPr lang="it-IT"/>
              <a:t>University Hospitals Sussex NHS, https://www.uhsussex.nhs.uk/resources/allergic-reactions-ed/</a:t>
            </a:r>
          </a:p>
          <a:p>
            <a:endParaRPr lang="it-IT"/>
          </a:p>
          <a:p>
            <a:r>
              <a:rPr lang="it-IT"/>
              <a:t>Esempi farmacologici a scopo didattico, non prescrizioni né schemi terapeutici completi. La scelta dipende dalla diagnosi precisa e dal paziente. Non si riportano dosi. Alcuni farmaci controllano sintomi o progressione e non guariscono la malattia. Nelle emergenze occorre assistenza immediata, senza automedicazione.</a:t>
            </a:r>
          </a:p>
          <a:p>
            <a:r>
              <a:rPr lang="it-IT"/>
              <a:t>Fonti per gli esempi:</a:t>
            </a:r>
          </a:p>
          <a:p>
            <a:r>
              <a:rPr lang="it-IT"/>
              <a:t>https://www.nhs.uk/conditions/lymphoedema/treatment/</a:t>
            </a:r>
          </a:p>
          <a:p>
            <a:r>
              <a:rPr lang="it-IT"/>
              <a:t>https://primaryimmune.org/understanding-primary-immunodeficiency/treatment/immunoglobulin-replacement-therapy</a:t>
            </a:r>
          </a:p>
          <a:p>
            <a:r>
              <a:rPr lang="it-IT"/>
              <a:t>https://www.nhs.uk/medicines/cetirizine/</a:t>
            </a:r>
          </a:p>
          <a:p>
            <a:r>
              <a:rPr lang="it-IT"/>
              <a:t>https://www.nhs.uk/conditions/anaphylaxis/</a:t>
            </a:r>
          </a:p>
          <a:p>
            <a:r>
              <a:rPr lang="en-US"/>
              <a:t>[Sources]</a:t>
            </a:r>
            <a:br>
              <a:rPr lang="en-US"/>
            </a:br>
            <a:r>
              <a:rPr lang="en-US"/>
              <a:t>WHO, HIV and AIDS: https://www.who.int/news-room/fact-sheets/detail/hiv-aids</a:t>
            </a:r>
            <a:br>
              <a:rPr lang="en-US"/>
            </a:br>
            <a:r>
              <a:rPr lang="en-US"/>
              <a:t>WHO, HIV: https://www.who.int/health-topics/hiv-aids/</a:t>
            </a:r>
            <a:br>
              <a:rPr lang="en-US"/>
            </a:br>
            <a:r>
              <a:rPr lang="en-US"/>
              <a:t>HIV targets CD4 cells; untreated infection can progress to AIDS; antiretroviral therapy controls infection.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Sistema Nervoso Centrale e Periferico_dr.Marchesi.pdf, sezioni encefalo, aree corticali e sistema periferico.</a:t>
            </a:r>
          </a:p>
          <a:p>
            <a:r>
              <a:t>App. Locomotore_dr.Mensa.pdf, pp. 2–4, 11–16, 25–45.</a:t>
            </a:r>
          </a:p>
          <a:p>
            <a:r>
              <a:t>Sintesi didattica. Le immagini, quando presenti, provengono dai PDF citati. La classificazione comprende i sei apparati di Didò più il locomotore di Mensa, su richiesta dell’utente.</a:t>
            </a:r>
          </a:p>
          <a:p>
            <a:r>
              <a:rPr lang="it-IT"/>
              <a:t>Approfondimento: Manuale MSD, Panoramica sul sistema nervoso e Panoramica sul sistema nervoso periferico. https://www.msdmanuals.com/it/casa/disturbi-di-cervello-midollo-spinale-e-nervi/biologia-del-sistema-nervoso/panoramica-sul-sistema-nervoso ; https://www.msdmanuals.com/it/casa/disturbi-di-cervello-midollo-spinale-e-nervi/sistema-nervoso-periferico-e-disturbi-correlati/panoramica-sul-sistema-nervoso-periferico . Immagine: generata con IA, schema illustrativo semplificato, non in scala.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Il cervello: strutture e funzioni</a:t>
            </a:r>
          </a:p>
          <a:p>
            <a:r>
              <a:t>Fonti per struttura e funzione:</a:t>
            </a:r>
          </a:p>
          <a:p>
            <a:r>
              <a:t>https://my.clevelandclinic.org/health/body/22638-brain</a:t>
            </a:r>
          </a:p>
          <a:p>
            <a:r>
              <a:t>https://my.clevelandclinic.org/health/articles/23073-cerebral-cortex</a:t>
            </a:r>
          </a:p>
          <a:p>
            <a:r>
              <a:t>https://my.clevelandclinic.org/health/body/21598-brainstem</a:t>
            </a:r>
          </a:p>
          <a:p>
            <a:endParaRPr lang="it-IT"/>
          </a:p>
          <a:p>
            <a:r>
              <a:rPr lang="it-IT"/>
              <a:t>Immagine fornita dall’utente: image.png. Credito presente nell’immagine</a:t>
            </a:r>
            <a:r>
              <a:t>: </a:t>
            </a:r>
            <a:r>
              <a:rPr lang="it-IT"/>
              <a:t>Brooks/Cole – Thomson Learning. Immagine ritoccata su richiesta: rimossa la piccola scritta in basso a sinistra e riposizionata l’etichetta Midollo spinale. Fonte originale: Brooks/Cole – Thomson Learning</a:t>
            </a:r>
            <a:r>
              <a:t>.</a:t>
            </a:r>
          </a:p>
          <a:p>
            <a:r>
              <a:rPr lang="it-IT"/>
              <a:t>[Sources]</a:t>
            </a:r>
          </a:p>
          <a:p>
            <a:r>
              <a:rPr lang="it-IT"/>
              <a:t>Hemispheric functions: https://www.hopkinsmedicine.org/health/conditions-and-diseases/anatomy-of-the-brain</a:t>
            </a:r>
          </a:p>
          <a:p>
            <a:r>
              <a:rPr lang="it-IT"/>
              <a:t>https://en.wikipedia.org/wiki/Lateralization_of_brain_function</a:t>
            </a:r>
          </a:p>
          <a:p>
            <a:r>
              <a:rPr lang="it-IT"/>
              <a:t>https://scienceinsights.org/left-brain-vs-right-brain-what-each-side-controls/</a:t>
            </a:r>
          </a:p>
          <a:p>
            <a:r>
              <a:rPr lang="it-IT"/>
              <a:t>Specializzazione relativa: gli emisferi collaborano, con variabilità individuale.</a:t>
            </a:r>
          </a:p>
          <a:p>
            <a:r>
              <a:rPr lang="it-IT"/>
              <a:t>[/Sources]</a:t>
            </a:r>
          </a:p>
          <a:p>
            <a:r>
              <a:rPr lang="it-IT"/>
              <a:t>[Sources]</a:t>
            </a:r>
          </a:p>
          <a:p>
            <a:r>
              <a:rPr lang="it-IT"/>
              <a:t>Talamo: Cleveland Clinic, Thalamus. https://my.clevelandclinic.org/health/body/22652-thalamus</a:t>
            </a:r>
          </a:p>
          <a:p>
            <a:r>
              <a:rPr lang="it-IT"/>
              <a:t>Ipotalamo: MedlinePlus, Hypothalamus. https://medlineplus.gov/ency/article/002380.htm</a:t>
            </a:r>
          </a:p>
          <a:p>
            <a:r>
              <a:rPr lang="it-IT"/>
              <a:t>[/Sources]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https://www.ninds.nih.gov/health-information/disorders/epilepsy-and-seizures</a:t>
            </a:r>
          </a:p>
          <a:p>
            <a:r>
              <a:t>https://www.ninds.nih.gov/health-information/disorders/multiple-sclerosis-ms</a:t>
            </a:r>
          </a:p>
          <a:p>
            <a:r>
              <a:t>https://www.ninds.nih.gov/health-information/disorders/amyotrophic-lateral-sclerosis-als</a:t>
            </a:r>
          </a:p>
          <a:p>
            <a:r>
              <a:t>https://www.issalute.it/index.php/la-salute-dalla-a-alla-z-menu/i/ictus</a:t>
            </a:r>
          </a:p>
          <a:p>
            <a:r>
              <a:t>https://www.merckmanuals.com/home/brain-spinal-cord-and-nerve-disorders/meningitis/introduction-to-meningitis</a:t>
            </a:r>
          </a:p>
          <a:p>
            <a:r>
              <a:t>Le patologie elencate non sono tutte neurodegenerative. La sclerosi multipla è una malattia autoimmune demielinizzante con possibile danno neuroassonale. Emorragia indica qui emorragia cerebrale, coerentemente con il sistema trattato.</a:t>
            </a:r>
          </a:p>
          <a:p>
            <a:r>
              <a:rPr lang="it-IT"/>
              <a:t>[Sources]</a:t>
            </a:r>
          </a:p>
          <a:p>
            <a:r>
              <a:rPr lang="it-IT"/>
              <a:t>Manuale MSD, Ictus ischemico: https://www.msdmanuals.com/it/casa/disturbi-di-cervello-midollo-spinale-e-nervi/ictus/ictus-ischemico</a:t>
            </a:r>
          </a:p>
          <a:p>
            <a:r>
              <a:rPr lang="it-IT"/>
              <a:t>[/Sources]</a:t>
            </a:r>
          </a:p>
          <a:p>
            <a:r>
              <a:rPr lang="it-IT"/>
              <a:t>[Sources]</a:t>
            </a:r>
          </a:p>
          <a:p>
            <a:r>
              <a:rPr lang="it-IT"/>
              <a:t>Manuale MSD, Emorragia intracerebrale: https://www.msdmanuals.com/it/professionale/neurologia/ictus/emorragia-intracerebrale</a:t>
            </a:r>
          </a:p>
          <a:p>
            <a:r>
              <a:rPr lang="it-IT"/>
              <a:t>[/Sources]</a:t>
            </a:r>
          </a:p>
          <a:p>
            <a:r>
              <a:rPr lang="it-IT"/>
              <a:t>Precisazione didattica: la durata e la gravità dell’ischemia influenzano il danno. I deficit neurologici possono regredire o persistere, ma nell’ictus ischemico si verifica infarto cerebrale permanente. Sintomi transitori senza infarto indicano un attacco ischemico transitorio (TIA).</a:t>
            </a:r>
          </a:p>
          <a:p>
            <a:r>
              <a:rPr lang="it-IT"/>
              <a:t>[Sources]</a:t>
            </a:r>
          </a:p>
          <a:p>
            <a:r>
              <a:rPr lang="it-IT"/>
              <a:t>Manuale MSD, Ictus ischemico: https://www.msdmanuals.com/it/professionale/malattie-neurologiche/ictus/ictus-ischemico</a:t>
            </a:r>
          </a:p>
          <a:p>
            <a:r>
              <a:rPr lang="it-IT"/>
              <a:t>Manuale MSD, Attacco ischemico transitorio: https://www.msdmanuals.com/it/professionale/malattie-neurologiche/ictus/attacco-ischemico-transitorio</a:t>
            </a:r>
          </a:p>
          <a:p>
            <a:r>
              <a:rPr lang="it-IT"/>
              <a:t>[/Sources]</a:t>
            </a:r>
          </a:p>
          <a:p>
            <a:r>
              <a:rPr lang="it-IT"/>
              <a:t>Precisazione: l’emorragia intracerebrale è più spesso arteriosa. Può avere anche origine venosa: nella trombosi venosa cerebrale l’ostacolo al deflusso aumenta la pressione nei piccoli vasi e può provocare sanguinamento nel tessuto cerebrale.</a:t>
            </a:r>
          </a:p>
          <a:p>
            <a:r>
              <a:rPr lang="it-IT"/>
              <a:t>[Sources]</a:t>
            </a:r>
          </a:p>
          <a:p>
            <a:r>
              <a:rPr lang="it-IT"/>
              <a:t>Merck Manual, Intracerebral Hemorrhage: https://www.merckmanuals.com/professional/neurologic-disorders/stroke/intracerebral-hemorrhage</a:t>
            </a:r>
          </a:p>
          <a:p>
            <a:r>
              <a:rPr lang="it-IT"/>
              <a:t>Johns Hopkins Medicine, Cerebral Venous Sinus Thrombosis: https://www.hopkinsmedicine.org/health/conditions-and-diseases/cerebral-venous-sinus-thrombosis</a:t>
            </a:r>
          </a:p>
          <a:p>
            <a:r>
              <a:rPr lang="it-IT"/>
              <a:t>[/Sources]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Locomotore_dr.Mensa.pdf, pp. 2–4, 11–16, 25–45.</a:t>
            </a:r>
          </a:p>
          <a:p>
            <a:r>
              <a:t>Sintesi didattica. Le immagini, quando presenti, provengono dai PDF citati. La classificazione comprende i sei apparati di Didò più il locomotore di Mensa, su richiesta dell’utente.</a:t>
            </a:r>
          </a:p>
          <a:p>
            <a:r>
              <a:rPr lang="it-IT"/>
              <a:t>Classificazione per forma e tessuto osseo: OpenStax, Anatomy and Physiology, 6.2 Bone Classification, https://openstax.org/books/anatomy-and-physiology/pages/6-2-bone-classification ; 6.3 Bone Structure, https://openstax.org/books/anatomy-and-physiology/pages/6-3-bone-structure . Le categorie indicate seguono le quattro richieste; altre classificazioni distinguono anche le ossa sesamoidi. Compatto e spugnoso sono tipi di tessuto osseo, non categorie alternative di ossa. Immagine: generata con IA, schema illustrativo non in scala.</a:t>
            </a:r>
          </a:p>
          <a:p>
            <a:r>
              <a:rPr lang="it-IT"/>
              <a:t>[Sources]</a:t>
            </a:r>
          </a:p>
          <a:p>
            <a:r>
              <a:rPr lang="it-IT"/>
              <a:t>Treccani, Dizionario di Medicina, Emopoiesi: https://www.treccani.it/enciclopedia/emopoiesi_%28Dizionario-di-Medicina%29/</a:t>
            </a:r>
          </a:p>
          <a:p>
            <a:r>
              <a:rPr lang="it-IT"/>
              <a:t>[/Sources]</a:t>
            </a:r>
          </a:p>
          <a:p>
            <a:r>
              <a:rPr lang="it-IT"/>
              <a:t>[Sources]</a:t>
            </a:r>
          </a:p>
          <a:p>
            <a:r>
              <a:rPr lang="it-IT"/>
              <a:t>OpenStax, Anatomy and Physiology, 6.3 Bone Structure: https://openstax.org/books/anatomy-and-physiology/pages/6-3-bone-structure</a:t>
            </a:r>
          </a:p>
          <a:p>
            <a:r>
              <a:rPr lang="it-IT"/>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https://www.msdmanuals.com/it/casa/disturbi-di-ossa-articolazioni-e-muscoli/osteoporosi/osteoporosi</a:t>
            </a:r>
          </a:p>
          <a:p>
            <a:r>
              <a:rPr lang="it-IT"/>
              <a:t>[Sources]</a:t>
            </a:r>
          </a:p>
          <a:p>
            <a:r>
              <a:rPr lang="it-IT"/>
              <a:t>NIH National Institute on Aging, Osteoporosis: https://www.nia.nih.gov/health/osteoporosis/osteoporosis</a:t>
            </a:r>
          </a:p>
          <a:p>
            <a:r>
              <a:rPr lang="it-IT"/>
              <a:t>NIH, Osteoporosis research: https://discoverwhr.nih.gov/research/osteoporosis/</a:t>
            </a:r>
          </a:p>
          <a:p>
            <a:r>
              <a:rPr lang="it-IT"/>
              <a:t>NHS, Osteoporosis treatment: https://www.nhs.uk/conditions/osteoporosis/treatment/</a:t>
            </a:r>
          </a:p>
          <a:p>
            <a:r>
              <a:rPr lang="it-IT"/>
              <a:t>[/Sources]</a:t>
            </a:r>
          </a:p>
          <a:p>
            <a:r>
              <a:rPr lang="it-IT"/>
              <a:t>[Sources]</a:t>
            </a:r>
          </a:p>
          <a:p>
            <a:r>
              <a:rPr lang="it-IT"/>
              <a:t>AIRC, Tumore alle ossa: https://www.airc.it/cancro/informazioni-tumori/guida-ai-tumori/tumore-alle-ossa</a:t>
            </a:r>
          </a:p>
          <a:p>
            <a:r>
              <a:rPr lang="it-IT"/>
              <a:t>AIRC, Osteosarcoma: https://www.airc.it/cancro/informazioni-tumori/guida-ai-tumori/osteosarcoma</a:t>
            </a:r>
          </a:p>
          <a:p>
            <a:r>
              <a:rPr lang="it-IT"/>
              <a:t>[/Sources]</a:t>
            </a:r>
          </a:p>
          <a:p>
            <a:r>
              <a:rPr lang="it-IT"/>
              <a:t>Terminologia della colonna: scoliosi, ipercifosi e iperlordosi raggruppate in una sola sezione, senza presentarle come una singola malattia. Cifosi e lordosi sono curvature fisiologiche. Fonte: Centro Medica, Scoliosi, cifosi, lordosi. Valutare le curve della colonna vertebrale (22 novembre 2021), https://www.centromedica.it/scoliosi-cifosi-lordosi-diagnosi/ ; https://www.actiwave.ch/it/news/scoliosi-lordosi-cifosi-tre-problemi-colonna/</a:t>
            </a:r>
          </a:p>
          <a:p>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Locomotore_dr.Mensa.pdf, pp. 2–4, 11–16, 25–45.</a:t>
            </a:r>
          </a:p>
          <a:p>
            <a:r>
              <a:t>Biologia Materiale 1.PDF, Tortora e Derrickson, Conosciamo il corpo umano, Zanichelli 2020, cap. 4.</a:t>
            </a:r>
          </a:p>
          <a:p>
            <a:r>
              <a:t>Sintesi didattica. Le immagini, quando presenti, provengono dai PDF citati. La classificazione comprende i sei apparati di Didò più il locomotore di Mensa, su richiesta dell’utente.</a:t>
            </a:r>
          </a:p>
          <a:p>
            <a:r>
              <a:rPr lang="it-IT"/>
              <a:t>Classificazione strutturale e controllo: OpenStax Anatomy and Physiology 2e, 4.4 Muscle Tissue and Motion, https://openstax.org/books/anatomy-and-physiology-2e/pages/4-4-muscle-tissue-and-motion ; 10.1 Overview of Muscle Tissues, https://openstax.org/books/anatomy-and-physiology-2e/pages/10-1-overview-of-muscle-tissues . Il tessuto scheletrico è striato e sotto controllo volontario (partecipa anche a riflessi e postura). Il cardiaco è striato e involontario. Il liscio è non striato e involontario.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https://www.ninds.nih.gov/health-information/disorders/muscular-dystrophy</a:t>
            </a:r>
          </a:p>
          <a:p>
            <a:r>
              <a:t>https://www.ninds.nih.gov/health-information/disorders/inflammatory-myopathies</a:t>
            </a:r>
          </a:p>
          <a:p>
            <a:r>
              <a:rPr lang="it-IT"/>
              <a:t>[Sources]</a:t>
            </a:r>
          </a:p>
          <a:p>
            <a:r>
              <a:rPr lang="it-IT"/>
              <a:t>NHS, Muscular dystrophy: https://www.nhs.uk/conditions/muscular-dystrophy/</a:t>
            </a:r>
          </a:p>
          <a:p>
            <a:r>
              <a:rPr lang="it-IT"/>
              <a:t>NHS, Myositis: https://www.nhs.uk/conditions/myositis/</a:t>
            </a:r>
          </a:p>
          <a:p>
            <a:r>
              <a:rPr lang="it-IT"/>
              <a:t>Myositis UK, Treatments and therapies: https://www.myositis.org.uk/myositis-info/treatments-and-therapies/</a:t>
            </a:r>
          </a:p>
          <a:p>
            <a:r>
              <a:rPr lang="it-IT"/>
              <a:t>Nota: la risposta ai farmaci dipende dal sottotipo. La miosite a corpi inclusi generalmente non risponde agli immunosoppressori.</a:t>
            </a:r>
          </a:p>
          <a:p>
            <a:r>
              <a:rPr lang="it-IT"/>
              <a:t>[/Sources]</a:t>
            </a:r>
          </a:p>
          <a:p>
            <a:r>
              <a:rPr lang="it-IT"/>
              <a:t>Lesioni muscolari: voce trasferita dalla slide 59, testo invariato. Fonte già presente nella presentazione: NHS, Sprains and strains, https://www.nhs.uk/conditions/sprains-and-strains/</a:t>
            </a:r>
          </a:p>
          <a:p>
            <a:endParaRPr lang="it-IT"/>
          </a:p>
          <a:p>
            <a:r>
              <a:rPr lang="it-IT"/>
              <a:t>Lesioni muscolari, sintomi e cura: NHS, Sprains and strains, https://www.nhs.uk/conditions/sprains-and-strains/ ; Sherwood Forest Hospitals NHS, Muscle strains, https://sfh-tr.nhs.uk/media/cdpkg34u/pil202405-03-mus-muscle-strains.pdf . Riposo relativo, protezione dal freddo e ripresa graduale secondo tolleranza; valutazione clinica per dolore intenso o marcata limitazione funzionale.</a:t>
            </a:r>
          </a:p>
          <a:p>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Sistema Endocrino_dr.Arena.pdf, sezioni ipofisi, tiroide, paratiroidi, surreni e pancreas.</a:t>
            </a:r>
          </a:p>
          <a:p>
            <a:r>
              <a:t>Sintesi didattica. Le immagini, quando presenti, provengono dai PDF citati. La classificazione comprende i sei apparati di Didò più il locomotore di Mensa, su richiesta dell’utente.</a:t>
            </a:r>
          </a:p>
          <a:p>
            <a:r>
              <a:rPr lang="it-IT"/>
              <a:t>Chiarimento della comunicazione endocrina: Manuale MSD, Funzione endocrina, https://www.msdmanuals.com/it/casa/disturbi-ormonali-e-metabolici/biologia-del-sistema-endocrino/funzione-endocrina . Le ghiandole rilasciano gli ormoni nel sangue; gli ormoni circolano e agiscono sulle cellule dotate di recettori specifici.</a:t>
            </a:r>
          </a:p>
          <a:p>
            <a:r>
              <a:rPr lang="it-IT"/>
              <a:t>Ormoni rappresentativi (elenco non esaustivo): Manuale MSD, Ormoni principali, https://www.msdmanuals.com/it/casa/multimedia/table/ormoni-principali ; Ghiandole endocrine, https://www.msdmanuals.com/it/casa/disturbi-ormonali-e-metabolici/biologia-del-sistema-endocrino/ghiandole-endocrine . GH: ormone della crescita; TSH: tireotropina; ACTH: corticotropina; FSH: follicolo-stimolante; LH: luteinizzante. T3: triiodotironina; T4: tiroxina. L’ipofisi produce anche prolattina; l’elenco seleziona ormoni coerenti con le funzioni illustrate.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Ipofisi, tiroide, paratiroidi e surreni</a:t>
            </a:r>
          </a:p>
          <a:p>
            <a:r>
              <a:t>Fonti per struttura e funzione:</a:t>
            </a:r>
          </a:p>
          <a:p>
            <a:r>
              <a:t>https://www.msdmanuals.com/home/hormonal-and-metabolic-disorders/biology-of-the-endocrine-system/endocrine-glands</a:t>
            </a:r>
          </a:p>
          <a:p>
            <a:r>
              <a:t>https://teachmephysiology.com/endocrine-system/thyroid-parathyroid-gland/</a:t>
            </a:r>
          </a:p>
          <a:p>
            <a:r>
              <a:t>https://medlineplus.gov/ency/article/002219.htm</a:t>
            </a:r>
          </a:p>
          <a:p>
            <a:r>
              <a:t>https://www.aace.com/disease-and-conditions/adrenal/all-about-adrenal-glands</a:t>
            </a:r>
          </a:p>
          <a:p>
            <a:r>
              <a:t>Illustrazione generata con IA: rappresentazione schematica, non in scala; non è un atlante anatomico né uno strumento diagnostico.</a:t>
            </a:r>
          </a:p>
          <a:p>
            <a:endParaRPr lang="it-IT"/>
          </a:p>
          <a:p>
            <a:r>
              <a:rPr lang="it-IT"/>
              <a:t>ADH (vasopressina): sintetizzato nell’ipotalamo e rilasciato dalla neuroipofisi.</a:t>
            </a:r>
          </a:p>
          <a:p>
            <a:r>
              <a:rPr lang="it-IT"/>
              <a:t>Fonte: https://www.msdmanuals.com/it/casa/disturbi-ormonali-e-metabolici/disturbi-dell-ipofisi/panoramica-sull-ipofisi</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https://www.niddk.nih.gov/health-information/diabetes/overview/what-is-diabetes/type-1-diabetes</a:t>
            </a:r>
          </a:p>
          <a:p>
            <a:r>
              <a:t>https://www.niddk.nih.gov/health-information/diabetes/overview/what-is-diabetes/type-2-diabetes</a:t>
            </a:r>
          </a:p>
          <a:p>
            <a:r>
              <a:t>https://</a:t>
            </a:r>
            <a:r>
              <a:rPr lang="it-IT"/>
              <a:t>www.niddk</a:t>
            </a:r>
            <a:r>
              <a:t>.</a:t>
            </a:r>
            <a:r>
              <a:rPr lang="it-IT"/>
              <a:t>nih</a:t>
            </a:r>
            <a:r>
              <a:t>.</a:t>
            </a:r>
            <a:r>
              <a:rPr lang="it-IT"/>
              <a:t>gov/health-information</a:t>
            </a:r>
            <a:r>
              <a:t>/</a:t>
            </a:r>
            <a:r>
              <a:rPr lang="it-IT"/>
              <a:t>endocrine-diseases</a:t>
            </a:r>
            <a:r>
              <a:t>/</a:t>
            </a:r>
            <a:r>
              <a:rPr lang="it-IT"/>
              <a:t>hypothyroidism?shem=ssc</a:t>
            </a:r>
            <a:endParaRPr/>
          </a:p>
          <a:p>
            <a:r>
              <a:t>https://</a:t>
            </a:r>
            <a:r>
              <a:rPr lang="it-IT"/>
              <a:t>health</a:t>
            </a:r>
            <a:r>
              <a:t>.</a:t>
            </a:r>
            <a:r>
              <a:rPr lang="it-IT"/>
              <a:t>clevelandclinic</a:t>
            </a:r>
            <a:r>
              <a:t>.org/</a:t>
            </a:r>
            <a:r>
              <a:rPr lang="it-IT"/>
              <a:t>whats-the-difference-between-hypothyroidism-and-hyperthyroidism</a:t>
            </a:r>
          </a:p>
          <a:p>
            <a:endParaRPr lang="it-IT"/>
          </a:p>
          <a:p>
            <a:r>
              <a:rPr lang="it-IT"/>
              <a:t>Esempi farmacologici a scopo didattico, non prescrizioni né schemi terapeutici completi. La scelta dipende dalla diagnosi precisa e dal paziente. Non si riportano dosi. Alcuni farmaci controllano sintomi o progressione e non guariscono la malattia. Nelle emergenze occorre assistenza immediata, senza automedicazione.</a:t>
            </a:r>
          </a:p>
          <a:p>
            <a:r>
              <a:rPr lang="it-IT"/>
              <a:t>Fonti per gli esempi:</a:t>
            </a:r>
          </a:p>
          <a:p>
            <a:r>
              <a:rPr lang="it-IT"/>
              <a:t>https://www.nhs.uk/conditions/type-1-diabetes/treatment/</a:t>
            </a:r>
          </a:p>
          <a:p>
            <a:r>
              <a:rPr lang="it-IT"/>
              <a:t>https://www.nhs.uk/medicines/metformin/</a:t>
            </a:r>
          </a:p>
          <a:p>
            <a:r>
              <a:rPr lang="it-IT"/>
              <a:t>https://www.mayoclinic.org/diseases-conditions/hypothyroidism/diagnosis-treatment/drc-20350289</a:t>
            </a:r>
          </a:p>
          <a:p>
            <a:r>
              <a:rPr lang="it-IT"/>
              <a:t>https://www.msdmanuals.com/home/multimedia/table/hyperthyroidism-treatments</a:t>
            </a:r>
          </a:p>
          <a:p>
            <a:r>
              <a:rPr lang="it-IT"/>
              <a:t>[Sources]</a:t>
            </a:r>
          </a:p>
          <a:p>
            <a:r>
              <a:rPr lang="it-IT"/>
              <a:t>NIH, Type 1 diabetes: https://discoverwhr.nih.gov/research/type-1-diabetes/</a:t>
            </a:r>
          </a:p>
          <a:p>
            <a:r>
              <a:rPr lang="it-IT"/>
              <a:t>Kalyani et al., Diagnosis and Treatment of Type 2 Diabetes in Adults: https://pmc.ncbi.nlm.nih.gov/articles/PMC13014273/</a:t>
            </a:r>
          </a:p>
          <a:p>
            <a:r>
              <a:rPr lang="it-IT"/>
              <a:t>Genetics of type 2 diabetes: https://pmc.ncbi.nlm.nih.gov/articles/PMC3746083/</a:t>
            </a:r>
          </a:p>
          <a:p>
            <a:r>
              <a:rPr lang="it-IT"/>
              <a:t>[/Sources]</a:t>
            </a:r>
          </a:p>
          <a:p>
            <a:endParaRPr lang="it-IT"/>
          </a:p>
          <a:p>
            <a:r>
              <a:rPr lang="it-IT"/>
              <a:t>Fonte per diabete insipido: https://pubmed.ncbi.nlm.nih.gov/29262153/</a:t>
            </a:r>
          </a:p>
          <a:p>
            <a:r>
              <a:rPr lang="it-IT"/>
              <a:t>https://www.niddk.nih.gov/health-information/kidney-disease/diabetes-insipidus</a:t>
            </a:r>
          </a:p>
          <a:p>
            <a:r>
              <a:rPr lang="it-IT"/>
              <a:t>[Sources]</a:t>
            </a:r>
          </a:p>
          <a:p>
            <a:r>
              <a:rPr lang="it-IT"/>
              <a:t>Cleveland Clinic, Central Diabetes Insipidus: https://my.clevelandclinic.org/health/diseases/23515-central-diabetes-insipidus-cdi</a:t>
            </a:r>
          </a:p>
          <a:p>
            <a:r>
              <a:rPr lang="it-IT"/>
              <a:t>Cleveland Clinic, Nephrogenic Diabetes Insipidus: https://my.clevelandclinic.org/health/diseases/24289-nephrogenic-diabetes-insipidus</a:t>
            </a:r>
          </a:p>
          <a:p>
            <a:r>
              <a:rPr lang="it-IT"/>
              <a:t>L’ipotalamo produce ADH; la neuroipofisi lo immagazzina e lo rilascia. La forma centrale può dipendere da alterazioni di ipotalamo o ipofisi; la forma nefrogenica dipende dalla risposta renale all’ormone.</a:t>
            </a:r>
          </a:p>
          <a:p>
            <a:r>
              <a:rPr lang="it-IT"/>
              <a:t>[/Sources]</a:t>
            </a:r>
          </a:p>
          <a:p>
            <a:r>
              <a:rPr lang="it-IT"/>
              <a:t>Fonte: NIDDK, Diabetes Insipidus, sezione trattamento: desmopressina per il diabete insipido centrale. https://www.niddk.nih.gov/health-information/kidney-disease/diabetes-insipidus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Biologia e Istologia_sorella Didò.pdf, diapositive numerate 37–45 (pagine PDF 36–44).</a:t>
            </a:r>
          </a:p>
          <a:p>
            <a:r>
              <a:t>App. Urinario e Tegumentario_dr.Gaeta.pdf, pp. 88–102.</a:t>
            </a:r>
          </a:p>
          <a:p>
            <a:r>
              <a:t>Sintesi didattica. Le immagini, quando presenti, provengono dai PDF citati. La classificazione comprende i sei apparati di Didò più il locomotore di Mensa, su richiesta dell’utente.</a:t>
            </a:r>
          </a:p>
          <a:p>
            <a:r>
              <a:rPr lang="it-IT"/>
              <a:t>Approfondimento dalla fonte fornita dall’utente: Tesina Arianna.docx, sezione 1.1 Anatomia essenziale della cute, p. 8, passaggi su epidermide, derma e ipoderma (testo estratto righe 95–100). Sintesi: epidermide cheratinizzata avascolare e nutrita dal derma, barriera contro perdita di liquidi e microrganismi; derma con collagene, elastina, vasi, nervi e annessi; ipoderma adiposo-connettivale per riserva, isolamento e ammortizzazione. Manteniamo la distinzione anatomica fra cute propriamente detta e ipoderma sottocutaneo. Illustrazione originale della slide conservata.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https://www.msdmanuals.com/it/casa/patologie-della-cute/prurito-e-dermatite/panoramica-della-dermatite</a:t>
            </a:r>
          </a:p>
          <a:p>
            <a:r>
              <a:t>https://www.msdmanuals.com/it/professionale/disturbi-dermatologici/psoriasi-e-altri-disturbi-papulosquamosi/psoriasi</a:t>
            </a:r>
          </a:p>
          <a:p>
            <a:endParaRPr lang="it-IT"/>
          </a:p>
          <a:p>
            <a:r>
              <a:rPr lang="it-IT"/>
              <a:t>Esempi farmacologici a scopo didattico, non prescrizioni né schemi terapeutici completi. La scelta dipende dalla diagnosi precisa e dal paziente. Non si riportano dosi. Alcuni farmaci controllano sintomi o progressione e non guariscono la malattia. Nelle emergenze occorre assistenza immediata, senza automedicazione.</a:t>
            </a:r>
          </a:p>
          <a:p>
            <a:r>
              <a:rPr lang="it-IT"/>
              <a:t>Fonti per gli esempi:</a:t>
            </a:r>
          </a:p>
          <a:p>
            <a:r>
              <a:rPr lang="it-IT"/>
              <a:t>https://www.nhs.uk/medicines/hydrocortisone-for-skin/</a:t>
            </a:r>
          </a:p>
          <a:p>
            <a:r>
              <a:rPr lang="it-IT"/>
              <a:t>https://www.nhs.uk/medicines/calcipotriol/</a:t>
            </a:r>
          </a:p>
          <a:p>
            <a:endParaRPr lang="it-IT"/>
          </a:p>
          <a:p>
            <a:r>
              <a:rPr lang="it-IT"/>
              <a:t>[Sources]</a:t>
            </a:r>
          </a:p>
          <a:p>
            <a:r>
              <a:rPr lang="it-IT"/>
              <a:t>Orticaria: https://www.nhs.uk/conditions/hives/</a:t>
            </a:r>
          </a:p>
          <a:p>
            <a:r>
              <a:rPr lang="it-IT"/>
              <a:t>https://www.wsh.nhs.uk/CMS-Documents/Patient-leaflets/PaediatricDepartment/6439-1-Urticaria-hives-nettle-rash.pdf</a:t>
            </a:r>
          </a:p>
          <a:p>
            <a:r>
              <a:rPr lang="it-IT"/>
              <a:t>Herpes zoster: https://www.cdc.gov/shingles/about/index.html</a:t>
            </a:r>
          </a:p>
          <a:p>
            <a:r>
              <a:rPr lang="it-IT"/>
              <a:t>La collocazione nell’apparato tegumentario evidenzia le manifestazioni cutanee. Lo zoster coinvolge anche i nervi sensitivi.</a:t>
            </a:r>
          </a:p>
          <a:p>
            <a:r>
              <a:rPr lang="it-IT"/>
              <a:t>[/Sources]</a:t>
            </a:r>
          </a:p>
          <a:p>
            <a:r>
              <a:rPr lang="it-IT"/>
              <a:t>[Sources]</a:t>
            </a:r>
          </a:p>
          <a:p>
            <a:r>
              <a:rPr lang="it-IT"/>
              <a:t>Acne vulgaris: NHS, Acne, https://www.nhs.uk/conditions/acne/</a:t>
            </a:r>
          </a:p>
          <a:p>
            <a:r>
              <a:rPr lang="it-IT"/>
              <a:t>Alopecia: NHS Inform, Alopecia (hair loss), https://www.nhsinform.scot/illnesses-and-conditions/a-to-z/alopecia/</a:t>
            </a:r>
          </a:p>
          <a:p>
            <a:r>
              <a:rPr lang="it-IT"/>
              <a:t>Tumori cutanei: NHS Inform, Skin cancer, https://www.nhsinform.scot/illnesses-and-conditions/cancer/cancer-types-in-adults/skin-cancer</a:t>
            </a:r>
          </a:p>
          <a:p>
            <a:r>
              <a:rPr lang="it-IT"/>
              <a:t>Segni da valutare: https://www.nhs.uk/conditions/melanoma-skin-cancer/symptoms/ e https://www.hdft.nhs.uk/services/skin-cancer/</a:t>
            </a:r>
          </a:p>
          <a:p>
            <a:r>
              <a:rPr lang="it-IT"/>
              <a:t>[/Sources]</a:t>
            </a:r>
          </a:p>
          <a:p>
            <a:endParaRPr lang="it-IT"/>
          </a:p>
          <a:p>
            <a:r>
              <a:rPr lang="it-IT"/>
              <a:t>Raggruppamento didattico: infiammatorie/immunomediate, annessi cutanei, infezioni e tumori (categorie distinte nella terza colonna). Non è una classificazione esaustiva né mutuamente esclusiva. Acne: unità pilosebacea. Fonte: https://www.msdmanuals.com/professional/dermatologic-disorders/acne-and-related-disorders/acne-vulgaris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Cardiocircolatorio_sorella Giardinelli.pdf, sezioni cuore, camere, circolazione e vasi.</a:t>
            </a:r>
          </a:p>
          <a:p>
            <a:r>
              <a:t>Sintesi didattica. Le immagini, quando presenti, provengono dai PDF citati. La classificazione comprende i sei apparati di Didò più il locomotore di Mensa, su richiesta dell’utente.</a:t>
            </a:r>
          </a:p>
          <a:p>
            <a:r>
              <a:rPr lang="it-IT"/>
              <a:t>Immagine aggiornata: illustrazione schematica generata con IA del sistema cardiovascolare nell’intero corpo. Rappresentazione semplificata non in scala, a supporto degli schemi testuali di circolazione polmonare e sistemica.</a:t>
            </a:r>
          </a:p>
          <a:p>
            <a:r>
              <a:rPr lang="it-IT"/>
              <a:t>Approfondimento: Manuale MSD, Biologia del cuore, https://www.msdmanuals.com/it/casa/disturbi-cardiaci-e-dei-vasi-sanguigni/biologia-del-cuore-e-dei-vasi-sanguigni/biologia-del-cuore . Atri: camere superiori riceventi; ventricoli: camere inferiori di eiezione. Circolo polmonare dal ventricolo destro ai polmoni e all’atrio sinistro; sistemico dal ventricolo sinistro ai tessuti e all’atrio destro. Arterie e vene si distinguono per la direzione del flusso rispetto al cuore, indipendentemente dall’ossigenazione. Le arterie polmonari portano sangue povero di ossigeno e le vene polmonari sangue ossigenato.</a:t>
            </a:r>
          </a:p>
          <a:p>
            <a:r>
              <a:rPr lang="it-IT"/>
              <a:t>Immagine corrente: image.png fornita dall’utente (image_81909992), schema della doppia circolazione. Sostituisce l’illustrazione generata precedentemente. La legenda descrive l’ossigenazione: rosso sangue ricco di ossigeno, blu sangue povero di ossigeno. Il colore non identifica universalmente arterie o vene: arterie polmonari blu e vene polmonari rosse nello schema. Le spiegazioni restano coerenti con la fonte MSD già citata.</a:t>
            </a:r>
          </a:p>
          <a:p>
            <a:r>
              <a:rPr lang="it-IT"/>
              <a:t>Valvole cardiache: fonte Manuale MSD, Biologia del cuore, già citata. Tricuspide tra atrio e ventricolo destro; polmonare in uscita dal ventricolo destro; mitrale tra atrio e ventricolo sinistro; aortica in uscita dal ventricolo sinistro. I percorsi includono il passaggio atrioventricolare che precede ogni circuito. In senso stretto il circolo polmonare inizia nel ventricolo destro e termina nell’atrio sinistro; il sistemico nel ventricolo sinistro e termina nell’atrio destro.</a:t>
            </a:r>
          </a:p>
          <a:p>
            <a:r>
              <a:rPr lang="it-IT"/>
              <a:t>Immagine del cuore: allegato utente image_7a9db0c0. Le annotazioni native chiariscono provenienza del sangue negli atri e destinazione dai ventricoli, senza alterare l’immagine originale. Conservato anche lo schema della doppia circolazione già fornito. Arterie/vene restano definite dalla direzione rispetto al cuore, indipendentemente dall’ossigenazione.</a:t>
            </a:r>
          </a:p>
          <a:p>
            <a:r>
              <a:rPr lang="it-IT"/>
              <a:t>Immagine corrente del cuore: image_7efff287, image.png fornita dall’utente; sostituisce il precedente schema cardiaco. Testi aggiuntivi e schema della doppia circolazione invariati.</a:t>
            </a:r>
          </a:p>
          <a:p>
            <a:r>
              <a:rPr lang="it-IT"/>
              <a:t>Schema corrente della circolazione: image_98b7262c, image.png fornita dall’utente. Sostituisce il precedente schema della doppia circolazione. Immagine del cuore, testi e percorsi con le valvole conservati.</a:t>
            </a:r>
          </a:p>
          <a:p>
            <a:endParaRPr lang="it-IT"/>
          </a:p>
          <a:p>
            <a:r>
              <a:rPr lang="it-IT"/>
              <a:t>[Sources]</a:t>
            </a:r>
          </a:p>
          <a:p>
            <a:r>
              <a:rPr lang="it-IT"/>
              <a:t>https://openstax.org/books/anatomy-and-physiology-2e/pages/20-5-circulatory-pathways</a:t>
            </a:r>
          </a:p>
          <a:p>
            <a:r>
              <a:rPr lang="it-IT"/>
              <a:t>I passaggi atrio-ventricolari attraverso tricuspide e mitrale precedono i rispettivi circoli. Le coronarie irrorano il cuore come parte della circolazione sistemica.</a:t>
            </a:r>
          </a:p>
          <a:p>
            <a:r>
              <a:rPr lang="it-IT"/>
              <a:t>[/Sources]</a:t>
            </a:r>
          </a:p>
          <a:p>
            <a:r>
              <a:rPr lang="it-IT"/>
              <a:t>Fonte: NHLBI, How Blood Flows through the Heart, https://www.nhlbi.nih.gov/health/heart/blood-flow ; American Heart Association, How the Healthy Heart Works, https://www.heart.org/en/health-topics/congenital-heart-defects/about-congenital-heart-defects/how-the-healthy-heart-works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endParaRPr/>
          </a:p>
          <a:p>
            <a:r>
              <a:t>Fonte: National Cancer Institute, SEER Training, Circulatory Pathways. https://www.training.seer.cancer.gov/anatomy/cardiovascular/blood/pathways.html</a:t>
            </a:r>
          </a:p>
          <a:p>
            <a:r>
              <a:rPr lang="it-IT"/>
              <a:t>Scambi gassosi capillari per diffusione, non osmosi. Fonte: Anatomy &amp; Physiology 2e, 20.3 Capillary Exchange. https://open.oregonstate.education/anatomy2e/chapter/capillary-exchange/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https://openstax.org/books/anatomy-and-physiology-2e/pages/19-2-cardiac-muscle-and-electrical-activity</a:t>
            </a:r>
          </a:p>
          <a:p>
            <a:r>
              <a:t>https://openstax.org/books/anatomy-and-physiology-2e/pages/19-3-cardiac-cycle</a:t>
            </a:r>
          </a:p>
          <a:p>
            <a:r>
              <a:t>https://openstax.org/books/anatomy-and-physiology-2e/pages/20-2-blood-flow-blood-pressure-and-resistance</a:t>
            </a:r>
          </a:p>
          <a:p>
            <a:r>
              <a:t>[/Sources]</a:t>
            </a:r>
          </a:p>
          <a:p>
            <a:r>
              <a:rPr lang="it-IT"/>
              <a:t>Fonte per la regolazione renale di volume e pressione: Cleveland Clinic, Renin-Angiotensin-Aldosterone System. https://my.clevelandclinic.org/health/articles/24175-renin-angiotensin-aldosterone-system-raas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https://www.mayoclinic.org/diseases-conditions/arteriosclerosis-atherosclerosis/symptoms-causes/syc-20350569</a:t>
            </a:r>
          </a:p>
          <a:p>
            <a:r>
              <a:t>https://www.msdmanuals.com/it/casa/disturbi-cardiaci-e-dei-vasi-sanguigni/disturbi-delle-arterie-periferiche/aneurismi-delle-arterie-di-braccia-gambe-e-cuore</a:t>
            </a:r>
          </a:p>
          <a:p>
            <a:r>
              <a:t>https://www.issalute.it/index.php/la-salute-dalla-a-alla-z-menu/c/coagulo-trombo-embolo</a:t>
            </a:r>
          </a:p>
          <a:p>
            <a:r>
              <a:rPr lang="it-IT"/>
              <a:t>https://www.salute.gov.it/new/it/scheda-malattia/infarto-miocardico/</a:t>
            </a:r>
          </a:p>
          <a:p>
            <a:endParaRPr lang="it-IT"/>
          </a:p>
          <a:p>
            <a:r>
              <a:rPr lang="it-IT"/>
              <a:t>Distinzione terminologica: arteriosclerosi è il termine generale per ispessimento e rigidità delle pareti arteriose. Aterosclerosi è il tipo specifico caratterizzato da placche. I termini non sono sinonimi.</a:t>
            </a:r>
          </a:p>
          <a:p>
            <a:r>
              <a:rPr lang="it-IT"/>
              <a:t>Fonte: Mayo Clinic, Arteriosclerosis / atherosclerosis, https://www.mayoclinic.org/diseases-conditions/arteriosclerosis-atherosclerosis/symptoms-causes/syc-20350569</a:t>
            </a:r>
          </a:p>
          <a:p>
            <a:endParaRPr lang="it-IT"/>
          </a:p>
          <a:p>
            <a:r>
              <a:rPr lang="it-IT"/>
              <a:t>Esempi farmacologici a scopo didattico, non prescrizioni né schemi terapeutici completi. La scelta dipende dalla diagnosi precisa e dal paziente. Non si riportano dosi. Alcuni farmaci controllano sintomi o progressione e non guariscono la malattia. Nelle emergenze occorre assistenza immediata, senza automedicazione.</a:t>
            </a:r>
          </a:p>
          <a:p>
            <a:r>
              <a:rPr lang="it-IT"/>
              <a:t>Fonti per gli esempi:</a:t>
            </a:r>
          </a:p>
          <a:p>
            <a:r>
              <a:rPr lang="it-IT"/>
              <a:t>https://www.nhs.uk/medicines/atorvastatin/</a:t>
            </a:r>
          </a:p>
          <a:p>
            <a:r>
              <a:rPr lang="it-IT"/>
              <a:t>https://www.mayoclinic.org/diseases-conditions/arteriosclerosis-atherosclerosis/diagnosis-treatment/drc-20350575</a:t>
            </a:r>
          </a:p>
          <a:p>
            <a:r>
              <a:rPr lang="it-IT"/>
              <a:t>https://www.nhs.uk/conditions/abdominal-aortic-aneurysm/</a:t>
            </a:r>
          </a:p>
          <a:p>
            <a:r>
              <a:rPr lang="it-IT"/>
              <a:t>https://www.nottsapc.nhs.uk/media/pwsfp3w1/enoxaparin-info-sheet.pdf</a:t>
            </a:r>
          </a:p>
          <a:p>
            <a:r>
              <a:rPr lang="it-IT"/>
              <a:t>https://www.rightdecisions.scot.nhs.uk/media/2079/managment-of-suspected-acute-coronary-syndrome-20220623-v2.pdf</a:t>
            </a:r>
          </a:p>
          <a:p>
            <a:r>
              <a:rPr lang="it-IT"/>
              <a:t>Enoxaparina: esempio limitato a trombosi venosa/embolia polmonare trombotica, non a ogni embolo. Aneurisma: valutazione specialistica, monitoraggio o riparazione quando indicata. L’aspirina è un componente della terapia dell’infarto, non la cura completa.</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Definizione di aritmia: https://www.nhs.uk/conditions/arrhythmia/</a:t>
            </a:r>
          </a:p>
          <a:p>
            <a:r>
              <a:t>Beta-bloccanti e nomi dei principi attivi: https://www.nhs.uk/medicines/beta-blockers/</a:t>
            </a:r>
          </a:p>
          <a:p>
            <a:r>
              <a:t>Impiego nella fibrillazione atriale: https://www.rbht.nhs.uk/our-services/atrial-fibrillation-medications</a:t>
            </a:r>
          </a:p>
          <a:p>
            <a:r>
              <a:t>I beta-bloccanti rallentano la frequenza cardiaca. La scelta richiede valutazione medica, anche per bradicardia, disturbi della conduzione e altre controindicazioni. I principi attivi elencati non sono una prescrizione individuale.</a:t>
            </a:r>
          </a:p>
          <a:p>
            <a:r>
              <a:t>[/Sources]</a:t>
            </a:r>
          </a:p>
          <a:p>
            <a:endParaRPr lang="it-IT"/>
          </a:p>
          <a:p>
            <a:r>
              <a:rPr lang="it-IT"/>
              <a:t>[Sources]</a:t>
            </a:r>
          </a:p>
          <a:p>
            <a:r>
              <a:rPr lang="it-IT"/>
              <a:t>Ipertensione: https://www.nhs.uk/conditions/high-blood-pressure/</a:t>
            </a:r>
          </a:p>
          <a:p>
            <a:r>
              <a:rPr lang="it-IT"/>
              <a:t>Definizione di aumento persistente: https://www.england.nhs.uk/north-west/wp-content/uploads/sites/48/2026/01/high_blood_pressure_and_stroke_guide.pdf</a:t>
            </a:r>
          </a:p>
          <a:p>
            <a:r>
              <a:rPr lang="it-IT"/>
              <a:t>Amlodipina: calcio-antagonista utilizzato per ridurre la pressione arteriosa. https://www.nhs.uk/medicines/amlodipine/</a:t>
            </a:r>
          </a:p>
          <a:p>
            <a:r>
              <a:rPr lang="it-IT"/>
              <a:t>Il farmaco è una delle opzioni terapeutiche, non una scelta universale. Il trattamento può comprendere modifiche dello stile di vita e farmaci, secondo valutazione medica.</a:t>
            </a:r>
          </a:p>
          <a:p>
            <a:r>
              <a:rPr lang="it-IT"/>
              <a:t>[/Sources]</a:t>
            </a:r>
          </a:p>
          <a:p>
            <a:r>
              <a:rPr lang="it-IT"/>
              <a:t>Fonti: Mayo Clinic, Atrioventricular heart block, https://www.mayoclinic.org/diseases-conditions/atrioventricular-heart-block/symptoms-causes/syc-20607302 ; NHLBI, Pacemakers, https://www.nhlbi.nih.gov/health/pacemakers</a:t>
            </a:r>
          </a:p>
          <a:p>
            <a:r>
              <a:rPr lang="it-IT"/>
              <a:t>Fonte valvulopatie: NHLBI, Heart Valve Diseases, https://www.nhlbi.nih.gov/health/heart-valve-diseases ; MedlinePlus, Heart Valve Diseases, https://medlineplus.gov/heartvalvediseases.html</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American Society of Hematology, Blood Basics, https://www.hematology.org/education/patients/blood-basics ; Cleveland Clinic, Blood: What It Is &amp; Function, https://my.clevelandclinic.org/health/body/24836-blood ; Memorial Sloan Kettering Cancer Center, Facts About Blood and Blood Cells, https://www.mskcc.org/es/cancer-care/patient-education/facts-about-blood-and-blood-cells . Definizione di connettivo fluido già presente nella slide 5 del materiale.</a:t>
            </a:r>
          </a:p>
          <a:p>
            <a:endParaRPr lang="it-IT"/>
          </a:p>
          <a:p>
            <a:r>
              <a:rPr lang="it-IT"/>
              <a:t>Revisione sulla base dello schema fornito dall’utente (image.png). Le percentuali 55% e 45% sono indicative, non valori fissi. Il 45% della parte corpuscolata è costituito quasi interamente da eritrociti.</a:t>
            </a:r>
          </a:p>
          <a:p>
            <a:r>
              <a:rPr lang="it-IT"/>
              <a:t>Fonti per gli approfondimenti:</a:t>
            </a:r>
          </a:p>
          <a:p>
            <a:r>
              <a:rPr lang="it-IT"/>
              <a:t>https://www.merckmanuals.com/home/blood-disorders/biology-of-blood/components-of-blood</a:t>
            </a:r>
          </a:p>
          <a:p>
            <a:r>
              <a:rPr lang="it-IT"/>
              <a:t>https://wtcs.pressbooks.pub/anatphys/chapter/10-4-components-of-blood/</a:t>
            </a:r>
          </a:p>
          <a:p>
            <a:r>
              <a:rPr lang="it-IT"/>
              <a:t>https://courses.lumenlearning.com/suny-osbiology2e/chapter/components-of-the-blood/</a:t>
            </a:r>
          </a:p>
          <a:p>
            <a:r>
              <a:rPr lang="it-IT"/>
              <a:t>Il sangue collega polmoni, intestino e tessuti trasportando gas e nutrienti. Trasporta inoltre ormoni, cellule di difesa e sostanze di scarto verso reni e fegato.</a:t>
            </a:r>
          </a:p>
          <a:p>
            <a:r>
              <a:rPr lang="it-IT"/>
              <a:t>[Sources] Emopoiesi: National Cancer Institute, Definition of hematopoiesis, https://www.cancer.gov/publications/dictionaries/cancer-terms/def/hematopoiesis ; SEER Training, https://www.training.seer.cancer.gov/hematopoietic1/intro-to-hematopoietic-system.html (consultati 11 ottobre 2026).</a:t>
            </a:r>
          </a:p>
          <a:p>
            <a:r>
              <a:rPr lang="it-IT"/>
              <a:t>[Sources] Emoglobina: Patel et al., Physiology, Oxygen Transport And Carbon Dioxide Dissociation Curve, StatPearls (2023), https://pubmed.ncbi.nlm.nih.gov/30969637/ ; Ahmed et al., Hemoglobin: Structure, Function and Allostery (2020), https://pmc.ncbi.nlm.nih.gov/articles/PMC7370311/ .</a:t>
            </a:r>
          </a:p>
          <a:p>
            <a:endParaRPr lang="it-IT"/>
          </a:p>
          <a:p>
            <a:r>
              <a:rPr lang="it-IT"/>
              <a:t>Fonte: cascata coagulativa, attivazione sequenziale dei fattori e rete di fibrina che stabilizza il tappo piastrinico.</a:t>
            </a:r>
          </a:p>
          <a:p>
            <a:r>
              <a:rPr lang="it-IT"/>
              <a:t>https://www.msdmanuals.com/it/casa/disturbi-del-sangue/processo-di-coagulazione-del-sangue/come-si-coagula-il-sangue</a:t>
            </a:r>
          </a:p>
          <a:p>
            <a:r>
              <a:rPr lang="it-IT"/>
              <a:t>https://www.my-personaltrainer.it/fisiologia/coagulazione-sangue.html</a:t>
            </a:r>
          </a:p>
          <a:p>
            <a:r>
              <a:rPr lang="it-IT"/>
              <a:t>[Sources]</a:t>
            </a:r>
          </a:p>
          <a:p>
            <a:r>
              <a:rPr lang="it-IT"/>
              <a:t>Analisi del Sangue_dr.D'Antonio.pdf, p. 22: glicemia a digiuno 70–99 mg/dL; p. 40: elettroliti e funzioni cellulari. Intervallo presentato come riferimento, non come diagnosi.</a:t>
            </a:r>
          </a:p>
          <a:p>
            <a:r>
              <a:rPr lang="it-IT"/>
              <a:t>Tessuto Fluido (sangue e immunologia)_dr.D'Antonio.pdf, p. 3: ioni e vitamine B1/B2/B3/B6/B9/B12; sezioni Carenza di vitamine e Anemia megaloblastica: B9/B12/C e ruolo delle carenze; sezione Vitamina K: coagulazione.</a:t>
            </a:r>
          </a:p>
          <a:p>
            <a:r>
              <a:rPr lang="it-IT"/>
              <a:t>App. Emopoietico_sorella Giardinelli .pdf, p. 20: acqua, sali minerali e proteine nel plasma.</a:t>
            </a:r>
          </a:p>
          <a:p>
            <a:r>
              <a:rPr lang="it-IT"/>
              <a:t>[/Sources]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 name="Notes Placeholder 2"/>
          <p:cNvSpPr>
            <a:spLocks noGrp="1"/>
          </p:cNvSpPr>
          <p:nvPr>
            <p:ph type="body" sz="quarter" idx="3"/>
          </p:nvPr>
        </p:nvSpPr>
        <p:spPr/>
        <p:txBody>
          <a:bodyPr/>
          <a:lstStyle/>
          <a:p>
            <a:endParaRPr/>
          </a:p>
          <a:p>
            <a:r>
              <a:t>Fonti per l’approfondimento della slide 37: App. Emopoietico, Laura Giardinelli, p. 8 (cellule staminali ed emopoiesi). Tessuto Fluido (sangue e immunologia), dr. D’Antonio, pp. 13–17 (eritrociti ed emoglobina), 34–38 (leucociti), 41–42 (piastrine ed emostasi). Analisi del Sangue, dr. D’Antonio, sezione Emocromo, p. 30. Sintesi didattica per formazione di base. Le piastrine sono indicate come frammenti cellulari, non cellule complete. Non sono ripresi i passaggi imprecisi dei PDF relativi a campioni o tempi di conservazione.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[Sources]</a:t>
            </a:r>
          </a:p>
          <a:p>
            <a:r>
              <a:t>Immagine fornita dall’utente: IMG-20261010-WA0006.jpg, riprodotta integralmente.</a:t>
            </a:r>
          </a:p>
          <a:p>
            <a:r>
              <a:t>Sistema AB0 e Rh: https://www.nhs.uk/tests-and-treatments/blood-groups/</a:t>
            </a:r>
          </a:p>
          <a:p>
            <a:r>
              <a:t>Prove pretrasfusionali: https://laboratories.newcastle-hospitals.nhs.uk/services/blood-transfusion/compatability-testing/</a:t>
            </a:r>
          </a:p>
          <a:p>
            <a:r>
              <a:t>Schema didattico della compatibilità dei globuli rossi: non sostituisce i test del servizio trasfusionale.</a:t>
            </a:r>
          </a:p>
          <a:p>
            <a:r>
              <a:t>[/Sources]</a:t>
            </a:r>
          </a:p>
          <a:p>
            <a:r>
              <a:rPr lang="it-IT"/>
              <a:t>Approfondimento Rh: https://www.nhs.uk/conditions/rhesus-disease-hdfn/</a:t>
            </a:r>
          </a:p>
          <a:p>
            <a:r>
              <a:rPr lang="it-IT"/>
              <a:t>Antigeni e anticorpi AB0: https://www.nhs.uk/tests-and-treatments/blood-groups/</a:t>
            </a:r>
          </a:p>
          <a:p>
            <a:r>
              <a:rPr lang="en-US"/>
              <a:t>[Sources]</a:t>
            </a:r>
            <a:br>
              <a:rPr lang="en-US"/>
            </a:br>
            <a:r>
              <a:rPr lang="en-US"/>
              <a:t>NHS: The Rhesus factor and anti-D. Antigen D is on the surface of red blood cells; present in RhD-positive and absent in RhD-negative blood. https://leaflets.ekhuft.nhs.uk/the-rhesus-factor-and-anti-d/html/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Esempi didattici delle principali categorie, non un elenco esaustivo né una graduatoria di frequenza.</a:t>
            </a:r>
          </a:p>
          <a:p>
            <a:r>
              <a:t>Fonti:</a:t>
            </a:r>
          </a:p>
          <a:p>
            <a:r>
              <a:t>Anemie: American Society of Hematology, https://www.hematology.org/education/patients/anemia</a:t>
            </a:r>
          </a:p>
          <a:p>
            <a:r>
              <a:t>Leucemie: ASH, https://www.hematology.org/education/patients/blood-cancers/leukemia</a:t>
            </a:r>
          </a:p>
          <a:p>
            <a:r>
              <a:t>Piastrinopenia: NHLBI, https://www.nhlbi.nih.gov/health/thrombocytopenia</a:t>
            </a:r>
          </a:p>
          <a:p>
            <a:r>
              <a:t>Disturbi emorragici: ASH, https://www.hematology.org/education/patients/bleeding-disorders</a:t>
            </a:r>
          </a:p>
          <a:p>
            <a:r>
              <a:t>La piastrinopenia può essere asintomatica nelle forme lievi. Il rischio di sanguinamento dipende da gravità e contesto clinico. Leucemie: le cellule anomale possono ostacolare la produzione di globuli rossi e piastrine e compromettere le difese contro le infezioni.</a:t>
            </a:r>
          </a:p>
          <a:p>
            <a:r>
              <a:rPr lang="en-US"/>
              <a:t>[Sources]</a:t>
            </a:r>
            <a:br>
              <a:rPr lang="en-US"/>
            </a:br>
            <a:r>
              <a:rPr lang="en-US"/>
              <a:t>MSD Manual, Evaluation of Anemia and Overview of Anemia: https://www.msdmanuals.com/professional/hematology/approach-to-the-patient-with-anemia/evaluation-of-anemia</a:t>
            </a:r>
            <a:br>
              <a:rPr lang="en-US"/>
            </a:br>
            <a:r>
              <a:rPr lang="en-US"/>
              <a:t>https://www.msdmanuals.com/home/blood-disorders/anemia/overview-of-anemia</a:t>
            </a:r>
            <a:br>
              <a:rPr lang="en-US"/>
            </a:br>
            <a:r>
              <a:rPr lang="en-US"/>
              <a:t>Clarification: reduced red-cell count and abnormal morphology may accompany anemia but are not universal; morphology alone does not define anemia.</a:t>
            </a:r>
          </a:p>
          <a:p>
            <a:r>
              <a:rPr lang="en-US"/>
              <a:t>[Sources]</a:t>
            </a:r>
            <a:br>
              <a:rPr lang="en-US"/>
            </a:br>
            <a:r>
              <a:rPr lang="en-US"/>
              <a:t>NHLBI: Thalassemia causes. https://www.nhlbi.nih.gov/health/thalassemia/causes</a:t>
            </a:r>
            <a:br>
              <a:rPr lang="en-US"/>
            </a:br>
            <a:r>
              <a:rPr lang="en-US"/>
              <a:t>Quantitative versus structural hemoglobin defects: https://pubmed.ncbi.nlm.nih.gov/39595957/</a:t>
            </a:r>
            <a:br>
              <a:rPr lang="en-US"/>
            </a:br>
            <a:r>
              <a:rPr lang="en-US"/>
              <a:t>Editorial clarification: thalassemia reduces globin production; sickle cell disease is a structural hemoglobin defect and causes hemolysis. Two mechanisms requested by the user are highlighted; this is not an exhaustive cause list (blood loss is another mechanism).</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Gastroenterico_dr.Arena.pdf, pp. 2–12.</a:t>
            </a:r>
          </a:p>
          <a:p>
            <a:r>
              <a:t>Sintesi didattica. Le immagini, quando presenti, provengono dai PDF citati. La classificazione comprende i sei apparati di Didò più il locomotore di Mensa, su richiesta dell’utente.</a:t>
            </a:r>
          </a:p>
          <a:p>
            <a:r>
              <a:rPr lang="it-IT"/>
              <a:t>Funzioni digestive: NIDDK, Your Digestive System &amp; How it Works. https://www.niddk.nih.gov/health-information/digestive-diseases/digestive-system-how-it-works</a:t>
            </a:r>
          </a:p>
          <a:p>
            <a:r>
              <a:rPr lang="it-IT"/>
              <a:t>NCBI, The Digestive System: https://ncbi.nlm.nih.gov/sites/books/NBK22172/</a:t>
            </a:r>
          </a:p>
          <a:p>
            <a:r>
              <a:rPr lang="it-IT"/>
              <a:t>Funzioni degli organi annessi: OpenStax Anatomy and Physiology 2e, 23.6, https://openstax.org/books/anatomy-and-physiology-2e/pages/23-6-accessory-organs-in-digestion-the-liver-pancreas-and-gallbladder ; Britannica, Bile, https://www.britannica.com/science/bile</a:t>
            </a:r>
          </a:p>
          <a:p>
            <a:r>
              <a:rPr lang="it-IT"/>
              <a:t>[Sources]</a:t>
            </a:r>
          </a:p>
          <a:p>
            <a:r>
              <a:rPr lang="it-IT"/>
              <a:t>Funzione dell’epiglottide: MedlinePlus Medical Encyclopedia, Epiglottis. https://medlineplus.gov/ency/imagepages/19595.htm</a:t>
            </a:r>
          </a:p>
          <a:p>
            <a:r>
              <a:rPr lang="it-IT"/>
              <a:t>[/Sources]</a:t>
            </a:r>
          </a:p>
          <a:p>
            <a:r>
              <a:rPr lang="it-IT"/>
              <a:t>Fonte della revisione: presentazione fornita dall’utente “L’apparato digerente.pptx”, slide 1. Immagine anatomica tratta dallo stesso file. Conservate le funzioni degli organi annessi già presenti nella slide originale.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Fegato e colecisti</a:t>
            </a:r>
          </a:p>
          <a:p>
            <a:r>
              <a:t>Fonti per struttura e funzione:</a:t>
            </a:r>
          </a:p>
          <a:p>
            <a:r>
              <a:t>https://www.niddk.nih.gov/health-information/digestive-diseases/digestive-system-how-it-works</a:t>
            </a:r>
          </a:p>
          <a:p>
            <a:r>
              <a:t>https://my.clevelandclinic.org/health/diagnostics/22390-albumin-blood-test</a:t>
            </a:r>
          </a:p>
          <a:p>
            <a:r>
              <a:t>https://my.clevelandclinic.org/health/diagnostics/17662-liver-function-tests</a:t>
            </a:r>
          </a:p>
          <a:p>
            <a:r>
              <a:t>https://www.hopkinsmedicine.org/health/conditions-and-diseases/liver-anatomy-and-functions</a:t>
            </a:r>
          </a:p>
          <a:p>
            <a:r>
              <a:t>Illustrazione generata con IA: rappresentazione schematica, non in scala; non è un atlante anatomico né uno strumento diagnostico.</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Il pancreas</a:t>
            </a:r>
          </a:p>
          <a:p>
            <a:r>
              <a:t>Fonti per struttura e funzione:</a:t>
            </a:r>
          </a:p>
          <a:p>
            <a:r>
              <a:t>https://my.clevelandclinic.org/health/body/21743-pancreas</a:t>
            </a:r>
          </a:p>
          <a:p>
            <a:r>
              <a:t>https://my.clevelandclinic.org/health/articles/22283-glucagon</a:t>
            </a:r>
          </a:p>
          <a:p>
            <a:r>
              <a:t>https://www.niddk.nih.gov/health-information/digestive-diseases/digestive-system-how-it-works</a:t>
            </a:r>
          </a:p>
          <a:p>
            <a:r>
              <a:t>Illustrazione generata con IA: rappresentazione schematica, non in scala; non è un atlante anatomico né uno strumento diagnostico.</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https://www.msdmanuals.com/it/casa/disturbi-digestivi/disturbi-dell-esofago-e-della-deglutizione/malattia-da-reflusso-gastroesofageo-gerd</a:t>
            </a:r>
          </a:p>
          <a:p>
            <a:r>
              <a:t>https://www.msdmanuals.com/it/casa/disturbi-digestivi/emergenze-gastrointestinali/occlusione-intestinale</a:t>
            </a:r>
          </a:p>
          <a:p>
            <a:endParaRPr lang="it-IT"/>
          </a:p>
          <a:p>
            <a:r>
              <a:rPr lang="it-IT"/>
              <a:t>Esempi farmacologici a scopo didattico, non prescrizioni né schemi terapeutici completi. La scelta dipende dalla diagnosi precisa e dal paziente. Non si riportano dosi. Alcuni farmaci controllano sintomi o progressione e non guariscono la malattia. Nelle emergenze occorre assistenza immediata, senza automedicazione.</a:t>
            </a:r>
          </a:p>
          <a:p>
            <a:r>
              <a:rPr lang="it-IT"/>
              <a:t>Fonti per gli esempi:</a:t>
            </a:r>
          </a:p>
          <a:p>
            <a:r>
              <a:rPr lang="it-IT"/>
              <a:t>https://www.nhs.uk/medicines/omeprazole/</a:t>
            </a:r>
          </a:p>
          <a:p>
            <a:r>
              <a:rPr lang="it-IT"/>
              <a:t>https://www.mayoclinic.org/diseases-conditions/intestinal-obstruction/diagnosis-treatment/drc-20351465</a:t>
            </a:r>
          </a:p>
          <a:p>
            <a:r>
              <a:rPr lang="it-IT"/>
              <a:t>[Sources]</a:t>
            </a:r>
            <a:br>
              <a:rPr lang="it-IT"/>
            </a:br>
            <a:r>
              <a:rPr lang="it-IT"/>
              <a:t>WHO, Hepatitis: https://www.who.int/health-topics/hepatitis/</a:t>
            </a:r>
            <a:br>
              <a:rPr lang="it-IT"/>
            </a:br>
            <a:r>
              <a:rPr lang="it-IT"/>
              <a:t>CDC, Clinical Overview of Viral Hepatitis: https://www.cdc.gov/hepatitis/hcp/clinical-overview/index.html</a:t>
            </a:r>
            <a:br>
              <a:rPr lang="it-IT"/>
            </a:br>
            <a:r>
              <a:rPr lang="it-IT"/>
              <a:t>NIDDK, Viral Hepatitis: https://www.niddk.nih.gov/health-information/liver-disease/viral-hepatitis</a:t>
            </a:r>
          </a:p>
          <a:p>
            <a:r>
              <a:rPr lang="it-IT"/>
              <a:t>[Sources]</a:t>
            </a:r>
          </a:p>
          <a:p>
            <a:r>
              <a:rPr lang="it-IT"/>
              <a:t>Pancreatite: NIDDK, Definition &amp; Facts; Symptoms &amp; Causes. https://www.niddk.nih.gov/health-information/digestive-diseases/pancreatitis</a:t>
            </a:r>
          </a:p>
          <a:p>
            <a:r>
              <a:rPr lang="it-IT"/>
              <a:t>MedlinePlus: https://medlineplus.gov/pancreatitis.html</a:t>
            </a:r>
          </a:p>
          <a:p>
            <a:r>
              <a:rPr lang="it-IT"/>
              <a:t>[/Sources]</a:t>
            </a:r>
          </a:p>
          <a:p>
            <a:r>
              <a:rPr lang="it-IT"/>
              <a:t>[Sources]</a:t>
            </a:r>
          </a:p>
          <a:p>
            <a:r>
              <a:rPr lang="it-IT"/>
              <a:t>Cirrosi: NIDDK, https://www.niddk.nih.gov/health-information/liver-disease/cirrhosis (consultato 11 ottobre 2026).</a:t>
            </a:r>
          </a:p>
          <a:p>
            <a:r>
              <a:rPr lang="it-IT"/>
              <a:t>[Sources]</a:t>
            </a:r>
          </a:p>
          <a:p>
            <a:r>
              <a:rPr lang="it-IT"/>
              <a:t>NIDDK, Symptoms &amp; Causes of Cirrhosis. https://www.niddk.nih.gov/health-information/liver-disease/cirrhosis/symptoms-causes (consultato 11 ottobre 2026). Cause principali: epatopatia da alcol, steatosi epatica metabolica, epatiti croniche B e C.</a:t>
            </a:r>
          </a:p>
          <a:p>
            <a:r>
              <a:rPr lang="it-IT"/>
              <a:t>[/Sources]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Respiratorio_sorella Giardinelli.pdf, sezioni vie aeree, polmoni e respirazione.</a:t>
            </a:r>
          </a:p>
          <a:p>
            <a:r>
              <a:t>Sintesi didattica. Le immagini, quando presenti, provengono dai PDF citati. La classificazione comprende i sei apparati di Didò più il locomotore di Mensa, su richiesta dell’utente.</a:t>
            </a:r>
          </a:p>
          <a:p>
            <a:r>
              <a:rPr lang="it-IT"/>
              <a:t>Percorso dell’aria: spiegazioni riformulate dai sette punti dell’immagine fornita dall’utente (Sinapsi.org © 2023), con numerazione corrispondente.</a:t>
            </a:r>
          </a:p>
          <a:p>
            <a:endParaRPr lang="it-IT"/>
          </a:p>
          <a:p>
            <a:r>
              <a:rPr lang="it-IT"/>
              <a:t>[Sources]</a:t>
            </a:r>
          </a:p>
          <a:p>
            <a:r>
              <a:rPr lang="it-IT"/>
              <a:t>https://openstax.org/books/anatomy-and-physiology-2e/pages/22-1-organs-and-structures-of-the-respiratory-system</a:t>
            </a:r>
          </a:p>
          <a:p>
            <a:r>
              <a:rPr lang="it-IT"/>
              <a:t>La figura originale resta invariata. La numerazione nell’immagine identifica strutture, non una successione di tratti attraversati dall’aria.</a:t>
            </a:r>
          </a:p>
          <a:p>
            <a:r>
              <a:rPr lang="it-IT"/>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I polmoni</a:t>
            </a:r>
          </a:p>
          <a:p>
            <a:r>
              <a:t>Fonti per struttura e funzione:</a:t>
            </a:r>
          </a:p>
          <a:p>
            <a:r>
              <a:t>https://www.nhlbi.nih.gov/health/lungs/respiratory-system</a:t>
            </a:r>
          </a:p>
          <a:p>
            <a:r>
              <a:t>https://www.ncbi.nlm.nih.gov/sites/books/NBK470197/?report=printable</a:t>
            </a:r>
          </a:p>
          <a:p>
            <a:r>
              <a:t>Illustrazione generata con IA: rappresentazione schematica, non in scala; non è un atlante anatomico né uno strumento diagnostico.</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https://openstax.org/books/anatomy-and-physiology-2e/pages/22-3-the-process-of-breathing</a:t>
            </a:r>
          </a:p>
          <a:p>
            <a:r>
              <a:t>https://openstax.org/books/anatomy-and-physiology-2e/pages/22-4-gas-exchange</a:t>
            </a:r>
          </a:p>
          <a:p>
            <a:r>
              <a:t>L’espirazione forzata recluta muscoli espiratori. Ventilazione e perfusione devono essere adeguate per scambi efficaci.</a:t>
            </a:r>
          </a:p>
          <a:p>
            <a:r>
              <a:t>[/Sources]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https://www.msdmanuals.com/it/casa/disturbi-polmonari-e-delle-vie-respiratorie/asma/asma</a:t>
            </a:r>
          </a:p>
          <a:p>
            <a:r>
              <a:t>https://www.msdmanuals.com/it/casa/disturbi-polmonari-e-delle-vie-respiratorie/insufficienza-respiratoria-e-sindrome-da-distress-respiratorio-acuto/insufficienza-respiratoria</a:t>
            </a:r>
          </a:p>
          <a:p>
            <a:endParaRPr lang="it-IT"/>
          </a:p>
          <a:p>
            <a:r>
              <a:rPr lang="it-IT"/>
              <a:t>[Sources]</a:t>
            </a:r>
          </a:p>
          <a:p>
            <a:r>
              <a:rPr lang="it-IT"/>
              <a:t>Polmonite: https://www.nhs.uk/conditions/pneumonia/</a:t>
            </a:r>
          </a:p>
          <a:p>
            <a:r>
              <a:rPr lang="it-IT"/>
              <a:t>https://www.nhsinform.scot/illnesses-and-conditions/lungs-and-airways/pneumonia</a:t>
            </a:r>
          </a:p>
          <a:p>
            <a:r>
              <a:rPr lang="it-IT"/>
              <a:t>[/Sources]</a:t>
            </a:r>
          </a:p>
          <a:p>
            <a:endParaRPr lang="it-IT"/>
          </a:p>
          <a:p>
            <a:r>
              <a:rPr lang="it-IT"/>
              <a:t>[Sources]</a:t>
            </a:r>
          </a:p>
          <a:p>
            <a:r>
              <a:rPr lang="it-IT"/>
              <a:t>Enfisema polmonare, danno delle pareti alveolari e difficoltà di espirazione: https://www.nhlbi.nih.gov/health/copd</a:t>
            </a:r>
          </a:p>
          <a:p>
            <a:r>
              <a:rPr lang="it-IT"/>
              <a:t>Perdita di elasticità e fumo come fattore di rischio: https://www.nhlbi.nih.gov/health/copd/causes</a:t>
            </a:r>
          </a:p>
          <a:p>
            <a:r>
              <a:rPr lang="it-IT"/>
              <a:t>[/Sources]</a:t>
            </a:r>
          </a:p>
          <a:p>
            <a:r>
              <a:rPr lang="it-IT"/>
              <a:t>[Sources]</a:t>
            </a:r>
          </a:p>
          <a:p>
            <a:r>
              <a:rPr lang="it-IT"/>
              <a:t>Pleurite: NHS, https://www.nhs.uk/conditions/pleurisy/ (consultato 11 ottobre 2026).</a:t>
            </a:r>
          </a:p>
          <a:p>
            <a:r>
              <a:rPr lang="it-IT"/>
              <a:t>[Sources]</a:t>
            </a:r>
          </a:p>
          <a:p>
            <a:r>
              <a:rPr lang="it-IT"/>
              <a:t>AIRC: Tumore del polmone, aggiornato 17 marzo 2026. https://www.airc.it/cancro/informazioni-tumori/guida-ai-tumori/tumore-al-polmone</a:t>
            </a:r>
          </a:p>
          <a:p>
            <a:r>
              <a:rPr lang="it-IT"/>
              <a:t>AIMaC: Tumore al polmone. https://www.aimac.it/schede-tumori/tumore-polmone</a:t>
            </a:r>
          </a:p>
          <a:p>
            <a:r>
              <a:rPr lang="it-IT"/>
              <a:t>[/Sources]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Urinario e Tegumentario_dr.Gaeta.pdf, sezioni reni, nefrone e vie urinarie.</a:t>
            </a:r>
          </a:p>
          <a:p>
            <a:r>
              <a:t>Sistema Endocrino_dr.Arena.pdf, sezioni ipofisi, tiroide, paratiroidi, surreni e pancreas.</a:t>
            </a:r>
          </a:p>
          <a:p>
            <a:r>
              <a:t>Sintesi didattica. Le immagini, quando presenti, provengono dai PDF citati. La classificazione comprende i sei apparati di Didò più il locomotore di Mensa, su richiesta dell’utente.</a:t>
            </a:r>
          </a:p>
          <a:p>
            <a:r>
              <a:rPr lang="it-IT"/>
              <a:t>Immagine dell’apparato urinario fornita dall’utente.</a:t>
            </a:r>
          </a:p>
          <a:p>
            <a:r>
              <a:rPr lang="it-IT"/>
              <a:t>Percorso e funzioni: NIDDK, The Urinary Tract &amp; How It Works, https://www.niddk.nih.gov/health-information/urologic-diseases/urinary-tract-how-it-works ; NICHD, Urinary Tract Health, https://www.nichd.nih.gov/health/topics/factsheets/urinary</a:t>
            </a:r>
          </a:p>
          <a:p>
            <a:r>
              <a:rPr lang="it-IT"/>
              <a:t>Definizione dei nefroni: piccole unità filtranti dei reni. Fonte: NIDDK, Your Urinary System and How It Works, https://www.govinfo.gov/content/pkg/GOVPUB-HE20_3300-PURL-gpo12875/pdf/GOVPUB-HE20_3300-PURL-gpo12875.pdf</a:t>
            </a:r>
          </a:p>
          <a:p>
            <a:r>
              <a:rPr lang="it-IT"/>
              <a:t>Chiarimento dei collegamenti: NIDDK, Your Kidneys &amp; How They Work, https://www.niddk.nih.gov/health-information/kidney-disease/kidneys-how-they-work ; Anatomy &amp; Physiology 2e, Water Balance, https://open.oregonstate.education/anatomy2e/chapter/water-balance/ ; TeachMePhysiology, Water Filtration and Reabsorption, https://teachmephysiology.com/urinary-system/regulation/water-filtration-and-reabsorption/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a:spLocks noGrp="1"/>
          </p:cNvSpPr>
          <p:nvPr>
            <p:ph type="body" idx="1"/>
          </p:nvPr>
        </p:nvSpPr>
        <p:spPr/>
        <p:txBody>
          <a:bodyPr/>
          <a:lstStyle/>
          <a:p>
            <a:r>
              <a:t>Approfondimento didattico: I reni</a:t>
            </a:r>
          </a:p>
          <a:p>
            <a:r>
              <a:t>Fonti per struttura e funzione:</a:t>
            </a:r>
          </a:p>
          <a:p>
            <a:r>
              <a:t>https://www.niddk.nih.gov/health-information/kidney-disease/kidneys-how-they-work</a:t>
            </a:r>
          </a:p>
          <a:p>
            <a:r>
              <a:t>https://pubmed.ncbi.nlm.nih.gov/30855923/</a:t>
            </a:r>
          </a:p>
          <a:p>
            <a:r>
              <a:t>https://www.kidney.org/kidney-topics/kidney-function</a:t>
            </a:r>
          </a:p>
          <a:p>
            <a:r>
              <a:t>Illustrazione generata con IA: rappresentazione schematica, non in scala; non è un atlante anatomico né uno strumento diagnostico.</a:t>
            </a:r>
          </a:p>
          <a:p>
            <a:r>
              <a:rPr lang="en-US"/>
              <a:t>[Sources]</a:t>
            </a:r>
          </a:p>
          <a:p>
            <a:r>
              <a:rPr lang="en-US"/>
              <a:t>National Cancer Institute, SEER Training: Anatomy of the Kidney &amp; Ureter. https://www.training.seer.cancer.gov/kidney/anatomy/</a:t>
            </a:r>
          </a:p>
          <a:p>
            <a:r>
              <a:rPr lang="en-US"/>
              <a:t>Kidneys. https://www.training.seer.cancer.gov/anatomy/urinary/components/kidney.html</a:t>
            </a:r>
          </a:p>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https://www.niddk.nih.gov/health-information/urologic-diseases/kidney-stones/definition-facts</a:t>
            </a:r>
          </a:p>
          <a:p>
            <a:r>
              <a:t>https://www.niddk.nih.gov/health-information/urologic-diseases/kidney-infection-pyelonephritis</a:t>
            </a:r>
          </a:p>
          <a:p>
            <a:r>
              <a:rPr lang="it-IT"/>
              <a:t>[Sources]</a:t>
            </a:r>
          </a:p>
          <a:p>
            <a:r>
              <a:rPr lang="it-IT"/>
              <a:t>Cistite: Humanitas. https://www.humanitas.it/malattie/cistite/</a:t>
            </a:r>
          </a:p>
          <a:p>
            <a:endParaRPr lang="it-IT"/>
          </a:p>
          <a:p>
            <a:r>
              <a:rPr lang="it-IT"/>
              <a:t>Fonte aggiunta sull’incontinenza urinaria: NIDDK, Bladder Control Problems (Urinary Incontinence), https://www.niddk.nih.gov/health-information/urologic-diseases/bladder-control-problems/definition-facts ; MedlinePlus, https://medlineplus.gov/ency/article/003142.htm . L’incontinenza è una condizione caratterizzata da perdita involontaria di urina, che può associarsi a diverse cause.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App.Riproduttivo FEMMINILE_sorella Giambitto.pdf e App.Riproduttivo MASCHILE_dr.Caprioli.pdf, sezioni anatomia, gonadi e gametogenesi.</a:t>
            </a:r>
          </a:p>
          <a:p>
            <a:r>
              <a:t>Sistema Endocrino_dr.Arena.pdf, sezioni ipofisi, tiroide, paratiroidi, surreni e pancreas.</a:t>
            </a:r>
          </a:p>
          <a:p>
            <a:r>
              <a:t>Sintesi didattica. Le immagini, quando presenti, provengono dai PDF citati. La classificazione comprende i sei apparati di Didò più il locomotore di Mensa, su richiesta dell’utente.</a:t>
            </a:r>
          </a:p>
          <a:p>
            <a:r>
              <a:rPr lang="it-IT"/>
              <a:t>Illustrazioni schematiche degli apparati riproduttori femminile e maschile generate con IA a scopo didattico.</a:t>
            </a:r>
          </a:p>
          <a:p>
            <a:r>
              <a:rPr lang="it-IT"/>
              <a:t>[Sources]</a:t>
            </a:r>
          </a:p>
          <a:p>
            <a:r>
              <a:rPr lang="it-IT"/>
              <a:t>https://www.msdmanuals.com/it/casa/i-fatti-in-breve-problemi-di-salute-delle-donne/biologia-dell-apparato-riproduttivo-femminile/sistema-riproduttivo-femminile</a:t>
            </a:r>
          </a:p>
          <a:p>
            <a:r>
              <a:rPr lang="it-IT"/>
              <a:t>https://www.msdmanuals.com/it/casa/problemi-di-salute-degli-uomini/biologia-del-sistema-riproduttivo-maschile/struttura-del-sistema-riproduttivo-maschile</a:t>
            </a:r>
          </a:p>
          <a:p>
            <a:r>
              <a:rPr lang="it-IT"/>
              <a:t>https://www.gradenigo.it/enciclopedia/anatomia/apparato-riproduttivo/</a:t>
            </a:r>
          </a:p>
          <a:p>
            <a:r>
              <a:rPr lang="it-IT"/>
              <a:t>[/Sources]</a:t>
            </a:r>
          </a:p>
          <a:p>
            <a:r>
              <a:rPr lang="it-IT"/>
              <a:t>[Sources]</a:t>
            </a:r>
          </a:p>
          <a:p>
            <a:r>
              <a:rPr lang="it-IT"/>
              <a:t>Testosterone definition and male characteristics: MedlinePlus, https://medlineplus.gov/druginfo/meds/a619028.html ; Cleveland Clinic, https://my.clevelandclinic.org/health/articles/24101-testosterone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https://www.who.int/news-room/fact-sheets/detail/endometriosis</a:t>
            </a:r>
          </a:p>
          <a:p>
            <a:r>
              <a:t>https://armandostabileurologo.com/patologie/patologie-benigne/</a:t>
            </a:r>
          </a:p>
          <a:p>
            <a:endParaRPr/>
          </a:p>
          <a:p>
            <a:r>
              <a:t>[Sources]</a:t>
            </a:r>
          </a:p>
          <a:p>
            <a:r>
              <a:t>Tumori dell’utero: https://www.airc.it/cancro/informazioni-tumori/guida-ai-tumori/tumore-dellutero</a:t>
            </a:r>
          </a:p>
          <a:p>
            <a:r>
              <a:t>Tumore della prostata: https://www.airc.it/cancro/informazioni-tumori/guida-ai-tumori/tumore-della-prostata</a:t>
            </a:r>
          </a:p>
          <a:p>
            <a:r>
              <a:t>https://www.istitutotumori.mi.it/patologie/tumore-prostata</a:t>
            </a:r>
          </a:p>
          <a:p>
            <a:r>
              <a:t>[/Sources]</a:t>
            </a:r>
          </a:p>
          <a:p>
            <a:endParaRPr/>
          </a:p>
          <a:p>
            <a:r>
              <a:t>Fonte HPV e carcinoma della cervice: IARC, Cervical cancer. Infezione persistente da tipi HPV ad alto rischio quale causa principale.</a:t>
            </a:r>
          </a:p>
          <a:p>
            <a:r>
              <a:t>https://www.iarc.who.int/cancer-type/cervical-cancer/</a:t>
            </a:r>
          </a:p>
          <a:p>
            <a:r>
              <a:rPr lang="it-IT"/>
              <a:t>Fonte per Varicocele: Mayo Clinic, “Varicocele - Symptoms and causes”, https://www.mayoclinic.org/diseases-conditions/varicocele/symptoms-causes/syc-20378771 . Dilatazione delle vene dello scroto, spesso sinistra, frequentemente asintomatica, con possibili dolore e alterazioni della fertilità.</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cartella OneDrive CARLA/PERSONALE/Croce Rossa/II.VV/Materiale Didattico.</a:t>
            </a:r>
          </a:p>
          <a:p>
            <a:r>
              <a:t>App.Riproduttivo FEMMINILE_sorella Giambitto.pdf e App.Riproduttivo MASCHILE_dr.Caprioli.pdf, sezioni anatomia, gonadi e gametogenesi.</a:t>
            </a:r>
          </a:p>
          <a:p>
            <a:r>
              <a:t>Sistema Endocrino_dr.Arena.pdf, sezioni ipofisi, tiroide, paratiroidi, surreni e pancreas.</a:t>
            </a:r>
          </a:p>
          <a:p>
            <a:r>
              <a:t>Sintesi didattica. Le immagini, quando presenti, provengono dai PDF citati. La classificazione comprende i sei apparati di Didò più il locomotore di Mensa, su richiesta dell’utente.</a:t>
            </a:r>
          </a:p>
          <a:p>
            <a:r>
              <a:t>Illustrazioni schematiche degli apparati riproduttori femminile e maschile generate con IA a scopo didattico.</a:t>
            </a:r>
          </a:p>
          <a:p>
            <a:r>
              <a:t>[Sources]</a:t>
            </a:r>
          </a:p>
          <a:p>
            <a:r>
              <a:t>https://www.msdmanuals.com/it/casa/i-fatti-in-breve-problemi-di-salute-delle-donne/biologia-dell-apparato-riproduttivo-femminile/sistema-riproduttivo-femminile</a:t>
            </a:r>
          </a:p>
          <a:p>
            <a:r>
              <a:t>https://www.msdmanuals.com/it/casa/problemi-di-salute-degli-uomini/biologia-del-sistema-riproduttivo-maschile/struttura-del-sistema-riproduttivo-maschile</a:t>
            </a:r>
          </a:p>
          <a:p>
            <a:r>
              <a:t>https://www.gradenigo.it/enciclopedia/anatomia/apparato-riproduttivo/</a:t>
            </a:r>
          </a:p>
          <a:p>
            <a:r>
              <a:t>[/Sources]</a:t>
            </a:r>
          </a:p>
          <a:p>
            <a:endParaRPr/>
          </a:p>
          <a:p>
            <a:r>
              <a:t>[Sources]</a:t>
            </a:r>
          </a:p>
          <a:p>
            <a:r>
              <a:t>Ciclo mestruale: NHS, Periods and fertility in the menstrual cycle. https://www.nhs.uk/conditions/periods/fertility-in-the-menstrual-cycle/</a:t>
            </a:r>
          </a:p>
          <a:p>
            <a:r>
              <a:t>Le descrizioni seguono la sequenza uterina e ovarica senza assumere che l’ovulazione cada sempre al giorno 14.</a:t>
            </a:r>
          </a:p>
          <a:p>
            <a:r>
              <a:t>[/Sources]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https://www.who.int/news-room/fact-sheets/detail/endometriosis</a:t>
            </a:r>
          </a:p>
          <a:p>
            <a:r>
              <a:t>https://armandostabileurologo.com/patologie/patologie-benigne/</a:t>
            </a:r>
          </a:p>
          <a:p>
            <a:endParaRPr lang="it-IT"/>
          </a:p>
          <a:p>
            <a:r>
              <a:rPr lang="it-IT"/>
              <a:t>[Sources]</a:t>
            </a:r>
          </a:p>
          <a:p>
            <a:r>
              <a:rPr lang="it-IT"/>
              <a:t>Tumori dell’utero: https://www.airc.it/cancro/informazioni-tumori/guida-ai-tumori/tumore-dellutero</a:t>
            </a:r>
          </a:p>
          <a:p>
            <a:r>
              <a:rPr lang="it-IT"/>
              <a:t>Tumore della prostata: https://www.airc.it/cancro/informazioni-tumori/guida-ai-tumori/tumore-della-prostata</a:t>
            </a:r>
          </a:p>
          <a:p>
            <a:r>
              <a:rPr lang="it-IT"/>
              <a:t>https://www.istitutotumori.mi.it/patologie/tumore-prostata</a:t>
            </a:r>
          </a:p>
          <a:p>
            <a:r>
              <a:rPr lang="it-IT"/>
              <a:t>[/Sources]</a:t>
            </a:r>
          </a:p>
          <a:p>
            <a:endParaRPr lang="it-IT"/>
          </a:p>
          <a:p>
            <a:r>
              <a:rPr lang="it-IT"/>
              <a:t>Fonte HPV e carcinoma della cervice: IARC, Cervical cancer. Infezione persistente da tipi HPV ad alto rischio quale causa principale.</a:t>
            </a:r>
          </a:p>
          <a:p>
            <a:r>
              <a:rPr lang="it-IT"/>
              <a:t>https://www.iarc.who.int/cancer-type/cervical-cancer/</a:t>
            </a:r>
          </a:p>
          <a:p>
            <a:r>
              <a:rPr lang="it-IT"/>
              <a:t>Fonte aggiunta sui fibromi uterini: NICHD, Uterine Fibroids, https://www.nichd.nih.gov/health/topics/uterine ; Johns Hopkins Medicine, Fibroids, https://www.hopkinsmedicine.org/health/conditions-and-diseases/uterine-fibroids . Formazioni benigne muscolari uterine, spesso asintomatiche, con possibili sanguinamenti abbondanti, dolore e pressione pelvica.</a:t>
            </a:r>
          </a:p>
          <a:p>
            <a:r>
              <a:rPr lang="it-IT"/>
              <a:t>Fonti delle aggiunte: PCOS, Gloucestershire Hospitals NHS, https://www.gloshospitals.nhs.uk/your-visit/patient-information-leaflets/polycystic-ovarian-syndrome-pcos-ghpi0772_11_18/ ; cisti ovariche, NHS, https://www.nhs.uk/conditions/ovarian-cyst/ ; candidosi, CDC, https://www.cdc.gov/candidiasis/about/index.html e Mayo Clinic, https://www.mayoclinic.org/diseases-conditions/yeast-infection/symptoms-causes/syc-20378999 . PCOS e cisti ovariche sono condizioni distinte.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Definizione, dotti, lobuli e diffusione: https://www.airc.it/cancro/informazioni-tumori/guida-ai-tumori/tumore-del-seno</a:t>
            </a:r>
          </a:p>
          <a:p>
            <a:r>
              <a:t>Segni e necessità di valutazione medica: https://www.nhs.uk/conditions/breast-cancer-in-women/symptoms-of-breast-cancer-in-women/</a:t>
            </a:r>
          </a:p>
          <a:p>
            <a:r>
              <a:t>Collocazione didattica: slide dedicata nella sezione riproduttiva per la funzione della ghiandola mammaria nella produzione del latte.</a:t>
            </a:r>
          </a:p>
          <a:p>
            <a:r>
              <a:t>[/Sources]</a:t>
            </a:r>
          </a:p>
          <a:p>
            <a:endParaRPr lang="it-IT"/>
          </a:p>
          <a:p>
            <a:r>
              <a:rPr lang="it-IT"/>
              <a:t>[Sources]</a:t>
            </a:r>
          </a:p>
          <a:p>
            <a:r>
              <a:rPr lang="it-IT"/>
              <a:t>https://training.seer.cancer.gov/breast/anatomy.html</a:t>
            </a:r>
          </a:p>
          <a:p>
            <a:r>
              <a:rPr lang="it-IT"/>
              <a:t>I lobuli producono latte, i dotti lo trasportano al capezzolo.</a:t>
            </a:r>
          </a:p>
          <a:p>
            <a:r>
              <a:rPr lang="it-IT"/>
              <a:t>[/Sources]</a:t>
            </a:r>
          </a:p>
          <a:p>
            <a:endParaRPr lang="it-IT"/>
          </a:p>
          <a:p>
            <a:r>
              <a:rPr lang="it-IT"/>
              <a:t>Fonte: Ministero della Salute, Il tumore della mammella, dati I numeri del cancro in Italia 2023. Il 30,0% si riferisce ai tumori nelle donne, non ai tumori dell’intera popolazione.</a:t>
            </a:r>
          </a:p>
          <a:p>
            <a:r>
              <a:rPr lang="it-IT"/>
              <a:t>https://www.salute.gov.it/new/it/tema/screening-oncologici/il-tumore-della-mammella/</a:t>
            </a:r>
          </a:p>
          <a:p>
            <a:endParaRPr lang="it-IT"/>
          </a:p>
          <a:p>
            <a:r>
              <a:rPr lang="it-IT"/>
              <a:t>Distinzione in situ/invasivo: le forme in situ non superano la membrana basale. Le forme invasive infiltrano lo stroma e possono diffondersi ai linfonodi e a distanza. Origine prevalente del carcinoma mammario: epitelio dei dotti o dei lobuli.</a:t>
            </a:r>
          </a:p>
          <a:p>
            <a:r>
              <a:rPr lang="it-IT"/>
              <a:t>Fonti: https://pubmed.ncbi.nlm.nih.gov/33620843/</a:t>
            </a:r>
          </a:p>
          <a:p>
            <a:r>
              <a:rPr lang="it-IT"/>
              <a:t>https://www.cancer.org/cancer/types/breast-cancer/types-of-breast-cancer/dcis.html</a:t>
            </a:r>
          </a:p>
          <a:p>
            <a:r>
              <a:rPr lang="it-IT"/>
              <a:t>Prevenzione e screening mammografico: Ministero della Salute, Screening per il cancro del seno, aggiornato 8 gennaio 2026, https://www.salute.gov.it/new/it/tema/tumori-e-screening/screening-il-cancro-del-seno/ ; FAQ Tumore della mammella, aggiornate 10 gennaio 2025, https://www.salute.gov.it/new/it/faq/faq-tumore-della-mammella/ . Programma nazionale: mammografia ogni due anni, 50–69 anni. Estensioni regionali 45–74 anni con calendari locali: non applicare automaticamente lo stesso intervallo a tutte le fasce. I controlli individuali e in presenza di sintomi vanno concordati con il medico. Screening = diagnosi precoce in assenza di sintomi, distinto dalla riduzione del rischio tramite stili di vita.</a:t>
            </a:r>
          </a:p>
          <a:p>
            <a:r>
              <a:rPr lang="it-IT"/>
              <a:t>Dato già presente sul 30%: Ministero della Salute, Screening oncologici, https://www.salute.gov.it/new/it/tema/salute-della-donna/screening-oncologici-0/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[Sources]</a:t>
            </a:r>
          </a:p>
          <a:p>
            <a:r>
              <a:t>App.Riproduttivo FEMMINILE_sorella Giambitto.pdf, pp. 38–43, 51–52, 55–56, 60–69. Sintesi didattica per formazione di base II.VV.</a:t>
            </a:r>
          </a:p>
          <a:p>
            <a:r>
              <a:t>Non ripresi dosaggi, tempi d’uso dei singoli prodotti, indici di efficacia, indicazioni sul calendario fertile e meccanismi d’azione controversi o datati. La scelta del metodo richiede valutazione sanitaria individuale.</a:t>
            </a:r>
          </a:p>
          <a:p>
            <a:r>
              <a:t>[/Sources]</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[Sources]</a:t>
            </a:r>
          </a:p>
          <a:p>
            <a:r>
              <a:t>Diagnosi Prenatale_sorella Giambitto.pdf, opuscolo revisione 28/09/2016, pp. 4–11: screening, test combinato, DNA fetale, villocentesi, amniocentesi, ecografia morfologica e limiti degli esami.</a:t>
            </a:r>
          </a:p>
          <a:p>
            <a:r>
              <a:t>Semeiotica Ostetricia_sorella Giambitto.PDF, Silvia Giambitto, pp. 3, 9–11, 28–32, 40: durata, conferma, benessere fetale, diabete e controlli materni.</a:t>
            </a:r>
          </a:p>
          <a:p>
            <a:r>
              <a:t>Sintesi didattica di base. Non ripresi costi, percentuali, soglie o protocolli terapeutici datati.</a:t>
            </a:r>
          </a:p>
          <a:p>
            <a:r>
              <a:t>[/Sources]</a:t>
            </a:r>
          </a:p>
          <a:p>
            <a:endParaRPr lang="it-IT"/>
          </a:p>
          <a:p>
            <a:r>
              <a:rPr lang="it-IT"/>
              <a:t>Integrazione dal PDF Diagnosi Prenatale_sorella Giambitto.pdf (rev. 28/09/2016), pp. 4–11: spiegazione della translucenza nucale, PAPP-A e beta-hCG, trisomie 21/18/13, significato del rischio e scelta informata. Non ripresi costi, percentuali di accuratezza o rischi procedurali datati.</a:t>
            </a:r>
          </a:p>
          <a:p>
            <a:r>
              <a:rPr lang="it-IT"/>
              <a:t>Glossario: trisomia = presenza di una copia aggiuntiva di un cromosoma. Uno screening può dare falsi positivi o falsi negativi. I test diagnostici accertano o escludono specifiche condizioni, non tutte le malattie.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[Sources]</a:t>
            </a:r>
          </a:p>
          <a:p>
            <a:r>
              <a:t>Semeiotica Ostetricia_sorella Giambitto.PDF, Silvia Giambitto: pp. 57, 62–65, 68–74, 81–87, 90–92. Fasi del parto, quattro manovre di Leopold, assistenza e puerperio.</a:t>
            </a:r>
          </a:p>
          <a:p>
            <a:r>
              <a:t>Sintesi descrittiva per formazione di base II.VV., non istruzioni per eseguire autonomamente manovre ostetriche. Non ripresi durate rigide del travaglio, soglie o schemi farmacologici.</a:t>
            </a:r>
          </a:p>
          <a:p>
            <a:r>
              <a:t>[/Sources]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Fonti: cartella OneDrive CARLA/PERSONALE/Croce Rossa/II.VV/Materiale Didattico.</a:t>
            </a:r>
          </a:p>
          <a:p>
            <a:r>
              <a:t>App. Locomotore_dr.Mensa.pdf, pp. 2–4, 11–16, 25–45.</a:t>
            </a:r>
          </a:p>
          <a:p>
            <a:r>
              <a:t>Biologia Materiale 1.PDF, Tortora e Derrickson, Conosciamo il corpo umano, Zanichelli 2020, cap. 4.</a:t>
            </a:r>
          </a:p>
          <a:p>
            <a:r>
              <a:t>Sintesi didattica. Le immagini, quando presenti, provengono dai PDF citati. La classificazione comprende i sei apparati di Didò più il locomotore di Mensa, su richiesta dell’utente.</a:t>
            </a:r>
          </a:p>
          <a:p>
            <a:r>
              <a:rPr lang="it-IT"/>
              <a:t>Riorganizzazione ispirata alla mappa allegata dall’utente. Figure anatomiche ritagliate dalla stessa immagine. Testi adattati dai contenuti già presenti nelle slide 14, 15 e 23. Le classificazioni muscolari distinguono il muscolo cardiaco, striato ma involontario.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Fonti delle definizioni:</a:t>
            </a:r>
          </a:p>
          <a:p>
            <a:r>
              <a:t>https://www.msdmanuals.com/it/professionale/disturbi-del-tessuto-muscoloscheletrico-e-connettivo/patologie-articolari/artrosi</a:t>
            </a:r>
          </a:p>
          <a:p>
            <a:r>
              <a:rPr lang="it-IT"/>
              <a:t>https://www.msdmanuals.com/pt/profissional/dist%C3%BArbios-dos-tecidos-conjuntivo-e-musculoesquel%C3%A9tico/doen%C3%A7as-articulares/artrite-reumatoide?ruleredirectid=762</a:t>
            </a:r>
          </a:p>
          <a:p>
            <a:r>
              <a:rPr lang="it-IT"/>
              <a:t>Fonti per le voci aggiunte:</a:t>
            </a:r>
          </a:p>
          <a:p>
            <a:r>
              <a:rPr lang="it-IT"/>
              <a:t>Ernia del disco: NHS, https://www.nhs.uk/conditions/slipped-disc/ ; Norfolk and Norwich University Hospitals NHS, https://www.nnuh.nhs.uk/departments/orthopaedic-amp-trauma/spine/lumbar-disc-herniation-lower-back/</a:t>
            </a:r>
          </a:p>
          <a:p>
            <a:r>
              <a:rPr lang="it-IT"/>
              <a:t>Fibromialgia: NHS, https://www.nhs.uk/conditions/fibromyalgia/</a:t>
            </a:r>
          </a:p>
          <a:p>
            <a:r>
              <a:rPr lang="it-IT"/>
              <a:t>Tendiniti e tendinopatie: NHS, https://www.nhs.uk/conditions/tendonitis/ ; East Kent Hospitals NHS, https://leaflets.ekhuft.nhs.uk/inflamed-or-swollen-tendon-tendinopathy-and-tenosynovitis-aftercare-advice/html/</a:t>
            </a:r>
          </a:p>
          <a:p>
            <a:r>
              <a:rPr lang="it-IT"/>
              <a:t>Lesioni muscolari: NHS, https://www.nhs.uk/conditions/sprains-and-strains/</a:t>
            </a:r>
          </a:p>
          <a:p>
            <a:endParaRPr lang="it-IT"/>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Fonti: </a:t>
            </a:r>
            <a:r>
              <a:rPr lang="it-IT"/>
              <a:t>cartella</a:t>
            </a:r>
            <a:r>
              <a:rPr dirty="0"/>
              <a:t> OneDrive CARLA/PERSONALE/Croce Rossa/II.VV/</a:t>
            </a:r>
            <a:r>
              <a:rPr lang="it-IT"/>
              <a:t>Materiale</a:t>
            </a:r>
            <a:r>
              <a:rPr dirty="0"/>
              <a:t> </a:t>
            </a:r>
            <a:r>
              <a:rPr lang="it-IT"/>
              <a:t>Didattico</a:t>
            </a:r>
            <a:r>
              <a:rPr dirty="0"/>
              <a:t>.</a:t>
            </a:r>
          </a:p>
          <a:p>
            <a:r>
              <a:rPr lang="it-IT"/>
              <a:t>Farmacologia</a:t>
            </a:r>
            <a:r>
              <a:rPr dirty="0"/>
              <a:t> 1_Puglisi Salvatore.pdf, </a:t>
            </a:r>
            <a:r>
              <a:rPr lang="it-IT"/>
              <a:t>sezioni</a:t>
            </a:r>
            <a:r>
              <a:rPr dirty="0"/>
              <a:t> </a:t>
            </a:r>
            <a:r>
              <a:rPr lang="it-IT"/>
              <a:t>farmaco</a:t>
            </a:r>
            <a:r>
              <a:rPr dirty="0"/>
              <a:t>, principio </a:t>
            </a:r>
            <a:r>
              <a:rPr lang="it-IT"/>
              <a:t>attivo</a:t>
            </a:r>
            <a:r>
              <a:rPr dirty="0"/>
              <a:t>, </a:t>
            </a:r>
            <a:r>
              <a:rPr lang="it-IT"/>
              <a:t>farmacocinetica</a:t>
            </a:r>
            <a:r>
              <a:rPr dirty="0"/>
              <a:t>, </a:t>
            </a:r>
            <a:r>
              <a:rPr lang="it-IT"/>
              <a:t>farmacodinamica</a:t>
            </a:r>
            <a:r>
              <a:rPr dirty="0"/>
              <a:t> ed </a:t>
            </a:r>
            <a:r>
              <a:rPr lang="it-IT"/>
              <a:t>escrezione</a:t>
            </a:r>
            <a:r>
              <a:rPr dirty="0"/>
              <a:t>.</a:t>
            </a:r>
          </a:p>
          <a:p>
            <a:r>
              <a:rPr lang="it-IT"/>
              <a:t>Sintesi</a:t>
            </a:r>
            <a:r>
              <a:rPr dirty="0"/>
              <a:t> </a:t>
            </a:r>
            <a:r>
              <a:rPr lang="it-IT"/>
              <a:t>didattica</a:t>
            </a:r>
            <a:r>
              <a:rPr dirty="0"/>
              <a:t>. Le </a:t>
            </a:r>
            <a:r>
              <a:rPr lang="it-IT"/>
              <a:t>immagini</a:t>
            </a:r>
            <a:r>
              <a:rPr dirty="0"/>
              <a:t>, </a:t>
            </a:r>
            <a:r>
              <a:rPr lang="it-IT"/>
              <a:t>quando</a:t>
            </a:r>
            <a:r>
              <a:rPr dirty="0"/>
              <a:t> </a:t>
            </a:r>
            <a:r>
              <a:rPr lang="it-IT"/>
              <a:t>presenti</a:t>
            </a:r>
            <a:r>
              <a:rPr dirty="0"/>
              <a:t>, </a:t>
            </a:r>
            <a:r>
              <a:rPr lang="it-IT"/>
              <a:t>provengono</a:t>
            </a:r>
            <a:r>
              <a:rPr dirty="0"/>
              <a:t> </a:t>
            </a:r>
            <a:r>
              <a:rPr lang="it-IT"/>
              <a:t>dai</a:t>
            </a:r>
            <a:r>
              <a:rPr dirty="0"/>
              <a:t> PDF </a:t>
            </a:r>
            <a:r>
              <a:rPr lang="it-IT"/>
              <a:t>citati</a:t>
            </a:r>
            <a:r>
              <a:rPr dirty="0"/>
              <a:t>. La </a:t>
            </a:r>
            <a:r>
              <a:rPr lang="it-IT"/>
              <a:t>classificazione</a:t>
            </a:r>
            <a:r>
              <a:rPr dirty="0"/>
              <a:t> </a:t>
            </a:r>
            <a:r>
              <a:rPr lang="it-IT"/>
              <a:t>comprende</a:t>
            </a:r>
            <a:r>
              <a:rPr dirty="0"/>
              <a:t> </a:t>
            </a:r>
            <a:r>
              <a:rPr lang="it-IT"/>
              <a:t>i</a:t>
            </a:r>
            <a:r>
              <a:rPr dirty="0"/>
              <a:t> sei </a:t>
            </a:r>
            <a:r>
              <a:rPr lang="it-IT"/>
              <a:t>apparati</a:t>
            </a:r>
            <a:r>
              <a:rPr dirty="0"/>
              <a:t> di </a:t>
            </a:r>
            <a:r>
              <a:rPr lang="it-IT"/>
              <a:t>Didò</a:t>
            </a:r>
            <a:r>
              <a:rPr dirty="0"/>
              <a:t> </a:t>
            </a:r>
            <a:r>
              <a:rPr lang="it-IT"/>
              <a:t>più</a:t>
            </a:r>
            <a:r>
              <a:rPr dirty="0"/>
              <a:t> il </a:t>
            </a:r>
            <a:r>
              <a:rPr lang="it-IT"/>
              <a:t>locomotore</a:t>
            </a:r>
            <a:r>
              <a:rPr dirty="0"/>
              <a:t> di Mensa, </a:t>
            </a:r>
            <a:r>
              <a:rPr lang="it-IT"/>
              <a:t>su</a:t>
            </a:r>
            <a:r>
              <a:rPr dirty="0"/>
              <a:t> </a:t>
            </a:r>
            <a:r>
              <a:rPr lang="it-IT"/>
              <a:t>richiesta</a:t>
            </a:r>
            <a:r>
              <a:rPr dirty="0"/>
              <a:t> </a:t>
            </a:r>
            <a:r>
              <a:rPr lang="it-IT"/>
              <a:t>dell’utente</a:t>
            </a:r>
            <a:r>
              <a:rPr dirty="0"/>
              <a:t>.</a:t>
            </a:r>
          </a:p>
          <a:p>
            <a:endParaRPr lang="it-IT"/>
          </a:p>
          <a:p>
            <a:r>
              <a:rPr lang="it-IT"/>
              <a:t>Distinzione tra farmaci antinfiammatori: testo fornito dall’utente, sintetizzato per la slide. FANS: inibizione della produzione di prostanoidi, coinvolti prevalentemente nella fase acuta. Steroidei: azione più ampia, anche sugli eventi tardivi dell’infiammazione.</a:t>
            </a:r>
          </a:p>
          <a:p>
            <a:endParaRPr lang="it-IT"/>
          </a:p>
          <a:p>
            <a:r>
              <a:rPr lang="it-IT"/>
              <a:t>Esempi didattici, non indicazioni terapeutiche: Aspirina contiene acido acetilsalicilico, un FANS. Bentelan contiene betametasone, un glucocorticoide (cortisonico). I cortisonici rientrano negli antinfiammatori steroidei, non costituiscono una categoria separata.</a:t>
            </a:r>
          </a:p>
          <a:p>
            <a:r>
              <a:rPr lang="it-IT"/>
              <a:t>Fonti: foglio illustrativo AIFA di Aspirina, https://api.aifa.gov.it/aifa-bdf-eif-be/1.0.0/organizzazione/22/farmaci/4763/stampati?ts=FI</a:t>
            </a:r>
          </a:p>
          <a:p>
            <a:r>
              <a:rPr lang="it-IT"/>
              <a:t>Foglio illustrativo Bentelan, https://farmaco-info.it/bentelan-138192/foglio-illustrativo</a:t>
            </a:r>
          </a:p>
          <a:p>
            <a:endParaRPr lang="it-IT"/>
          </a:p>
          <a:p>
            <a:r>
              <a:rPr lang="it-IT"/>
              <a:t>[Sources]</a:t>
            </a:r>
          </a:p>
          <a:p>
            <a:r>
              <a:rPr lang="it-IT"/>
              <a:t>Diuretici: aumentano la produzione di urina e aiutano a eliminare i liquidi in eccesso. Esempio: furosemide.</a:t>
            </a:r>
          </a:p>
          <a:p>
            <a:r>
              <a:rPr lang="it-IT"/>
              <a:t>https://www.nhs.uk/medicines/furosemide/</a:t>
            </a:r>
          </a:p>
          <a:p>
            <a:r>
              <a:rPr lang="it-IT"/>
              <a:t>[/Sources]</a:t>
            </a:r>
          </a:p>
          <a:p>
            <a:endParaRPr lang="it-IT"/>
          </a:p>
          <a:p>
            <a:r>
              <a:rPr lang="it-IT"/>
              <a:t>[Sources]</a:t>
            </a:r>
          </a:p>
          <a:p>
            <a:r>
              <a:rPr lang="it-IT"/>
              <a:t>https://www.msdmanuals.com/it/professionale/farmacologia-clinica/farmacocinetica/panoramica-sulla-farmacocinetica</a:t>
            </a:r>
          </a:p>
          <a:p>
            <a:r>
              <a:rPr lang="it-IT"/>
              <a:t>https://www.msdmanuals.com/it/professionale/farmacologia-clinica/farmacocinetica/assorbimento-del-farmaco</a:t>
            </a:r>
          </a:p>
          <a:p>
            <a:r>
              <a:rPr lang="it-IT"/>
              <a:t>[/Sources]</a:t>
            </a:r>
          </a:p>
          <a:p>
            <a:r>
              <a:rPr lang="it-IT"/>
              <a:t>Definizione di eccipienti: EMA, Excipient, https://www.ema.europa.eu/en/glossary-terms/excipient ; EMA, Excipients labelling, https://www.ema.europa.eu/en/human-regulatory-overview/marketing-authorisation/product-information-requirements/excipients-labelling . Gli eccipienti sono componenti diversi dal principio attivo, aggiunti con una funzione specifica. Non vanno descritti come sempre inerti: alcuni hanno azioni o effetti noti in determinate circostanze.</a:t>
            </a:r>
          </a:p>
          <a:p>
            <a:endParaRPr lang="it-IT"/>
          </a:p>
          <a:p>
            <a:r>
              <a:rPr lang="it-IT"/>
              <a:t>[Sources]</a:t>
            </a:r>
          </a:p>
          <a:p>
            <a:r>
              <a:rPr lang="it-IT"/>
              <a:t>Farmacologia 1_Puglisi Salvatore.pdf, pp. 4–5 (composizione), 8 (cinetica/dinamica), 17 (escrezione).</a:t>
            </a:r>
          </a:p>
          <a:p>
            <a:r>
              <a:rPr lang="it-IT"/>
              <a:t>Farmacologia_Uni Verona.pdf, pp. 2–3, 7, 29–31, 52–56 e 61 (ADME, assenza di assorbimento EV, distribuzione, metaboliti).</a:t>
            </a:r>
          </a:p>
          <a:p>
            <a:r>
              <a:rPr lang="it-IT"/>
              <a:t>[/Sources]</a:t>
            </a:r>
          </a:p>
          <a:p>
            <a:endParaRPr lang="it-IT"/>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https://www.msdmanuals.com/it/professionale/farmacologia-clinica/farmacocinetica/assorbimento-del-farmaco</a:t>
            </a:r>
          </a:p>
          <a:p>
            <a:r>
              <a:t>https://www.nhs.uk/medicines/paracetamol-for-adults/</a:t>
            </a:r>
          </a:p>
          <a:p>
            <a:r>
              <a:t>https://www.nhs.uk/medicines/furosemide/</a:t>
            </a:r>
          </a:p>
          <a:p>
            <a:r>
              <a:t>Esempi didattici dei criteri già presenti nella slide originale. Preparazioni magistrali: allestimento in farmacia su prescrizione per un paziente specifico.</a:t>
            </a:r>
          </a:p>
          <a:p>
            <a:r>
              <a:t>[/Sources]</a:t>
            </a:r>
          </a:p>
          <a:p>
            <a:r>
              <a:rPr lang="it-IT"/>
              <a:t>[Sources]</a:t>
            </a:r>
          </a:p>
          <a:p>
            <a:r>
              <a:rPr lang="it-IT"/>
              <a:t>Farmacologia 1_Puglisi Salvatore.pdf, pp. 6–7 (classificazione, precauzioni e controindicazioni), p. 19 (biodisponibilità).</a:t>
            </a:r>
          </a:p>
          <a:p>
            <a:r>
              <a:rPr lang="it-IT"/>
              <a:t>Farmacologia_Uni Verona.pdf, pp. 5–7 (vie), 44 e 65 (emivita), 48–51 (monitoraggio, beneficio/rischio, dose e posologia), 53 e 61 (funzione epatica/renale).</a:t>
            </a:r>
          </a:p>
          <a:p>
            <a:r>
              <a:rPr lang="it-IT"/>
              <a:t>Selezione per formazione di base II.VV.: non sono riportati schemi posologici, formule di clearance o protocolli di emergenza degli allegati.</a:t>
            </a:r>
          </a:p>
          <a:p>
            <a:r>
              <a:rPr lang="it-IT"/>
              <a:t>[/Sources]</a:t>
            </a:r>
          </a:p>
          <a:p>
            <a:endParaRPr lang="it-IT"/>
          </a:p>
          <a:p>
            <a:r>
              <a:rPr lang="it-IT"/>
              <a:t>Esempio di preparazione industriale: paracetamolo in compresse. La forma farmaceutica è distinta dalla via di somministrazione.</a:t>
            </a:r>
          </a:p>
          <a:p>
            <a:endParaRPr lang="it-IT"/>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https://pmc.ncbi.nlm.nih.gov/articles/PMC5065088/</a:t>
            </a:r>
          </a:p>
          <a:p>
            <a:r>
              <a:t>https://www.unife.it/medicina/lm.medicina/studiare/minisiti/farmacologia/materiale-didattico/2017-18/speciale/2-cortisonici</a:t>
            </a:r>
          </a:p>
          <a:p>
            <a:r>
              <a:t>https://www.nhs.uk/medicines/furosemide/</a:t>
            </a:r>
          </a:p>
          <a:p>
            <a:r>
              <a:t>https://www.aifa.gov.it/-/l-ema-aggiorna-le-linee-guida-sulle-interazioni-dei-farmaci</a:t>
            </a:r>
          </a:p>
          <a:p>
            <a:r>
              <a:t>Principi attivi e nomi commerciali già documentati nelle note della precedente slide di farmacologia. Nessuna posologia proposta.</a:t>
            </a:r>
          </a:p>
          <a:p>
            <a:r>
              <a:t>[/Sources]</a:t>
            </a:r>
          </a:p>
          <a:p>
            <a:endParaRPr lang="it-IT"/>
          </a:p>
          <a:p>
            <a:r>
              <a:rPr lang="it-IT"/>
              <a:t>Aggiornamento: schema di classi selezionate per azione terapeutica, non elenco esaustivo. Paracetamolo e diuretici già presenti nella slide 45. Meccanismi FANS e glucocorticoidi conservati dal contenuto originale. Antistaminici e cetirizina: NHS, Antihistamines, https://www.nhs.uk/medicines/antihistamines/ (consultato 8 ottobre 2026). Furosemide: https://www.nhs.uk/medicines/furosemide/.</a:t>
            </a:r>
          </a:p>
          <a:p>
            <a:r>
              <a:rPr lang="it-IT"/>
              <a:t>Nimesulide: esempio di FANS, fonte EMA https://www.ema.europa.eu/en/medicines/human/referrals/nimesulide-1 (consultata 8 ottobre 2026). Esempio classificativo, non indicazione terapeutica. Uso sistemico soggetto a prescrizione e restrizioni per il rischio epatico.</a:t>
            </a:r>
          </a:p>
          <a:p>
            <a:endParaRPr lang="it-IT"/>
          </a:p>
          <a:p>
            <a:r>
              <a:rPr lang="it-IT"/>
              <a:t>Riorganizzazione ispirata all’immagine fornita dall’utente: immagini ritagliate dal riferimento, nomi e impieghi sintetizzati dalla stessa fonte. Nessuna affermazione di maggiore utilizzo o di prescrizione obbligatoria per tutti i farmaci. Esempi distinti, non associazioni terapeutiche. Le indicazioni dipendono da diagnosi e formulazione. Nimesulide: restrizioni d’uso e rischio epatico come da fonte EMA già citata. Per consultazione si conserva il precedente approfondimento sui meccanismi:</a:t>
            </a:r>
          </a:p>
          <a:p>
            <a:endParaRPr lang="it-IT"/>
          </a:p>
          <a:p>
            <a:endParaRPr lang="it-IT"/>
          </a:p>
          <a:p>
            <a:endParaRPr lang="it-IT"/>
          </a:p>
          <a:p>
            <a:endParaRPr lang="it-IT"/>
          </a:p>
          <a:p>
            <a:r>
              <a:rPr lang="it-IT"/>
              <a:t>FARMACOLOGIA · 3 DI 3</a:t>
            </a:r>
          </a:p>
          <a:p>
            <a:r>
              <a:rPr lang="it-IT"/>
              <a:t>Classi di farmaci: azioni ed esempi</a:t>
            </a:r>
          </a:p>
          <a:p>
            <a:endParaRPr lang="it-IT"/>
          </a:p>
          <a:p>
            <a:r>
              <a:rPr lang="it-IT"/>
              <a:t>Anatomia umana · Materiale didattico II.VV.</a:t>
            </a:r>
          </a:p>
          <a:p>
            <a:r>
              <a:rPr lang="it-IT"/>
              <a:t>46</a:t>
            </a:r>
          </a:p>
          <a:p>
            <a:r>
              <a:rPr lang="it-IT"/>
              <a:t>CLASSE</a:t>
            </a:r>
          </a:p>
          <a:p>
            <a:r>
              <a:rPr lang="it-IT"/>
              <a:t>AZIONE PRINCIPALE</a:t>
            </a:r>
          </a:p>
          <a:p>
            <a:r>
              <a:rPr lang="it-IT"/>
              <a:t>PRINCIPI ATTIVI · ESEMPI</a:t>
            </a:r>
          </a:p>
          <a:p>
            <a:r>
              <a:rPr lang="it-IT"/>
              <a:t>Analgesici e antipiretici</a:t>
            </a:r>
          </a:p>
          <a:p>
            <a:r>
              <a:rPr lang="it-IT"/>
              <a:t>Riducono dolore e febbre.</a:t>
            </a:r>
          </a:p>
          <a:p>
            <a:r>
              <a:rPr lang="it-IT"/>
              <a:t>Paracetamolo</a:t>
            </a:r>
          </a:p>
          <a:p>
            <a:r>
              <a:rPr lang="it-IT"/>
              <a:t>Antinfiammatori</a:t>
            </a:r>
          </a:p>
          <a:p>
            <a:r>
              <a:rPr lang="it-IT"/>
              <a:t>non steroidei (FANS)</a:t>
            </a:r>
          </a:p>
          <a:p>
            <a:r>
              <a:rPr lang="it-IT"/>
              <a:t>Inibiscono le cicloossigenasi, riducendo la sintesi dei prostanoidi. Agiscono su dolore, febbre e infiammazione.</a:t>
            </a:r>
          </a:p>
          <a:p>
            <a:r>
              <a:rPr lang="it-IT"/>
              <a:t>Ibuprofene</a:t>
            </a:r>
          </a:p>
          <a:p>
            <a:r>
              <a:rPr lang="it-IT"/>
              <a:t>Acido acetilsalicilico</a:t>
            </a:r>
          </a:p>
          <a:p>
            <a:r>
              <a:rPr lang="it-IT"/>
              <a:t>(Aspirina)</a:t>
            </a:r>
          </a:p>
          <a:p>
            <a:r>
              <a:rPr lang="it-IT"/>
              <a:t>Nimesulide</a:t>
            </a:r>
          </a:p>
          <a:p>
            <a:r>
              <a:rPr lang="it-IT"/>
              <a:t>Antinfiammatori</a:t>
            </a:r>
          </a:p>
          <a:p>
            <a:r>
              <a:rPr lang="it-IT"/>
              <a:t>steroidei (cortisonici)</a:t>
            </a:r>
          </a:p>
          <a:p>
            <a:r>
              <a:rPr lang="it-IT"/>
              <a:t>I glucocorticoidi agiscono su recettori intracellulari e modificano l’espressione di geni della risposta infiammatoria e immunitaria.</a:t>
            </a:r>
          </a:p>
          <a:p>
            <a:r>
              <a:rPr lang="it-IT"/>
              <a:t>Betametasone</a:t>
            </a:r>
          </a:p>
          <a:p>
            <a:r>
              <a:rPr lang="it-IT"/>
              <a:t>(Bentelan)</a:t>
            </a:r>
          </a:p>
          <a:p>
            <a:r>
              <a:rPr lang="it-IT"/>
              <a:t>Diuretici</a:t>
            </a:r>
          </a:p>
          <a:p>
            <a:r>
              <a:rPr lang="it-IT"/>
              <a:t>Aumentano la diuresi e l’eliminazione di sodio e acqua.</a:t>
            </a:r>
          </a:p>
          <a:p>
            <a:r>
              <a:rPr lang="it-IT"/>
              <a:t>Furosemide</a:t>
            </a:r>
          </a:p>
          <a:p>
            <a:r>
              <a:rPr lang="it-IT"/>
              <a:t>Antistaminici</a:t>
            </a:r>
          </a:p>
          <a:p>
            <a:r>
              <a:rPr lang="it-IT"/>
              <a:t>Alleviano i sintomi allergici, come rinite e orticaria.</a:t>
            </a:r>
          </a:p>
          <a:p>
            <a:r>
              <a:rPr lang="it-IT"/>
              <a:t>Cetirizina</a:t>
            </a:r>
          </a:p>
          <a:p>
            <a:r>
              <a:rPr lang="it-IT"/>
              <a:t>Classificazione di omeprazolo e gabapentin: https://biologyinsights.com/taking-omeprazole-and-gabapentin-what-to-know/ (consultato 8 ottobre 2026), limitatamente a inibitore di pompa protonica e anticonvulsivante. Il gabapentin trova impiego anche nell’epilessia. Gli usi in slide sono esempi selezionati, non un elenco completo di indicazioni.</a:t>
            </a:r>
          </a:p>
          <a:p>
            <a:endParaRPr lang="it-IT"/>
          </a:p>
          <a:p>
            <a:r>
              <a:rPr lang="it-IT"/>
              <a:t>Antiemorragici: acido tranexamico, antifibrinolitico che limita la degradazione della fibrina. Impiego per il controllo di emorragie in contesti selezionati secondo valutazione medica, non per ogni causa di sanguinamento. Fonte: NHS, Common questions about tranexamic acid, https://www.nhs.uk/medicines/tranexamic-acid/common-questions-about-tranexamic-acid/ (consultata 8 ottobre 2026).</a:t>
            </a:r>
          </a:p>
          <a:p>
            <a:r>
              <a:rPr lang="it-IT"/>
              <a:t>Insulina: necessaria nel diabete di tipo 1 e indicata in alcuni pazienti con diabete di tipo 2. Metformina: esempio per il tipo 2. Fonte: Diabetes UK, https://www.diabetes.org.uk/about-diabetes/looking-after-diabetes/treatments/insulin e NHS https://www.nhs.uk/conditions/type-1-diabetes/treatment/ (consultate 8 ottobre 2026).</a:t>
            </a:r>
          </a:p>
          <a:p>
            <a:r>
              <a:rPr lang="it-IT"/>
              <a:t>Oppioidi: morfina come esempio. Indicata nel dolore intenso, sotto prescrizione e controllo medico. Fonte NHS: https://www.nhs.uk/medicines/morphine/ (consultata 8 ottobre 2026). Nessuna indicazione di dose o automedicazione.</a:t>
            </a:r>
          </a:p>
          <a:p>
            <a:r>
              <a:rPr lang="it-IT"/>
              <a:t>Anti-aritmici: esempio amiodarone, usato per trattare aritmie selezionate sotto controllo medico. Richiede prescrizione e monitoraggio specialistico. Fonte: Great Ormond Street Hospital (NHS), Amiodarone, https://www.gosh.nhs.uk/conditions-and-treatments/medicines-information/medicines-directory/amiodarone/ . Consultato 8 ottobre 2026.</a:t>
            </a:r>
          </a:p>
          <a:p>
            <a:r>
              <a:rPr lang="it-IT"/>
              <a:t>[Sources]</a:t>
            </a:r>
          </a:p>
          <a:p>
            <a:r>
              <a:rPr lang="it-IT"/>
              <a:t>Classi, nomi dei farmaci ed esempi d’uso conservati dalla slide 62 originale.</a:t>
            </a:r>
          </a:p>
          <a:p>
            <a:r>
              <a:rPr lang="it-IT"/>
              <a:t>Farmacologia 2_Puglisi Salvatore.pdf, pp. 6, 8–13 (antinfiammatori e precauzione sulla sospensione dei cortisonici), 36–38 (antipertensivi), 46–48 (diuretici), 50–53 (antiaritmici).</a:t>
            </a:r>
          </a:p>
          <a:p>
            <a:r>
              <a:rPr lang="it-IT"/>
              <a:t>Farmacologia_Uni Verona.pdf, pp. 48–51 (monitoraggio e rapporto beneficio/rischio).</a:t>
            </a:r>
          </a:p>
          <a:p>
            <a:r>
              <a:rPr lang="it-IT"/>
              <a:t>Le classi possono avere più indicazioni e sovrapporsi. Gli esempi non indicano equivalenza terapeutica. Le terapie di emergenza e gli schemi terapeutici datati degli allegati non sono stati riprodotti.</a:t>
            </a:r>
          </a:p>
          <a:p>
            <a:r>
              <a:rPr lang="it-IT"/>
              <a:t>[/Sources]</a:t>
            </a:r>
          </a:p>
          <a:p>
            <a:endParaRPr 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5566323"/>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BIOLOGIA · BASE DELL’ORGANIZZAZIONE</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La cellula: strutture e funzioni</a:t>
            </a: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a:t>
            </a:r>
            <a:endParaRPr sz="1350" b="1">
              <a:solidFill>
                <a:srgbClr val="123F67"/>
              </a:solidFill>
              <a:latin typeface="Arial"/>
              <a:ea typeface="Arial"/>
              <a:cs typeface="Arial"/>
            </a:endParaRPr>
          </a:p>
        </p:txBody>
      </p:sp>
      <p:sp>
        <p:nvSpPr>
          <p:cNvPr id="16" name="TextBox 15"/>
          <p:cNvSpPr txBox="1"/>
          <p:nvPr/>
        </p:nvSpPr>
        <p:spPr>
          <a:xfrm>
            <a:off x="704850" y="1771650"/>
            <a:ext cx="10839450" cy="400050"/>
          </a:xfrm>
          <a:prstGeom prst="rect">
            <a:avLst/>
          </a:prstGeom>
          <a:noFill/>
        </p:spPr>
        <p:txBody>
          <a:bodyPr wrap="square" lIns="0" tIns="0" rIns="0" bIns="0">
            <a:noAutofit/>
          </a:bodyPr>
          <a:lstStyle/>
          <a:p>
            <a:pPr>
              <a:spcAft>
                <a:spcPts val="400"/>
              </a:spcAft>
              <a:defRPr sz="1900" b="1">
                <a:solidFill>
                  <a:srgbClr val="193248"/>
                </a:solidFill>
                <a:latin typeface="Arial"/>
              </a:defRPr>
            </a:pPr>
            <a:r>
              <a:t>Il DNA contiene le istruzioni. Gli organelli permettono alla cellula di utilizzarle.</a:t>
            </a:r>
          </a:p>
        </p:txBody>
      </p:sp>
      <p:sp>
        <p:nvSpPr>
          <p:cNvPr id="17" name="TextBox 16"/>
          <p:cNvSpPr txBox="1"/>
          <p:nvPr/>
        </p:nvSpPr>
        <p:spPr>
          <a:xfrm>
            <a:off x="704850" y="2350008"/>
            <a:ext cx="429768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Membrana plasmatica</a:t>
            </a:r>
          </a:p>
        </p:txBody>
      </p:sp>
      <p:sp>
        <p:nvSpPr>
          <p:cNvPr id="18" name="TextBox 17"/>
          <p:cNvSpPr txBox="1"/>
          <p:nvPr/>
        </p:nvSpPr>
        <p:spPr>
          <a:xfrm>
            <a:off x="704850" y="2761488"/>
            <a:ext cx="4297680" cy="790575"/>
          </a:xfrm>
          <a:prstGeom prst="rect">
            <a:avLst/>
          </a:prstGeom>
          <a:noFill/>
        </p:spPr>
        <p:txBody>
          <a:bodyPr wrap="square" lIns="0" tIns="0" rIns="0" bIns="0">
            <a:noAutofit/>
          </a:bodyPr>
          <a:lstStyle/>
          <a:p>
            <a:pPr>
              <a:spcAft>
                <a:spcPts val="400"/>
              </a:spcAft>
              <a:defRPr sz="1875" b="0">
                <a:solidFill>
                  <a:srgbClr val="193248"/>
                </a:solidFill>
                <a:latin typeface="Arial"/>
              </a:defRPr>
            </a:pPr>
            <a:r>
              <a:t>Delimita la cellula. Regola gli scambi con l’esterno e riceve segnali attraverso i recettori.</a:t>
            </a:r>
          </a:p>
        </p:txBody>
      </p:sp>
      <p:sp>
        <p:nvSpPr>
          <p:cNvPr id="19" name="TextBox 18"/>
          <p:cNvSpPr txBox="1"/>
          <p:nvPr/>
        </p:nvSpPr>
        <p:spPr>
          <a:xfrm>
            <a:off x="704850" y="3675887"/>
            <a:ext cx="429768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Citoplasma</a:t>
            </a:r>
          </a:p>
        </p:txBody>
      </p:sp>
      <p:sp>
        <p:nvSpPr>
          <p:cNvPr id="20" name="TextBox 19"/>
          <p:cNvSpPr txBox="1"/>
          <p:nvPr/>
        </p:nvSpPr>
        <p:spPr>
          <a:xfrm>
            <a:off x="704850" y="4087368"/>
            <a:ext cx="4297680" cy="800100"/>
          </a:xfrm>
          <a:prstGeom prst="rect">
            <a:avLst/>
          </a:prstGeom>
          <a:noFill/>
        </p:spPr>
        <p:txBody>
          <a:bodyPr wrap="square" lIns="0" tIns="0" rIns="0" bIns="0">
            <a:noAutofit/>
          </a:bodyPr>
          <a:lstStyle/>
          <a:p>
            <a:pPr>
              <a:spcAft>
                <a:spcPts val="400"/>
              </a:spcAft>
              <a:defRPr sz="1875" b="0">
                <a:solidFill>
                  <a:srgbClr val="193248"/>
                </a:solidFill>
                <a:latin typeface="Arial"/>
              </a:defRPr>
            </a:pPr>
            <a:r>
              <a:t>Comprende citosol e organelli, fuori dal nucleo. Ospita molte reazioni del metabolismo.</a:t>
            </a:r>
          </a:p>
        </p:txBody>
      </p:sp>
      <p:sp>
        <p:nvSpPr>
          <p:cNvPr id="21" name="TextBox 20"/>
          <p:cNvSpPr txBox="1"/>
          <p:nvPr/>
        </p:nvSpPr>
        <p:spPr>
          <a:xfrm>
            <a:off x="704850" y="5001768"/>
            <a:ext cx="429768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Nucleo</a:t>
            </a:r>
          </a:p>
        </p:txBody>
      </p:sp>
      <p:sp>
        <p:nvSpPr>
          <p:cNvPr id="22" name="TextBox 21"/>
          <p:cNvSpPr txBox="1"/>
          <p:nvPr/>
        </p:nvSpPr>
        <p:spPr>
          <a:xfrm>
            <a:off x="704850" y="5413248"/>
            <a:ext cx="4297680" cy="904875"/>
          </a:xfrm>
          <a:prstGeom prst="rect">
            <a:avLst/>
          </a:prstGeom>
          <a:noFill/>
        </p:spPr>
        <p:txBody>
          <a:bodyPr wrap="square" lIns="0" tIns="0" rIns="0" bIns="0">
            <a:noAutofit/>
          </a:bodyPr>
          <a:lstStyle/>
          <a:p>
            <a:pPr>
              <a:spcAft>
                <a:spcPts val="400"/>
              </a:spcAft>
              <a:defRPr sz="1875" b="0">
                <a:solidFill>
                  <a:srgbClr val="193248"/>
                </a:solidFill>
                <a:latin typeface="Arial"/>
              </a:defRPr>
            </a:pPr>
            <a:r>
              <a:t>Contiene la maggior parte del DNA e regola l’espressione dei geni. Il nucleolo forma componenti dei ribosomi.</a:t>
            </a:r>
          </a:p>
        </p:txBody>
      </p:sp>
      <p:sp>
        <p:nvSpPr>
          <p:cNvPr id="23" name="TextBox 22"/>
          <p:cNvSpPr txBox="1"/>
          <p:nvPr/>
        </p:nvSpPr>
        <p:spPr>
          <a:xfrm>
            <a:off x="5349240" y="2352675"/>
            <a:ext cx="6191250" cy="304800"/>
          </a:xfrm>
          <a:prstGeom prst="rect">
            <a:avLst/>
          </a:prstGeom>
          <a:noFill/>
        </p:spPr>
        <p:txBody>
          <a:bodyPr wrap="square" lIns="0" tIns="0" rIns="0" bIns="0">
            <a:noAutofit/>
          </a:bodyPr>
          <a:lstStyle/>
          <a:p>
            <a:pPr>
              <a:spcAft>
                <a:spcPts val="400"/>
              </a:spcAft>
              <a:defRPr sz="1500" b="1">
                <a:solidFill>
                  <a:srgbClr val="087E8B"/>
                </a:solidFill>
                <a:latin typeface="Arial"/>
              </a:defRPr>
            </a:pPr>
            <a:r>
              <a:t>PRINCIPALI ORGANELLI E STRUTTURE</a:t>
            </a:r>
          </a:p>
        </p:txBody>
      </p:sp>
      <p:sp>
        <p:nvSpPr>
          <p:cNvPr id="24" name="TextBox 23"/>
          <p:cNvSpPr txBox="1"/>
          <p:nvPr/>
        </p:nvSpPr>
        <p:spPr>
          <a:xfrm>
            <a:off x="5349240" y="2743200"/>
            <a:ext cx="6199632" cy="274320"/>
          </a:xfrm>
          <a:prstGeom prst="rect">
            <a:avLst/>
          </a:prstGeom>
          <a:noFill/>
        </p:spPr>
        <p:txBody>
          <a:bodyPr wrap="square" lIns="0" tIns="0" rIns="0" bIns="0">
            <a:noAutofit/>
          </a:bodyPr>
          <a:lstStyle/>
          <a:p>
            <a:pPr>
              <a:spcAft>
                <a:spcPts val="400"/>
              </a:spcAft>
              <a:defRPr sz="1800" b="1">
                <a:solidFill>
                  <a:srgbClr val="123F67"/>
                </a:solidFill>
                <a:latin typeface="Arial"/>
              </a:defRPr>
            </a:pPr>
            <a:r>
              <a:t>Ribosomi</a:t>
            </a:r>
          </a:p>
        </p:txBody>
      </p:sp>
      <p:sp>
        <p:nvSpPr>
          <p:cNvPr id="25" name="TextBox 24"/>
          <p:cNvSpPr txBox="1"/>
          <p:nvPr/>
        </p:nvSpPr>
        <p:spPr>
          <a:xfrm>
            <a:off x="5349240" y="3026664"/>
            <a:ext cx="6199632" cy="310896"/>
          </a:xfrm>
          <a:prstGeom prst="rect">
            <a:avLst/>
          </a:prstGeom>
          <a:noFill/>
        </p:spPr>
        <p:txBody>
          <a:bodyPr wrap="square" lIns="0" tIns="0" rIns="0" bIns="0">
            <a:noAutofit/>
          </a:bodyPr>
          <a:lstStyle/>
          <a:p>
            <a:pPr>
              <a:spcAft>
                <a:spcPts val="400"/>
              </a:spcAft>
              <a:defRPr sz="1700" b="0">
                <a:solidFill>
                  <a:srgbClr val="193248"/>
                </a:solidFill>
                <a:latin typeface="Arial"/>
              </a:defRPr>
            </a:pPr>
            <a:r>
              <a:t>Sintetizzano le proteine.</a:t>
            </a:r>
          </a:p>
        </p:txBody>
      </p:sp>
      <p:sp>
        <p:nvSpPr>
          <p:cNvPr id="26" name="TextBox 25"/>
          <p:cNvSpPr txBox="1"/>
          <p:nvPr/>
        </p:nvSpPr>
        <p:spPr>
          <a:xfrm>
            <a:off x="5349240" y="3346704"/>
            <a:ext cx="6199632" cy="274320"/>
          </a:xfrm>
          <a:prstGeom prst="rect">
            <a:avLst/>
          </a:prstGeom>
          <a:noFill/>
        </p:spPr>
        <p:txBody>
          <a:bodyPr wrap="square" lIns="0" tIns="0" rIns="0" bIns="0">
            <a:noAutofit/>
          </a:bodyPr>
          <a:lstStyle/>
          <a:p>
            <a:pPr>
              <a:spcAft>
                <a:spcPts val="400"/>
              </a:spcAft>
              <a:defRPr sz="1800" b="1">
                <a:solidFill>
                  <a:srgbClr val="123F67"/>
                </a:solidFill>
                <a:latin typeface="Arial"/>
              </a:defRPr>
            </a:pPr>
            <a:r>
              <a:t>Reticolo endoplasmatico</a:t>
            </a:r>
          </a:p>
        </p:txBody>
      </p:sp>
      <p:sp>
        <p:nvSpPr>
          <p:cNvPr id="27" name="TextBox 26"/>
          <p:cNvSpPr txBox="1"/>
          <p:nvPr/>
        </p:nvSpPr>
        <p:spPr>
          <a:xfrm>
            <a:off x="5349240" y="3630168"/>
            <a:ext cx="6199632" cy="310896"/>
          </a:xfrm>
          <a:prstGeom prst="rect">
            <a:avLst/>
          </a:prstGeom>
          <a:noFill/>
        </p:spPr>
        <p:txBody>
          <a:bodyPr wrap="square" lIns="0" tIns="0" rIns="0" bIns="0">
            <a:noAutofit/>
          </a:bodyPr>
          <a:lstStyle/>
          <a:p>
            <a:pPr>
              <a:spcAft>
                <a:spcPts val="400"/>
              </a:spcAft>
              <a:defRPr sz="1700" b="0">
                <a:solidFill>
                  <a:srgbClr val="193248"/>
                </a:solidFill>
                <a:latin typeface="Arial"/>
              </a:defRPr>
            </a:pPr>
            <a:r>
              <a:t>Rugoso: proteine. Liscio: lipidi e deposito di calcio.</a:t>
            </a:r>
          </a:p>
        </p:txBody>
      </p:sp>
      <p:sp>
        <p:nvSpPr>
          <p:cNvPr id="28" name="TextBox 27"/>
          <p:cNvSpPr txBox="1"/>
          <p:nvPr/>
        </p:nvSpPr>
        <p:spPr>
          <a:xfrm>
            <a:off x="5349240" y="3950208"/>
            <a:ext cx="6199632" cy="274320"/>
          </a:xfrm>
          <a:prstGeom prst="rect">
            <a:avLst/>
          </a:prstGeom>
          <a:noFill/>
        </p:spPr>
        <p:txBody>
          <a:bodyPr wrap="square" lIns="0" tIns="0" rIns="0" bIns="0">
            <a:noAutofit/>
          </a:bodyPr>
          <a:lstStyle/>
          <a:p>
            <a:pPr>
              <a:spcAft>
                <a:spcPts val="400"/>
              </a:spcAft>
              <a:defRPr sz="1800" b="1">
                <a:solidFill>
                  <a:srgbClr val="123F67"/>
                </a:solidFill>
                <a:latin typeface="Arial"/>
              </a:defRPr>
            </a:pPr>
            <a:r>
              <a:t>Apparato di Golgi</a:t>
            </a:r>
          </a:p>
        </p:txBody>
      </p:sp>
      <p:sp>
        <p:nvSpPr>
          <p:cNvPr id="29" name="TextBox 28"/>
          <p:cNvSpPr txBox="1"/>
          <p:nvPr/>
        </p:nvSpPr>
        <p:spPr>
          <a:xfrm>
            <a:off x="5349240" y="4233672"/>
            <a:ext cx="6199632" cy="310896"/>
          </a:xfrm>
          <a:prstGeom prst="rect">
            <a:avLst/>
          </a:prstGeom>
          <a:noFill/>
        </p:spPr>
        <p:txBody>
          <a:bodyPr wrap="square" lIns="0" tIns="0" rIns="0" bIns="0">
            <a:noAutofit/>
          </a:bodyPr>
          <a:lstStyle/>
          <a:p>
            <a:pPr>
              <a:spcAft>
                <a:spcPts val="400"/>
              </a:spcAft>
              <a:defRPr sz="1700" b="0">
                <a:solidFill>
                  <a:srgbClr val="193248"/>
                </a:solidFill>
                <a:latin typeface="Arial"/>
              </a:defRPr>
            </a:pPr>
            <a:r>
              <a:t>Modifica, seleziona e smista proteine e lipidi.</a:t>
            </a:r>
          </a:p>
        </p:txBody>
      </p:sp>
      <p:sp>
        <p:nvSpPr>
          <p:cNvPr id="30" name="TextBox 29"/>
          <p:cNvSpPr txBox="1"/>
          <p:nvPr/>
        </p:nvSpPr>
        <p:spPr>
          <a:xfrm>
            <a:off x="5349240" y="4553712"/>
            <a:ext cx="6199632" cy="274320"/>
          </a:xfrm>
          <a:prstGeom prst="rect">
            <a:avLst/>
          </a:prstGeom>
          <a:noFill/>
        </p:spPr>
        <p:txBody>
          <a:bodyPr wrap="square" lIns="0" tIns="0" rIns="0" bIns="0">
            <a:noAutofit/>
          </a:bodyPr>
          <a:lstStyle/>
          <a:p>
            <a:pPr>
              <a:spcAft>
                <a:spcPts val="400"/>
              </a:spcAft>
              <a:defRPr sz="1800" b="1">
                <a:solidFill>
                  <a:srgbClr val="123F67"/>
                </a:solidFill>
                <a:latin typeface="Arial"/>
              </a:defRPr>
            </a:pPr>
            <a:r>
              <a:t>Mitocondri</a:t>
            </a:r>
          </a:p>
        </p:txBody>
      </p:sp>
      <p:sp>
        <p:nvSpPr>
          <p:cNvPr id="31" name="TextBox 30"/>
          <p:cNvSpPr txBox="1"/>
          <p:nvPr/>
        </p:nvSpPr>
        <p:spPr>
          <a:xfrm>
            <a:off x="5349240" y="4837176"/>
            <a:ext cx="6199632" cy="310896"/>
          </a:xfrm>
          <a:prstGeom prst="rect">
            <a:avLst/>
          </a:prstGeom>
          <a:noFill/>
        </p:spPr>
        <p:txBody>
          <a:bodyPr wrap="square" lIns="0" tIns="0" rIns="0" bIns="0">
            <a:noAutofit/>
          </a:bodyPr>
          <a:lstStyle/>
          <a:p>
            <a:pPr>
              <a:spcAft>
                <a:spcPts val="400"/>
              </a:spcAft>
              <a:defRPr sz="1700" b="0">
                <a:solidFill>
                  <a:srgbClr val="193248"/>
                </a:solidFill>
                <a:latin typeface="Arial"/>
              </a:defRPr>
            </a:pPr>
            <a:r>
              <a:t>Producono gran parte dell’ATP, energia utilizzabile.</a:t>
            </a:r>
          </a:p>
        </p:txBody>
      </p:sp>
      <p:sp>
        <p:nvSpPr>
          <p:cNvPr id="32" name="TextBox 31"/>
          <p:cNvSpPr txBox="1"/>
          <p:nvPr/>
        </p:nvSpPr>
        <p:spPr>
          <a:xfrm>
            <a:off x="5349240" y="5157216"/>
            <a:ext cx="6199632" cy="274320"/>
          </a:xfrm>
          <a:prstGeom prst="rect">
            <a:avLst/>
          </a:prstGeom>
          <a:noFill/>
        </p:spPr>
        <p:txBody>
          <a:bodyPr wrap="square" lIns="0" tIns="0" rIns="0" bIns="0">
            <a:noAutofit/>
          </a:bodyPr>
          <a:lstStyle/>
          <a:p>
            <a:pPr>
              <a:spcAft>
                <a:spcPts val="400"/>
              </a:spcAft>
              <a:defRPr sz="1800" b="1">
                <a:solidFill>
                  <a:srgbClr val="123F67"/>
                </a:solidFill>
                <a:latin typeface="Arial"/>
              </a:defRPr>
            </a:pPr>
            <a:r>
              <a:t>Lisosomi e perossisomi</a:t>
            </a:r>
          </a:p>
        </p:txBody>
      </p:sp>
      <p:sp>
        <p:nvSpPr>
          <p:cNvPr id="33" name="TextBox 32"/>
          <p:cNvSpPr txBox="1"/>
          <p:nvPr/>
        </p:nvSpPr>
        <p:spPr>
          <a:xfrm>
            <a:off x="5349240" y="5440680"/>
            <a:ext cx="6199632" cy="310896"/>
          </a:xfrm>
          <a:prstGeom prst="rect">
            <a:avLst/>
          </a:prstGeom>
          <a:noFill/>
        </p:spPr>
        <p:txBody>
          <a:bodyPr wrap="square" lIns="0" tIns="0" rIns="0" bIns="0">
            <a:noAutofit/>
          </a:bodyPr>
          <a:lstStyle/>
          <a:p>
            <a:pPr>
              <a:spcAft>
                <a:spcPts val="400"/>
              </a:spcAft>
              <a:defRPr sz="1700" b="0">
                <a:solidFill>
                  <a:srgbClr val="193248"/>
                </a:solidFill>
                <a:latin typeface="Arial"/>
              </a:defRPr>
            </a:pPr>
            <a:r>
              <a:t>Degradano materiali e trasformano sostanze.</a:t>
            </a:r>
          </a:p>
        </p:txBody>
      </p:sp>
      <p:sp>
        <p:nvSpPr>
          <p:cNvPr id="34" name="TextBox 33"/>
          <p:cNvSpPr txBox="1"/>
          <p:nvPr/>
        </p:nvSpPr>
        <p:spPr>
          <a:xfrm>
            <a:off x="5349240" y="5760720"/>
            <a:ext cx="6199632" cy="274320"/>
          </a:xfrm>
          <a:prstGeom prst="rect">
            <a:avLst/>
          </a:prstGeom>
          <a:noFill/>
        </p:spPr>
        <p:txBody>
          <a:bodyPr wrap="square" lIns="0" tIns="0" rIns="0" bIns="0">
            <a:noAutofit/>
          </a:bodyPr>
          <a:lstStyle/>
          <a:p>
            <a:pPr>
              <a:spcAft>
                <a:spcPts val="400"/>
              </a:spcAft>
              <a:defRPr sz="1800" b="1">
                <a:solidFill>
                  <a:srgbClr val="123F67"/>
                </a:solidFill>
                <a:latin typeface="Arial"/>
              </a:defRPr>
            </a:pPr>
            <a:r>
              <a:t>Citoscheletro</a:t>
            </a:r>
          </a:p>
        </p:txBody>
      </p:sp>
      <p:sp>
        <p:nvSpPr>
          <p:cNvPr id="35" name="TextBox 34"/>
          <p:cNvSpPr txBox="1"/>
          <p:nvPr/>
        </p:nvSpPr>
        <p:spPr>
          <a:xfrm>
            <a:off x="5349240" y="6044184"/>
            <a:ext cx="6199632" cy="310896"/>
          </a:xfrm>
          <a:prstGeom prst="rect">
            <a:avLst/>
          </a:prstGeom>
          <a:noFill/>
        </p:spPr>
        <p:txBody>
          <a:bodyPr wrap="square" lIns="0" tIns="0" rIns="0" bIns="0">
            <a:noAutofit/>
          </a:bodyPr>
          <a:lstStyle/>
          <a:p>
            <a:pPr>
              <a:spcAft>
                <a:spcPts val="400"/>
              </a:spcAft>
              <a:defRPr sz="1700" b="0">
                <a:solidFill>
                  <a:srgbClr val="193248"/>
                </a:solidFill>
                <a:latin typeface="Arial"/>
              </a:defRPr>
            </a:pPr>
            <a:r>
              <a:t>Sostiene la forma e permette movimenti e trasporti.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LIVELLI DI ORGANIZZAZIONE</a:t>
            </a:r>
          </a:p>
        </p:txBody>
      </p:sp>
      <p:sp>
        <p:nvSpPr>
          <p:cNvPr id="18" name="TextBox 17"/>
          <p:cNvSpPr txBox="1"/>
          <p:nvPr/>
        </p:nvSpPr>
        <p:spPr>
          <a:xfrm>
            <a:off x="609600" y="742950"/>
            <a:ext cx="10972800" cy="573234"/>
          </a:xfrm>
          <a:prstGeom prst="rect">
            <a:avLst/>
          </a:prstGeom>
          <a:noFill/>
        </p:spPr>
        <p:txBody>
          <a:bodyPr wrap="square" lIns="76200" tIns="38100" rIns="76200" bIns="38100">
            <a:spAutoFit/>
          </a:bodyPr>
          <a:lstStyle/>
          <a:p>
            <a:pPr>
              <a:defRPr sz="3225" b="1">
                <a:solidFill>
                  <a:srgbClr val="123F67"/>
                </a:solidFill>
                <a:latin typeface="Arial"/>
              </a:defRPr>
            </a:pPr>
            <a:r>
              <a:t>DNA e </a:t>
            </a:r>
            <a:r>
              <a:rPr lang="it-IT"/>
              <a:t>divisione cellulare</a:t>
            </a:r>
            <a:endParaRPr/>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2</a:t>
            </a:r>
            <a:endParaRPr/>
          </a:p>
        </p:txBody>
      </p:sp>
      <p:sp>
        <p:nvSpPr>
          <p:cNvPr id="20" name="TextBox 19"/>
          <p:cNvSpPr txBox="1"/>
          <p:nvPr/>
        </p:nvSpPr>
        <p:spPr>
          <a:xfrm>
            <a:off x="609600" y="1866900"/>
            <a:ext cx="10763250" cy="476250"/>
          </a:xfrm>
          <a:prstGeom prst="rect">
            <a:avLst/>
          </a:prstGeom>
          <a:noFill/>
        </p:spPr>
        <p:txBody>
          <a:bodyPr wrap="square" lIns="76200" tIns="38100" rIns="76200" bIns="38100">
            <a:spAutoFit/>
          </a:bodyPr>
          <a:lstStyle/>
          <a:p>
            <a:pPr>
              <a:defRPr sz="2325" b="1">
                <a:solidFill>
                  <a:srgbClr val="123F67"/>
                </a:solidFill>
                <a:latin typeface="Arial"/>
              </a:defRPr>
            </a:pPr>
            <a:r>
              <a:t>Il DNA è il materiale genetico della cellula</a:t>
            </a:r>
          </a:p>
        </p:txBody>
      </p:sp>
      <p:sp>
        <p:nvSpPr>
          <p:cNvPr id="21" name="TextBox 20"/>
          <p:cNvSpPr txBox="1"/>
          <p:nvPr/>
        </p:nvSpPr>
        <p:spPr>
          <a:xfrm>
            <a:off x="609600" y="2476500"/>
            <a:ext cx="10715625" cy="723275"/>
          </a:xfrm>
          <a:prstGeom prst="rect">
            <a:avLst/>
          </a:prstGeom>
          <a:noFill/>
        </p:spPr>
        <p:txBody>
          <a:bodyPr wrap="square" lIns="76200" tIns="38100" rIns="76200" bIns="38100">
            <a:spAutoFit/>
          </a:bodyPr>
          <a:lstStyle/>
          <a:p>
            <a:pPr>
              <a:defRPr sz="2100" b="0">
                <a:solidFill>
                  <a:srgbClr val="193248"/>
                </a:solidFill>
                <a:latin typeface="Arial"/>
              </a:defRPr>
            </a:pPr>
            <a:r>
              <a:t>Prima della divisione cellulare, il DNA si duplica.</a:t>
            </a:r>
          </a:p>
          <a:p>
            <a:pPr>
              <a:defRPr sz="2100" b="0">
                <a:solidFill>
                  <a:srgbClr val="193248"/>
                </a:solidFill>
                <a:latin typeface="Arial"/>
              </a:defRPr>
            </a:pPr>
            <a:r>
              <a:rPr lang="it-IT"/>
              <a:t>Mitosi e meiosi distribuiscono i cromosomi</a:t>
            </a:r>
            <a:r>
              <a:t> alle cellule figlie.</a:t>
            </a:r>
          </a:p>
        </p:txBody>
      </p:sp>
      <p:sp>
        <p:nvSpPr>
          <p:cNvPr id="22" name="Rectangle 21"/>
          <p:cNvSpPr/>
          <p:nvPr/>
        </p:nvSpPr>
        <p:spPr>
          <a:xfrm>
            <a:off x="609600" y="3533775"/>
            <a:ext cx="10972800" cy="19050"/>
          </a:xfrm>
          <a:prstGeom prst="rect">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9600" y="3657600"/>
            <a:ext cx="5143500" cy="693780"/>
          </a:xfrm>
          <a:prstGeom prst="rect">
            <a:avLst/>
          </a:prstGeom>
          <a:noFill/>
        </p:spPr>
        <p:txBody>
          <a:bodyPr wrap="square" lIns="76200" tIns="38100" rIns="76200" bIns="38100">
            <a:spAutoFit/>
          </a:bodyPr>
          <a:lstStyle/>
          <a:p>
            <a:pPr>
              <a:defRPr sz="2025" b="1">
                <a:solidFill>
                  <a:srgbClr val="087E8B"/>
                </a:solidFill>
                <a:latin typeface="Arial"/>
              </a:defRPr>
            </a:pPr>
            <a:r>
              <a:rPr lang="it-IT" dirty="0"/>
              <a:t>Mitosi</a:t>
            </a:r>
          </a:p>
          <a:p>
            <a:pPr>
              <a:spcBef>
                <a:spcPts val="400"/>
              </a:spcBef>
              <a:spcAft>
                <a:spcPts val="0"/>
              </a:spcAft>
              <a:defRPr sz="1650" b="0">
                <a:solidFill>
                  <a:srgbClr val="193248"/>
                </a:solidFill>
                <a:latin typeface="Arial"/>
              </a:defRPr>
            </a:pPr>
            <a:r>
              <a:rPr lang="it-IT" dirty="0"/>
              <a:t>(</a:t>
            </a:r>
            <a:r>
              <a:rPr lang="it-IT"/>
              <a:t>moltiplicazione cellulare per la</a:t>
            </a:r>
            <a:r>
              <a:rPr lang="it-IT" dirty="0"/>
              <a:t> crescita del corpo)</a:t>
            </a:r>
          </a:p>
        </p:txBody>
      </p:sp>
      <p:sp>
        <p:nvSpPr>
          <p:cNvPr id="24" name="TextBox 23"/>
          <p:cNvSpPr txBox="1"/>
          <p:nvPr/>
        </p:nvSpPr>
        <p:spPr>
          <a:xfrm>
            <a:off x="609600" y="4343400"/>
            <a:ext cx="5095875" cy="942566"/>
          </a:xfrm>
          <a:prstGeom prst="rect">
            <a:avLst/>
          </a:prstGeom>
          <a:noFill/>
        </p:spPr>
        <p:txBody>
          <a:bodyPr wrap="square" lIns="76200" tIns="38100" rIns="76200" bIns="38100">
            <a:spAutoFit/>
          </a:bodyPr>
          <a:lstStyle/>
          <a:p>
            <a:pPr>
              <a:defRPr sz="1875" b="0">
                <a:solidFill>
                  <a:srgbClr val="193248"/>
                </a:solidFill>
                <a:latin typeface="Arial"/>
              </a:defRPr>
            </a:pPr>
            <a:r>
              <a:rPr lang="it-IT"/>
              <a:t>Una divisione produce due </a:t>
            </a:r>
            <a:r>
              <a:t>cellule</a:t>
            </a:r>
            <a:r>
              <a:rPr lang="it-IT"/>
              <a:t> figlie geneticamente uguali, con lo stesso numero di cromosomi della cellula iniziale</a:t>
            </a:r>
            <a:r>
              <a:t>.</a:t>
            </a:r>
          </a:p>
        </p:txBody>
      </p:sp>
      <p:sp>
        <p:nvSpPr>
          <p:cNvPr id="25" name="TextBox 24"/>
          <p:cNvSpPr txBox="1"/>
          <p:nvPr/>
        </p:nvSpPr>
        <p:spPr>
          <a:xfrm>
            <a:off x="6419850" y="3657600"/>
            <a:ext cx="5143500" cy="693780"/>
          </a:xfrm>
          <a:prstGeom prst="rect">
            <a:avLst/>
          </a:prstGeom>
          <a:noFill/>
        </p:spPr>
        <p:txBody>
          <a:bodyPr wrap="square" lIns="76200" tIns="38100" rIns="76200" bIns="38100">
            <a:spAutoFit/>
          </a:bodyPr>
          <a:lstStyle/>
          <a:p>
            <a:pPr>
              <a:defRPr sz="2025" b="1">
                <a:solidFill>
                  <a:srgbClr val="087E8B"/>
                </a:solidFill>
                <a:latin typeface="Arial"/>
              </a:defRPr>
            </a:pPr>
            <a:r>
              <a:rPr lang="it-IT" dirty="0"/>
              <a:t>Meiosi</a:t>
            </a:r>
          </a:p>
          <a:p>
            <a:pPr>
              <a:spcBef>
                <a:spcPts val="400"/>
              </a:spcBef>
              <a:spcAft>
                <a:spcPts val="0"/>
              </a:spcAft>
              <a:defRPr sz="1650" b="0">
                <a:solidFill>
                  <a:srgbClr val="193248"/>
                </a:solidFill>
                <a:latin typeface="Arial"/>
              </a:defRPr>
            </a:pPr>
            <a:r>
              <a:rPr lang="it-IT" dirty="0"/>
              <a:t>(formazione dei gameti per la riproduzione)</a:t>
            </a:r>
          </a:p>
        </p:txBody>
      </p:sp>
      <p:sp>
        <p:nvSpPr>
          <p:cNvPr id="26" name="TextBox 25"/>
          <p:cNvSpPr txBox="1"/>
          <p:nvPr/>
        </p:nvSpPr>
        <p:spPr>
          <a:xfrm>
            <a:off x="6419850" y="4343400"/>
            <a:ext cx="5095875" cy="1231106"/>
          </a:xfrm>
          <a:prstGeom prst="rect">
            <a:avLst/>
          </a:prstGeom>
          <a:noFill/>
        </p:spPr>
        <p:txBody>
          <a:bodyPr wrap="square" lIns="76200" tIns="38100" rIns="76200" bIns="38100">
            <a:spAutoFit/>
          </a:bodyPr>
          <a:lstStyle/>
          <a:p>
            <a:pPr>
              <a:defRPr sz="1875" b="0">
                <a:solidFill>
                  <a:srgbClr val="193248"/>
                </a:solidFill>
                <a:latin typeface="Arial"/>
              </a:defRPr>
            </a:pPr>
            <a:r>
              <a:rPr lang="it-IT"/>
              <a:t>Due divisioni dopo una sola duplicazione del DNA producono quattro </a:t>
            </a:r>
            <a:r>
              <a:t>cellule </a:t>
            </a:r>
            <a:r>
              <a:rPr lang="it-IT"/>
              <a:t>aploidi</a:t>
            </a:r>
            <a:r>
              <a:t>, </a:t>
            </a:r>
            <a:r>
              <a:rPr lang="it-IT"/>
              <a:t>geneticamente </a:t>
            </a:r>
            <a:r>
              <a:t>diverse</a:t>
            </a:r>
            <a:r>
              <a:rPr lang="it-IT"/>
              <a:t>. Il numero di cromosomi si dimezza</a:t>
            </a:r>
            <a:r>
              <a:t>.</a:t>
            </a:r>
          </a:p>
        </p:txBody>
      </p:sp>
      <p:sp>
        <p:nvSpPr>
          <p:cNvPr id="31" name="TextBox 30"/>
          <p:cNvSpPr txBox="1"/>
          <p:nvPr/>
        </p:nvSpPr>
        <p:spPr>
          <a:xfrm>
            <a:off x="609600" y="5829300"/>
            <a:ext cx="5095951" cy="342401"/>
          </a:xfrm>
          <a:prstGeom prst="rect">
            <a:avLst/>
          </a:prstGeom>
          <a:noFill/>
        </p:spPr>
        <p:txBody>
          <a:bodyPr wrap="square" lIns="76200" tIns="38100" rIns="76200" bIns="38100">
            <a:spAutoFit/>
          </a:bodyPr>
          <a:lstStyle/>
          <a:p>
            <a:pPr>
              <a:defRPr sz="1725" b="1">
                <a:solidFill>
                  <a:srgbClr val="123F67"/>
                </a:solidFill>
                <a:latin typeface="Arial"/>
              </a:defRPr>
            </a:pPr>
            <a:r>
              <a:rPr lang="it-IT"/>
              <a:t>La mitosi conserva </a:t>
            </a:r>
            <a:r>
              <a:t>il </a:t>
            </a:r>
            <a:r>
              <a:rPr lang="it-IT"/>
              <a:t>corredo cromosomico.</a:t>
            </a:r>
          </a:p>
        </p:txBody>
      </p:sp>
      <p:sp>
        <p:nvSpPr>
          <p:cNvPr id="32" name="Conclusione meiosi"/>
          <p:cNvSpPr txBox="1"/>
          <p:nvPr/>
        </p:nvSpPr>
        <p:spPr>
          <a:xfrm>
            <a:off x="6420002" y="5829300"/>
            <a:ext cx="5095951" cy="438912"/>
          </a:xfrm>
          <a:prstGeom prst="rect">
            <a:avLst/>
          </a:prstGeom>
          <a:noFill/>
        </p:spPr>
        <p:txBody>
          <a:bodyPr wrap="square" lIns="76200" tIns="38100" rIns="76200" bIns="38100">
            <a:spAutoFit/>
          </a:bodyPr>
          <a:lstStyle/>
          <a:p>
            <a:pPr>
              <a:defRPr sz="1725" b="1">
                <a:solidFill>
                  <a:srgbClr val="123F67"/>
                </a:solidFill>
                <a:latin typeface="Arial"/>
              </a:defRPr>
            </a:pPr>
            <a:r>
              <a:rPr lang="it-IT"/>
              <a:t>La meiosi lo dimezza e lo rimescola</a:t>
            </a:r>
            <a: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LIVELLI DI ORGANIZZAZIONE</a:t>
            </a:r>
          </a:p>
        </p:txBody>
      </p:sp>
      <p:sp>
        <p:nvSpPr>
          <p:cNvPr id="18" name="TextBox 17"/>
          <p:cNvSpPr txBox="1"/>
          <p:nvPr/>
        </p:nvSpPr>
        <p:spPr>
          <a:xfrm>
            <a:off x="609600" y="742950"/>
            <a:ext cx="10972800" cy="647700"/>
          </a:xfrm>
          <a:prstGeom prst="rect">
            <a:avLst/>
          </a:prstGeom>
          <a:noFill/>
        </p:spPr>
        <p:txBody>
          <a:bodyPr wrap="square" lIns="76200" tIns="38100" rIns="76200" bIns="38100">
            <a:spAutoFit/>
          </a:bodyPr>
          <a:lstStyle/>
          <a:p>
            <a:pPr>
              <a:defRPr sz="3225" b="1">
                <a:solidFill>
                  <a:srgbClr val="123F67"/>
                </a:solidFill>
                <a:latin typeface="Arial"/>
              </a:defRPr>
            </a:pPr>
            <a:r>
              <a:t>Divisione, differenziamento e organizzazione</a:t>
            </a:r>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3</a:t>
            </a:r>
            <a:endParaRPr/>
          </a:p>
        </p:txBody>
      </p:sp>
      <p:sp>
        <p:nvSpPr>
          <p:cNvPr id="20" name="TextBox 19"/>
          <p:cNvSpPr txBox="1"/>
          <p:nvPr/>
        </p:nvSpPr>
        <p:spPr>
          <a:xfrm>
            <a:off x="609600" y="1866900"/>
            <a:ext cx="10763250" cy="476250"/>
          </a:xfrm>
          <a:prstGeom prst="rect">
            <a:avLst/>
          </a:prstGeom>
          <a:noFill/>
        </p:spPr>
        <p:txBody>
          <a:bodyPr wrap="square" lIns="76200" tIns="38100" rIns="76200" bIns="38100">
            <a:spAutoFit/>
          </a:bodyPr>
          <a:lstStyle/>
          <a:p>
            <a:pPr>
              <a:defRPr sz="2325" b="1">
                <a:solidFill>
                  <a:srgbClr val="123F67"/>
                </a:solidFill>
                <a:latin typeface="Arial"/>
              </a:defRPr>
            </a:pPr>
            <a:r>
              <a:t>Lo sviluppo del corpo umano inizia dallo zigote</a:t>
            </a:r>
          </a:p>
        </p:txBody>
      </p:sp>
      <p:sp>
        <p:nvSpPr>
          <p:cNvPr id="21" name="TextBox 20"/>
          <p:cNvSpPr txBox="1"/>
          <p:nvPr/>
        </p:nvSpPr>
        <p:spPr>
          <a:xfrm>
            <a:off x="609600" y="2476500"/>
            <a:ext cx="10715625" cy="790575"/>
          </a:xfrm>
          <a:prstGeom prst="rect">
            <a:avLst/>
          </a:prstGeom>
          <a:noFill/>
        </p:spPr>
        <p:txBody>
          <a:bodyPr wrap="square" lIns="76200" tIns="38100" rIns="76200" bIns="38100">
            <a:spAutoFit/>
          </a:bodyPr>
          <a:lstStyle/>
          <a:p>
            <a:pPr>
              <a:defRPr sz="2100" b="0">
                <a:solidFill>
                  <a:srgbClr val="193248"/>
                </a:solidFill>
                <a:latin typeface="Arial"/>
              </a:defRPr>
            </a:pPr>
            <a:r>
              <a:t>Lo zigote è la cellula da cui si sviluppa l’individuo.</a:t>
            </a:r>
          </a:p>
          <a:p>
            <a:pPr>
              <a:defRPr sz="2100" b="0">
                <a:solidFill>
                  <a:srgbClr val="193248"/>
                </a:solidFill>
                <a:latin typeface="Arial"/>
              </a:defRPr>
            </a:pPr>
            <a:r>
              <a:t>Le cellule si dividono, si specializzano e si organizzano.</a:t>
            </a:r>
          </a:p>
        </p:txBody>
      </p:sp>
      <p:sp>
        <p:nvSpPr>
          <p:cNvPr id="22" name="Rectangle 21"/>
          <p:cNvSpPr/>
          <p:nvPr/>
        </p:nvSpPr>
        <p:spPr>
          <a:xfrm>
            <a:off x="609600" y="3533775"/>
            <a:ext cx="10972800" cy="19050"/>
          </a:xfrm>
          <a:prstGeom prst="rect">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9600" y="3867150"/>
            <a:ext cx="3162300" cy="447675"/>
          </a:xfrm>
          <a:prstGeom prst="rect">
            <a:avLst/>
          </a:prstGeom>
          <a:noFill/>
        </p:spPr>
        <p:txBody>
          <a:bodyPr wrap="square" lIns="76200" tIns="38100" rIns="76200" bIns="38100">
            <a:spAutoFit/>
          </a:bodyPr>
          <a:lstStyle/>
          <a:p>
            <a:pPr>
              <a:defRPr sz="2025" b="1">
                <a:solidFill>
                  <a:srgbClr val="087E8B"/>
                </a:solidFill>
                <a:latin typeface="Arial"/>
              </a:defRPr>
            </a:pPr>
            <a:r>
              <a:t>Divisione cellulare</a:t>
            </a:r>
          </a:p>
        </p:txBody>
      </p:sp>
      <p:sp>
        <p:nvSpPr>
          <p:cNvPr id="24" name="TextBox 23"/>
          <p:cNvSpPr txBox="1"/>
          <p:nvPr/>
        </p:nvSpPr>
        <p:spPr>
          <a:xfrm>
            <a:off x="609600" y="4419600"/>
            <a:ext cx="3076575" cy="1257300"/>
          </a:xfrm>
          <a:prstGeom prst="rect">
            <a:avLst/>
          </a:prstGeom>
          <a:noFill/>
        </p:spPr>
        <p:txBody>
          <a:bodyPr wrap="square" lIns="76200" tIns="38100" rIns="76200" bIns="38100">
            <a:spAutoFit/>
          </a:bodyPr>
          <a:lstStyle/>
          <a:p>
            <a:pPr>
              <a:defRPr sz="1875" b="0">
                <a:solidFill>
                  <a:srgbClr val="193248"/>
                </a:solidFill>
                <a:latin typeface="Arial"/>
              </a:defRPr>
            </a:pPr>
            <a:r>
              <a:t>Lo zigote si divide ripetutamente e genera nuove cellule.</a:t>
            </a:r>
          </a:p>
        </p:txBody>
      </p:sp>
      <p:sp>
        <p:nvSpPr>
          <p:cNvPr id="25" name="TextBox 24"/>
          <p:cNvSpPr txBox="1"/>
          <p:nvPr/>
        </p:nvSpPr>
        <p:spPr>
          <a:xfrm>
            <a:off x="4514850" y="3867150"/>
            <a:ext cx="3162300" cy="447675"/>
          </a:xfrm>
          <a:prstGeom prst="rect">
            <a:avLst/>
          </a:prstGeom>
          <a:noFill/>
        </p:spPr>
        <p:txBody>
          <a:bodyPr wrap="square" lIns="76200" tIns="38100" rIns="76200" bIns="38100">
            <a:spAutoFit/>
          </a:bodyPr>
          <a:lstStyle/>
          <a:p>
            <a:pPr>
              <a:defRPr sz="2025" b="1">
                <a:solidFill>
                  <a:srgbClr val="087E8B"/>
                </a:solidFill>
                <a:latin typeface="Arial"/>
              </a:defRPr>
            </a:pPr>
            <a:r>
              <a:t>Differenziamento</a:t>
            </a:r>
          </a:p>
        </p:txBody>
      </p:sp>
      <p:sp>
        <p:nvSpPr>
          <p:cNvPr id="26" name="TextBox 25"/>
          <p:cNvSpPr txBox="1"/>
          <p:nvPr/>
        </p:nvSpPr>
        <p:spPr>
          <a:xfrm>
            <a:off x="4514850" y="4419600"/>
            <a:ext cx="3076575" cy="1257300"/>
          </a:xfrm>
          <a:prstGeom prst="rect">
            <a:avLst/>
          </a:prstGeom>
          <a:noFill/>
        </p:spPr>
        <p:txBody>
          <a:bodyPr wrap="square" lIns="76200" tIns="38100" rIns="76200" bIns="38100">
            <a:spAutoFit/>
          </a:bodyPr>
          <a:lstStyle/>
          <a:p>
            <a:pPr>
              <a:defRPr sz="1875" b="0">
                <a:solidFill>
                  <a:srgbClr val="193248"/>
                </a:solidFill>
                <a:latin typeface="Arial"/>
              </a:defRPr>
            </a:pPr>
            <a:r>
              <a:t>Le cellule si specializzano, assumendo caratteristiche e funzioni diverse.</a:t>
            </a:r>
          </a:p>
        </p:txBody>
      </p:sp>
      <p:sp>
        <p:nvSpPr>
          <p:cNvPr id="27" name="TextBox 26"/>
          <p:cNvSpPr txBox="1"/>
          <p:nvPr/>
        </p:nvSpPr>
        <p:spPr>
          <a:xfrm>
            <a:off x="8420100" y="3867150"/>
            <a:ext cx="3162300" cy="447675"/>
          </a:xfrm>
          <a:prstGeom prst="rect">
            <a:avLst/>
          </a:prstGeom>
          <a:noFill/>
        </p:spPr>
        <p:txBody>
          <a:bodyPr wrap="square" lIns="76200" tIns="38100" rIns="76200" bIns="38100">
            <a:spAutoFit/>
          </a:bodyPr>
          <a:lstStyle/>
          <a:p>
            <a:pPr>
              <a:defRPr sz="2025" b="1">
                <a:solidFill>
                  <a:srgbClr val="087E8B"/>
                </a:solidFill>
                <a:latin typeface="Arial"/>
              </a:defRPr>
            </a:pPr>
            <a:r>
              <a:t>Organizzazione</a:t>
            </a:r>
          </a:p>
        </p:txBody>
      </p:sp>
      <p:sp>
        <p:nvSpPr>
          <p:cNvPr id="28" name="TextBox 27"/>
          <p:cNvSpPr txBox="1"/>
          <p:nvPr/>
        </p:nvSpPr>
        <p:spPr>
          <a:xfrm>
            <a:off x="8420100" y="4419600"/>
            <a:ext cx="3076575" cy="711733"/>
          </a:xfrm>
          <a:prstGeom prst="rect">
            <a:avLst/>
          </a:prstGeom>
          <a:noFill/>
        </p:spPr>
        <p:txBody>
          <a:bodyPr wrap="square" lIns="76200" tIns="38100" rIns="76200" bIns="38100">
            <a:spAutoFit/>
          </a:bodyPr>
          <a:lstStyle/>
          <a:p>
            <a:pPr>
              <a:defRPr sz="1875" b="0">
                <a:solidFill>
                  <a:srgbClr val="193248"/>
                </a:solidFill>
                <a:latin typeface="Arial"/>
              </a:defRPr>
            </a:pPr>
            <a:r>
              <a:rPr lang="it-IT">
                <a:highlight>
                  <a:srgbClr val="FFF2A6"/>
                </a:highlight>
              </a:rPr>
              <a:t>Le cellule si organizzano e formano i </a:t>
            </a:r>
            <a:r>
              <a:rPr lang="it-IT" sz="2250" b="1">
                <a:highlight>
                  <a:srgbClr val="FFF2A6"/>
                </a:highlight>
              </a:rPr>
              <a:t>tessuti</a:t>
            </a:r>
            <a:r>
              <a:rPr lang="it-IT">
                <a:highlight>
                  <a:srgbClr val="FFF2A6"/>
                </a:highlight>
              </a:rPr>
              <a:t>.</a:t>
            </a:r>
          </a:p>
        </p:txBody>
      </p:sp>
      <p:sp>
        <p:nvSpPr>
          <p:cNvPr id="29" name="Right Arrow 28"/>
          <p:cNvSpPr/>
          <p:nvPr/>
        </p:nvSpPr>
        <p:spPr>
          <a:xfrm>
            <a:off x="3952875" y="4171950"/>
            <a:ext cx="352425" cy="190500"/>
          </a:xfrm>
          <a:prstGeom prst="rightArrow">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7858125" y="4171950"/>
            <a:ext cx="352425" cy="190500"/>
          </a:xfrm>
          <a:prstGeom prst="rightArrow">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9600" y="5715000"/>
            <a:ext cx="10810875" cy="607859"/>
          </a:xfrm>
          <a:prstGeom prst="rect">
            <a:avLst/>
          </a:prstGeom>
          <a:noFill/>
        </p:spPr>
        <p:txBody>
          <a:bodyPr wrap="square" lIns="76200" tIns="38100" rIns="76200" bIns="38100">
            <a:spAutoFit/>
          </a:bodyPr>
          <a:lstStyle/>
          <a:p>
            <a:pPr>
              <a:defRPr sz="1725" b="1">
                <a:solidFill>
                  <a:srgbClr val="123F67"/>
                </a:solidFill>
                <a:latin typeface="Arial"/>
              </a:defRPr>
            </a:pPr>
            <a:r>
              <a:rPr lang="it-IT" dirty="0"/>
              <a:t>La cellula è l’unità fondamentale della vita: la più piccola struttura capace </a:t>
            </a:r>
            <a:r>
              <a:rPr dirty="0"/>
              <a:t>di </a:t>
            </a:r>
            <a:r>
              <a:rPr lang="it-IT" dirty="0"/>
              <a:t>svolgere autonomamente le funzioni vitali</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LIVELLI DI ORGANIZZAZIONE</a:t>
            </a:r>
          </a:p>
        </p:txBody>
      </p:sp>
      <p:sp>
        <p:nvSpPr>
          <p:cNvPr id="18" name="TextBox 17"/>
          <p:cNvSpPr txBox="1"/>
          <p:nvPr/>
        </p:nvSpPr>
        <p:spPr>
          <a:xfrm>
            <a:off x="609600" y="742950"/>
            <a:ext cx="10972800" cy="647700"/>
          </a:xfrm>
          <a:prstGeom prst="rect">
            <a:avLst/>
          </a:prstGeom>
          <a:noFill/>
        </p:spPr>
        <p:txBody>
          <a:bodyPr wrap="square" lIns="76200" tIns="38100" rIns="76200" bIns="38100">
            <a:spAutoFit/>
          </a:bodyPr>
          <a:lstStyle/>
          <a:p>
            <a:pPr>
              <a:defRPr sz="3225" b="1">
                <a:solidFill>
                  <a:srgbClr val="123F67"/>
                </a:solidFill>
                <a:latin typeface="Arial"/>
              </a:defRPr>
            </a:pPr>
            <a:r>
              <a:t>Tessuti, organi, sistemi e apparati</a:t>
            </a:r>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4</a:t>
            </a:r>
            <a:endParaRPr/>
          </a:p>
        </p:txBody>
      </p:sp>
      <p:sp>
        <p:nvSpPr>
          <p:cNvPr id="20" name="TextBox 19"/>
          <p:cNvSpPr txBox="1"/>
          <p:nvPr/>
        </p:nvSpPr>
        <p:spPr>
          <a:xfrm>
            <a:off x="609600" y="1819275"/>
            <a:ext cx="10477500" cy="466725"/>
          </a:xfrm>
          <a:prstGeom prst="rect">
            <a:avLst/>
          </a:prstGeom>
          <a:noFill/>
        </p:spPr>
        <p:txBody>
          <a:bodyPr wrap="square" lIns="76200" tIns="38100" rIns="76200" bIns="38100">
            <a:spAutoFit/>
          </a:bodyPr>
          <a:lstStyle/>
          <a:p>
            <a:pPr>
              <a:defRPr sz="2325" b="1">
                <a:solidFill>
                  <a:srgbClr val="123F67"/>
                </a:solidFill>
                <a:latin typeface="Arial"/>
              </a:defRPr>
            </a:pPr>
            <a:r>
              <a:t>L’istologia studia i tessuti</a:t>
            </a:r>
          </a:p>
        </p:txBody>
      </p:sp>
      <p:sp>
        <p:nvSpPr>
          <p:cNvPr id="21" name="TextBox 20"/>
          <p:cNvSpPr txBox="1"/>
          <p:nvPr/>
        </p:nvSpPr>
        <p:spPr>
          <a:xfrm>
            <a:off x="609600" y="2514600"/>
            <a:ext cx="2638425" cy="390525"/>
          </a:xfrm>
          <a:prstGeom prst="rect">
            <a:avLst/>
          </a:prstGeom>
          <a:noFill/>
        </p:spPr>
        <p:txBody>
          <a:bodyPr wrap="square" lIns="76200" tIns="38100" rIns="76200" bIns="38100">
            <a:spAutoFit/>
          </a:bodyPr>
          <a:lstStyle/>
          <a:p>
            <a:pPr>
              <a:defRPr sz="2025" b="1">
                <a:solidFill>
                  <a:srgbClr val="087E8B"/>
                </a:solidFill>
                <a:latin typeface="Arial"/>
              </a:defRPr>
            </a:pPr>
            <a:r>
              <a:t>Epiteliale</a:t>
            </a:r>
          </a:p>
        </p:txBody>
      </p:sp>
      <p:sp>
        <p:nvSpPr>
          <p:cNvPr id="22" name="TextBox 21"/>
          <p:cNvSpPr txBox="1"/>
          <p:nvPr/>
        </p:nvSpPr>
        <p:spPr>
          <a:xfrm>
            <a:off x="609600" y="3000375"/>
            <a:ext cx="2571750" cy="654025"/>
          </a:xfrm>
          <a:prstGeom prst="rect">
            <a:avLst/>
          </a:prstGeom>
          <a:noFill/>
        </p:spPr>
        <p:txBody>
          <a:bodyPr wrap="square" lIns="76200" tIns="38100" rIns="76200" bIns="38100">
            <a:spAutoFit/>
          </a:bodyPr>
          <a:lstStyle/>
          <a:p>
            <a:pPr>
              <a:defRPr sz="1875" b="0">
                <a:solidFill>
                  <a:srgbClr val="193248"/>
                </a:solidFill>
                <a:latin typeface="Arial"/>
              </a:defRPr>
            </a:pPr>
            <a:r>
              <a:t>Rivestimento</a:t>
            </a:r>
            <a:r>
              <a:rPr lang="it-IT"/>
              <a:t>, protezione</a:t>
            </a:r>
            <a:r>
              <a:t> e ghiandole</a:t>
            </a:r>
          </a:p>
        </p:txBody>
      </p:sp>
      <p:sp>
        <p:nvSpPr>
          <p:cNvPr id="23" name="TextBox 22"/>
          <p:cNvSpPr txBox="1"/>
          <p:nvPr/>
        </p:nvSpPr>
        <p:spPr>
          <a:xfrm>
            <a:off x="3409950" y="2514600"/>
            <a:ext cx="2638425" cy="390525"/>
          </a:xfrm>
          <a:prstGeom prst="rect">
            <a:avLst/>
          </a:prstGeom>
          <a:noFill/>
        </p:spPr>
        <p:txBody>
          <a:bodyPr wrap="square" lIns="76200" tIns="38100" rIns="76200" bIns="38100">
            <a:spAutoFit/>
          </a:bodyPr>
          <a:lstStyle/>
          <a:p>
            <a:pPr>
              <a:defRPr sz="2025" b="1">
                <a:solidFill>
                  <a:srgbClr val="087E8B"/>
                </a:solidFill>
                <a:latin typeface="Arial"/>
              </a:defRPr>
            </a:pPr>
            <a:r>
              <a:t>Connettivo</a:t>
            </a:r>
          </a:p>
        </p:txBody>
      </p:sp>
      <p:sp>
        <p:nvSpPr>
          <p:cNvPr id="24" name="TextBox 23"/>
          <p:cNvSpPr txBox="1"/>
          <p:nvPr/>
        </p:nvSpPr>
        <p:spPr>
          <a:xfrm>
            <a:off x="3409950" y="3000375"/>
            <a:ext cx="2571750" cy="790575"/>
          </a:xfrm>
          <a:prstGeom prst="rect">
            <a:avLst/>
          </a:prstGeom>
          <a:noFill/>
        </p:spPr>
        <p:txBody>
          <a:bodyPr wrap="square" lIns="76200" tIns="38100" rIns="76200" bIns="38100">
            <a:spAutoFit/>
          </a:bodyPr>
          <a:lstStyle/>
          <a:p>
            <a:pPr>
              <a:defRPr sz="1875" b="0">
                <a:solidFill>
                  <a:srgbClr val="193248"/>
                </a:solidFill>
                <a:latin typeface="Arial"/>
              </a:defRPr>
            </a:pPr>
            <a:r>
              <a:t>Sostegno e collegamento</a:t>
            </a:r>
          </a:p>
        </p:txBody>
      </p:sp>
      <p:sp>
        <p:nvSpPr>
          <p:cNvPr id="25" name="TextBox 24"/>
          <p:cNvSpPr txBox="1"/>
          <p:nvPr/>
        </p:nvSpPr>
        <p:spPr>
          <a:xfrm>
            <a:off x="6210300" y="2514600"/>
            <a:ext cx="2638425" cy="390525"/>
          </a:xfrm>
          <a:prstGeom prst="rect">
            <a:avLst/>
          </a:prstGeom>
          <a:noFill/>
        </p:spPr>
        <p:txBody>
          <a:bodyPr wrap="square" lIns="76200" tIns="38100" rIns="76200" bIns="38100">
            <a:spAutoFit/>
          </a:bodyPr>
          <a:lstStyle/>
          <a:p>
            <a:pPr>
              <a:defRPr sz="2025" b="1">
                <a:solidFill>
                  <a:srgbClr val="087E8B"/>
                </a:solidFill>
                <a:latin typeface="Arial"/>
              </a:defRPr>
            </a:pPr>
            <a:r>
              <a:t>Muscolare</a:t>
            </a:r>
          </a:p>
        </p:txBody>
      </p:sp>
      <p:sp>
        <p:nvSpPr>
          <p:cNvPr id="26" name="TextBox 25"/>
          <p:cNvSpPr txBox="1"/>
          <p:nvPr/>
        </p:nvSpPr>
        <p:spPr>
          <a:xfrm>
            <a:off x="6210300" y="3000375"/>
            <a:ext cx="2571750" cy="790575"/>
          </a:xfrm>
          <a:prstGeom prst="rect">
            <a:avLst/>
          </a:prstGeom>
          <a:noFill/>
        </p:spPr>
        <p:txBody>
          <a:bodyPr wrap="square" lIns="76200" tIns="38100" rIns="76200" bIns="38100">
            <a:spAutoFit/>
          </a:bodyPr>
          <a:lstStyle/>
          <a:p>
            <a:pPr>
              <a:defRPr sz="1875" b="0">
                <a:solidFill>
                  <a:srgbClr val="193248"/>
                </a:solidFill>
                <a:latin typeface="Arial"/>
              </a:defRPr>
            </a:pPr>
            <a:r>
              <a:t>Contrazione e movimento</a:t>
            </a:r>
          </a:p>
        </p:txBody>
      </p:sp>
      <p:sp>
        <p:nvSpPr>
          <p:cNvPr id="27" name="TextBox 26"/>
          <p:cNvSpPr txBox="1"/>
          <p:nvPr/>
        </p:nvSpPr>
        <p:spPr>
          <a:xfrm>
            <a:off x="9010650" y="2514600"/>
            <a:ext cx="2638425" cy="390525"/>
          </a:xfrm>
          <a:prstGeom prst="rect">
            <a:avLst/>
          </a:prstGeom>
          <a:noFill/>
        </p:spPr>
        <p:txBody>
          <a:bodyPr wrap="square" lIns="76200" tIns="38100" rIns="76200" bIns="38100">
            <a:spAutoFit/>
          </a:bodyPr>
          <a:lstStyle/>
          <a:p>
            <a:pPr>
              <a:defRPr sz="2025" b="1">
                <a:solidFill>
                  <a:srgbClr val="087E8B"/>
                </a:solidFill>
                <a:latin typeface="Arial"/>
              </a:defRPr>
            </a:pPr>
            <a:r>
              <a:t>Nervoso</a:t>
            </a:r>
          </a:p>
        </p:txBody>
      </p:sp>
      <p:sp>
        <p:nvSpPr>
          <p:cNvPr id="28" name="TextBox 27"/>
          <p:cNvSpPr txBox="1"/>
          <p:nvPr/>
        </p:nvSpPr>
        <p:spPr>
          <a:xfrm>
            <a:off x="9010650" y="3000375"/>
            <a:ext cx="2571750" cy="790575"/>
          </a:xfrm>
          <a:prstGeom prst="rect">
            <a:avLst/>
          </a:prstGeom>
          <a:noFill/>
        </p:spPr>
        <p:txBody>
          <a:bodyPr wrap="square" lIns="76200" tIns="38100" rIns="76200" bIns="38100">
            <a:spAutoFit/>
          </a:bodyPr>
          <a:lstStyle/>
          <a:p>
            <a:pPr>
              <a:defRPr sz="1875" b="0">
                <a:solidFill>
                  <a:srgbClr val="193248"/>
                </a:solidFill>
                <a:latin typeface="Arial"/>
              </a:defRPr>
            </a:pPr>
            <a:r>
              <a:t>Trasmissione di impulsi</a:t>
            </a:r>
          </a:p>
        </p:txBody>
      </p:sp>
      <p:sp>
        <p:nvSpPr>
          <p:cNvPr id="29" name="Rectangle 28"/>
          <p:cNvSpPr/>
          <p:nvPr/>
        </p:nvSpPr>
        <p:spPr>
          <a:xfrm>
            <a:off x="609600" y="4010025"/>
            <a:ext cx="10972800" cy="19050"/>
          </a:xfrm>
          <a:prstGeom prst="rect">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9600" y="4324350"/>
            <a:ext cx="3152775" cy="457200"/>
          </a:xfrm>
          <a:prstGeom prst="rect">
            <a:avLst/>
          </a:prstGeom>
          <a:noFill/>
        </p:spPr>
        <p:txBody>
          <a:bodyPr wrap="square" lIns="76200" tIns="38100" rIns="76200" bIns="38100">
            <a:spAutoFit/>
          </a:bodyPr>
          <a:lstStyle/>
          <a:p>
            <a:pPr>
              <a:defRPr sz="2025" b="1">
                <a:solidFill>
                  <a:srgbClr val="123F67"/>
                </a:solidFill>
                <a:latin typeface="Arial"/>
              </a:defRPr>
            </a:pPr>
            <a:r>
              <a:t>Tessuti</a:t>
            </a:r>
          </a:p>
        </p:txBody>
      </p:sp>
      <p:sp>
        <p:nvSpPr>
          <p:cNvPr id="31" name="TextBox 30"/>
          <p:cNvSpPr txBox="1"/>
          <p:nvPr/>
        </p:nvSpPr>
        <p:spPr>
          <a:xfrm>
            <a:off x="609600" y="4857750"/>
            <a:ext cx="3057525" cy="1000125"/>
          </a:xfrm>
          <a:prstGeom prst="rect">
            <a:avLst/>
          </a:prstGeom>
          <a:noFill/>
        </p:spPr>
        <p:txBody>
          <a:bodyPr wrap="square" lIns="76200" tIns="38100" rIns="76200" bIns="38100">
            <a:spAutoFit/>
          </a:bodyPr>
          <a:lstStyle/>
          <a:p>
            <a:pPr>
              <a:defRPr sz="1875" b="0">
                <a:solidFill>
                  <a:srgbClr val="193248"/>
                </a:solidFill>
                <a:latin typeface="Arial"/>
              </a:defRPr>
            </a:pPr>
            <a:r>
              <a:t>Cellule organizzate con funzioni specifiche.</a:t>
            </a:r>
          </a:p>
        </p:txBody>
      </p:sp>
      <p:sp>
        <p:nvSpPr>
          <p:cNvPr id="32" name="TextBox 31"/>
          <p:cNvSpPr txBox="1"/>
          <p:nvPr/>
        </p:nvSpPr>
        <p:spPr>
          <a:xfrm>
            <a:off x="4552950" y="4324350"/>
            <a:ext cx="3152775" cy="457200"/>
          </a:xfrm>
          <a:prstGeom prst="rect">
            <a:avLst/>
          </a:prstGeom>
          <a:noFill/>
        </p:spPr>
        <p:txBody>
          <a:bodyPr wrap="square" lIns="76200" tIns="38100" rIns="76200" bIns="38100">
            <a:spAutoFit/>
          </a:bodyPr>
          <a:lstStyle/>
          <a:p>
            <a:pPr>
              <a:defRPr sz="2025" b="1">
                <a:solidFill>
                  <a:srgbClr val="123F67"/>
                </a:solidFill>
                <a:latin typeface="Arial"/>
              </a:defRPr>
            </a:pPr>
            <a:r>
              <a:t>Organi</a:t>
            </a:r>
          </a:p>
        </p:txBody>
      </p:sp>
      <p:sp>
        <p:nvSpPr>
          <p:cNvPr id="33" name="TextBox 32"/>
          <p:cNvSpPr txBox="1"/>
          <p:nvPr/>
        </p:nvSpPr>
        <p:spPr>
          <a:xfrm>
            <a:off x="4552950" y="4857750"/>
            <a:ext cx="3057525" cy="1000125"/>
          </a:xfrm>
          <a:prstGeom prst="rect">
            <a:avLst/>
          </a:prstGeom>
          <a:noFill/>
        </p:spPr>
        <p:txBody>
          <a:bodyPr wrap="square" lIns="76200" tIns="38100" rIns="76200" bIns="38100">
            <a:spAutoFit/>
          </a:bodyPr>
          <a:lstStyle/>
          <a:p>
            <a:pPr>
              <a:defRPr sz="1875" b="0">
                <a:solidFill>
                  <a:srgbClr val="193248"/>
                </a:solidFill>
                <a:latin typeface="Arial"/>
              </a:defRPr>
            </a:pPr>
            <a:r>
              <a:t>Più tessuti coordinano le loro attività. Esempi: cuore e rene.</a:t>
            </a:r>
          </a:p>
        </p:txBody>
      </p:sp>
      <p:sp>
        <p:nvSpPr>
          <p:cNvPr id="34" name="TextBox 33"/>
          <p:cNvSpPr txBox="1"/>
          <p:nvPr/>
        </p:nvSpPr>
        <p:spPr>
          <a:xfrm>
            <a:off x="8467725" y="4324350"/>
            <a:ext cx="3152775" cy="457200"/>
          </a:xfrm>
          <a:prstGeom prst="rect">
            <a:avLst/>
          </a:prstGeom>
          <a:noFill/>
        </p:spPr>
        <p:txBody>
          <a:bodyPr wrap="square" lIns="76200" tIns="38100" rIns="76200" bIns="38100">
            <a:spAutoFit/>
          </a:bodyPr>
          <a:lstStyle/>
          <a:p>
            <a:pPr>
              <a:defRPr sz="2025" b="1">
                <a:solidFill>
                  <a:srgbClr val="123F67"/>
                </a:solidFill>
                <a:latin typeface="Arial"/>
              </a:defRPr>
            </a:pPr>
            <a:r>
              <a:t>Sistemi e apparati</a:t>
            </a:r>
          </a:p>
        </p:txBody>
      </p:sp>
      <p:sp>
        <p:nvSpPr>
          <p:cNvPr id="35" name="TextBox 34"/>
          <p:cNvSpPr txBox="1"/>
          <p:nvPr/>
        </p:nvSpPr>
        <p:spPr>
          <a:xfrm>
            <a:off x="8467725" y="4857750"/>
            <a:ext cx="3057525" cy="1000125"/>
          </a:xfrm>
          <a:prstGeom prst="rect">
            <a:avLst/>
          </a:prstGeom>
          <a:noFill/>
        </p:spPr>
        <p:txBody>
          <a:bodyPr wrap="square" lIns="76200" tIns="38100" rIns="76200" bIns="38100">
            <a:spAutoFit/>
          </a:bodyPr>
          <a:lstStyle/>
          <a:p>
            <a:pPr>
              <a:defRPr sz="1875" b="0">
                <a:solidFill>
                  <a:srgbClr val="193248"/>
                </a:solidFill>
                <a:latin typeface="Arial"/>
              </a:defRPr>
            </a:pPr>
            <a:r>
              <a:t>Più organi collaborano per svolgere una funzione comune.</a:t>
            </a:r>
          </a:p>
        </p:txBody>
      </p:sp>
      <p:sp>
        <p:nvSpPr>
          <p:cNvPr id="36" name="Right Arrow 35"/>
          <p:cNvSpPr/>
          <p:nvPr/>
        </p:nvSpPr>
        <p:spPr>
          <a:xfrm>
            <a:off x="3943350" y="4600575"/>
            <a:ext cx="381000" cy="219075"/>
          </a:xfrm>
          <a:prstGeom prst="rightArrow">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ight Arrow 36"/>
          <p:cNvSpPr/>
          <p:nvPr/>
        </p:nvSpPr>
        <p:spPr>
          <a:xfrm>
            <a:off x="7877175" y="4600575"/>
            <a:ext cx="381000" cy="219075"/>
          </a:xfrm>
          <a:prstGeom prst="rightArrow">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9600" y="5895975"/>
            <a:ext cx="10810875" cy="381000"/>
          </a:xfrm>
          <a:prstGeom prst="rect">
            <a:avLst/>
          </a:prstGeom>
          <a:noFill/>
        </p:spPr>
        <p:txBody>
          <a:bodyPr wrap="square" lIns="76200" tIns="38100" rIns="76200" bIns="38100">
            <a:spAutoFit/>
          </a:bodyPr>
          <a:lstStyle/>
          <a:p>
            <a:pPr>
              <a:defRPr sz="1875" b="1">
                <a:solidFill>
                  <a:srgbClr val="087E8B"/>
                </a:solidFill>
                <a:latin typeface="Arial"/>
              </a:defRPr>
            </a:pPr>
            <a:r>
              <a:t>Il corpo umano integra questi livelli in un unico organismo.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I QUATTRO TESSUTI</a:t>
            </a:r>
          </a:p>
        </p:txBody>
      </p:sp>
      <p:sp>
        <p:nvSpPr>
          <p:cNvPr id="18" name="TextBox 17"/>
          <p:cNvSpPr txBox="1"/>
          <p:nvPr/>
        </p:nvSpPr>
        <p:spPr>
          <a:xfrm>
            <a:off x="609600" y="742950"/>
            <a:ext cx="10972800" cy="573234"/>
          </a:xfrm>
          <a:prstGeom prst="rect">
            <a:avLst/>
          </a:prstGeom>
          <a:noFill/>
        </p:spPr>
        <p:txBody>
          <a:bodyPr wrap="square" lIns="76200" tIns="38100" rIns="76200" bIns="38100">
            <a:spAutoFit/>
          </a:bodyPr>
          <a:lstStyle/>
          <a:p>
            <a:pPr>
              <a:defRPr sz="3225" b="1">
                <a:solidFill>
                  <a:srgbClr val="123F67"/>
                </a:solidFill>
                <a:latin typeface="Arial"/>
              </a:defRPr>
            </a:pPr>
            <a:r>
              <a:rPr lang="it-IT" dirty="0"/>
              <a:t>1. </a:t>
            </a:r>
            <a:r>
              <a:rPr dirty="0"/>
              <a:t>Il </a:t>
            </a:r>
            <a:r>
              <a:rPr dirty="0" err="1"/>
              <a:t>tessuto</a:t>
            </a:r>
            <a:r>
              <a:rPr dirty="0"/>
              <a:t> </a:t>
            </a:r>
            <a:r>
              <a:rPr dirty="0" err="1"/>
              <a:t>epiteliale</a:t>
            </a:r>
            <a:endParaRPr dirty="0"/>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5</a:t>
            </a:r>
            <a:endParaRPr/>
          </a:p>
        </p:txBody>
      </p:sp>
      <p:sp>
        <p:nvSpPr>
          <p:cNvPr id="20" name="TextBox 19"/>
          <p:cNvSpPr txBox="1"/>
          <p:nvPr/>
        </p:nvSpPr>
        <p:spPr>
          <a:xfrm>
            <a:off x="609600" y="1819275"/>
            <a:ext cx="2571750" cy="333375"/>
          </a:xfrm>
          <a:prstGeom prst="rect">
            <a:avLst/>
          </a:prstGeom>
          <a:noFill/>
        </p:spPr>
        <p:txBody>
          <a:bodyPr wrap="square" lIns="76200" tIns="38100" rIns="76200" bIns="38100">
            <a:spAutoFit/>
          </a:bodyPr>
          <a:lstStyle/>
          <a:p>
            <a:pPr>
              <a:defRPr sz="1600" b="1">
                <a:solidFill>
                  <a:srgbClr val="567082"/>
                </a:solidFill>
                <a:latin typeface="Arial"/>
              </a:defRPr>
            </a:pPr>
            <a:r>
              <a:rPr lang="it-IT" sz="1600" b="1">
                <a:solidFill>
                  <a:srgbClr val="567082"/>
                </a:solidFill>
              </a:rPr>
              <a:t>Numero di strati</a:t>
            </a:r>
            <a:endParaRPr lang="it-IT"/>
          </a:p>
        </p:txBody>
      </p:sp>
      <p:sp>
        <p:nvSpPr>
          <p:cNvPr id="21" name="TextBox 20"/>
          <p:cNvSpPr txBox="1"/>
          <p:nvPr/>
        </p:nvSpPr>
        <p:spPr>
          <a:xfrm>
            <a:off x="3905250" y="1733550"/>
            <a:ext cx="3238500" cy="338554"/>
          </a:xfrm>
          <a:prstGeom prst="rect">
            <a:avLst/>
          </a:prstGeom>
          <a:noFill/>
        </p:spPr>
        <p:txBody>
          <a:bodyPr wrap="square" lIns="76200" tIns="38100" rIns="76200" bIns="38100">
            <a:spAutoFit/>
          </a:bodyPr>
          <a:lstStyle/>
          <a:p>
            <a:pPr>
              <a:defRPr sz="1700" b="1">
                <a:solidFill>
                  <a:srgbClr val="567082"/>
                </a:solidFill>
                <a:latin typeface="Arial"/>
              </a:defRPr>
            </a:pPr>
            <a:r>
              <a:rPr lang="it-IT" sz="1700" b="1">
                <a:solidFill>
                  <a:srgbClr val="567082"/>
                </a:solidFill>
              </a:rPr>
              <a:t>Monostratificato</a:t>
            </a:r>
            <a:endParaRPr lang="it-IT"/>
          </a:p>
        </p:txBody>
      </p:sp>
      <p:sp>
        <p:nvSpPr>
          <p:cNvPr id="22" name="TextBox 21"/>
          <p:cNvSpPr txBox="1"/>
          <p:nvPr/>
        </p:nvSpPr>
        <p:spPr>
          <a:xfrm>
            <a:off x="3905250" y="2085975"/>
            <a:ext cx="3238500" cy="323850"/>
          </a:xfrm>
          <a:prstGeom prst="rect">
            <a:avLst/>
          </a:prstGeom>
          <a:noFill/>
        </p:spPr>
        <p:txBody>
          <a:bodyPr wrap="square" lIns="76200" tIns="38100" rIns="76200" bIns="38100">
            <a:spAutoFit/>
          </a:bodyPr>
          <a:lstStyle/>
          <a:p>
            <a:pPr>
              <a:defRPr sz="1600" b="0">
                <a:solidFill>
                  <a:srgbClr val="567082"/>
                </a:solidFill>
                <a:latin typeface="Arial"/>
              </a:defRPr>
            </a:pPr>
            <a:r>
              <a:rPr lang="it-IT" sz="1600" b="0">
                <a:solidFill>
                  <a:srgbClr val="567082"/>
                </a:solidFill>
              </a:rPr>
              <a:t>Un solo strato di cellule.</a:t>
            </a:r>
          </a:p>
        </p:txBody>
      </p:sp>
      <p:sp>
        <p:nvSpPr>
          <p:cNvPr id="23" name="TextBox 22"/>
          <p:cNvSpPr txBox="1"/>
          <p:nvPr/>
        </p:nvSpPr>
        <p:spPr>
          <a:xfrm>
            <a:off x="8048625" y="1733550"/>
            <a:ext cx="3429000" cy="338554"/>
          </a:xfrm>
          <a:prstGeom prst="rect">
            <a:avLst/>
          </a:prstGeom>
          <a:noFill/>
        </p:spPr>
        <p:txBody>
          <a:bodyPr wrap="square" lIns="76200" tIns="38100" rIns="76200" bIns="38100">
            <a:spAutoFit/>
          </a:bodyPr>
          <a:lstStyle/>
          <a:p>
            <a:pPr>
              <a:defRPr sz="1700" b="1">
                <a:solidFill>
                  <a:srgbClr val="567082"/>
                </a:solidFill>
                <a:latin typeface="Arial"/>
              </a:defRPr>
            </a:pPr>
            <a:r>
              <a:rPr lang="it-IT" sz="1700" b="1">
                <a:solidFill>
                  <a:srgbClr val="567082"/>
                </a:solidFill>
              </a:rPr>
              <a:t>Pluristratificato</a:t>
            </a:r>
            <a:endParaRPr lang="it-IT"/>
          </a:p>
        </p:txBody>
      </p:sp>
      <p:sp>
        <p:nvSpPr>
          <p:cNvPr id="24" name="TextBox 23"/>
          <p:cNvSpPr txBox="1"/>
          <p:nvPr/>
        </p:nvSpPr>
        <p:spPr>
          <a:xfrm>
            <a:off x="8048625" y="2085975"/>
            <a:ext cx="3429000" cy="323850"/>
          </a:xfrm>
          <a:prstGeom prst="rect">
            <a:avLst/>
          </a:prstGeom>
          <a:noFill/>
        </p:spPr>
        <p:txBody>
          <a:bodyPr wrap="square" lIns="76200" tIns="38100" rIns="76200" bIns="38100">
            <a:spAutoFit/>
          </a:bodyPr>
          <a:lstStyle/>
          <a:p>
            <a:pPr>
              <a:defRPr sz="1600" b="0">
                <a:solidFill>
                  <a:srgbClr val="567082"/>
                </a:solidFill>
                <a:latin typeface="Arial"/>
              </a:defRPr>
            </a:pPr>
            <a:r>
              <a:rPr lang="it-IT" sz="1600" b="0">
                <a:solidFill>
                  <a:srgbClr val="567082"/>
                </a:solidFill>
              </a:rPr>
              <a:t>Più strati sovrapposti.</a:t>
            </a:r>
          </a:p>
        </p:txBody>
      </p:sp>
      <p:sp>
        <p:nvSpPr>
          <p:cNvPr id="27" name="TextBox 19"/>
          <p:cNvSpPr txBox="1"/>
          <p:nvPr/>
        </p:nvSpPr>
        <p:spPr>
          <a:xfrm>
            <a:off x="609600" y="3724275"/>
            <a:ext cx="1657350" cy="784830"/>
          </a:xfrm>
          <a:prstGeom prst="rect">
            <a:avLst/>
          </a:prstGeom>
          <a:noFill/>
        </p:spPr>
        <p:txBody>
          <a:bodyPr wrap="square" lIns="76200" tIns="38100" rIns="76200" bIns="38100">
            <a:spAutoFit/>
          </a:bodyPr>
          <a:lstStyle/>
          <a:p>
            <a:pPr>
              <a:defRPr sz="2300" b="1">
                <a:solidFill>
                  <a:srgbClr val="123F67"/>
                </a:solidFill>
                <a:latin typeface="Arial"/>
              </a:defRPr>
            </a:pPr>
            <a:r>
              <a:rPr lang="it-IT" sz="2300" b="1">
                <a:solidFill>
                  <a:srgbClr val="123F67"/>
                </a:solidFill>
              </a:rPr>
              <a:t>Le tre</a:t>
            </a:r>
            <a:br>
              <a:rPr lang="it-IT"/>
            </a:br>
            <a:r>
              <a:rPr lang="it-IT" sz="2300" b="1">
                <a:solidFill>
                  <a:srgbClr val="123F67"/>
                </a:solidFill>
              </a:rPr>
              <a:t>funzioni</a:t>
            </a:r>
          </a:p>
        </p:txBody>
      </p:sp>
      <p:sp>
        <p:nvSpPr>
          <p:cNvPr id="28" name="TextBox 20"/>
          <p:cNvSpPr txBox="1"/>
          <p:nvPr/>
        </p:nvSpPr>
        <p:spPr>
          <a:xfrm>
            <a:off x="3048000" y="2828925"/>
            <a:ext cx="4000500" cy="477054"/>
          </a:xfrm>
          <a:prstGeom prst="rect">
            <a:avLst/>
          </a:prstGeom>
          <a:noFill/>
        </p:spPr>
        <p:txBody>
          <a:bodyPr wrap="square" lIns="76200" tIns="38100" rIns="76200" bIns="38100">
            <a:spAutoFit/>
          </a:bodyPr>
          <a:lstStyle/>
          <a:p>
            <a:pPr>
              <a:defRPr sz="2600" b="1">
                <a:solidFill>
                  <a:srgbClr val="087E8B"/>
                </a:solidFill>
                <a:latin typeface="Arial"/>
              </a:defRPr>
            </a:pPr>
            <a:r>
              <a:rPr lang="it-IT" sz="2600" b="1">
                <a:solidFill>
                  <a:srgbClr val="087E8B"/>
                </a:solidFill>
              </a:rPr>
              <a:t>Di rivestimento</a:t>
            </a:r>
          </a:p>
        </p:txBody>
      </p:sp>
      <p:sp>
        <p:nvSpPr>
          <p:cNvPr id="29" name="TextBox 21"/>
          <p:cNvSpPr txBox="1"/>
          <p:nvPr/>
        </p:nvSpPr>
        <p:spPr>
          <a:xfrm>
            <a:off x="3048000" y="3314700"/>
            <a:ext cx="4286250" cy="384721"/>
          </a:xfrm>
          <a:prstGeom prst="rect">
            <a:avLst/>
          </a:prstGeom>
          <a:noFill/>
        </p:spPr>
        <p:txBody>
          <a:bodyPr wrap="square" lIns="76200" tIns="38100" rIns="76200" bIns="38100">
            <a:spAutoFit/>
          </a:bodyPr>
          <a:lstStyle/>
          <a:p>
            <a:pPr>
              <a:defRPr sz="2000" b="0">
                <a:solidFill>
                  <a:srgbClr val="193248"/>
                </a:solidFill>
                <a:latin typeface="Arial"/>
              </a:defRPr>
            </a:pPr>
            <a:r>
              <a:rPr lang="it-IT" sz="2000" b="0">
                <a:solidFill>
                  <a:srgbClr val="193248"/>
                </a:solidFill>
              </a:rPr>
              <a:t>Riveste e protegge le superfici.</a:t>
            </a:r>
          </a:p>
        </p:txBody>
      </p:sp>
      <p:sp>
        <p:nvSpPr>
          <p:cNvPr id="30" name="TextBox 20"/>
          <p:cNvSpPr txBox="1"/>
          <p:nvPr/>
        </p:nvSpPr>
        <p:spPr>
          <a:xfrm>
            <a:off x="3048000" y="3876675"/>
            <a:ext cx="4000500" cy="477054"/>
          </a:xfrm>
          <a:prstGeom prst="rect">
            <a:avLst/>
          </a:prstGeom>
          <a:noFill/>
        </p:spPr>
        <p:txBody>
          <a:bodyPr wrap="square" lIns="76200" tIns="38100" rIns="76200" bIns="38100">
            <a:spAutoFit/>
          </a:bodyPr>
          <a:lstStyle/>
          <a:p>
            <a:pPr>
              <a:defRPr sz="2600" b="1">
                <a:solidFill>
                  <a:srgbClr val="087E8B"/>
                </a:solidFill>
                <a:latin typeface="Arial"/>
              </a:defRPr>
            </a:pPr>
            <a:r>
              <a:rPr lang="it-IT" sz="2600" b="1">
                <a:solidFill>
                  <a:srgbClr val="087E8B"/>
                </a:solidFill>
              </a:rPr>
              <a:t>Sensoriale</a:t>
            </a:r>
          </a:p>
        </p:txBody>
      </p:sp>
      <p:sp>
        <p:nvSpPr>
          <p:cNvPr id="31" name="TextBox 21"/>
          <p:cNvSpPr txBox="1"/>
          <p:nvPr/>
        </p:nvSpPr>
        <p:spPr>
          <a:xfrm>
            <a:off x="3048000" y="4362450"/>
            <a:ext cx="4238625" cy="384721"/>
          </a:xfrm>
          <a:prstGeom prst="rect">
            <a:avLst/>
          </a:prstGeom>
          <a:noFill/>
        </p:spPr>
        <p:txBody>
          <a:bodyPr wrap="square" lIns="76200" tIns="38100" rIns="76200" bIns="38100">
            <a:spAutoFit/>
          </a:bodyPr>
          <a:lstStyle/>
          <a:p>
            <a:pPr>
              <a:defRPr sz="2000" b="0">
                <a:solidFill>
                  <a:srgbClr val="193248"/>
                </a:solidFill>
                <a:latin typeface="Arial"/>
              </a:defRPr>
            </a:pPr>
            <a:r>
              <a:rPr lang="it-IT" sz="2000" b="0">
                <a:solidFill>
                  <a:srgbClr val="193248"/>
                </a:solidFill>
              </a:rPr>
              <a:t>Riceve gli stimoli sensoriali.</a:t>
            </a:r>
          </a:p>
        </p:txBody>
      </p:sp>
      <p:sp>
        <p:nvSpPr>
          <p:cNvPr id="32" name="TextBox 20"/>
          <p:cNvSpPr txBox="1"/>
          <p:nvPr/>
        </p:nvSpPr>
        <p:spPr>
          <a:xfrm>
            <a:off x="3048000" y="4924425"/>
            <a:ext cx="4000500" cy="477054"/>
          </a:xfrm>
          <a:prstGeom prst="rect">
            <a:avLst/>
          </a:prstGeom>
          <a:noFill/>
        </p:spPr>
        <p:txBody>
          <a:bodyPr wrap="square" lIns="76200" tIns="38100" rIns="76200" bIns="38100">
            <a:spAutoFit/>
          </a:bodyPr>
          <a:lstStyle/>
          <a:p>
            <a:pPr>
              <a:defRPr sz="2600" b="1">
                <a:solidFill>
                  <a:srgbClr val="087E8B"/>
                </a:solidFill>
                <a:latin typeface="Arial"/>
              </a:defRPr>
            </a:pPr>
            <a:r>
              <a:rPr lang="it-IT" sz="2600" b="1">
                <a:solidFill>
                  <a:srgbClr val="087E8B"/>
                </a:solidFill>
              </a:rPr>
              <a:t>Ghiandolare</a:t>
            </a:r>
          </a:p>
        </p:txBody>
      </p:sp>
      <p:sp>
        <p:nvSpPr>
          <p:cNvPr id="33" name="TextBox 21"/>
          <p:cNvSpPr txBox="1"/>
          <p:nvPr/>
        </p:nvSpPr>
        <p:spPr>
          <a:xfrm>
            <a:off x="3048000" y="5410200"/>
            <a:ext cx="4191000" cy="457200"/>
          </a:xfrm>
          <a:prstGeom prst="rect">
            <a:avLst/>
          </a:prstGeom>
          <a:noFill/>
        </p:spPr>
        <p:txBody>
          <a:bodyPr wrap="square" lIns="76200" tIns="38100" rIns="76200" bIns="38100">
            <a:spAutoFit/>
          </a:bodyPr>
          <a:lstStyle/>
          <a:p>
            <a:pPr>
              <a:defRPr sz="2000" b="0">
                <a:solidFill>
                  <a:srgbClr val="193248"/>
                </a:solidFill>
                <a:latin typeface="Arial"/>
              </a:defRPr>
            </a:pPr>
            <a:r>
              <a:rPr lang="it-IT" sz="2000" b="0">
                <a:solidFill>
                  <a:srgbClr val="193248"/>
                </a:solidFill>
              </a:rPr>
              <a:t>Produce e secerne sostanze.</a:t>
            </a:r>
          </a:p>
        </p:txBody>
      </p:sp>
      <p:sp>
        <p:nvSpPr>
          <p:cNvPr id="34" name="TextBox 21"/>
          <p:cNvSpPr txBox="1"/>
          <p:nvPr/>
        </p:nvSpPr>
        <p:spPr>
          <a:xfrm>
            <a:off x="8210550" y="4667250"/>
            <a:ext cx="3333750" cy="430887"/>
          </a:xfrm>
          <a:prstGeom prst="rect">
            <a:avLst/>
          </a:prstGeom>
          <a:noFill/>
        </p:spPr>
        <p:txBody>
          <a:bodyPr wrap="square" lIns="76200" tIns="38100" rIns="76200" bIns="38100">
            <a:spAutoFit/>
          </a:bodyPr>
          <a:lstStyle/>
          <a:p>
            <a:pPr>
              <a:defRPr sz="2300" b="1">
                <a:solidFill>
                  <a:srgbClr val="123F67"/>
                </a:solidFill>
                <a:latin typeface="Arial"/>
              </a:defRPr>
            </a:pPr>
            <a:r>
              <a:rPr lang="it-IT" sz="2300" b="1">
                <a:solidFill>
                  <a:srgbClr val="123F67"/>
                </a:solidFill>
              </a:rPr>
              <a:t>Sebacea</a:t>
            </a:r>
          </a:p>
        </p:txBody>
      </p:sp>
      <p:sp>
        <p:nvSpPr>
          <p:cNvPr id="35" name="TextBox 21"/>
          <p:cNvSpPr txBox="1"/>
          <p:nvPr/>
        </p:nvSpPr>
        <p:spPr>
          <a:xfrm>
            <a:off x="8210550" y="5057775"/>
            <a:ext cx="3333750" cy="369332"/>
          </a:xfrm>
          <a:prstGeom prst="rect">
            <a:avLst/>
          </a:prstGeom>
          <a:noFill/>
        </p:spPr>
        <p:txBody>
          <a:bodyPr wrap="square" lIns="76200" tIns="38100" rIns="76200" bIns="38100">
            <a:spAutoFit/>
          </a:bodyPr>
          <a:lstStyle/>
          <a:p>
            <a:pPr>
              <a:defRPr sz="1900" b="0">
                <a:solidFill>
                  <a:srgbClr val="193248"/>
                </a:solidFill>
                <a:latin typeface="Arial"/>
              </a:defRPr>
            </a:pPr>
            <a:r>
              <a:rPr lang="it-IT" sz="1900" b="0">
                <a:solidFill>
                  <a:srgbClr val="193248"/>
                </a:solidFill>
              </a:rPr>
              <a:t>Protegge e lubrifica la cute.</a:t>
            </a:r>
          </a:p>
        </p:txBody>
      </p:sp>
      <p:sp>
        <p:nvSpPr>
          <p:cNvPr id="36" name="TextBox 21"/>
          <p:cNvSpPr txBox="1"/>
          <p:nvPr/>
        </p:nvSpPr>
        <p:spPr>
          <a:xfrm>
            <a:off x="8210550" y="5534025"/>
            <a:ext cx="3333750" cy="430887"/>
          </a:xfrm>
          <a:prstGeom prst="rect">
            <a:avLst/>
          </a:prstGeom>
          <a:noFill/>
        </p:spPr>
        <p:txBody>
          <a:bodyPr wrap="square" lIns="76200" tIns="38100" rIns="76200" bIns="38100">
            <a:spAutoFit/>
          </a:bodyPr>
          <a:lstStyle/>
          <a:p>
            <a:pPr>
              <a:defRPr sz="2300" b="1">
                <a:solidFill>
                  <a:srgbClr val="123F67"/>
                </a:solidFill>
                <a:latin typeface="Arial"/>
              </a:defRPr>
            </a:pPr>
            <a:r>
              <a:rPr lang="it-IT" sz="2300" b="1">
                <a:solidFill>
                  <a:srgbClr val="123F67"/>
                </a:solidFill>
              </a:rPr>
              <a:t>Sudoripara</a:t>
            </a:r>
          </a:p>
        </p:txBody>
      </p:sp>
      <p:sp>
        <p:nvSpPr>
          <p:cNvPr id="37" name="TextBox 21"/>
          <p:cNvSpPr txBox="1"/>
          <p:nvPr/>
        </p:nvSpPr>
        <p:spPr>
          <a:xfrm>
            <a:off x="8210550" y="5924550"/>
            <a:ext cx="3333750" cy="369332"/>
          </a:xfrm>
          <a:prstGeom prst="rect">
            <a:avLst/>
          </a:prstGeom>
          <a:noFill/>
        </p:spPr>
        <p:txBody>
          <a:bodyPr wrap="square" lIns="76200" tIns="38100" rIns="76200" bIns="38100">
            <a:spAutoFit/>
          </a:bodyPr>
          <a:lstStyle/>
          <a:p>
            <a:pPr>
              <a:defRPr sz="1900" b="0">
                <a:solidFill>
                  <a:srgbClr val="193248"/>
                </a:solidFill>
                <a:latin typeface="Arial"/>
              </a:defRPr>
            </a:pPr>
            <a:r>
              <a:rPr lang="it-IT" sz="1900" b="0">
                <a:solidFill>
                  <a:srgbClr val="193248"/>
                </a:solidFill>
              </a:rPr>
              <a:t>Raffredda il corpo.</a:t>
            </a:r>
          </a:p>
        </p:txBody>
      </p:sp>
      <p:cxnSp>
        <p:nvCxnSpPr>
          <p:cNvPr id="38" name="Connector 37"/>
          <p:cNvCxnSpPr/>
          <p:nvPr/>
        </p:nvCxnSpPr>
        <p:spPr>
          <a:xfrm>
            <a:off x="609600" y="2571750"/>
            <a:ext cx="1097280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152650" y="4124325"/>
            <a:ext cx="43815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590800" y="3076575"/>
            <a:ext cx="0" cy="20955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590800" y="3076575"/>
            <a:ext cx="333375"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590800" y="4124325"/>
            <a:ext cx="333375"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590800" y="5172075"/>
            <a:ext cx="333375"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924675" y="5172075"/>
            <a:ext cx="771525"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696200" y="4905375"/>
            <a:ext cx="0" cy="866775"/>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696200" y="4905375"/>
            <a:ext cx="3810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696200" y="5772150"/>
            <a:ext cx="3810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I QUATTRO TESSUTI</a:t>
            </a:r>
          </a:p>
        </p:txBody>
      </p:sp>
      <p:sp>
        <p:nvSpPr>
          <p:cNvPr id="18" name="TextBox 17"/>
          <p:cNvSpPr txBox="1"/>
          <p:nvPr/>
        </p:nvSpPr>
        <p:spPr>
          <a:xfrm>
            <a:off x="609600" y="742950"/>
            <a:ext cx="10972800" cy="573234"/>
          </a:xfrm>
          <a:prstGeom prst="rect">
            <a:avLst/>
          </a:prstGeom>
          <a:noFill/>
        </p:spPr>
        <p:txBody>
          <a:bodyPr wrap="square" lIns="76200" tIns="38100" rIns="76200" bIns="38100">
            <a:spAutoFit/>
          </a:bodyPr>
          <a:lstStyle/>
          <a:p>
            <a:pPr>
              <a:defRPr sz="3225" b="1">
                <a:solidFill>
                  <a:srgbClr val="123F67"/>
                </a:solidFill>
                <a:latin typeface="Arial"/>
              </a:defRPr>
            </a:pPr>
            <a:r>
              <a:rPr lang="it-IT" dirty="0"/>
              <a:t>2. </a:t>
            </a:r>
            <a:r>
              <a:rPr dirty="0"/>
              <a:t>Il </a:t>
            </a:r>
            <a:r>
              <a:rPr dirty="0" err="1"/>
              <a:t>tessuto</a:t>
            </a:r>
            <a:r>
              <a:rPr dirty="0"/>
              <a:t> </a:t>
            </a:r>
            <a:r>
              <a:rPr dirty="0" err="1"/>
              <a:t>connettivo</a:t>
            </a:r>
            <a:endParaRPr dirty="0"/>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6</a:t>
            </a:r>
            <a:endParaRPr/>
          </a:p>
        </p:txBody>
      </p:sp>
      <p:sp>
        <p:nvSpPr>
          <p:cNvPr id="20" name="TextBox 19"/>
          <p:cNvSpPr txBox="1"/>
          <p:nvPr/>
        </p:nvSpPr>
        <p:spPr>
          <a:xfrm>
            <a:off x="609600" y="1809750"/>
            <a:ext cx="10858500" cy="428625"/>
          </a:xfrm>
          <a:prstGeom prst="rect">
            <a:avLst/>
          </a:prstGeom>
          <a:noFill/>
        </p:spPr>
        <p:txBody>
          <a:bodyPr wrap="square" lIns="76200" tIns="38100" rIns="76200" bIns="38100">
            <a:spAutoFit/>
          </a:bodyPr>
          <a:lstStyle/>
          <a:p>
            <a:pPr>
              <a:defRPr sz="2325" b="1">
                <a:solidFill>
                  <a:srgbClr val="123F67"/>
                </a:solidFill>
                <a:latin typeface="Arial"/>
              </a:defRPr>
            </a:pPr>
            <a:r>
              <a:t>Cellule immerse in una matrice extracellulare</a:t>
            </a:r>
          </a:p>
        </p:txBody>
      </p:sp>
      <p:sp>
        <p:nvSpPr>
          <p:cNvPr id="21" name="TextBox 20"/>
          <p:cNvSpPr txBox="1"/>
          <p:nvPr/>
        </p:nvSpPr>
        <p:spPr>
          <a:xfrm>
            <a:off x="609600" y="2362200"/>
            <a:ext cx="10858500" cy="692497"/>
          </a:xfrm>
          <a:prstGeom prst="rect">
            <a:avLst/>
          </a:prstGeom>
          <a:noFill/>
        </p:spPr>
        <p:txBody>
          <a:bodyPr wrap="square" lIns="76200" tIns="38100" rIns="76200" bIns="38100">
            <a:spAutoFit/>
          </a:bodyPr>
          <a:lstStyle/>
          <a:p>
            <a:pPr>
              <a:defRPr sz="2000" b="0">
                <a:solidFill>
                  <a:srgbClr val="193248"/>
                </a:solidFill>
                <a:latin typeface="Arial"/>
              </a:defRPr>
            </a:pPr>
            <a:r>
              <a:rPr lang="it-IT" sz="2000"/>
              <a:t>Matrice = sostanza fondamentale + fibre</a:t>
            </a:r>
          </a:p>
          <a:p>
            <a:pPr>
              <a:defRPr sz="2000" b="0">
                <a:solidFill>
                  <a:srgbClr val="193248"/>
                </a:solidFill>
                <a:latin typeface="Arial"/>
              </a:defRPr>
            </a:pPr>
            <a:r>
              <a:rPr lang="it-IT" sz="2000" b="1"/>
              <a:t>Collagene:</a:t>
            </a:r>
            <a:r>
              <a:rPr lang="it-IT" sz="2000"/>
              <a:t> proteina che dà resistenza all’allungamento. Elastina: proteina che dà elasticità.</a:t>
            </a:r>
          </a:p>
        </p:txBody>
      </p:sp>
      <p:sp>
        <p:nvSpPr>
          <p:cNvPr id="22" name="Rectangle 21"/>
          <p:cNvSpPr/>
          <p:nvPr/>
        </p:nvSpPr>
        <p:spPr>
          <a:xfrm>
            <a:off x="609600" y="3305175"/>
            <a:ext cx="10972800" cy="19050"/>
          </a:xfrm>
          <a:prstGeom prst="rect">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3105150" y="3476625"/>
            <a:ext cx="8239125" cy="415498"/>
          </a:xfrm>
          <a:prstGeom prst="rect">
            <a:avLst/>
          </a:prstGeom>
          <a:noFill/>
        </p:spPr>
        <p:txBody>
          <a:bodyPr wrap="square" lIns="76200" tIns="38100" rIns="76200" bIns="38100">
            <a:spAutoFit/>
          </a:bodyPr>
          <a:lstStyle/>
          <a:p>
            <a:pPr>
              <a:defRPr sz="2200" b="1">
                <a:solidFill>
                  <a:srgbClr val="087E8B"/>
                </a:solidFill>
                <a:latin typeface="Arial"/>
              </a:defRPr>
            </a:pPr>
            <a:r>
              <a:rPr lang="it-IT" sz="2200" b="1">
                <a:solidFill>
                  <a:srgbClr val="087E8B"/>
                </a:solidFill>
              </a:rPr>
              <a:t>Denso e lasso</a:t>
            </a:r>
          </a:p>
        </p:txBody>
      </p:sp>
      <p:sp>
        <p:nvSpPr>
          <p:cNvPr id="24" name="TextBox 23"/>
          <p:cNvSpPr txBox="1"/>
          <p:nvPr/>
        </p:nvSpPr>
        <p:spPr>
          <a:xfrm>
            <a:off x="3105150" y="3886200"/>
            <a:ext cx="8239125" cy="369332"/>
          </a:xfrm>
          <a:prstGeom prst="rect">
            <a:avLst/>
          </a:prstGeom>
          <a:noFill/>
        </p:spPr>
        <p:txBody>
          <a:bodyPr wrap="square" lIns="76200" tIns="38100" rIns="76200" bIns="38100">
            <a:spAutoFit/>
          </a:bodyPr>
          <a:lstStyle/>
          <a:p>
            <a:pPr>
              <a:defRPr sz="1900" b="0">
                <a:solidFill>
                  <a:srgbClr val="193248"/>
                </a:solidFill>
                <a:latin typeface="Arial"/>
              </a:defRPr>
            </a:pPr>
            <a:r>
              <a:rPr lang="it-IT" sz="1900" b="0">
                <a:solidFill>
                  <a:srgbClr val="193248"/>
                </a:solidFill>
              </a:rPr>
              <a:t>Denso: tendini e legamenti. Lasso: pelle e spazi tra gli organi.</a:t>
            </a:r>
          </a:p>
        </p:txBody>
      </p:sp>
      <p:sp>
        <p:nvSpPr>
          <p:cNvPr id="25" name="TextBox 24"/>
          <p:cNvSpPr txBox="1"/>
          <p:nvPr/>
        </p:nvSpPr>
        <p:spPr>
          <a:xfrm>
            <a:off x="3105150" y="4371975"/>
            <a:ext cx="8239125" cy="415498"/>
          </a:xfrm>
          <a:prstGeom prst="rect">
            <a:avLst/>
          </a:prstGeom>
          <a:noFill/>
        </p:spPr>
        <p:txBody>
          <a:bodyPr wrap="square" lIns="76200" tIns="38100" rIns="76200" bIns="38100">
            <a:spAutoFit/>
          </a:bodyPr>
          <a:lstStyle/>
          <a:p>
            <a:pPr>
              <a:defRPr sz="2200" b="1">
                <a:solidFill>
                  <a:srgbClr val="087E8B"/>
                </a:solidFill>
                <a:latin typeface="Arial"/>
              </a:defRPr>
            </a:pPr>
            <a:r>
              <a:rPr lang="it-IT" sz="2200" b="1">
                <a:solidFill>
                  <a:srgbClr val="087E8B"/>
                </a:solidFill>
              </a:rPr>
              <a:t>Adiposo</a:t>
            </a:r>
          </a:p>
        </p:txBody>
      </p:sp>
      <p:sp>
        <p:nvSpPr>
          <p:cNvPr id="26" name="TextBox 25"/>
          <p:cNvSpPr txBox="1"/>
          <p:nvPr/>
        </p:nvSpPr>
        <p:spPr>
          <a:xfrm>
            <a:off x="3105150" y="4781550"/>
            <a:ext cx="8239125" cy="369332"/>
          </a:xfrm>
          <a:prstGeom prst="rect">
            <a:avLst/>
          </a:prstGeom>
          <a:noFill/>
        </p:spPr>
        <p:txBody>
          <a:bodyPr wrap="square" lIns="76200" tIns="38100" rIns="76200" bIns="38100">
            <a:spAutoFit/>
          </a:bodyPr>
          <a:lstStyle/>
          <a:p>
            <a:pPr>
              <a:defRPr sz="1900" b="0">
                <a:solidFill>
                  <a:srgbClr val="193248"/>
                </a:solidFill>
                <a:latin typeface="Arial"/>
              </a:defRPr>
            </a:pPr>
            <a:r>
              <a:rPr lang="it-IT" sz="1900" b="0">
                <a:solidFill>
                  <a:srgbClr val="193248"/>
                </a:solidFill>
              </a:rPr>
              <a:t>Riserva energetica, protezione e isolamento.</a:t>
            </a:r>
          </a:p>
        </p:txBody>
      </p:sp>
      <p:sp>
        <p:nvSpPr>
          <p:cNvPr id="27" name="TextBox 26"/>
          <p:cNvSpPr txBox="1"/>
          <p:nvPr/>
        </p:nvSpPr>
        <p:spPr>
          <a:xfrm>
            <a:off x="3105150" y="5267325"/>
            <a:ext cx="8239125" cy="415498"/>
          </a:xfrm>
          <a:prstGeom prst="rect">
            <a:avLst/>
          </a:prstGeom>
          <a:noFill/>
        </p:spPr>
        <p:txBody>
          <a:bodyPr wrap="square" lIns="76200" tIns="38100" rIns="76200" bIns="38100">
            <a:spAutoFit/>
          </a:bodyPr>
          <a:lstStyle/>
          <a:p>
            <a:pPr>
              <a:defRPr sz="2200" b="1">
                <a:solidFill>
                  <a:srgbClr val="087E8B"/>
                </a:solidFill>
                <a:latin typeface="Arial"/>
              </a:defRPr>
            </a:pPr>
            <a:r>
              <a:rPr lang="it-IT" sz="2200" b="1">
                <a:solidFill>
                  <a:srgbClr val="087E8B"/>
                </a:solidFill>
              </a:rPr>
              <a:t>Specializzati</a:t>
            </a:r>
          </a:p>
        </p:txBody>
      </p:sp>
      <p:sp>
        <p:nvSpPr>
          <p:cNvPr id="28" name="TextBox 27"/>
          <p:cNvSpPr txBox="1"/>
          <p:nvPr/>
        </p:nvSpPr>
        <p:spPr>
          <a:xfrm>
            <a:off x="3105150" y="5676900"/>
            <a:ext cx="8239125" cy="661720"/>
          </a:xfrm>
          <a:prstGeom prst="rect">
            <a:avLst/>
          </a:prstGeom>
          <a:noFill/>
        </p:spPr>
        <p:txBody>
          <a:bodyPr wrap="square" lIns="76200" tIns="38100" rIns="76200" bIns="38100">
            <a:spAutoFit/>
          </a:bodyPr>
          <a:lstStyle/>
          <a:p>
            <a:pPr>
              <a:defRPr sz="1900" b="0">
                <a:solidFill>
                  <a:srgbClr val="193248"/>
                </a:solidFill>
                <a:latin typeface="Arial"/>
              </a:defRPr>
            </a:pPr>
            <a:r>
              <a:rPr lang="it-IT" sz="1900" b="0" dirty="0">
                <a:solidFill>
                  <a:srgbClr val="193248"/>
                </a:solidFill>
              </a:rPr>
              <a:t>Cartilagine, oss</a:t>
            </a:r>
            <a:r>
              <a:rPr lang="it-IT" sz="1900" dirty="0">
                <a:solidFill>
                  <a:srgbClr val="193248"/>
                </a:solidFill>
              </a:rPr>
              <a:t>o</a:t>
            </a:r>
            <a:r>
              <a:rPr lang="it-IT" sz="1900" b="0" dirty="0">
                <a:solidFill>
                  <a:srgbClr val="193248"/>
                </a:solidFill>
              </a:rPr>
              <a:t> e sangue. L’osso sostiene e protegge.</a:t>
            </a:r>
          </a:p>
          <a:p>
            <a:pPr>
              <a:defRPr sz="1900" b="0">
                <a:solidFill>
                  <a:srgbClr val="193248"/>
                </a:solidFill>
                <a:latin typeface="Arial"/>
              </a:defRPr>
            </a:pPr>
            <a:r>
              <a:rPr lang="it-IT" sz="1900" b="0" dirty="0">
                <a:solidFill>
                  <a:srgbClr val="193248"/>
                </a:solidFill>
              </a:rPr>
              <a:t>Il sangue è un connettivo fluido.</a:t>
            </a:r>
          </a:p>
        </p:txBody>
      </p:sp>
      <p:sp>
        <p:nvSpPr>
          <p:cNvPr id="29" name="TextBox 28"/>
          <p:cNvSpPr txBox="1"/>
          <p:nvPr/>
        </p:nvSpPr>
        <p:spPr>
          <a:xfrm>
            <a:off x="609600" y="4352925"/>
            <a:ext cx="2095500" cy="809625"/>
          </a:xfrm>
          <a:prstGeom prst="rect">
            <a:avLst/>
          </a:prstGeom>
          <a:noFill/>
        </p:spPr>
        <p:txBody>
          <a:bodyPr wrap="square" lIns="0" tIns="0" rIns="0" bIns="0">
            <a:spAutoFit/>
          </a:bodyPr>
          <a:lstStyle/>
          <a:p>
            <a:pPr>
              <a:defRPr sz="2200" b="1">
                <a:solidFill>
                  <a:srgbClr val="123F67"/>
                </a:solidFill>
                <a:latin typeface="Arial"/>
              </a:defRPr>
            </a:pPr>
            <a:r>
              <a:t>Tipi di</a:t>
            </a:r>
          </a:p>
          <a:p>
            <a:pPr>
              <a:defRPr sz="2200" b="1">
                <a:solidFill>
                  <a:srgbClr val="123F67"/>
                </a:solidFill>
                <a:latin typeface="Arial"/>
              </a:defRPr>
            </a:pPr>
            <a:r>
              <a:t>connettivo</a:t>
            </a:r>
          </a:p>
        </p:txBody>
      </p:sp>
      <p:cxnSp>
        <p:nvCxnSpPr>
          <p:cNvPr id="30" name="Connector 29"/>
          <p:cNvCxnSpPr/>
          <p:nvPr/>
        </p:nvCxnSpPr>
        <p:spPr>
          <a:xfrm>
            <a:off x="2409825" y="4695825"/>
            <a:ext cx="2667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6525" y="3714750"/>
            <a:ext cx="0" cy="17907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76525" y="3714750"/>
            <a:ext cx="2286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676525" y="4610100"/>
            <a:ext cx="2286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676525" y="5505450"/>
            <a:ext cx="2286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I QUATTRO TESSUTI</a:t>
            </a:r>
          </a:p>
        </p:txBody>
      </p:sp>
      <p:sp>
        <p:nvSpPr>
          <p:cNvPr id="18" name="TextBox 17"/>
          <p:cNvSpPr txBox="1"/>
          <p:nvPr/>
        </p:nvSpPr>
        <p:spPr>
          <a:xfrm>
            <a:off x="609600" y="742950"/>
            <a:ext cx="10972800" cy="573234"/>
          </a:xfrm>
          <a:prstGeom prst="rect">
            <a:avLst/>
          </a:prstGeom>
          <a:noFill/>
        </p:spPr>
        <p:txBody>
          <a:bodyPr wrap="square" lIns="76200" tIns="38100" rIns="76200" bIns="38100">
            <a:spAutoFit/>
          </a:bodyPr>
          <a:lstStyle/>
          <a:p>
            <a:pPr>
              <a:defRPr sz="3225" b="1">
                <a:solidFill>
                  <a:srgbClr val="123F67"/>
                </a:solidFill>
                <a:latin typeface="Arial"/>
              </a:defRPr>
            </a:pPr>
            <a:r>
              <a:rPr lang="it-IT" dirty="0"/>
              <a:t>3. </a:t>
            </a:r>
            <a:r>
              <a:rPr dirty="0"/>
              <a:t>Il </a:t>
            </a:r>
            <a:r>
              <a:rPr dirty="0" err="1"/>
              <a:t>tessuto</a:t>
            </a:r>
            <a:r>
              <a:rPr dirty="0"/>
              <a:t> </a:t>
            </a:r>
            <a:r>
              <a:rPr dirty="0" err="1"/>
              <a:t>muscolare</a:t>
            </a:r>
            <a:endParaRPr dirty="0"/>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7</a:t>
            </a:r>
            <a:endParaRPr/>
          </a:p>
        </p:txBody>
      </p:sp>
      <p:sp>
        <p:nvSpPr>
          <p:cNvPr id="20" name="TextBox 19"/>
          <p:cNvSpPr txBox="1"/>
          <p:nvPr/>
        </p:nvSpPr>
        <p:spPr>
          <a:xfrm>
            <a:off x="609600" y="1847850"/>
            <a:ext cx="10763250" cy="466725"/>
          </a:xfrm>
          <a:prstGeom prst="rect">
            <a:avLst/>
          </a:prstGeom>
          <a:noFill/>
        </p:spPr>
        <p:txBody>
          <a:bodyPr wrap="square" lIns="76200" tIns="38100" rIns="76200" bIns="38100">
            <a:spAutoFit/>
          </a:bodyPr>
          <a:lstStyle/>
          <a:p>
            <a:pPr>
              <a:defRPr sz="2325" b="1">
                <a:solidFill>
                  <a:srgbClr val="123F67"/>
                </a:solidFill>
                <a:latin typeface="Arial"/>
              </a:defRPr>
            </a:pPr>
            <a:r>
              <a:t>Cellule allungate capaci di contrarsi</a:t>
            </a:r>
          </a:p>
        </p:txBody>
      </p:sp>
      <p:sp>
        <p:nvSpPr>
          <p:cNvPr id="21" name="TextBox 20"/>
          <p:cNvSpPr txBox="1"/>
          <p:nvPr/>
        </p:nvSpPr>
        <p:spPr>
          <a:xfrm>
            <a:off x="609600" y="2409825"/>
            <a:ext cx="10763250" cy="619125"/>
          </a:xfrm>
          <a:prstGeom prst="rect">
            <a:avLst/>
          </a:prstGeom>
          <a:noFill/>
        </p:spPr>
        <p:txBody>
          <a:bodyPr wrap="square" lIns="76200" tIns="38100" rIns="76200" bIns="38100">
            <a:spAutoFit/>
          </a:bodyPr>
          <a:lstStyle/>
          <a:p>
            <a:pPr>
              <a:defRPr sz="2025" b="0">
                <a:solidFill>
                  <a:srgbClr val="193248"/>
                </a:solidFill>
                <a:latin typeface="Arial"/>
              </a:defRPr>
            </a:pPr>
            <a:r>
              <a:t>Lo scorrimento dei filamenti di actina e miosina permette la contrazione.</a:t>
            </a:r>
          </a:p>
        </p:txBody>
      </p:sp>
      <p:graphicFrame>
        <p:nvGraphicFramePr>
          <p:cNvPr id="22" name="Table 21"/>
          <p:cNvGraphicFramePr>
            <a:graphicFrameLocks noGrp="1"/>
          </p:cNvGraphicFramePr>
          <p:nvPr/>
        </p:nvGraphicFramePr>
        <p:xfrm>
          <a:off x="609600" y="3343275"/>
          <a:ext cx="10972800" cy="2209800"/>
        </p:xfrm>
        <a:graphic>
          <a:graphicData uri="http://schemas.openxmlformats.org/drawingml/2006/table">
            <a:tbl>
              <a:tblPr firstRow="1" bandRow="1">
                <a:tableStyleId>{5C22544A-7EE6-4342-B048-85BDC9FD1C3A}</a:tableStyleId>
              </a:tblPr>
              <a:tblGrid>
                <a:gridCol w="271462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52450">
                <a:tc>
                  <a:txBody>
                    <a:bodyPr/>
                    <a:lstStyle/>
                    <a:p>
                      <a:pPr>
                        <a:defRPr sz="1800" b="1">
                          <a:solidFill>
                            <a:srgbClr val="123F67"/>
                          </a:solidFill>
                          <a:latin typeface="Arial"/>
                        </a:defRPr>
                      </a:pPr>
                      <a:r>
                        <a:t>Tipo</a:t>
                      </a:r>
                    </a:p>
                  </a:txBody>
                  <a:tcPr marL="114300" marR="101600" marT="101600" marB="63500">
                    <a:solidFill>
                      <a:srgbClr val="EAF2F8"/>
                    </a:solidFill>
                  </a:tcPr>
                </a:tc>
                <a:tc>
                  <a:txBody>
                    <a:bodyPr/>
                    <a:lstStyle/>
                    <a:p>
                      <a:pPr>
                        <a:defRPr sz="1800" b="1">
                          <a:solidFill>
                            <a:srgbClr val="123F67"/>
                          </a:solidFill>
                          <a:latin typeface="Arial"/>
                        </a:defRPr>
                      </a:pPr>
                      <a:r>
                        <a:t>Dove si trova</a:t>
                      </a:r>
                    </a:p>
                  </a:txBody>
                  <a:tcPr marL="114300" marR="101600" marT="101600" marB="63500">
                    <a:solidFill>
                      <a:srgbClr val="EAF2F8"/>
                    </a:solidFill>
                  </a:tcPr>
                </a:tc>
                <a:tc>
                  <a:txBody>
                    <a:bodyPr/>
                    <a:lstStyle/>
                    <a:p>
                      <a:pPr>
                        <a:defRPr sz="1800" b="1">
                          <a:solidFill>
                            <a:srgbClr val="123F67"/>
                          </a:solidFill>
                          <a:latin typeface="Arial"/>
                        </a:defRPr>
                      </a:pPr>
                      <a:r>
                        <a:t>Funzione principale</a:t>
                      </a:r>
                    </a:p>
                  </a:txBody>
                  <a:tcPr marL="114300" marR="101600" marT="101600" marB="63500">
                    <a:solidFill>
                      <a:srgbClr val="EAF2F8"/>
                    </a:solidFill>
                  </a:tcPr>
                </a:tc>
                <a:extLst>
                  <a:ext uri="{0D108BD9-81ED-4DB2-BD59-A6C34878D82A}">
                    <a16:rowId xmlns:a16="http://schemas.microsoft.com/office/drawing/2014/main" val="10000"/>
                  </a:ext>
                </a:extLst>
              </a:tr>
              <a:tr h="552450">
                <a:tc>
                  <a:txBody>
                    <a:bodyPr/>
                    <a:lstStyle/>
                    <a:p>
                      <a:pPr>
                        <a:defRPr sz="1800" b="1">
                          <a:solidFill>
                            <a:srgbClr val="123F67"/>
                          </a:solidFill>
                          <a:latin typeface="Arial"/>
                        </a:defRPr>
                      </a:pPr>
                      <a:r>
                        <a:t>Scheletrico striato</a:t>
                      </a:r>
                    </a:p>
                  </a:txBody>
                  <a:tcPr marL="114300" marR="101600" marT="101600" marB="63500">
                    <a:solidFill>
                      <a:srgbClr val="FFFFFF"/>
                    </a:solidFill>
                  </a:tcPr>
                </a:tc>
                <a:tc>
                  <a:txBody>
                    <a:bodyPr/>
                    <a:lstStyle/>
                    <a:p>
                      <a:pPr>
                        <a:defRPr sz="1800" b="0">
                          <a:solidFill>
                            <a:srgbClr val="193248"/>
                          </a:solidFill>
                          <a:latin typeface="Arial"/>
                        </a:defRPr>
                      </a:pPr>
                      <a:r>
                        <a:t>Muscoli collegati alle ossa</a:t>
                      </a:r>
                    </a:p>
                  </a:txBody>
                  <a:tcPr marL="114300" marR="101600" marT="101600" marB="63500">
                    <a:solidFill>
                      <a:srgbClr val="FFFFFF"/>
                    </a:solidFill>
                  </a:tcPr>
                </a:tc>
                <a:tc>
                  <a:txBody>
                    <a:bodyPr/>
                    <a:lstStyle/>
                    <a:p>
                      <a:pPr>
                        <a:defRPr sz="1800" b="0">
                          <a:solidFill>
                            <a:srgbClr val="193248"/>
                          </a:solidFill>
                          <a:latin typeface="Arial"/>
                        </a:defRPr>
                      </a:pPr>
                      <a:r>
                        <a:t>Movimento e postura</a:t>
                      </a:r>
                    </a:p>
                  </a:txBody>
                  <a:tcPr marL="114300" marR="101600" marT="101600" marB="63500">
                    <a:solidFill>
                      <a:srgbClr val="FFFFFF"/>
                    </a:solidFill>
                  </a:tcPr>
                </a:tc>
                <a:extLst>
                  <a:ext uri="{0D108BD9-81ED-4DB2-BD59-A6C34878D82A}">
                    <a16:rowId xmlns:a16="http://schemas.microsoft.com/office/drawing/2014/main" val="10001"/>
                  </a:ext>
                </a:extLst>
              </a:tr>
              <a:tr h="552450">
                <a:tc>
                  <a:txBody>
                    <a:bodyPr/>
                    <a:lstStyle/>
                    <a:p>
                      <a:pPr>
                        <a:defRPr sz="1800" b="1">
                          <a:solidFill>
                            <a:srgbClr val="123F67"/>
                          </a:solidFill>
                          <a:latin typeface="Arial"/>
                        </a:defRPr>
                      </a:pPr>
                      <a:r>
                        <a:t>Cardiaco</a:t>
                      </a:r>
                    </a:p>
                  </a:txBody>
                  <a:tcPr marL="114300" marR="101600" marT="101600" marB="63500">
                    <a:solidFill>
                      <a:srgbClr val="FFFFFF"/>
                    </a:solidFill>
                  </a:tcPr>
                </a:tc>
                <a:tc>
                  <a:txBody>
                    <a:bodyPr/>
                    <a:lstStyle/>
                    <a:p>
                      <a:pPr>
                        <a:defRPr sz="1800" b="0">
                          <a:solidFill>
                            <a:srgbClr val="193248"/>
                          </a:solidFill>
                          <a:latin typeface="Arial"/>
                        </a:defRPr>
                      </a:pPr>
                      <a:r>
                        <a:t>Cuore</a:t>
                      </a:r>
                    </a:p>
                  </a:txBody>
                  <a:tcPr marL="114300" marR="101600" marT="101600" marB="63500">
                    <a:solidFill>
                      <a:srgbClr val="FFFFFF"/>
                    </a:solidFill>
                  </a:tcPr>
                </a:tc>
                <a:tc>
                  <a:txBody>
                    <a:bodyPr/>
                    <a:lstStyle/>
                    <a:p>
                      <a:pPr>
                        <a:defRPr sz="1800" b="0">
                          <a:solidFill>
                            <a:srgbClr val="193248"/>
                          </a:solidFill>
                          <a:latin typeface="Arial"/>
                        </a:defRPr>
                      </a:pPr>
                      <a:r>
                        <a:t>Contrazione della pompa cardiaca</a:t>
                      </a:r>
                    </a:p>
                  </a:txBody>
                  <a:tcPr marL="114300" marR="101600" marT="101600" marB="63500">
                    <a:solidFill>
                      <a:srgbClr val="FFFFFF"/>
                    </a:solidFill>
                  </a:tcPr>
                </a:tc>
                <a:extLst>
                  <a:ext uri="{0D108BD9-81ED-4DB2-BD59-A6C34878D82A}">
                    <a16:rowId xmlns:a16="http://schemas.microsoft.com/office/drawing/2014/main" val="10002"/>
                  </a:ext>
                </a:extLst>
              </a:tr>
              <a:tr h="552450">
                <a:tc>
                  <a:txBody>
                    <a:bodyPr/>
                    <a:lstStyle/>
                    <a:p>
                      <a:pPr>
                        <a:defRPr sz="1800" b="1">
                          <a:solidFill>
                            <a:srgbClr val="123F67"/>
                          </a:solidFill>
                          <a:latin typeface="Arial"/>
                        </a:defRPr>
                      </a:pPr>
                      <a:r>
                        <a:t>Liscio</a:t>
                      </a:r>
                    </a:p>
                  </a:txBody>
                  <a:tcPr marL="114300" marR="101600" marT="101600" marB="63500">
                    <a:solidFill>
                      <a:srgbClr val="FFFFFF"/>
                    </a:solidFill>
                  </a:tcPr>
                </a:tc>
                <a:tc>
                  <a:txBody>
                    <a:bodyPr/>
                    <a:lstStyle/>
                    <a:p>
                      <a:pPr>
                        <a:defRPr sz="1800" b="0">
                          <a:solidFill>
                            <a:srgbClr val="193248"/>
                          </a:solidFill>
                          <a:latin typeface="Arial"/>
                        </a:defRPr>
                      </a:pPr>
                      <a:r>
                        <a:t>Pareti di vasi e organi cavi</a:t>
                      </a:r>
                    </a:p>
                  </a:txBody>
                  <a:tcPr marL="114300" marR="101600" marT="101600" marB="63500">
                    <a:solidFill>
                      <a:srgbClr val="FFFFFF"/>
                    </a:solidFill>
                  </a:tcPr>
                </a:tc>
                <a:tc>
                  <a:txBody>
                    <a:bodyPr/>
                    <a:lstStyle/>
                    <a:p>
                      <a:pPr>
                        <a:defRPr sz="1800" b="0">
                          <a:solidFill>
                            <a:srgbClr val="193248"/>
                          </a:solidFill>
                          <a:latin typeface="Arial"/>
                        </a:defRPr>
                      </a:pPr>
                      <a:r>
                        <a:t>Movimento del contenuto</a:t>
                      </a:r>
                    </a:p>
                  </a:txBody>
                  <a:tcPr marL="114300" marR="101600" marT="101600" marB="63500">
                    <a:solidFill>
                      <a:srgbClr val="FFFFFF"/>
                    </a:solidFill>
                  </a:tcPr>
                </a:tc>
                <a:extLst>
                  <a:ext uri="{0D108BD9-81ED-4DB2-BD59-A6C34878D82A}">
                    <a16:rowId xmlns:a16="http://schemas.microsoft.com/office/drawing/2014/main" val="10003"/>
                  </a:ext>
                </a:extLst>
              </a:tr>
            </a:tbl>
          </a:graphicData>
        </a:graphic>
      </p:graphicFrame>
      <p:sp>
        <p:nvSpPr>
          <p:cNvPr id="23" name="TextBox 22"/>
          <p:cNvSpPr txBox="1"/>
          <p:nvPr/>
        </p:nvSpPr>
        <p:spPr>
          <a:xfrm>
            <a:off x="609600" y="5810250"/>
            <a:ext cx="10763250" cy="428625"/>
          </a:xfrm>
          <a:prstGeom prst="rect">
            <a:avLst/>
          </a:prstGeom>
          <a:noFill/>
        </p:spPr>
        <p:txBody>
          <a:bodyPr wrap="square" lIns="76200" tIns="38100" rIns="76200" bIns="38100">
            <a:spAutoFit/>
          </a:bodyPr>
          <a:lstStyle/>
          <a:p>
            <a:pPr>
              <a:defRPr sz="1875" b="1">
                <a:solidFill>
                  <a:srgbClr val="087E8B"/>
                </a:solidFill>
                <a:latin typeface="Arial"/>
              </a:defRPr>
            </a:pPr>
            <a:r>
              <a:t>I muscoli scheletrici contribuiscono anche alla produzione di calore.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17" name="TextBox 16"/>
          <p:cNvSpPr txBox="1"/>
          <p:nvPr/>
        </p:nvSpPr>
        <p:spPr>
          <a:xfrm>
            <a:off x="609600" y="333375"/>
            <a:ext cx="10858500" cy="266700"/>
          </a:xfrm>
          <a:prstGeom prst="rect">
            <a:avLst/>
          </a:prstGeom>
          <a:noFill/>
        </p:spPr>
        <p:txBody>
          <a:bodyPr wrap="square" lIns="76200" tIns="38100" rIns="76200" bIns="38100">
            <a:spAutoFit/>
          </a:bodyPr>
          <a:lstStyle/>
          <a:p>
            <a:pPr>
              <a:defRPr sz="1275" b="1">
                <a:solidFill>
                  <a:srgbClr val="087E8B"/>
                </a:solidFill>
                <a:latin typeface="Arial"/>
              </a:defRPr>
            </a:pPr>
            <a:r>
              <a:t>ISTOLOGIA · I QUATTRO TESSUTI</a:t>
            </a:r>
          </a:p>
        </p:txBody>
      </p:sp>
      <p:sp>
        <p:nvSpPr>
          <p:cNvPr id="18" name="TextBox 17"/>
          <p:cNvSpPr txBox="1"/>
          <p:nvPr/>
        </p:nvSpPr>
        <p:spPr>
          <a:xfrm>
            <a:off x="609600" y="742950"/>
            <a:ext cx="10972800" cy="573234"/>
          </a:xfrm>
          <a:prstGeom prst="rect">
            <a:avLst/>
          </a:prstGeom>
          <a:noFill/>
        </p:spPr>
        <p:txBody>
          <a:bodyPr wrap="square" lIns="76200" tIns="38100" rIns="76200" bIns="38100">
            <a:spAutoFit/>
          </a:bodyPr>
          <a:lstStyle/>
          <a:p>
            <a:pPr>
              <a:defRPr sz="3225" b="1">
                <a:solidFill>
                  <a:srgbClr val="123F67"/>
                </a:solidFill>
                <a:latin typeface="Arial"/>
              </a:defRPr>
            </a:pPr>
            <a:r>
              <a:rPr lang="it-IT" dirty="0"/>
              <a:t>4. </a:t>
            </a:r>
            <a:r>
              <a:rPr dirty="0"/>
              <a:t>Il </a:t>
            </a:r>
            <a:r>
              <a:rPr dirty="0" err="1"/>
              <a:t>tessuto</a:t>
            </a:r>
            <a:r>
              <a:rPr dirty="0"/>
              <a:t> </a:t>
            </a:r>
            <a:r>
              <a:rPr dirty="0" err="1"/>
              <a:t>nervoso</a:t>
            </a:r>
            <a:endParaRPr dirty="0"/>
          </a:p>
        </p:txBody>
      </p:sp>
      <p:sp>
        <p:nvSpPr>
          <p:cNvPr id="19" name="TextBox 18"/>
          <p:cNvSpPr txBox="1"/>
          <p:nvPr/>
        </p:nvSpPr>
        <p:spPr>
          <a:xfrm>
            <a:off x="11049000" y="6583680"/>
            <a:ext cx="523875" cy="284693"/>
          </a:xfrm>
          <a:prstGeom prst="rect">
            <a:avLst/>
          </a:prstGeom>
          <a:noFill/>
        </p:spPr>
        <p:txBody>
          <a:bodyPr wrap="square" lIns="76200" tIns="38100" rIns="76200" bIns="38100">
            <a:spAutoFit/>
          </a:bodyPr>
          <a:lstStyle/>
          <a:p>
            <a:pPr>
              <a:defRPr sz="1350" b="1">
                <a:solidFill>
                  <a:srgbClr val="123F67"/>
                </a:solidFill>
                <a:latin typeface="Arial"/>
              </a:defRPr>
            </a:pPr>
            <a:r>
              <a:rPr lang="it-IT"/>
              <a:t>8</a:t>
            </a:r>
            <a:endParaRPr/>
          </a:p>
        </p:txBody>
      </p:sp>
      <p:sp>
        <p:nvSpPr>
          <p:cNvPr id="20" name="TextBox 19"/>
          <p:cNvSpPr txBox="1"/>
          <p:nvPr/>
        </p:nvSpPr>
        <p:spPr>
          <a:xfrm>
            <a:off x="609600" y="1847850"/>
            <a:ext cx="10763250" cy="434734"/>
          </a:xfrm>
          <a:prstGeom prst="rect">
            <a:avLst/>
          </a:prstGeom>
          <a:noFill/>
        </p:spPr>
        <p:txBody>
          <a:bodyPr wrap="square" lIns="76200" tIns="38100" rIns="76200" bIns="38100">
            <a:spAutoFit/>
          </a:bodyPr>
          <a:lstStyle/>
          <a:p>
            <a:pPr algn="ctr">
              <a:defRPr sz="2325" b="1">
                <a:solidFill>
                  <a:srgbClr val="123F67"/>
                </a:solidFill>
                <a:latin typeface="Arial"/>
              </a:defRPr>
            </a:pPr>
            <a:r>
              <a:rPr dirty="0"/>
              <a:t>Due </a:t>
            </a:r>
            <a:r>
              <a:rPr dirty="0" err="1"/>
              <a:t>componenti</a:t>
            </a:r>
            <a:r>
              <a:rPr dirty="0"/>
              <a:t> </a:t>
            </a:r>
            <a:r>
              <a:rPr dirty="0" err="1"/>
              <a:t>cellulari</a:t>
            </a:r>
            <a:r>
              <a:rPr dirty="0"/>
              <a:t> con </a:t>
            </a:r>
            <a:r>
              <a:rPr dirty="0" err="1"/>
              <a:t>ruoli</a:t>
            </a:r>
            <a:r>
              <a:rPr dirty="0"/>
              <a:t> </a:t>
            </a:r>
            <a:r>
              <a:rPr dirty="0" err="1"/>
              <a:t>complementari</a:t>
            </a:r>
            <a:endParaRPr dirty="0"/>
          </a:p>
        </p:txBody>
      </p:sp>
      <p:sp>
        <p:nvSpPr>
          <p:cNvPr id="21" name="TextBox 20"/>
          <p:cNvSpPr txBox="1"/>
          <p:nvPr/>
        </p:nvSpPr>
        <p:spPr>
          <a:xfrm>
            <a:off x="571500" y="2762250"/>
            <a:ext cx="4991100" cy="447675"/>
          </a:xfrm>
          <a:prstGeom prst="rect">
            <a:avLst/>
          </a:prstGeom>
          <a:noFill/>
        </p:spPr>
        <p:txBody>
          <a:bodyPr wrap="square" lIns="76200" tIns="38100" rIns="76200" bIns="38100">
            <a:spAutoFit/>
          </a:bodyPr>
          <a:lstStyle/>
          <a:p>
            <a:pPr algn="ctr">
              <a:defRPr sz="2325" b="1">
                <a:solidFill>
                  <a:srgbClr val="087E8B"/>
                </a:solidFill>
                <a:latin typeface="Arial"/>
              </a:defRPr>
            </a:pPr>
            <a:r>
              <a:t>Neuroni</a:t>
            </a:r>
            <a:endParaRPr lang="it-IT"/>
          </a:p>
        </p:txBody>
      </p:sp>
      <p:sp>
        <p:nvSpPr>
          <p:cNvPr id="22" name="TextBox 21"/>
          <p:cNvSpPr txBox="1"/>
          <p:nvPr/>
        </p:nvSpPr>
        <p:spPr>
          <a:xfrm>
            <a:off x="609600" y="3371850"/>
            <a:ext cx="5010150" cy="1438275"/>
          </a:xfrm>
          <a:prstGeom prst="rect">
            <a:avLst/>
          </a:prstGeom>
          <a:noFill/>
        </p:spPr>
        <p:txBody>
          <a:bodyPr wrap="square" lIns="76200" tIns="38100" rIns="76200" bIns="38100">
            <a:spAutoFit/>
          </a:bodyPr>
          <a:lstStyle/>
          <a:p>
            <a:pPr>
              <a:defRPr sz="2025" b="0">
                <a:solidFill>
                  <a:srgbClr val="193248"/>
                </a:solidFill>
                <a:latin typeface="Arial"/>
              </a:defRPr>
            </a:pPr>
            <a:r>
              <a:t>Generano e trasmettono impulsi nervosi.</a:t>
            </a:r>
          </a:p>
          <a:p>
            <a:pPr>
              <a:defRPr sz="2025" b="0">
                <a:solidFill>
                  <a:srgbClr val="193248"/>
                </a:solidFill>
                <a:latin typeface="Arial"/>
              </a:defRPr>
            </a:pPr>
            <a:r>
              <a:t>Permettono la comunicazione e l’elaborazione delle informazioni.</a:t>
            </a:r>
          </a:p>
        </p:txBody>
      </p:sp>
      <p:sp>
        <p:nvSpPr>
          <p:cNvPr id="23" name="TextBox 22"/>
          <p:cNvSpPr txBox="1"/>
          <p:nvPr/>
        </p:nvSpPr>
        <p:spPr>
          <a:xfrm>
            <a:off x="6410325" y="2762250"/>
            <a:ext cx="5048250" cy="447675"/>
          </a:xfrm>
          <a:prstGeom prst="rect">
            <a:avLst/>
          </a:prstGeom>
          <a:noFill/>
        </p:spPr>
        <p:txBody>
          <a:bodyPr wrap="square" lIns="76200" tIns="38100" rIns="76200" bIns="38100">
            <a:spAutoFit/>
          </a:bodyPr>
          <a:lstStyle/>
          <a:p>
            <a:pPr algn="ctr">
              <a:defRPr sz="2325" b="1">
                <a:solidFill>
                  <a:srgbClr val="087E8B"/>
                </a:solidFill>
                <a:latin typeface="Arial"/>
              </a:defRPr>
            </a:pPr>
            <a:r>
              <a:t>Cellule gliali</a:t>
            </a:r>
            <a:endParaRPr lang="it-IT"/>
          </a:p>
        </p:txBody>
      </p:sp>
      <p:sp>
        <p:nvSpPr>
          <p:cNvPr id="24" name="TextBox 23"/>
          <p:cNvSpPr txBox="1"/>
          <p:nvPr/>
        </p:nvSpPr>
        <p:spPr>
          <a:xfrm>
            <a:off x="6419850" y="3371850"/>
            <a:ext cx="5048250" cy="1438275"/>
          </a:xfrm>
          <a:prstGeom prst="rect">
            <a:avLst/>
          </a:prstGeom>
          <a:noFill/>
        </p:spPr>
        <p:txBody>
          <a:bodyPr wrap="square" lIns="76200" tIns="38100" rIns="76200" bIns="38100">
            <a:spAutoFit/>
          </a:bodyPr>
          <a:lstStyle/>
          <a:p>
            <a:pPr>
              <a:defRPr sz="2025" b="0">
                <a:solidFill>
                  <a:srgbClr val="193248"/>
                </a:solidFill>
                <a:latin typeface="Arial"/>
              </a:defRPr>
            </a:pPr>
            <a:r>
              <a:t>Sostengono i neuroni.</a:t>
            </a:r>
          </a:p>
          <a:p>
            <a:pPr>
              <a:defRPr sz="2025" b="0">
                <a:solidFill>
                  <a:srgbClr val="193248"/>
                </a:solidFill>
                <a:latin typeface="Arial"/>
              </a:defRPr>
            </a:pPr>
            <a:r>
              <a:t>Comprendono, per esempio, gli astrociti e contribuiscono all’organizzazione del tessuto.</a:t>
            </a:r>
          </a:p>
        </p:txBody>
      </p:sp>
      <p:sp>
        <p:nvSpPr>
          <p:cNvPr id="25" name="Rectangle 24"/>
          <p:cNvSpPr/>
          <p:nvPr/>
        </p:nvSpPr>
        <p:spPr>
          <a:xfrm>
            <a:off x="609600" y="5114925"/>
            <a:ext cx="10972800" cy="19050"/>
          </a:xfrm>
          <a:prstGeom prst="rect">
            <a:avLst/>
          </a:prstGeom>
          <a:solidFill>
            <a:srgbClr val="CE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9600" y="5334000"/>
            <a:ext cx="10763250" cy="381000"/>
          </a:xfrm>
          <a:prstGeom prst="rect">
            <a:avLst/>
          </a:prstGeom>
          <a:noFill/>
        </p:spPr>
        <p:txBody>
          <a:bodyPr wrap="square" lIns="76200" tIns="38100" rIns="76200" bIns="38100">
            <a:spAutoFit/>
          </a:bodyPr>
          <a:lstStyle/>
          <a:p>
            <a:pPr>
              <a:defRPr sz="1950" b="1">
                <a:solidFill>
                  <a:srgbClr val="123F67"/>
                </a:solidFill>
                <a:latin typeface="Arial"/>
              </a:defRPr>
            </a:pPr>
            <a:r>
              <a:t>Nel sistema nervoso centrale</a:t>
            </a:r>
          </a:p>
        </p:txBody>
      </p:sp>
      <p:sp>
        <p:nvSpPr>
          <p:cNvPr id="27" name="TextBox 26"/>
          <p:cNvSpPr txBox="1"/>
          <p:nvPr/>
        </p:nvSpPr>
        <p:spPr>
          <a:xfrm>
            <a:off x="609600" y="5781675"/>
            <a:ext cx="10763250" cy="457200"/>
          </a:xfrm>
          <a:prstGeom prst="rect">
            <a:avLst/>
          </a:prstGeom>
          <a:noFill/>
        </p:spPr>
        <p:txBody>
          <a:bodyPr wrap="square" lIns="76200" tIns="38100" rIns="76200" bIns="38100">
            <a:spAutoFit/>
          </a:bodyPr>
          <a:lstStyle/>
          <a:p>
            <a:pPr>
              <a:defRPr sz="1875" b="0">
                <a:solidFill>
                  <a:srgbClr val="193248"/>
                </a:solidFill>
                <a:latin typeface="Arial"/>
              </a:defRPr>
            </a:pPr>
            <a:r>
              <a:t>I corpi cellulari dei neuroni si trovano nella sostanza grigia, organizzata in nuclei o corteccia.</a:t>
            </a:r>
          </a:p>
        </p:txBody>
      </p:sp>
      <p:cxnSp>
        <p:nvCxnSpPr>
          <p:cNvPr id="28" name="Connector 27"/>
          <p:cNvCxnSpPr/>
          <p:nvPr/>
        </p:nvCxnSpPr>
        <p:spPr>
          <a:xfrm>
            <a:off x="6096000" y="2390775"/>
            <a:ext cx="0" cy="1714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67050" y="2562225"/>
            <a:ext cx="58674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067050" y="2562225"/>
            <a:ext cx="0" cy="1714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934450" y="2562225"/>
            <a:ext cx="0" cy="1714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0000000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1-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CONCETTI DI BASE</a:t>
            </a:r>
          </a:p>
        </p:txBody>
      </p:sp>
      <p:sp>
        <p:nvSpPr>
          <p:cNvPr id="3" name="Rettangolo 2">
            <a:extLst>
              <a:ext uri="{FF2B5EF4-FFF2-40B4-BE49-F238E27FC236}">
                <a16:creationId xmlns:a16="http://schemas.microsoft.com/office/drawing/2014/main" id="{00000001-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Apparati e sistemi: la differenza</a:t>
            </a:r>
          </a:p>
        </p:txBody>
      </p:sp>
      <p:sp>
        <p:nvSpPr>
          <p:cNvPr id="4" name="Rettangolo 3">
            <a:extLst>
              <a:ext uri="{FF2B5EF4-FFF2-40B4-BE49-F238E27FC236}">
                <a16:creationId xmlns:a16="http://schemas.microsoft.com/office/drawing/2014/main" id="{00000001-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1-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9</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1-0007-4000-8000-000000000000}"/>
              </a:ext>
            </a:extLst>
          </p:cNvPr>
          <p:cNvSpPr>
            <a:spLocks noGrp="1"/>
          </p:cNvSpPr>
          <p:nvPr/>
        </p:nvSpPr>
        <p:spPr>
          <a:xfrm>
            <a:off x="762000" y="2076450"/>
            <a:ext cx="10668000" cy="495300"/>
          </a:xfrm>
          <a:prstGeom prst="rect">
            <a:avLst/>
          </a:prstGeom>
          <a:noFill/>
          <a:ln w="0">
            <a:noFill/>
          </a:ln>
        </p:spPr>
        <p:txBody>
          <a:bodyPr>
            <a:noAutofit/>
          </a:bodyPr>
          <a:lstStyle/>
          <a:p>
            <a:pPr algn="ctr">
              <a:defRPr sz="2400" b="1">
                <a:solidFill>
                  <a:srgbClr val="123F67"/>
                </a:solidFill>
                <a:latin typeface="Arial"/>
                <a:ea typeface="Arial"/>
                <a:cs typeface="Arial"/>
              </a:defRPr>
            </a:pPr>
            <a:r>
              <a:rPr lang="it-IT" sz="2400" b="1" err="1">
                <a:solidFill>
                  <a:srgbClr val="123F67"/>
                </a:solidFill>
                <a:latin typeface="Arial"/>
                <a:ea typeface="Arial"/>
                <a:cs typeface="Arial"/>
              </a:rPr>
              <a:t>Organi</a:t>
            </a:r>
            <a:r>
              <a:rPr lang="it-IT" sz="2400" b="1">
                <a:solidFill>
                  <a:srgbClr val="123F67"/>
                </a:solidFill>
                <a:latin typeface="Arial"/>
                <a:ea typeface="Arial"/>
                <a:cs typeface="Arial"/>
              </a:rPr>
              <a:t> </a:t>
            </a:r>
            <a:r>
              <a:rPr lang="it-IT" sz="2400" b="1" err="1">
                <a:solidFill>
                  <a:srgbClr val="123F67"/>
                </a:solidFill>
                <a:latin typeface="Arial"/>
                <a:ea typeface="Arial"/>
                <a:cs typeface="Arial"/>
              </a:rPr>
              <a:t>che</a:t>
            </a:r>
            <a:r>
              <a:rPr lang="it-IT" sz="2400" b="1">
                <a:solidFill>
                  <a:srgbClr val="123F67"/>
                </a:solidFill>
                <a:latin typeface="Arial"/>
                <a:ea typeface="Arial"/>
                <a:cs typeface="Arial"/>
              </a:rPr>
              <a:t> </a:t>
            </a:r>
            <a:r>
              <a:rPr lang="it-IT" sz="2400" b="1" err="1">
                <a:solidFill>
                  <a:srgbClr val="123F67"/>
                </a:solidFill>
                <a:latin typeface="Arial"/>
                <a:ea typeface="Arial"/>
                <a:cs typeface="Arial"/>
              </a:rPr>
              <a:t>collaborano</a:t>
            </a:r>
            <a:r>
              <a:rPr lang="it-IT" sz="2400" b="1">
                <a:solidFill>
                  <a:srgbClr val="123F67"/>
                </a:solidFill>
                <a:latin typeface="Arial"/>
                <a:ea typeface="Arial"/>
                <a:cs typeface="Arial"/>
              </a:rPr>
              <a:t> per </a:t>
            </a:r>
            <a:r>
              <a:rPr lang="it-IT" sz="2400" b="1" err="1">
                <a:solidFill>
                  <a:srgbClr val="123F67"/>
                </a:solidFill>
                <a:latin typeface="Arial"/>
                <a:ea typeface="Arial"/>
                <a:cs typeface="Arial"/>
              </a:rPr>
              <a:t>una</a:t>
            </a:r>
            <a:r>
              <a:rPr lang="it-IT" sz="2400" b="1">
                <a:solidFill>
                  <a:srgbClr val="123F67"/>
                </a:solidFill>
                <a:latin typeface="Arial"/>
                <a:ea typeface="Arial"/>
                <a:cs typeface="Arial"/>
              </a:rPr>
              <a:t> </a:t>
            </a:r>
            <a:r>
              <a:rPr lang="it-IT" sz="2400" b="1" err="1">
                <a:solidFill>
                  <a:srgbClr val="123F67"/>
                </a:solidFill>
                <a:latin typeface="Arial"/>
                <a:ea typeface="Arial"/>
                <a:cs typeface="Arial"/>
              </a:rPr>
              <a:t>funzione</a:t>
            </a:r>
            <a:r>
              <a:rPr lang="it-IT" sz="2400" b="1">
                <a:solidFill>
                  <a:srgbClr val="123F67"/>
                </a:solidFill>
                <a:latin typeface="Arial"/>
                <a:ea typeface="Arial"/>
                <a:cs typeface="Arial"/>
              </a:rPr>
              <a:t> </a:t>
            </a:r>
            <a:r>
              <a:rPr lang="it-IT" sz="2400" b="1" err="1">
                <a:solidFill>
                  <a:srgbClr val="123F67"/>
                </a:solidFill>
                <a:latin typeface="Arial"/>
                <a:ea typeface="Arial"/>
                <a:cs typeface="Arial"/>
              </a:rPr>
              <a:t>comune</a:t>
            </a:r>
            <a:endParaRPr lang="it-IT" sz="2175" b="1">
              <a:solidFill>
                <a:srgbClr val="193248"/>
              </a:solidFill>
              <a:latin typeface="Arial"/>
              <a:ea typeface="Arial"/>
              <a:cs typeface="Arial"/>
            </a:endParaRPr>
          </a:p>
        </p:txBody>
      </p:sp>
      <p:sp>
        <p:nvSpPr>
          <p:cNvPr id="8" name="Rettangolo 7">
            <a:extLst>
              <a:ext uri="{FF2B5EF4-FFF2-40B4-BE49-F238E27FC236}">
                <a16:creationId xmlns:a16="http://schemas.microsoft.com/office/drawing/2014/main" id="{00000001-0008-4000-8000-000000000000}"/>
              </a:ext>
            </a:extLst>
          </p:cNvPr>
          <p:cNvSpPr>
            <a:spLocks noGrp="1"/>
          </p:cNvSpPr>
          <p:nvPr/>
        </p:nvSpPr>
        <p:spPr>
          <a:xfrm>
            <a:off x="904875" y="3143250"/>
            <a:ext cx="4857750" cy="495300"/>
          </a:xfrm>
          <a:prstGeom prst="rect">
            <a:avLst/>
          </a:prstGeom>
          <a:noFill/>
          <a:ln w="0">
            <a:noFill/>
          </a:ln>
        </p:spPr>
        <p:txBody>
          <a:bodyPr>
            <a:noAutofit/>
          </a:bodyPr>
          <a:lstStyle/>
          <a:p>
            <a:pPr algn="ctr">
              <a:defRPr sz="2600" b="1">
                <a:solidFill>
                  <a:srgbClr val="123F67"/>
                </a:solidFill>
                <a:latin typeface="Arial"/>
                <a:ea typeface="Arial"/>
                <a:cs typeface="Arial"/>
              </a:defRPr>
            </a:pPr>
            <a:r>
              <a:rPr lang="it-IT" sz="2600" b="1">
                <a:solidFill>
                  <a:srgbClr val="123F67"/>
                </a:solidFill>
                <a:latin typeface="Arial"/>
                <a:ea typeface="Arial"/>
                <a:cs typeface="Arial"/>
              </a:rPr>
              <a:t>SISTEMA</a:t>
            </a:r>
            <a:endParaRPr lang="it-IT" sz="2025" b="1">
              <a:solidFill>
                <a:srgbClr val="123F67"/>
              </a:solidFill>
              <a:latin typeface="Arial"/>
              <a:ea typeface="Arial"/>
              <a:cs typeface="Arial"/>
            </a:endParaRPr>
          </a:p>
        </p:txBody>
      </p:sp>
      <p:sp>
        <p:nvSpPr>
          <p:cNvPr id="9" name="Rettangolo 8">
            <a:extLst>
              <a:ext uri="{FF2B5EF4-FFF2-40B4-BE49-F238E27FC236}">
                <a16:creationId xmlns:a16="http://schemas.microsoft.com/office/drawing/2014/main" id="{00000001-0009-4000-8000-000000000000}"/>
              </a:ext>
            </a:extLst>
          </p:cNvPr>
          <p:cNvSpPr>
            <a:spLocks noGrp="1"/>
          </p:cNvSpPr>
          <p:nvPr/>
        </p:nvSpPr>
        <p:spPr>
          <a:xfrm>
            <a:off x="904875" y="3838575"/>
            <a:ext cx="4857750" cy="1943100"/>
          </a:xfrm>
          <a:prstGeom prst="rect">
            <a:avLst/>
          </a:prstGeom>
          <a:noFill/>
          <a:ln w="0">
            <a:noFill/>
          </a:ln>
        </p:spPr>
        <p:txBody>
          <a:bodyPr wrap="square">
            <a:noAutofit/>
          </a:bodyPr>
          <a:lstStyle/>
          <a:p>
            <a:pPr algn="ctr">
              <a:spcAft>
                <a:spcPts val="1800"/>
              </a:spcAft>
              <a:defRPr sz="2600" b="1">
                <a:solidFill>
                  <a:srgbClr val="087E8B"/>
                </a:solidFill>
                <a:latin typeface="Arial"/>
                <a:ea typeface="Arial"/>
                <a:cs typeface="Arial"/>
              </a:defRPr>
            </a:pPr>
            <a:r>
              <a:rPr lang="it-IT"/>
              <a:t>Organi con la stessa</a:t>
            </a:r>
            <a:br>
              <a:rPr lang="it-IT"/>
            </a:br>
            <a:r>
              <a:rPr lang="it-IT"/>
              <a:t>origine embrionale</a:t>
            </a:r>
          </a:p>
          <a:p>
            <a:pPr algn="ctr">
              <a:defRPr sz="2000" b="0">
                <a:solidFill>
                  <a:srgbClr val="193248"/>
                </a:solidFill>
                <a:latin typeface="Arial"/>
              </a:defRPr>
            </a:pPr>
            <a:r>
              <a:rPr lang="it-IT"/>
              <a:t>Lavorano in modo coordinato per svolgere una funzione comune.</a:t>
            </a:r>
          </a:p>
        </p:txBody>
      </p:sp>
      <p:sp>
        <p:nvSpPr>
          <p:cNvPr id="10" name="Rettangolo 9">
            <a:extLst>
              <a:ext uri="{FF2B5EF4-FFF2-40B4-BE49-F238E27FC236}">
                <a16:creationId xmlns:a16="http://schemas.microsoft.com/office/drawing/2014/main" id="{00000001-000A-4000-8000-000000000000}"/>
              </a:ext>
            </a:extLst>
          </p:cNvPr>
          <p:cNvSpPr>
            <a:spLocks noGrp="1"/>
          </p:cNvSpPr>
          <p:nvPr/>
        </p:nvSpPr>
        <p:spPr>
          <a:xfrm>
            <a:off x="6429375" y="3143250"/>
            <a:ext cx="4857750" cy="495300"/>
          </a:xfrm>
          <a:prstGeom prst="rect">
            <a:avLst/>
          </a:prstGeom>
          <a:noFill/>
          <a:ln w="0">
            <a:noFill/>
          </a:ln>
        </p:spPr>
        <p:txBody>
          <a:bodyPr>
            <a:noAutofit/>
          </a:bodyPr>
          <a:lstStyle/>
          <a:p>
            <a:pPr algn="ctr">
              <a:defRPr sz="2600" b="1">
                <a:solidFill>
                  <a:srgbClr val="123F67"/>
                </a:solidFill>
                <a:latin typeface="Arial"/>
                <a:ea typeface="Arial"/>
                <a:cs typeface="Arial"/>
              </a:defRPr>
            </a:pPr>
            <a:r>
              <a:rPr lang="it-IT" sz="2600" b="1">
                <a:solidFill>
                  <a:srgbClr val="123F67"/>
                </a:solidFill>
                <a:latin typeface="Arial"/>
                <a:ea typeface="Arial"/>
                <a:cs typeface="Arial"/>
              </a:rPr>
              <a:t>APPARATO</a:t>
            </a:r>
            <a:endParaRPr lang="it-IT" sz="2025" b="1">
              <a:solidFill>
                <a:srgbClr val="123F67"/>
              </a:solidFill>
              <a:latin typeface="Arial"/>
              <a:ea typeface="Arial"/>
              <a:cs typeface="Arial"/>
            </a:endParaRPr>
          </a:p>
        </p:txBody>
      </p:sp>
      <p:sp>
        <p:nvSpPr>
          <p:cNvPr id="11" name="Rettangolo 10">
            <a:extLst>
              <a:ext uri="{FF2B5EF4-FFF2-40B4-BE49-F238E27FC236}">
                <a16:creationId xmlns:a16="http://schemas.microsoft.com/office/drawing/2014/main" id="{00000001-000B-4000-8000-000000000000}"/>
              </a:ext>
            </a:extLst>
          </p:cNvPr>
          <p:cNvSpPr>
            <a:spLocks noGrp="1"/>
          </p:cNvSpPr>
          <p:nvPr/>
        </p:nvSpPr>
        <p:spPr>
          <a:xfrm>
            <a:off x="6429375" y="3838575"/>
            <a:ext cx="4857750" cy="1943100"/>
          </a:xfrm>
          <a:prstGeom prst="rect">
            <a:avLst/>
          </a:prstGeom>
          <a:noFill/>
          <a:ln w="0">
            <a:noFill/>
          </a:ln>
        </p:spPr>
        <p:txBody>
          <a:bodyPr wrap="square">
            <a:noAutofit/>
          </a:bodyPr>
          <a:lstStyle/>
          <a:p>
            <a:pPr algn="ctr">
              <a:spcAft>
                <a:spcPts val="1800"/>
              </a:spcAft>
              <a:defRPr sz="2600" b="1">
                <a:solidFill>
                  <a:srgbClr val="087E8B"/>
                </a:solidFill>
                <a:latin typeface="Arial"/>
                <a:ea typeface="Arial"/>
                <a:cs typeface="Arial"/>
              </a:defRPr>
            </a:pPr>
            <a:r>
              <a:rPr lang="it-IT" dirty="0"/>
              <a:t>Organi di origine</a:t>
            </a:r>
            <a:br>
              <a:rPr lang="it-IT" dirty="0"/>
            </a:br>
            <a:r>
              <a:rPr lang="it-IT" dirty="0"/>
              <a:t>embrionale diversa</a:t>
            </a:r>
          </a:p>
          <a:p>
            <a:pPr algn="ctr">
              <a:defRPr sz="2000" b="0">
                <a:solidFill>
                  <a:srgbClr val="193248"/>
                </a:solidFill>
                <a:latin typeface="Arial"/>
              </a:defRPr>
            </a:pPr>
            <a:r>
              <a:rPr lang="it-IT" dirty="0"/>
              <a:t>Svolgono compiti complementari per realizzare una funzione comune.</a:t>
            </a:r>
          </a:p>
        </p:txBody>
      </p:sp>
      <p:cxnSp>
        <p:nvCxnSpPr>
          <p:cNvPr id="17" name="Connector 16"/>
          <p:cNvCxnSpPr/>
          <p:nvPr/>
        </p:nvCxnSpPr>
        <p:spPr>
          <a:xfrm>
            <a:off x="6096000" y="2628900"/>
            <a:ext cx="0" cy="2286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333750" y="2857500"/>
            <a:ext cx="55245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333750" y="2857500"/>
            <a:ext cx="0" cy="2095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858250" y="2857500"/>
            <a:ext cx="0" cy="2095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00000003-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3-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QUADRO D’INSIEME</a:t>
            </a:r>
          </a:p>
        </p:txBody>
      </p:sp>
      <p:sp>
        <p:nvSpPr>
          <p:cNvPr id="3" name="Rettangolo 2">
            <a:extLst>
              <a:ext uri="{FF2B5EF4-FFF2-40B4-BE49-F238E27FC236}">
                <a16:creationId xmlns:a16="http://schemas.microsoft.com/office/drawing/2014/main" id="{00000003-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I cinque sistemi</a:t>
            </a:r>
          </a:p>
        </p:txBody>
      </p:sp>
      <p:sp>
        <p:nvSpPr>
          <p:cNvPr id="4" name="Rettangolo 3">
            <a:extLst>
              <a:ext uri="{FF2B5EF4-FFF2-40B4-BE49-F238E27FC236}">
                <a16:creationId xmlns:a16="http://schemas.microsoft.com/office/drawing/2014/main" id="{00000003-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3-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3-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10</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3-0007-4000-8000-000000000000}"/>
              </a:ext>
            </a:extLst>
          </p:cNvPr>
          <p:cNvSpPr>
            <a:spLocks noGrp="1"/>
          </p:cNvSpPr>
          <p:nvPr/>
        </p:nvSpPr>
        <p:spPr>
          <a:xfrm>
            <a:off x="609600" y="1857375"/>
            <a:ext cx="619125" cy="495300"/>
          </a:xfrm>
          <a:prstGeom prst="rect">
            <a:avLst/>
          </a:prstGeom>
          <a:noFill/>
          <a:ln w="0">
            <a:noFill/>
          </a:ln>
        </p:spPr>
        <p:txBody>
          <a:bodyPr>
            <a:noAutofit/>
          </a:bodyPr>
          <a:lstStyle/>
          <a:p>
            <a:pPr>
              <a:defRPr sz="2625" b="1">
                <a:solidFill>
                  <a:srgbClr val="087E8B"/>
                </a:solidFill>
                <a:latin typeface="Arial"/>
                <a:ea typeface="Arial"/>
                <a:cs typeface="Arial"/>
              </a:defRPr>
            </a:pPr>
            <a:r>
              <a:rPr lang="it-IT" sz="2625" b="1">
                <a:solidFill>
                  <a:srgbClr val="087E8B"/>
                </a:solidFill>
                <a:latin typeface="Arial"/>
                <a:ea typeface="Arial"/>
                <a:cs typeface="Arial"/>
              </a:rPr>
              <a:t>1</a:t>
            </a:r>
            <a:endParaRPr sz="2625" b="1">
              <a:solidFill>
                <a:srgbClr val="087E8B"/>
              </a:solidFill>
              <a:latin typeface="Arial"/>
              <a:ea typeface="Arial"/>
              <a:cs typeface="Arial"/>
            </a:endParaRPr>
          </a:p>
        </p:txBody>
      </p:sp>
      <p:sp>
        <p:nvSpPr>
          <p:cNvPr id="8" name="Rettangolo 7">
            <a:extLst>
              <a:ext uri="{FF2B5EF4-FFF2-40B4-BE49-F238E27FC236}">
                <a16:creationId xmlns:a16="http://schemas.microsoft.com/office/drawing/2014/main" id="{00000003-0008-4000-8000-000000000000}"/>
              </a:ext>
            </a:extLst>
          </p:cNvPr>
          <p:cNvSpPr>
            <a:spLocks noGrp="1"/>
          </p:cNvSpPr>
          <p:nvPr/>
        </p:nvSpPr>
        <p:spPr>
          <a:xfrm>
            <a:off x="1390650" y="1857375"/>
            <a:ext cx="3952875" cy="619125"/>
          </a:xfrm>
          <a:prstGeom prst="rect">
            <a:avLst/>
          </a:prstGeom>
          <a:noFill/>
          <a:ln w="0">
            <a:noFill/>
          </a:ln>
        </p:spPr>
        <p:txBody>
          <a:bodyPr>
            <a:noAutofit/>
          </a:bodyPr>
          <a:lstStyle/>
          <a:p>
            <a:pPr>
              <a:defRPr sz="1950" b="1">
                <a:solidFill>
                  <a:srgbClr val="123F67"/>
                </a:solidFill>
                <a:latin typeface="Arial"/>
                <a:ea typeface="Arial"/>
                <a:cs typeface="Arial"/>
              </a:defRPr>
            </a:pPr>
            <a:r>
              <a:rPr sz="1950" b="1" dirty="0" err="1">
                <a:solidFill>
                  <a:srgbClr val="123F67"/>
                </a:solidFill>
                <a:latin typeface="Arial"/>
                <a:ea typeface="Arial"/>
                <a:cs typeface="Arial"/>
              </a:rPr>
              <a:t>Linfatico</a:t>
            </a:r>
            <a:r>
              <a:rPr sz="1950" b="1" dirty="0">
                <a:solidFill>
                  <a:srgbClr val="123F67"/>
                </a:solidFill>
                <a:latin typeface="Arial"/>
                <a:ea typeface="Arial"/>
                <a:cs typeface="Arial"/>
              </a:rPr>
              <a:t> e </a:t>
            </a:r>
            <a:r>
              <a:rPr lang="it-IT" sz="1950" b="1" dirty="0">
                <a:solidFill>
                  <a:srgbClr val="123F67"/>
                </a:solidFill>
                <a:latin typeface="Arial"/>
                <a:ea typeface="Arial"/>
                <a:cs typeface="Arial"/>
              </a:rPr>
              <a:t>I</a:t>
            </a:r>
            <a:r>
              <a:rPr sz="1950" b="1" dirty="0" err="1">
                <a:solidFill>
                  <a:srgbClr val="123F67"/>
                </a:solidFill>
                <a:latin typeface="Arial"/>
                <a:ea typeface="Arial"/>
                <a:cs typeface="Arial"/>
              </a:rPr>
              <a:t>mmunitario</a:t>
            </a:r>
            <a:endParaRPr sz="1950" b="1" dirty="0">
              <a:solidFill>
                <a:srgbClr val="123F67"/>
              </a:solidFill>
              <a:latin typeface="Arial"/>
              <a:ea typeface="Arial"/>
              <a:cs typeface="Arial"/>
            </a:endParaRPr>
          </a:p>
        </p:txBody>
      </p:sp>
      <p:sp>
        <p:nvSpPr>
          <p:cNvPr id="9" name="Rettangolo 8">
            <a:extLst>
              <a:ext uri="{FF2B5EF4-FFF2-40B4-BE49-F238E27FC236}">
                <a16:creationId xmlns:a16="http://schemas.microsoft.com/office/drawing/2014/main" id="{00000003-0009-4000-8000-000000000000}"/>
              </a:ext>
            </a:extLst>
          </p:cNvPr>
          <p:cNvSpPr>
            <a:spLocks noGrp="1"/>
          </p:cNvSpPr>
          <p:nvPr/>
        </p:nvSpPr>
        <p:spPr>
          <a:xfrm>
            <a:off x="5562600" y="1857375"/>
            <a:ext cx="5905500" cy="666750"/>
          </a:xfrm>
          <a:prstGeom prst="rect">
            <a:avLst/>
          </a:prstGeom>
          <a:noFill/>
          <a:ln w="0">
            <a:noFill/>
          </a:ln>
        </p:spPr>
        <p:txBody>
          <a:bodyPr>
            <a:noAutofit/>
          </a:bodyPr>
          <a:lstStyle/>
          <a:p>
            <a:pPr>
              <a:defRPr sz="1800" b="0">
                <a:solidFill>
                  <a:srgbClr val="193248"/>
                </a:solidFill>
                <a:latin typeface="Arial"/>
                <a:ea typeface="Arial"/>
                <a:cs typeface="Arial"/>
              </a:defRPr>
            </a:pPr>
            <a:r>
              <a:rPr sz="1800" b="0">
                <a:solidFill>
                  <a:srgbClr val="193248"/>
                </a:solidFill>
                <a:latin typeface="Arial"/>
                <a:ea typeface="Arial"/>
                <a:cs typeface="Arial"/>
              </a:rPr>
              <a:t>Difesa, riconoscimento e memoria immunitaria</a:t>
            </a:r>
          </a:p>
        </p:txBody>
      </p:sp>
      <p:sp>
        <p:nvSpPr>
          <p:cNvPr id="10" name="Rettangolo 9">
            <a:extLst>
              <a:ext uri="{FF2B5EF4-FFF2-40B4-BE49-F238E27FC236}">
                <a16:creationId xmlns:a16="http://schemas.microsoft.com/office/drawing/2014/main" id="{00000003-000A-4000-8000-000000000000}"/>
              </a:ext>
            </a:extLst>
          </p:cNvPr>
          <p:cNvSpPr>
            <a:spLocks noGrp="1"/>
          </p:cNvSpPr>
          <p:nvPr/>
        </p:nvSpPr>
        <p:spPr>
          <a:xfrm>
            <a:off x="1390650" y="2543175"/>
            <a:ext cx="10048875" cy="19050"/>
          </a:xfrm>
          <a:prstGeom prst="rect">
            <a:avLst/>
          </a:prstGeom>
          <a:solidFill>
            <a:srgbClr val="CEDDE8"/>
          </a:solidFill>
          <a:ln w="0">
            <a:noFill/>
          </a:ln>
        </p:spPr>
        <p:txBody>
          <a:bodyPr/>
          <a:lstStyle/>
          <a:p>
            <a:endParaRPr lang="it-IT"/>
          </a:p>
        </p:txBody>
      </p:sp>
      <p:sp>
        <p:nvSpPr>
          <p:cNvPr id="11" name="Rettangolo 10">
            <a:extLst>
              <a:ext uri="{FF2B5EF4-FFF2-40B4-BE49-F238E27FC236}">
                <a16:creationId xmlns:a16="http://schemas.microsoft.com/office/drawing/2014/main" id="{00000003-000B-4000-8000-000000000000}"/>
              </a:ext>
            </a:extLst>
          </p:cNvPr>
          <p:cNvSpPr>
            <a:spLocks noGrp="1"/>
          </p:cNvSpPr>
          <p:nvPr/>
        </p:nvSpPr>
        <p:spPr>
          <a:xfrm>
            <a:off x="609600" y="2657475"/>
            <a:ext cx="619125" cy="495300"/>
          </a:xfrm>
          <a:prstGeom prst="rect">
            <a:avLst/>
          </a:prstGeom>
          <a:noFill/>
          <a:ln w="0">
            <a:noFill/>
          </a:ln>
        </p:spPr>
        <p:txBody>
          <a:bodyPr>
            <a:noAutofit/>
          </a:bodyPr>
          <a:lstStyle/>
          <a:p>
            <a:pPr>
              <a:defRPr sz="2625" b="1">
                <a:solidFill>
                  <a:srgbClr val="087E8B"/>
                </a:solidFill>
                <a:latin typeface="Arial"/>
                <a:ea typeface="Arial"/>
                <a:cs typeface="Arial"/>
              </a:defRPr>
            </a:pPr>
            <a:r>
              <a:rPr lang="it-IT" sz="2625" b="1">
                <a:solidFill>
                  <a:srgbClr val="087E8B"/>
                </a:solidFill>
                <a:latin typeface="Arial"/>
                <a:ea typeface="Arial"/>
                <a:cs typeface="Arial"/>
              </a:rPr>
              <a:t>2</a:t>
            </a:r>
            <a:endParaRPr sz="2625" b="1">
              <a:solidFill>
                <a:srgbClr val="087E8B"/>
              </a:solidFill>
              <a:latin typeface="Arial"/>
              <a:ea typeface="Arial"/>
              <a:cs typeface="Arial"/>
            </a:endParaRPr>
          </a:p>
        </p:txBody>
      </p:sp>
      <p:sp>
        <p:nvSpPr>
          <p:cNvPr id="12" name="Rettangolo 11">
            <a:extLst>
              <a:ext uri="{FF2B5EF4-FFF2-40B4-BE49-F238E27FC236}">
                <a16:creationId xmlns:a16="http://schemas.microsoft.com/office/drawing/2014/main" id="{00000003-000C-4000-8000-000000000000}"/>
              </a:ext>
            </a:extLst>
          </p:cNvPr>
          <p:cNvSpPr>
            <a:spLocks noGrp="1"/>
          </p:cNvSpPr>
          <p:nvPr/>
        </p:nvSpPr>
        <p:spPr>
          <a:xfrm>
            <a:off x="1390650" y="2657475"/>
            <a:ext cx="3952875" cy="619125"/>
          </a:xfrm>
          <a:prstGeom prst="rect">
            <a:avLst/>
          </a:prstGeom>
          <a:noFill/>
          <a:ln w="0">
            <a:noFill/>
          </a:ln>
        </p:spPr>
        <p:txBody>
          <a:bodyPr>
            <a:noAutofit/>
          </a:bodyPr>
          <a:lstStyle/>
          <a:p>
            <a:pPr>
              <a:defRPr sz="1950" b="1">
                <a:solidFill>
                  <a:srgbClr val="123F67"/>
                </a:solidFill>
                <a:latin typeface="Arial"/>
                <a:ea typeface="Arial"/>
                <a:cs typeface="Arial"/>
              </a:defRPr>
            </a:pPr>
            <a:r>
              <a:rPr sz="1950" b="1">
                <a:solidFill>
                  <a:srgbClr val="123F67"/>
                </a:solidFill>
                <a:latin typeface="Arial"/>
                <a:ea typeface="Arial"/>
                <a:cs typeface="Arial"/>
              </a:rPr>
              <a:t>Nervoso</a:t>
            </a:r>
          </a:p>
        </p:txBody>
      </p:sp>
      <p:sp>
        <p:nvSpPr>
          <p:cNvPr id="13" name="Rettangolo 12">
            <a:extLst>
              <a:ext uri="{FF2B5EF4-FFF2-40B4-BE49-F238E27FC236}">
                <a16:creationId xmlns:a16="http://schemas.microsoft.com/office/drawing/2014/main" id="{00000003-000D-4000-8000-000000000000}"/>
              </a:ext>
            </a:extLst>
          </p:cNvPr>
          <p:cNvSpPr>
            <a:spLocks noGrp="1"/>
          </p:cNvSpPr>
          <p:nvPr/>
        </p:nvSpPr>
        <p:spPr>
          <a:xfrm>
            <a:off x="5562600" y="2657475"/>
            <a:ext cx="5905500" cy="666750"/>
          </a:xfrm>
          <a:prstGeom prst="rect">
            <a:avLst/>
          </a:prstGeom>
          <a:noFill/>
          <a:ln w="0">
            <a:noFill/>
          </a:ln>
        </p:spPr>
        <p:txBody>
          <a:bodyPr>
            <a:noAutofit/>
          </a:bodyPr>
          <a:lstStyle/>
          <a:p>
            <a:pPr>
              <a:defRPr sz="1800" b="0">
                <a:solidFill>
                  <a:srgbClr val="193248"/>
                </a:solidFill>
                <a:latin typeface="Arial"/>
                <a:ea typeface="Arial"/>
                <a:cs typeface="Arial"/>
              </a:defRPr>
            </a:pPr>
            <a:r>
              <a:rPr sz="1800" b="0">
                <a:solidFill>
                  <a:srgbClr val="193248"/>
                </a:solidFill>
                <a:latin typeface="Arial"/>
                <a:ea typeface="Arial"/>
                <a:cs typeface="Arial"/>
              </a:rPr>
              <a:t>Ricezione degli stimoli e coordinamento delle risposte</a:t>
            </a:r>
          </a:p>
        </p:txBody>
      </p:sp>
      <p:sp>
        <p:nvSpPr>
          <p:cNvPr id="14" name="Rettangolo 13">
            <a:extLst>
              <a:ext uri="{FF2B5EF4-FFF2-40B4-BE49-F238E27FC236}">
                <a16:creationId xmlns:a16="http://schemas.microsoft.com/office/drawing/2014/main" id="{00000003-000E-4000-8000-000000000000}"/>
              </a:ext>
            </a:extLst>
          </p:cNvPr>
          <p:cNvSpPr>
            <a:spLocks noGrp="1"/>
          </p:cNvSpPr>
          <p:nvPr/>
        </p:nvSpPr>
        <p:spPr>
          <a:xfrm>
            <a:off x="1390650" y="3343275"/>
            <a:ext cx="10048875" cy="19050"/>
          </a:xfrm>
          <a:prstGeom prst="rect">
            <a:avLst/>
          </a:prstGeom>
          <a:solidFill>
            <a:srgbClr val="CEDDE8"/>
          </a:solidFill>
          <a:ln w="0">
            <a:noFill/>
          </a:ln>
        </p:spPr>
        <p:txBody>
          <a:bodyPr/>
          <a:lstStyle/>
          <a:p>
            <a:endParaRPr lang="it-IT"/>
          </a:p>
        </p:txBody>
      </p:sp>
      <p:sp>
        <p:nvSpPr>
          <p:cNvPr id="15" name="Rettangolo 14">
            <a:extLst>
              <a:ext uri="{FF2B5EF4-FFF2-40B4-BE49-F238E27FC236}">
                <a16:creationId xmlns:a16="http://schemas.microsoft.com/office/drawing/2014/main" id="{00000003-000F-4000-8000-000000000000}"/>
              </a:ext>
            </a:extLst>
          </p:cNvPr>
          <p:cNvSpPr>
            <a:spLocks noGrp="1"/>
          </p:cNvSpPr>
          <p:nvPr/>
        </p:nvSpPr>
        <p:spPr>
          <a:xfrm>
            <a:off x="609600" y="3457575"/>
            <a:ext cx="619125" cy="495300"/>
          </a:xfrm>
          <a:prstGeom prst="rect">
            <a:avLst/>
          </a:prstGeom>
          <a:noFill/>
          <a:ln w="0">
            <a:noFill/>
          </a:ln>
        </p:spPr>
        <p:txBody>
          <a:bodyPr>
            <a:noAutofit/>
          </a:bodyPr>
          <a:lstStyle/>
          <a:p>
            <a:pPr>
              <a:defRPr sz="2625" b="1">
                <a:solidFill>
                  <a:srgbClr val="087E8B"/>
                </a:solidFill>
                <a:latin typeface="Arial"/>
                <a:ea typeface="Arial"/>
                <a:cs typeface="Arial"/>
              </a:defRPr>
            </a:pPr>
            <a:r>
              <a:rPr lang="it-IT" sz="2625" b="1">
                <a:solidFill>
                  <a:srgbClr val="087E8B"/>
                </a:solidFill>
                <a:latin typeface="Arial"/>
                <a:ea typeface="Arial"/>
                <a:cs typeface="Arial"/>
              </a:rPr>
              <a:t>3</a:t>
            </a:r>
            <a:endParaRPr sz="2625" b="1">
              <a:solidFill>
                <a:srgbClr val="087E8B"/>
              </a:solidFill>
              <a:latin typeface="Arial"/>
              <a:ea typeface="Arial"/>
              <a:cs typeface="Arial"/>
            </a:endParaRPr>
          </a:p>
        </p:txBody>
      </p:sp>
      <p:sp>
        <p:nvSpPr>
          <p:cNvPr id="16" name="Rettangolo 15">
            <a:extLst>
              <a:ext uri="{FF2B5EF4-FFF2-40B4-BE49-F238E27FC236}">
                <a16:creationId xmlns:a16="http://schemas.microsoft.com/office/drawing/2014/main" id="{00000003-0010-4000-8000-000000000000}"/>
              </a:ext>
            </a:extLst>
          </p:cNvPr>
          <p:cNvSpPr>
            <a:spLocks noGrp="1"/>
          </p:cNvSpPr>
          <p:nvPr/>
        </p:nvSpPr>
        <p:spPr>
          <a:xfrm>
            <a:off x="1390650" y="3457575"/>
            <a:ext cx="3952875" cy="619125"/>
          </a:xfrm>
          <a:prstGeom prst="rect">
            <a:avLst/>
          </a:prstGeom>
          <a:noFill/>
          <a:ln w="0">
            <a:noFill/>
          </a:ln>
        </p:spPr>
        <p:txBody>
          <a:bodyPr>
            <a:noAutofit/>
          </a:bodyPr>
          <a:lstStyle/>
          <a:p>
            <a:pPr>
              <a:defRPr sz="1950" b="1">
                <a:solidFill>
                  <a:srgbClr val="123F67"/>
                </a:solidFill>
                <a:latin typeface="Arial"/>
                <a:ea typeface="Arial"/>
                <a:cs typeface="Arial"/>
              </a:defRPr>
            </a:pPr>
            <a:r>
              <a:rPr sz="1950" b="1">
                <a:solidFill>
                  <a:srgbClr val="123F67"/>
                </a:solidFill>
                <a:latin typeface="Arial"/>
                <a:ea typeface="Arial"/>
                <a:cs typeface="Arial"/>
              </a:rPr>
              <a:t>Scheletrico</a:t>
            </a:r>
          </a:p>
        </p:txBody>
      </p:sp>
      <p:sp>
        <p:nvSpPr>
          <p:cNvPr id="17" name="Rettangolo 16">
            <a:extLst>
              <a:ext uri="{FF2B5EF4-FFF2-40B4-BE49-F238E27FC236}">
                <a16:creationId xmlns:a16="http://schemas.microsoft.com/office/drawing/2014/main" id="{00000003-0011-4000-8000-000000000000}"/>
              </a:ext>
            </a:extLst>
          </p:cNvPr>
          <p:cNvSpPr>
            <a:spLocks noGrp="1"/>
          </p:cNvSpPr>
          <p:nvPr/>
        </p:nvSpPr>
        <p:spPr>
          <a:xfrm>
            <a:off x="5562600" y="3457575"/>
            <a:ext cx="5905500" cy="666750"/>
          </a:xfrm>
          <a:prstGeom prst="rect">
            <a:avLst/>
          </a:prstGeom>
          <a:noFill/>
          <a:ln w="0">
            <a:noFill/>
          </a:ln>
        </p:spPr>
        <p:txBody>
          <a:bodyPr>
            <a:noAutofit/>
          </a:bodyPr>
          <a:lstStyle/>
          <a:p>
            <a:pPr>
              <a:defRPr sz="1800" b="0">
                <a:solidFill>
                  <a:srgbClr val="193248"/>
                </a:solidFill>
                <a:latin typeface="Arial"/>
                <a:ea typeface="Arial"/>
                <a:cs typeface="Arial"/>
              </a:defRPr>
            </a:pPr>
            <a:r>
              <a:rPr sz="1800" b="0">
                <a:solidFill>
                  <a:srgbClr val="193248"/>
                </a:solidFill>
                <a:latin typeface="Arial"/>
                <a:ea typeface="Arial"/>
                <a:cs typeface="Arial"/>
              </a:rPr>
              <a:t>Sostegno, protezione, riserva minerale ed emopoiesi</a:t>
            </a:r>
          </a:p>
        </p:txBody>
      </p:sp>
      <p:sp>
        <p:nvSpPr>
          <p:cNvPr id="18" name="Rettangolo 17">
            <a:extLst>
              <a:ext uri="{FF2B5EF4-FFF2-40B4-BE49-F238E27FC236}">
                <a16:creationId xmlns:a16="http://schemas.microsoft.com/office/drawing/2014/main" id="{00000003-0012-4000-8000-000000000000}"/>
              </a:ext>
            </a:extLst>
          </p:cNvPr>
          <p:cNvSpPr>
            <a:spLocks noGrp="1"/>
          </p:cNvSpPr>
          <p:nvPr/>
        </p:nvSpPr>
        <p:spPr>
          <a:xfrm>
            <a:off x="1390650" y="4143375"/>
            <a:ext cx="10048875" cy="19050"/>
          </a:xfrm>
          <a:prstGeom prst="rect">
            <a:avLst/>
          </a:prstGeom>
          <a:solidFill>
            <a:srgbClr val="CEDDE8"/>
          </a:solidFill>
          <a:ln w="0">
            <a:noFill/>
          </a:ln>
        </p:spPr>
        <p:txBody>
          <a:bodyPr/>
          <a:lstStyle/>
          <a:p>
            <a:endParaRPr lang="it-IT"/>
          </a:p>
        </p:txBody>
      </p:sp>
      <p:sp>
        <p:nvSpPr>
          <p:cNvPr id="19" name="Rettangolo 18">
            <a:extLst>
              <a:ext uri="{FF2B5EF4-FFF2-40B4-BE49-F238E27FC236}">
                <a16:creationId xmlns:a16="http://schemas.microsoft.com/office/drawing/2014/main" id="{00000003-0013-4000-8000-000000000000}"/>
              </a:ext>
            </a:extLst>
          </p:cNvPr>
          <p:cNvSpPr>
            <a:spLocks noGrp="1"/>
          </p:cNvSpPr>
          <p:nvPr/>
        </p:nvSpPr>
        <p:spPr>
          <a:xfrm>
            <a:off x="609600" y="4257675"/>
            <a:ext cx="619125" cy="495300"/>
          </a:xfrm>
          <a:prstGeom prst="rect">
            <a:avLst/>
          </a:prstGeom>
          <a:noFill/>
          <a:ln w="0">
            <a:noFill/>
          </a:ln>
        </p:spPr>
        <p:txBody>
          <a:bodyPr>
            <a:noAutofit/>
          </a:bodyPr>
          <a:lstStyle/>
          <a:p>
            <a:pPr>
              <a:defRPr sz="2625" b="1">
                <a:solidFill>
                  <a:srgbClr val="087E8B"/>
                </a:solidFill>
                <a:latin typeface="Arial"/>
                <a:ea typeface="Arial"/>
                <a:cs typeface="Arial"/>
              </a:defRPr>
            </a:pPr>
            <a:r>
              <a:rPr lang="it-IT" sz="2625" b="1">
                <a:solidFill>
                  <a:srgbClr val="087E8B"/>
                </a:solidFill>
                <a:latin typeface="Arial"/>
                <a:ea typeface="Arial"/>
                <a:cs typeface="Arial"/>
              </a:rPr>
              <a:t>4</a:t>
            </a:r>
            <a:endParaRPr sz="2625" b="1">
              <a:solidFill>
                <a:srgbClr val="087E8B"/>
              </a:solidFill>
              <a:latin typeface="Arial"/>
              <a:ea typeface="Arial"/>
              <a:cs typeface="Arial"/>
            </a:endParaRPr>
          </a:p>
        </p:txBody>
      </p:sp>
      <p:sp>
        <p:nvSpPr>
          <p:cNvPr id="20" name="Rettangolo 19">
            <a:extLst>
              <a:ext uri="{FF2B5EF4-FFF2-40B4-BE49-F238E27FC236}">
                <a16:creationId xmlns:a16="http://schemas.microsoft.com/office/drawing/2014/main" id="{00000003-0014-4000-8000-000000000000}"/>
              </a:ext>
            </a:extLst>
          </p:cNvPr>
          <p:cNvSpPr>
            <a:spLocks noGrp="1"/>
          </p:cNvSpPr>
          <p:nvPr/>
        </p:nvSpPr>
        <p:spPr>
          <a:xfrm>
            <a:off x="1390650" y="4257675"/>
            <a:ext cx="3952875" cy="619125"/>
          </a:xfrm>
          <a:prstGeom prst="rect">
            <a:avLst/>
          </a:prstGeom>
          <a:noFill/>
          <a:ln w="0">
            <a:noFill/>
          </a:ln>
        </p:spPr>
        <p:txBody>
          <a:bodyPr>
            <a:noAutofit/>
          </a:bodyPr>
          <a:lstStyle/>
          <a:p>
            <a:pPr>
              <a:defRPr sz="1950" b="1">
                <a:solidFill>
                  <a:srgbClr val="123F67"/>
                </a:solidFill>
                <a:latin typeface="Arial"/>
                <a:ea typeface="Arial"/>
                <a:cs typeface="Arial"/>
              </a:defRPr>
            </a:pPr>
            <a:r>
              <a:rPr sz="1950" b="1">
                <a:solidFill>
                  <a:srgbClr val="123F67"/>
                </a:solidFill>
                <a:latin typeface="Arial"/>
                <a:ea typeface="Arial"/>
                <a:cs typeface="Arial"/>
              </a:rPr>
              <a:t>Muscolare</a:t>
            </a:r>
          </a:p>
        </p:txBody>
      </p:sp>
      <p:sp>
        <p:nvSpPr>
          <p:cNvPr id="21" name="Rettangolo 20">
            <a:extLst>
              <a:ext uri="{FF2B5EF4-FFF2-40B4-BE49-F238E27FC236}">
                <a16:creationId xmlns:a16="http://schemas.microsoft.com/office/drawing/2014/main" id="{00000003-0015-4000-8000-000000000000}"/>
              </a:ext>
            </a:extLst>
          </p:cNvPr>
          <p:cNvSpPr>
            <a:spLocks noGrp="1"/>
          </p:cNvSpPr>
          <p:nvPr/>
        </p:nvSpPr>
        <p:spPr>
          <a:xfrm>
            <a:off x="5562600" y="4257675"/>
            <a:ext cx="5905500" cy="666750"/>
          </a:xfrm>
          <a:prstGeom prst="rect">
            <a:avLst/>
          </a:prstGeom>
          <a:noFill/>
          <a:ln w="0">
            <a:noFill/>
          </a:ln>
        </p:spPr>
        <p:txBody>
          <a:bodyPr>
            <a:noAutofit/>
          </a:bodyPr>
          <a:lstStyle/>
          <a:p>
            <a:pPr>
              <a:defRPr sz="1800" b="0">
                <a:solidFill>
                  <a:srgbClr val="193248"/>
                </a:solidFill>
                <a:latin typeface="Arial"/>
                <a:ea typeface="Arial"/>
                <a:cs typeface="Arial"/>
              </a:defRPr>
            </a:pPr>
            <a:r>
              <a:rPr sz="1800" b="0">
                <a:solidFill>
                  <a:srgbClr val="193248"/>
                </a:solidFill>
                <a:latin typeface="Arial"/>
                <a:ea typeface="Arial"/>
                <a:cs typeface="Arial"/>
              </a:rPr>
              <a:t>Movimento, postura e produzione di calore</a:t>
            </a:r>
          </a:p>
        </p:txBody>
      </p:sp>
      <p:sp>
        <p:nvSpPr>
          <p:cNvPr id="22" name="Rettangolo 21">
            <a:extLst>
              <a:ext uri="{FF2B5EF4-FFF2-40B4-BE49-F238E27FC236}">
                <a16:creationId xmlns:a16="http://schemas.microsoft.com/office/drawing/2014/main" id="{00000003-0016-4000-8000-000000000000}"/>
              </a:ext>
            </a:extLst>
          </p:cNvPr>
          <p:cNvSpPr>
            <a:spLocks noGrp="1"/>
          </p:cNvSpPr>
          <p:nvPr/>
        </p:nvSpPr>
        <p:spPr>
          <a:xfrm>
            <a:off x="1390650" y="4943475"/>
            <a:ext cx="10048875" cy="19050"/>
          </a:xfrm>
          <a:prstGeom prst="rect">
            <a:avLst/>
          </a:prstGeom>
          <a:solidFill>
            <a:srgbClr val="CEDDE8"/>
          </a:solidFill>
          <a:ln w="0">
            <a:noFill/>
          </a:ln>
        </p:spPr>
        <p:txBody>
          <a:bodyPr/>
          <a:lstStyle/>
          <a:p>
            <a:endParaRPr lang="it-IT"/>
          </a:p>
        </p:txBody>
      </p:sp>
      <p:sp>
        <p:nvSpPr>
          <p:cNvPr id="23" name="Rettangolo 22">
            <a:extLst>
              <a:ext uri="{FF2B5EF4-FFF2-40B4-BE49-F238E27FC236}">
                <a16:creationId xmlns:a16="http://schemas.microsoft.com/office/drawing/2014/main" id="{00000003-0017-4000-8000-000000000000}"/>
              </a:ext>
            </a:extLst>
          </p:cNvPr>
          <p:cNvSpPr>
            <a:spLocks noGrp="1"/>
          </p:cNvSpPr>
          <p:nvPr/>
        </p:nvSpPr>
        <p:spPr>
          <a:xfrm>
            <a:off x="609600" y="5057775"/>
            <a:ext cx="619125" cy="495300"/>
          </a:xfrm>
          <a:prstGeom prst="rect">
            <a:avLst/>
          </a:prstGeom>
          <a:noFill/>
          <a:ln w="0">
            <a:noFill/>
          </a:ln>
        </p:spPr>
        <p:txBody>
          <a:bodyPr>
            <a:noAutofit/>
          </a:bodyPr>
          <a:lstStyle/>
          <a:p>
            <a:pPr>
              <a:defRPr sz="2625" b="1">
                <a:solidFill>
                  <a:srgbClr val="087E8B"/>
                </a:solidFill>
                <a:latin typeface="Arial"/>
                <a:ea typeface="Arial"/>
                <a:cs typeface="Arial"/>
              </a:defRPr>
            </a:pPr>
            <a:r>
              <a:rPr lang="it-IT" sz="2625" b="1">
                <a:solidFill>
                  <a:srgbClr val="087E8B"/>
                </a:solidFill>
                <a:latin typeface="Arial"/>
                <a:ea typeface="Arial"/>
                <a:cs typeface="Arial"/>
              </a:rPr>
              <a:t>5</a:t>
            </a:r>
            <a:endParaRPr sz="2625" b="1">
              <a:solidFill>
                <a:srgbClr val="087E8B"/>
              </a:solidFill>
              <a:latin typeface="Arial"/>
              <a:ea typeface="Arial"/>
              <a:cs typeface="Arial"/>
            </a:endParaRPr>
          </a:p>
        </p:txBody>
      </p:sp>
      <p:sp>
        <p:nvSpPr>
          <p:cNvPr id="24" name="Rettangolo 23">
            <a:extLst>
              <a:ext uri="{FF2B5EF4-FFF2-40B4-BE49-F238E27FC236}">
                <a16:creationId xmlns:a16="http://schemas.microsoft.com/office/drawing/2014/main" id="{00000003-0018-4000-8000-000000000000}"/>
              </a:ext>
            </a:extLst>
          </p:cNvPr>
          <p:cNvSpPr>
            <a:spLocks noGrp="1"/>
          </p:cNvSpPr>
          <p:nvPr/>
        </p:nvSpPr>
        <p:spPr>
          <a:xfrm>
            <a:off x="1390650" y="5057775"/>
            <a:ext cx="3952875" cy="619125"/>
          </a:xfrm>
          <a:prstGeom prst="rect">
            <a:avLst/>
          </a:prstGeom>
          <a:noFill/>
          <a:ln w="0">
            <a:noFill/>
          </a:ln>
        </p:spPr>
        <p:txBody>
          <a:bodyPr>
            <a:noAutofit/>
          </a:bodyPr>
          <a:lstStyle/>
          <a:p>
            <a:pPr>
              <a:defRPr sz="1950" b="1">
                <a:solidFill>
                  <a:srgbClr val="123F67"/>
                </a:solidFill>
                <a:latin typeface="Arial"/>
                <a:ea typeface="Arial"/>
                <a:cs typeface="Arial"/>
              </a:defRPr>
            </a:pPr>
            <a:r>
              <a:rPr sz="1950" b="1">
                <a:solidFill>
                  <a:srgbClr val="123F67"/>
                </a:solidFill>
                <a:latin typeface="Arial"/>
                <a:ea typeface="Arial"/>
                <a:cs typeface="Arial"/>
              </a:rPr>
              <a:t>Endocrino</a:t>
            </a:r>
          </a:p>
        </p:txBody>
      </p:sp>
      <p:sp>
        <p:nvSpPr>
          <p:cNvPr id="25" name="Rettangolo 24">
            <a:extLst>
              <a:ext uri="{FF2B5EF4-FFF2-40B4-BE49-F238E27FC236}">
                <a16:creationId xmlns:a16="http://schemas.microsoft.com/office/drawing/2014/main" id="{00000003-0019-4000-8000-000000000000}"/>
              </a:ext>
            </a:extLst>
          </p:cNvPr>
          <p:cNvSpPr>
            <a:spLocks noGrp="1"/>
          </p:cNvSpPr>
          <p:nvPr/>
        </p:nvSpPr>
        <p:spPr>
          <a:xfrm>
            <a:off x="5562600" y="5057775"/>
            <a:ext cx="5905500" cy="666750"/>
          </a:xfrm>
          <a:prstGeom prst="rect">
            <a:avLst/>
          </a:prstGeom>
          <a:noFill/>
          <a:ln w="0">
            <a:noFill/>
          </a:ln>
        </p:spPr>
        <p:txBody>
          <a:bodyPr>
            <a:noAutofit/>
          </a:bodyPr>
          <a:lstStyle/>
          <a:p>
            <a:pPr>
              <a:defRPr sz="1800" b="0">
                <a:solidFill>
                  <a:srgbClr val="193248"/>
                </a:solidFill>
                <a:latin typeface="Arial"/>
                <a:ea typeface="Arial"/>
                <a:cs typeface="Arial"/>
              </a:defRPr>
            </a:pPr>
            <a:r>
              <a:rPr sz="1800" b="0">
                <a:solidFill>
                  <a:srgbClr val="193248"/>
                </a:solidFill>
                <a:latin typeface="Arial"/>
                <a:ea typeface="Arial"/>
                <a:cs typeface="Arial"/>
              </a:rPr>
              <a:t>Regolazione attraverso ormoni trasportati nel sangue</a:t>
            </a:r>
          </a:p>
        </p:txBody>
      </p:sp>
      <p:sp>
        <p:nvSpPr>
          <p:cNvPr id="26" name="Rettangolo 25">
            <a:extLst>
              <a:ext uri="{FF2B5EF4-FFF2-40B4-BE49-F238E27FC236}">
                <a16:creationId xmlns:a16="http://schemas.microsoft.com/office/drawing/2014/main" id="{00000003-001A-4000-8000-000000000000}"/>
              </a:ext>
            </a:extLst>
          </p:cNvPr>
          <p:cNvSpPr>
            <a:spLocks noGrp="1"/>
          </p:cNvSpPr>
          <p:nvPr/>
        </p:nvSpPr>
        <p:spPr>
          <a:xfrm>
            <a:off x="1390650" y="5743575"/>
            <a:ext cx="10048875" cy="19050"/>
          </a:xfrm>
          <a:prstGeom prst="rect">
            <a:avLst/>
          </a:prstGeom>
          <a:solidFill>
            <a:srgbClr val="CEDDE8"/>
          </a:solidFill>
          <a:ln w="0">
            <a:noFill/>
          </a:ln>
        </p:spPr>
        <p:txBody>
          <a:bodyPr/>
          <a:lstStyle/>
          <a:p>
            <a:endParaRPr lang="it-IT"/>
          </a:p>
        </p:txBody>
      </p:sp>
    </p:spTree>
    <p:extLst>
      <p:ext uri="{BB962C8B-B14F-4D97-AF65-F5344CB8AC3E}">
        <p14:creationId xmlns:p14="http://schemas.microsoft.com/office/powerpoint/2010/main" val="3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00000004-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4-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QUADRO D’INSIEME</a:t>
            </a:r>
          </a:p>
        </p:txBody>
      </p:sp>
      <p:sp>
        <p:nvSpPr>
          <p:cNvPr id="3" name="Rettangolo 2">
            <a:extLst>
              <a:ext uri="{FF2B5EF4-FFF2-40B4-BE49-F238E27FC236}">
                <a16:creationId xmlns:a16="http://schemas.microsoft.com/office/drawing/2014/main" id="{00000004-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I sette apparati</a:t>
            </a:r>
          </a:p>
        </p:txBody>
      </p:sp>
      <p:sp>
        <p:nvSpPr>
          <p:cNvPr id="4" name="Rettangolo 3">
            <a:extLst>
              <a:ext uri="{FF2B5EF4-FFF2-40B4-BE49-F238E27FC236}">
                <a16:creationId xmlns:a16="http://schemas.microsoft.com/office/drawing/2014/main" id="{00000004-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4-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4-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11</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4-0007-4000-8000-000000000000}"/>
              </a:ext>
            </a:extLst>
          </p:cNvPr>
          <p:cNvSpPr>
            <a:spLocks noGrp="1"/>
          </p:cNvSpPr>
          <p:nvPr/>
        </p:nvSpPr>
        <p:spPr>
          <a:xfrm>
            <a:off x="1181100" y="18573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Tegumentario</a:t>
            </a:r>
          </a:p>
        </p:txBody>
      </p:sp>
      <p:sp>
        <p:nvSpPr>
          <p:cNvPr id="8" name="Rettangolo 7">
            <a:extLst>
              <a:ext uri="{FF2B5EF4-FFF2-40B4-BE49-F238E27FC236}">
                <a16:creationId xmlns:a16="http://schemas.microsoft.com/office/drawing/2014/main" id="{00000004-0008-4000-8000-000000000000}"/>
              </a:ext>
            </a:extLst>
          </p:cNvPr>
          <p:cNvSpPr>
            <a:spLocks noGrp="1"/>
          </p:cNvSpPr>
          <p:nvPr/>
        </p:nvSpPr>
        <p:spPr>
          <a:xfrm>
            <a:off x="4572000" y="1857375"/>
            <a:ext cx="7010400" cy="49530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a:solidFill>
                  <a:srgbClr val="193248"/>
                </a:solidFill>
                <a:latin typeface="Arial"/>
                <a:ea typeface="Arial"/>
                <a:cs typeface="Arial"/>
              </a:rPr>
              <a:t>Rivestimento e protezione</a:t>
            </a:r>
          </a:p>
        </p:txBody>
      </p:sp>
      <p:sp>
        <p:nvSpPr>
          <p:cNvPr id="9" name="Rettangolo 8">
            <a:extLst>
              <a:ext uri="{FF2B5EF4-FFF2-40B4-BE49-F238E27FC236}">
                <a16:creationId xmlns:a16="http://schemas.microsoft.com/office/drawing/2014/main" id="{00000004-0009-4000-8000-000000000000}"/>
              </a:ext>
            </a:extLst>
          </p:cNvPr>
          <p:cNvSpPr>
            <a:spLocks noGrp="1"/>
          </p:cNvSpPr>
          <p:nvPr/>
        </p:nvSpPr>
        <p:spPr>
          <a:xfrm>
            <a:off x="1181100" y="24669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Cardiovascolare</a:t>
            </a:r>
          </a:p>
        </p:txBody>
      </p:sp>
      <p:sp>
        <p:nvSpPr>
          <p:cNvPr id="10" name="Rettangolo 9">
            <a:extLst>
              <a:ext uri="{FF2B5EF4-FFF2-40B4-BE49-F238E27FC236}">
                <a16:creationId xmlns:a16="http://schemas.microsoft.com/office/drawing/2014/main" id="{00000004-000A-4000-8000-000000000000}"/>
              </a:ext>
            </a:extLst>
          </p:cNvPr>
          <p:cNvSpPr>
            <a:spLocks noGrp="1"/>
          </p:cNvSpPr>
          <p:nvPr/>
        </p:nvSpPr>
        <p:spPr>
          <a:xfrm>
            <a:off x="4572000" y="2466975"/>
            <a:ext cx="7010400" cy="49530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a:solidFill>
                  <a:srgbClr val="193248"/>
                </a:solidFill>
                <a:latin typeface="Arial"/>
                <a:ea typeface="Arial"/>
                <a:cs typeface="Arial"/>
              </a:rPr>
              <a:t>Trasporto del sangue</a:t>
            </a:r>
          </a:p>
        </p:txBody>
      </p:sp>
      <p:sp>
        <p:nvSpPr>
          <p:cNvPr id="11" name="Rettangolo 10">
            <a:extLst>
              <a:ext uri="{FF2B5EF4-FFF2-40B4-BE49-F238E27FC236}">
                <a16:creationId xmlns:a16="http://schemas.microsoft.com/office/drawing/2014/main" id="{00000004-000B-4000-8000-000000000000}"/>
              </a:ext>
            </a:extLst>
          </p:cNvPr>
          <p:cNvSpPr>
            <a:spLocks noGrp="1"/>
          </p:cNvSpPr>
          <p:nvPr/>
        </p:nvSpPr>
        <p:spPr>
          <a:xfrm>
            <a:off x="1181100" y="30765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Digerente</a:t>
            </a:r>
          </a:p>
        </p:txBody>
      </p:sp>
      <p:sp>
        <p:nvSpPr>
          <p:cNvPr id="12" name="Rettangolo 11">
            <a:extLst>
              <a:ext uri="{FF2B5EF4-FFF2-40B4-BE49-F238E27FC236}">
                <a16:creationId xmlns:a16="http://schemas.microsoft.com/office/drawing/2014/main" id="{00000004-000C-4000-8000-000000000000}"/>
              </a:ext>
            </a:extLst>
          </p:cNvPr>
          <p:cNvSpPr>
            <a:spLocks noGrp="1"/>
          </p:cNvSpPr>
          <p:nvPr/>
        </p:nvSpPr>
        <p:spPr>
          <a:xfrm>
            <a:off x="4572000" y="3076575"/>
            <a:ext cx="7010400" cy="49530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a:solidFill>
                  <a:srgbClr val="193248"/>
                </a:solidFill>
                <a:latin typeface="Arial"/>
                <a:ea typeface="Arial"/>
                <a:cs typeface="Arial"/>
              </a:rPr>
              <a:t>Digestione </a:t>
            </a:r>
            <a:r>
              <a:rPr lang="it-IT" sz="1875" b="0">
                <a:solidFill>
                  <a:srgbClr val="193248"/>
                </a:solidFill>
                <a:latin typeface="Arial"/>
                <a:ea typeface="Arial"/>
                <a:cs typeface="Arial"/>
              </a:rPr>
              <a:t>del cibo </a:t>
            </a:r>
            <a:r>
              <a:rPr sz="1875" b="0">
                <a:solidFill>
                  <a:srgbClr val="193248"/>
                </a:solidFill>
                <a:latin typeface="Arial"/>
                <a:ea typeface="Arial"/>
                <a:cs typeface="Arial"/>
              </a:rPr>
              <a:t>e assorbimento</a:t>
            </a:r>
            <a:r>
              <a:rPr lang="it-IT" sz="1875" b="0">
                <a:solidFill>
                  <a:srgbClr val="193248"/>
                </a:solidFill>
                <a:latin typeface="Arial"/>
                <a:ea typeface="Arial"/>
                <a:cs typeface="Arial"/>
              </a:rPr>
              <a:t> delle sostanze nutritive</a:t>
            </a:r>
            <a:endParaRPr sz="1875" b="0">
              <a:solidFill>
                <a:srgbClr val="193248"/>
              </a:solidFill>
              <a:latin typeface="Arial"/>
              <a:ea typeface="Arial"/>
              <a:cs typeface="Arial"/>
            </a:endParaRPr>
          </a:p>
        </p:txBody>
      </p:sp>
      <p:sp>
        <p:nvSpPr>
          <p:cNvPr id="13" name="Rettangolo 12">
            <a:extLst>
              <a:ext uri="{FF2B5EF4-FFF2-40B4-BE49-F238E27FC236}">
                <a16:creationId xmlns:a16="http://schemas.microsoft.com/office/drawing/2014/main" id="{00000004-000D-4000-8000-000000000000}"/>
              </a:ext>
            </a:extLst>
          </p:cNvPr>
          <p:cNvSpPr>
            <a:spLocks noGrp="1"/>
          </p:cNvSpPr>
          <p:nvPr/>
        </p:nvSpPr>
        <p:spPr>
          <a:xfrm>
            <a:off x="1181100" y="36861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Respiratorio</a:t>
            </a:r>
          </a:p>
        </p:txBody>
      </p:sp>
      <p:sp>
        <p:nvSpPr>
          <p:cNvPr id="14" name="Rettangolo 13">
            <a:extLst>
              <a:ext uri="{FF2B5EF4-FFF2-40B4-BE49-F238E27FC236}">
                <a16:creationId xmlns:a16="http://schemas.microsoft.com/office/drawing/2014/main" id="{00000004-000E-4000-8000-000000000000}"/>
              </a:ext>
            </a:extLst>
          </p:cNvPr>
          <p:cNvSpPr>
            <a:spLocks noGrp="1"/>
          </p:cNvSpPr>
          <p:nvPr/>
        </p:nvSpPr>
        <p:spPr>
          <a:xfrm>
            <a:off x="4572000" y="3686175"/>
            <a:ext cx="7010400" cy="49530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a:solidFill>
                  <a:srgbClr val="193248"/>
                </a:solidFill>
                <a:latin typeface="Arial"/>
                <a:ea typeface="Arial"/>
                <a:cs typeface="Arial"/>
              </a:rPr>
              <a:t>Scambio di ossigeno e anidride carbonica</a:t>
            </a:r>
          </a:p>
        </p:txBody>
      </p:sp>
      <p:sp>
        <p:nvSpPr>
          <p:cNvPr id="15" name="Rettangolo 14">
            <a:extLst>
              <a:ext uri="{FF2B5EF4-FFF2-40B4-BE49-F238E27FC236}">
                <a16:creationId xmlns:a16="http://schemas.microsoft.com/office/drawing/2014/main" id="{00000004-000F-4000-8000-000000000000}"/>
              </a:ext>
            </a:extLst>
          </p:cNvPr>
          <p:cNvSpPr>
            <a:spLocks noGrp="1"/>
          </p:cNvSpPr>
          <p:nvPr/>
        </p:nvSpPr>
        <p:spPr>
          <a:xfrm>
            <a:off x="1181100" y="42957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dirty="0" err="1">
                <a:solidFill>
                  <a:srgbClr val="123F67"/>
                </a:solidFill>
                <a:latin typeface="Arial"/>
                <a:ea typeface="Arial"/>
                <a:cs typeface="Arial"/>
              </a:rPr>
              <a:t>Urinario</a:t>
            </a:r>
            <a:endParaRPr sz="2025" b="1" dirty="0">
              <a:solidFill>
                <a:srgbClr val="123F67"/>
              </a:solidFill>
              <a:latin typeface="Arial"/>
              <a:ea typeface="Arial"/>
              <a:cs typeface="Arial"/>
            </a:endParaRPr>
          </a:p>
        </p:txBody>
      </p:sp>
      <p:sp>
        <p:nvSpPr>
          <p:cNvPr id="16" name="Rettangolo 15">
            <a:extLst>
              <a:ext uri="{FF2B5EF4-FFF2-40B4-BE49-F238E27FC236}">
                <a16:creationId xmlns:a16="http://schemas.microsoft.com/office/drawing/2014/main" id="{00000004-0010-4000-8000-000000000000}"/>
              </a:ext>
            </a:extLst>
          </p:cNvPr>
          <p:cNvSpPr>
            <a:spLocks noGrp="1"/>
          </p:cNvSpPr>
          <p:nvPr/>
        </p:nvSpPr>
        <p:spPr>
          <a:xfrm>
            <a:off x="4572000" y="4261104"/>
            <a:ext cx="7010400" cy="548640"/>
          </a:xfrm>
          <a:prstGeom prst="rect">
            <a:avLst/>
          </a:prstGeom>
          <a:noFill/>
          <a:ln w="0">
            <a:noFill/>
          </a:ln>
        </p:spPr>
        <p:txBody>
          <a:bodyPr wrap="square" tIns="0" bIns="0" anchor="ctr">
            <a:noAutofit/>
          </a:bodyPr>
          <a:lstStyle/>
          <a:p>
            <a:pPr>
              <a:lnSpc>
                <a:spcPts val="2000"/>
              </a:lnSpc>
              <a:defRPr sz="1875" b="0">
                <a:solidFill>
                  <a:srgbClr val="193248"/>
                </a:solidFill>
                <a:latin typeface="Arial"/>
                <a:ea typeface="Arial"/>
                <a:cs typeface="Arial"/>
              </a:defRPr>
            </a:pPr>
            <a:r>
              <a:rPr lang="it-IT" sz="1875" b="0" dirty="0">
                <a:solidFill>
                  <a:srgbClr val="193248"/>
                </a:solidFill>
                <a:latin typeface="Arial"/>
                <a:ea typeface="Arial"/>
                <a:cs typeface="Arial"/>
              </a:rPr>
              <a:t>Filtrazione del sangue (con conseguente produzione</a:t>
            </a:r>
            <a:r>
              <a:rPr sz="1875" b="0" dirty="0">
                <a:solidFill>
                  <a:srgbClr val="193248"/>
                </a:solidFill>
                <a:latin typeface="Arial"/>
                <a:ea typeface="Arial"/>
                <a:cs typeface="Arial"/>
              </a:rPr>
              <a:t> di </a:t>
            </a:r>
            <a:r>
              <a:rPr sz="1875" b="0" dirty="0" err="1">
                <a:solidFill>
                  <a:srgbClr val="193248"/>
                </a:solidFill>
                <a:latin typeface="Arial"/>
                <a:ea typeface="Arial"/>
                <a:cs typeface="Arial"/>
              </a:rPr>
              <a:t>urina</a:t>
            </a:r>
            <a:r>
              <a:rPr lang="it-IT" sz="1875" b="0" dirty="0">
                <a:solidFill>
                  <a:srgbClr val="193248"/>
                </a:solidFill>
                <a:latin typeface="Arial"/>
                <a:ea typeface="Arial"/>
                <a:cs typeface="Arial"/>
              </a:rPr>
              <a:t>)</a:t>
            </a:r>
          </a:p>
          <a:p>
            <a:pPr>
              <a:lnSpc>
                <a:spcPts val="2000"/>
              </a:lnSpc>
              <a:defRPr sz="1875" b="0">
                <a:solidFill>
                  <a:srgbClr val="193248"/>
                </a:solidFill>
                <a:latin typeface="Arial"/>
                <a:ea typeface="Arial"/>
                <a:cs typeface="Arial"/>
              </a:defRPr>
            </a:pPr>
            <a:r>
              <a:rPr sz="1875" b="0" dirty="0">
                <a:solidFill>
                  <a:srgbClr val="193248"/>
                </a:solidFill>
                <a:latin typeface="Arial"/>
                <a:ea typeface="Arial"/>
                <a:cs typeface="Arial"/>
              </a:rPr>
              <a:t>e </a:t>
            </a:r>
            <a:r>
              <a:rPr sz="1875" b="0" dirty="0" err="1">
                <a:solidFill>
                  <a:srgbClr val="193248"/>
                </a:solidFill>
                <a:latin typeface="Arial"/>
                <a:ea typeface="Arial"/>
                <a:cs typeface="Arial"/>
              </a:rPr>
              <a:t>regolazione</a:t>
            </a:r>
            <a:r>
              <a:rPr sz="1875" b="0" dirty="0">
                <a:solidFill>
                  <a:srgbClr val="193248"/>
                </a:solidFill>
                <a:latin typeface="Arial"/>
                <a:ea typeface="Arial"/>
                <a:cs typeface="Arial"/>
              </a:rPr>
              <a:t> </a:t>
            </a:r>
            <a:r>
              <a:rPr sz="1875" b="0" dirty="0" err="1">
                <a:solidFill>
                  <a:srgbClr val="193248"/>
                </a:solidFill>
                <a:latin typeface="Arial"/>
                <a:ea typeface="Arial"/>
                <a:cs typeface="Arial"/>
              </a:rPr>
              <a:t>dei</a:t>
            </a:r>
            <a:r>
              <a:rPr sz="1875" b="0" dirty="0">
                <a:solidFill>
                  <a:srgbClr val="193248"/>
                </a:solidFill>
                <a:latin typeface="Arial"/>
                <a:ea typeface="Arial"/>
                <a:cs typeface="Arial"/>
              </a:rPr>
              <a:t> </a:t>
            </a:r>
            <a:r>
              <a:rPr sz="1875" b="0" dirty="0" err="1">
                <a:solidFill>
                  <a:srgbClr val="193248"/>
                </a:solidFill>
                <a:latin typeface="Arial"/>
                <a:ea typeface="Arial"/>
                <a:cs typeface="Arial"/>
              </a:rPr>
              <a:t>liquidi</a:t>
            </a:r>
            <a:endParaRPr lang="it-IT" sz="1875" b="0" dirty="0">
              <a:solidFill>
                <a:srgbClr val="193248"/>
              </a:solidFill>
              <a:latin typeface="Arial"/>
              <a:ea typeface="Arial"/>
              <a:cs typeface="Arial"/>
            </a:endParaRPr>
          </a:p>
        </p:txBody>
      </p:sp>
      <p:sp>
        <p:nvSpPr>
          <p:cNvPr id="17" name="Rettangolo 16">
            <a:extLst>
              <a:ext uri="{FF2B5EF4-FFF2-40B4-BE49-F238E27FC236}">
                <a16:creationId xmlns:a16="http://schemas.microsoft.com/office/drawing/2014/main" id="{00000004-0011-4000-8000-000000000000}"/>
              </a:ext>
            </a:extLst>
          </p:cNvPr>
          <p:cNvSpPr>
            <a:spLocks noGrp="1"/>
          </p:cNvSpPr>
          <p:nvPr/>
        </p:nvSpPr>
        <p:spPr>
          <a:xfrm>
            <a:off x="1181100" y="49053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Riproduttore</a:t>
            </a:r>
          </a:p>
        </p:txBody>
      </p:sp>
      <p:sp>
        <p:nvSpPr>
          <p:cNvPr id="18" name="Rettangolo 17">
            <a:extLst>
              <a:ext uri="{FF2B5EF4-FFF2-40B4-BE49-F238E27FC236}">
                <a16:creationId xmlns:a16="http://schemas.microsoft.com/office/drawing/2014/main" id="{00000004-0012-4000-8000-000000000000}"/>
              </a:ext>
            </a:extLst>
          </p:cNvPr>
          <p:cNvSpPr>
            <a:spLocks noGrp="1"/>
          </p:cNvSpPr>
          <p:nvPr/>
        </p:nvSpPr>
        <p:spPr>
          <a:xfrm>
            <a:off x="4572000" y="4905375"/>
            <a:ext cx="7010400" cy="49530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a:solidFill>
                  <a:srgbClr val="193248"/>
                </a:solidFill>
                <a:latin typeface="Arial"/>
                <a:ea typeface="Arial"/>
                <a:cs typeface="Arial"/>
              </a:rPr>
              <a:t>Produzione dei gameti e riproduzione</a:t>
            </a:r>
          </a:p>
        </p:txBody>
      </p:sp>
      <p:sp>
        <p:nvSpPr>
          <p:cNvPr id="20" name="Rettangolo 19">
            <a:extLst>
              <a:ext uri="{FF2B5EF4-FFF2-40B4-BE49-F238E27FC236}">
                <a16:creationId xmlns:a16="http://schemas.microsoft.com/office/drawing/2014/main" id="{00000004-0014-4000-8000-000000000000}"/>
              </a:ext>
            </a:extLst>
          </p:cNvPr>
          <p:cNvSpPr>
            <a:spLocks noGrp="1"/>
          </p:cNvSpPr>
          <p:nvPr/>
        </p:nvSpPr>
        <p:spPr>
          <a:xfrm>
            <a:off x="1181100" y="5514975"/>
            <a:ext cx="3190875" cy="4953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Locomotore</a:t>
            </a:r>
          </a:p>
        </p:txBody>
      </p:sp>
      <p:sp>
        <p:nvSpPr>
          <p:cNvPr id="21" name="Rettangolo 20">
            <a:extLst>
              <a:ext uri="{FF2B5EF4-FFF2-40B4-BE49-F238E27FC236}">
                <a16:creationId xmlns:a16="http://schemas.microsoft.com/office/drawing/2014/main" id="{00000004-0015-4000-8000-000000000000}"/>
              </a:ext>
            </a:extLst>
          </p:cNvPr>
          <p:cNvSpPr>
            <a:spLocks noGrp="1"/>
          </p:cNvSpPr>
          <p:nvPr/>
        </p:nvSpPr>
        <p:spPr>
          <a:xfrm>
            <a:off x="4572000" y="5514975"/>
            <a:ext cx="7010400" cy="49530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a:solidFill>
                  <a:srgbClr val="193248"/>
                </a:solidFill>
                <a:latin typeface="Arial"/>
                <a:ea typeface="Arial"/>
                <a:cs typeface="Arial"/>
              </a:rPr>
              <a:t>Ossa, articolazioni e muscoli per postura e movimento</a:t>
            </a:r>
          </a:p>
        </p:txBody>
      </p:sp>
      <p:sp>
        <p:nvSpPr>
          <p:cNvPr id="23" name="TextBox 22"/>
          <p:cNvSpPr txBox="1"/>
          <p:nvPr/>
        </p:nvSpPr>
        <p:spPr>
          <a:xfrm>
            <a:off x="609600" y="1857375"/>
            <a:ext cx="428625" cy="428625"/>
          </a:xfrm>
          <a:prstGeom prst="rect">
            <a:avLst/>
          </a:prstGeom>
          <a:noFill/>
        </p:spPr>
        <p:txBody>
          <a:bodyPr wrap="square" lIns="0" rIns="0">
            <a:spAutoFit/>
          </a:bodyPr>
          <a:lstStyle/>
          <a:p>
            <a:pPr>
              <a:defRPr sz="2100" b="1">
                <a:solidFill>
                  <a:srgbClr val="087E8B"/>
                </a:solidFill>
                <a:latin typeface="Arial"/>
              </a:defRPr>
            </a:pPr>
            <a:r>
              <a:t>1</a:t>
            </a:r>
          </a:p>
        </p:txBody>
      </p:sp>
      <p:cxnSp>
        <p:nvCxnSpPr>
          <p:cNvPr id="24" name="Connector 23"/>
          <p:cNvCxnSpPr/>
          <p:nvPr/>
        </p:nvCxnSpPr>
        <p:spPr>
          <a:xfrm>
            <a:off x="609600" y="2400300"/>
            <a:ext cx="10972800" cy="0"/>
          </a:xfrm>
          <a:prstGeom prst="line">
            <a:avLst/>
          </a:prstGeom>
          <a:ln w="9525">
            <a:solidFill>
              <a:srgbClr val="CEDD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2466975"/>
            <a:ext cx="428625" cy="428625"/>
          </a:xfrm>
          <a:prstGeom prst="rect">
            <a:avLst/>
          </a:prstGeom>
          <a:noFill/>
        </p:spPr>
        <p:txBody>
          <a:bodyPr wrap="square" lIns="0" rIns="0">
            <a:spAutoFit/>
          </a:bodyPr>
          <a:lstStyle/>
          <a:p>
            <a:pPr>
              <a:defRPr sz="2100" b="1">
                <a:solidFill>
                  <a:srgbClr val="087E8B"/>
                </a:solidFill>
                <a:latin typeface="Arial"/>
              </a:defRPr>
            </a:pPr>
            <a:r>
              <a:t>2</a:t>
            </a:r>
          </a:p>
        </p:txBody>
      </p:sp>
      <p:cxnSp>
        <p:nvCxnSpPr>
          <p:cNvPr id="26" name="Connector 25"/>
          <p:cNvCxnSpPr/>
          <p:nvPr/>
        </p:nvCxnSpPr>
        <p:spPr>
          <a:xfrm>
            <a:off x="609600" y="3009900"/>
            <a:ext cx="10972800" cy="0"/>
          </a:xfrm>
          <a:prstGeom prst="line">
            <a:avLst/>
          </a:prstGeom>
          <a:ln w="9525">
            <a:solidFill>
              <a:srgbClr val="CEDDE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9600" y="3076575"/>
            <a:ext cx="428625" cy="428625"/>
          </a:xfrm>
          <a:prstGeom prst="rect">
            <a:avLst/>
          </a:prstGeom>
          <a:noFill/>
        </p:spPr>
        <p:txBody>
          <a:bodyPr wrap="square" lIns="0" rIns="0">
            <a:spAutoFit/>
          </a:bodyPr>
          <a:lstStyle/>
          <a:p>
            <a:pPr>
              <a:defRPr sz="2100" b="1">
                <a:solidFill>
                  <a:srgbClr val="087E8B"/>
                </a:solidFill>
                <a:latin typeface="Arial"/>
              </a:defRPr>
            </a:pPr>
            <a:r>
              <a:t>3</a:t>
            </a:r>
          </a:p>
        </p:txBody>
      </p:sp>
      <p:cxnSp>
        <p:nvCxnSpPr>
          <p:cNvPr id="28" name="Connector 27"/>
          <p:cNvCxnSpPr/>
          <p:nvPr/>
        </p:nvCxnSpPr>
        <p:spPr>
          <a:xfrm>
            <a:off x="609600" y="3619500"/>
            <a:ext cx="10972800" cy="0"/>
          </a:xfrm>
          <a:prstGeom prst="line">
            <a:avLst/>
          </a:prstGeom>
          <a:ln w="9525">
            <a:solidFill>
              <a:srgbClr val="CEDDE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3686175"/>
            <a:ext cx="428625" cy="428625"/>
          </a:xfrm>
          <a:prstGeom prst="rect">
            <a:avLst/>
          </a:prstGeom>
          <a:noFill/>
        </p:spPr>
        <p:txBody>
          <a:bodyPr wrap="square" lIns="0" rIns="0">
            <a:spAutoFit/>
          </a:bodyPr>
          <a:lstStyle/>
          <a:p>
            <a:pPr>
              <a:defRPr sz="2100" b="1">
                <a:solidFill>
                  <a:srgbClr val="087E8B"/>
                </a:solidFill>
                <a:latin typeface="Arial"/>
              </a:defRPr>
            </a:pPr>
            <a:r>
              <a:t>4</a:t>
            </a:r>
          </a:p>
        </p:txBody>
      </p:sp>
      <p:cxnSp>
        <p:nvCxnSpPr>
          <p:cNvPr id="30" name="Connector 29"/>
          <p:cNvCxnSpPr/>
          <p:nvPr/>
        </p:nvCxnSpPr>
        <p:spPr>
          <a:xfrm>
            <a:off x="609600" y="4229100"/>
            <a:ext cx="10972800" cy="0"/>
          </a:xfrm>
          <a:prstGeom prst="line">
            <a:avLst/>
          </a:prstGeom>
          <a:ln w="9525">
            <a:solidFill>
              <a:srgbClr val="CEDD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9600" y="4295775"/>
            <a:ext cx="428625" cy="428625"/>
          </a:xfrm>
          <a:prstGeom prst="rect">
            <a:avLst/>
          </a:prstGeom>
          <a:noFill/>
        </p:spPr>
        <p:txBody>
          <a:bodyPr wrap="square" lIns="0" rIns="0">
            <a:spAutoFit/>
          </a:bodyPr>
          <a:lstStyle/>
          <a:p>
            <a:pPr>
              <a:defRPr sz="2100" b="1">
                <a:solidFill>
                  <a:srgbClr val="087E8B"/>
                </a:solidFill>
                <a:latin typeface="Arial"/>
              </a:defRPr>
            </a:pPr>
            <a:r>
              <a:t>5</a:t>
            </a:r>
          </a:p>
        </p:txBody>
      </p:sp>
      <p:cxnSp>
        <p:nvCxnSpPr>
          <p:cNvPr id="32" name="Connector 31"/>
          <p:cNvCxnSpPr/>
          <p:nvPr/>
        </p:nvCxnSpPr>
        <p:spPr>
          <a:xfrm>
            <a:off x="609600" y="4838700"/>
            <a:ext cx="10972800" cy="0"/>
          </a:xfrm>
          <a:prstGeom prst="line">
            <a:avLst/>
          </a:prstGeom>
          <a:ln w="9525">
            <a:solidFill>
              <a:srgbClr val="CEDD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600" y="4905375"/>
            <a:ext cx="428625" cy="428625"/>
          </a:xfrm>
          <a:prstGeom prst="rect">
            <a:avLst/>
          </a:prstGeom>
          <a:noFill/>
        </p:spPr>
        <p:txBody>
          <a:bodyPr wrap="square" lIns="0" rIns="0">
            <a:spAutoFit/>
          </a:bodyPr>
          <a:lstStyle/>
          <a:p>
            <a:pPr>
              <a:defRPr sz="2100" b="1">
                <a:solidFill>
                  <a:srgbClr val="087E8B"/>
                </a:solidFill>
                <a:latin typeface="Arial"/>
              </a:defRPr>
            </a:pPr>
            <a:r>
              <a:t>6</a:t>
            </a:r>
          </a:p>
        </p:txBody>
      </p:sp>
      <p:cxnSp>
        <p:nvCxnSpPr>
          <p:cNvPr id="34" name="Connector 33"/>
          <p:cNvCxnSpPr/>
          <p:nvPr/>
        </p:nvCxnSpPr>
        <p:spPr>
          <a:xfrm>
            <a:off x="609600" y="5448300"/>
            <a:ext cx="10972800" cy="0"/>
          </a:xfrm>
          <a:prstGeom prst="line">
            <a:avLst/>
          </a:prstGeom>
          <a:ln w="9525">
            <a:solidFill>
              <a:srgbClr val="CEDD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09600" y="5514975"/>
            <a:ext cx="428625" cy="428625"/>
          </a:xfrm>
          <a:prstGeom prst="rect">
            <a:avLst/>
          </a:prstGeom>
          <a:noFill/>
        </p:spPr>
        <p:txBody>
          <a:bodyPr wrap="square" lIns="0" rIns="0">
            <a:spAutoFit/>
          </a:bodyPr>
          <a:lstStyle/>
          <a:p>
            <a:pPr>
              <a:defRPr sz="2100" b="1">
                <a:solidFill>
                  <a:srgbClr val="087E8B"/>
                </a:solidFill>
                <a:latin typeface="Arial"/>
              </a:defRPr>
            </a:pPr>
            <a:r>
              <a:t>7</a:t>
            </a:r>
          </a:p>
        </p:txBody>
      </p:sp>
    </p:spTree>
    <p:extLst>
      <p:ext uri="{BB962C8B-B14F-4D97-AF65-F5344CB8AC3E}">
        <p14:creationId xmlns:p14="http://schemas.microsoft.com/office/powerpoint/2010/main" val="40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609600" y="5532120"/>
            <a:ext cx="10972800" cy="612648"/>
          </a:xfrm>
          <a:prstGeom prst="rect">
            <a:avLst/>
          </a:prstGeom>
          <a:solidFill>
            <a:srgbClr val="ED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609600" y="4306824"/>
            <a:ext cx="10972800" cy="612648"/>
          </a:xfrm>
          <a:prstGeom prst="rect">
            <a:avLst/>
          </a:prstGeom>
          <a:solidFill>
            <a:srgbClr val="ED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09600" y="3081528"/>
            <a:ext cx="10972800" cy="612648"/>
          </a:xfrm>
          <a:prstGeom prst="rect">
            <a:avLst/>
          </a:prstGeom>
          <a:solidFill>
            <a:srgbClr val="ED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09600" y="1856232"/>
            <a:ext cx="10972800" cy="612648"/>
          </a:xfrm>
          <a:prstGeom prst="rect">
            <a:avLst/>
          </a:prstGeom>
          <a:solidFill>
            <a:srgbClr val="ED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09600" y="1508760"/>
            <a:ext cx="10972800" cy="318897"/>
          </a:xfrm>
          <a:prstGeom prst="rect">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ttangolo 27">
            <a:extLst>
              <a:ext uri="{FF2B5EF4-FFF2-40B4-BE49-F238E27FC236}">
                <a16:creationId xmlns:a16="http://schemas.microsoft.com/office/drawing/2014/main" id="{00000002-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2-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5 SISTEMI E 7 APPARATI</a:t>
            </a:r>
          </a:p>
        </p:txBody>
      </p:sp>
      <p:sp>
        <p:nvSpPr>
          <p:cNvPr id="3" name="Rettangolo 2">
            <a:extLst>
              <a:ext uri="{FF2B5EF4-FFF2-40B4-BE49-F238E27FC236}">
                <a16:creationId xmlns:a16="http://schemas.microsoft.com/office/drawing/2014/main" id="{00000002-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La mappa dei collegamenti</a:t>
            </a:r>
          </a:p>
        </p:txBody>
      </p:sp>
      <p:sp>
        <p:nvSpPr>
          <p:cNvPr id="4" name="Rettangolo 3">
            <a:extLst>
              <a:ext uri="{FF2B5EF4-FFF2-40B4-BE49-F238E27FC236}">
                <a16:creationId xmlns:a16="http://schemas.microsoft.com/office/drawing/2014/main" id="{00000002-0004-4000-8000-000000000000}"/>
              </a:ext>
            </a:extLst>
          </p:cNvPr>
          <p:cNvSpPr>
            <a:spLocks noGrp="1"/>
          </p:cNvSpPr>
          <p:nvPr/>
        </p:nvSpPr>
        <p:spPr>
          <a:xfrm>
            <a:off x="609600" y="1353312"/>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2-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2-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12</a:t>
            </a:r>
            <a:endParaRPr sz="1350" b="1">
              <a:solidFill>
                <a:srgbClr val="123F67"/>
              </a:solidFill>
              <a:latin typeface="Arial"/>
              <a:ea typeface="Arial"/>
              <a:cs typeface="Arial"/>
            </a:endParaRPr>
          </a:p>
        </p:txBody>
      </p:sp>
      <p:sp>
        <p:nvSpPr>
          <p:cNvPr id="30" name="TextBox 29"/>
          <p:cNvSpPr txBox="1"/>
          <p:nvPr/>
        </p:nvSpPr>
        <p:spPr>
          <a:xfrm>
            <a:off x="762000" y="1508760"/>
            <a:ext cx="1819656" cy="318897"/>
          </a:xfrm>
          <a:prstGeom prst="rect">
            <a:avLst/>
          </a:prstGeom>
          <a:noFill/>
        </p:spPr>
        <p:txBody>
          <a:bodyPr wrap="square" lIns="0" tIns="0" rIns="0" bIns="0" anchor="ctr">
            <a:noAutofit/>
          </a:bodyPr>
          <a:lstStyle/>
          <a:p>
            <a:pPr algn="ctr">
              <a:lnSpc>
                <a:spcPct val="103000"/>
              </a:lnSpc>
              <a:spcBef>
                <a:spcPts val="0"/>
              </a:spcBef>
              <a:spcAft>
                <a:spcPts val="0"/>
              </a:spcAft>
              <a:defRPr sz="1500" b="1">
                <a:solidFill>
                  <a:srgbClr val="FFFFFF"/>
                </a:solidFill>
                <a:latin typeface="Arial"/>
              </a:defRPr>
            </a:pPr>
            <a:r>
              <a:rPr lang="it-IT" sz="1500" b="1" dirty="0">
                <a:solidFill>
                  <a:srgbClr val="FFFFFF"/>
                </a:solidFill>
              </a:rPr>
              <a:t>FUNZIONE</a:t>
            </a:r>
          </a:p>
        </p:txBody>
      </p:sp>
      <p:sp>
        <p:nvSpPr>
          <p:cNvPr id="31" name="TextBox 30"/>
          <p:cNvSpPr txBox="1"/>
          <p:nvPr/>
        </p:nvSpPr>
        <p:spPr>
          <a:xfrm>
            <a:off x="2706624" y="1508760"/>
            <a:ext cx="1527048" cy="318897"/>
          </a:xfrm>
          <a:prstGeom prst="rect">
            <a:avLst/>
          </a:prstGeom>
          <a:noFill/>
        </p:spPr>
        <p:txBody>
          <a:bodyPr wrap="square" lIns="0" tIns="0" rIns="0" bIns="0" anchor="ctr">
            <a:noAutofit/>
          </a:bodyPr>
          <a:lstStyle/>
          <a:p>
            <a:pPr algn="ctr">
              <a:lnSpc>
                <a:spcPct val="103000"/>
              </a:lnSpc>
              <a:spcBef>
                <a:spcPts val="0"/>
              </a:spcBef>
              <a:spcAft>
                <a:spcPts val="0"/>
              </a:spcAft>
              <a:defRPr sz="1500" b="1">
                <a:solidFill>
                  <a:srgbClr val="FFFFFF"/>
                </a:solidFill>
                <a:latin typeface="Arial"/>
              </a:defRPr>
            </a:pPr>
            <a:r>
              <a:rPr lang="it-IT" sz="1500" b="1" dirty="0">
                <a:solidFill>
                  <a:srgbClr val="FFFFFF"/>
                </a:solidFill>
              </a:rPr>
              <a:t>SISTEMI</a:t>
            </a:r>
          </a:p>
        </p:txBody>
      </p:sp>
      <p:sp>
        <p:nvSpPr>
          <p:cNvPr id="32" name="TextBox 31"/>
          <p:cNvSpPr txBox="1"/>
          <p:nvPr/>
        </p:nvSpPr>
        <p:spPr>
          <a:xfrm>
            <a:off x="6248400" y="1508760"/>
            <a:ext cx="5162550" cy="318897"/>
          </a:xfrm>
          <a:prstGeom prst="rect">
            <a:avLst/>
          </a:prstGeom>
          <a:noFill/>
        </p:spPr>
        <p:txBody>
          <a:bodyPr wrap="square" lIns="0" tIns="0" rIns="0" bIns="0" anchor="ctr">
            <a:noAutofit/>
          </a:bodyPr>
          <a:lstStyle/>
          <a:p>
            <a:pPr algn="ctr">
              <a:lnSpc>
                <a:spcPct val="103000"/>
              </a:lnSpc>
              <a:spcBef>
                <a:spcPts val="0"/>
              </a:spcBef>
              <a:spcAft>
                <a:spcPts val="0"/>
              </a:spcAft>
              <a:defRPr sz="1500" b="1">
                <a:solidFill>
                  <a:srgbClr val="FFFFFF"/>
                </a:solidFill>
                <a:latin typeface="Arial"/>
              </a:defRPr>
            </a:pPr>
            <a:r>
              <a:rPr lang="it-IT" sz="1500" b="1" dirty="0">
                <a:solidFill>
                  <a:srgbClr val="FFFFFF"/>
                </a:solidFill>
              </a:rPr>
              <a:t>COME COLLABORANO</a:t>
            </a:r>
          </a:p>
        </p:txBody>
      </p:sp>
      <p:sp>
        <p:nvSpPr>
          <p:cNvPr id="34" name="TextBox 33"/>
          <p:cNvSpPr txBox="1"/>
          <p:nvPr/>
        </p:nvSpPr>
        <p:spPr>
          <a:xfrm>
            <a:off x="762000" y="1856232"/>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Coordinamento</a:t>
            </a:r>
          </a:p>
        </p:txBody>
      </p:sp>
      <p:sp>
        <p:nvSpPr>
          <p:cNvPr id="35" name="TextBox 34"/>
          <p:cNvSpPr txBox="1"/>
          <p:nvPr/>
        </p:nvSpPr>
        <p:spPr>
          <a:xfrm>
            <a:off x="2706624" y="1856232"/>
            <a:ext cx="1527048"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Nervoso ed
endocrino</a:t>
            </a:r>
          </a:p>
        </p:txBody>
      </p:sp>
      <p:sp>
        <p:nvSpPr>
          <p:cNvPr id="36" name="TextBox 35"/>
          <p:cNvSpPr txBox="1"/>
          <p:nvPr/>
        </p:nvSpPr>
        <p:spPr>
          <a:xfrm>
            <a:off x="6248400" y="1856232"/>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a:solidFill>
                  <a:srgbClr val="193248"/>
                </a:solidFill>
              </a:rPr>
              <a:t>Regolano gli organi e mantengono l’equilibrio interno.</a:t>
            </a:r>
          </a:p>
        </p:txBody>
      </p:sp>
      <p:sp>
        <p:nvSpPr>
          <p:cNvPr id="38" name="TextBox 37"/>
          <p:cNvSpPr txBox="1"/>
          <p:nvPr/>
        </p:nvSpPr>
        <p:spPr>
          <a:xfrm>
            <a:off x="762000" y="2468880"/>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Protezione e Difesa</a:t>
            </a:r>
          </a:p>
        </p:txBody>
      </p:sp>
      <p:sp>
        <p:nvSpPr>
          <p:cNvPr id="39" name="TextBox 38"/>
          <p:cNvSpPr txBox="1"/>
          <p:nvPr/>
        </p:nvSpPr>
        <p:spPr>
          <a:xfrm>
            <a:off x="2706624" y="2468880"/>
            <a:ext cx="1527048"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Linfatico e
immunitario</a:t>
            </a:r>
          </a:p>
        </p:txBody>
      </p:sp>
      <p:sp>
        <p:nvSpPr>
          <p:cNvPr id="40" name="TextBox 39"/>
          <p:cNvSpPr txBox="1"/>
          <p:nvPr/>
        </p:nvSpPr>
        <p:spPr>
          <a:xfrm>
            <a:off x="6248400" y="2468880"/>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a:solidFill>
                  <a:srgbClr val="193248"/>
                </a:solidFill>
              </a:rPr>
              <a:t>La cute fa da barriera. Linfa e cellule immunitarie sostengono la difesa.</a:t>
            </a:r>
          </a:p>
        </p:txBody>
      </p:sp>
      <p:sp>
        <p:nvSpPr>
          <p:cNvPr id="42" name="TextBox 41"/>
          <p:cNvSpPr txBox="1"/>
          <p:nvPr/>
        </p:nvSpPr>
        <p:spPr>
          <a:xfrm>
            <a:off x="762000" y="3081528"/>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Sostegno e Movimento</a:t>
            </a:r>
          </a:p>
        </p:txBody>
      </p:sp>
      <p:sp>
        <p:nvSpPr>
          <p:cNvPr id="43" name="TextBox 42"/>
          <p:cNvSpPr txBox="1"/>
          <p:nvPr/>
        </p:nvSpPr>
        <p:spPr>
          <a:xfrm>
            <a:off x="2706624" y="3081528"/>
            <a:ext cx="1527048"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Scheletrico e
muscolare</a:t>
            </a:r>
          </a:p>
        </p:txBody>
      </p:sp>
      <p:sp>
        <p:nvSpPr>
          <p:cNvPr id="44" name="TextBox 43"/>
          <p:cNvSpPr txBox="1"/>
          <p:nvPr/>
        </p:nvSpPr>
        <p:spPr>
          <a:xfrm>
            <a:off x="6248400" y="3081528"/>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a:solidFill>
                  <a:srgbClr val="193248"/>
                </a:solidFill>
              </a:rPr>
              <a:t>I muscoli, attivati da impulsi nervosi, muovono le ossa con movimenti volontari o involontari.</a:t>
            </a:r>
          </a:p>
        </p:txBody>
      </p:sp>
      <p:sp>
        <p:nvSpPr>
          <p:cNvPr id="46" name="TextBox 45"/>
          <p:cNvSpPr txBox="1"/>
          <p:nvPr/>
        </p:nvSpPr>
        <p:spPr>
          <a:xfrm>
            <a:off x="762000" y="3694176"/>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Nutrizione e Scambi</a:t>
            </a:r>
          </a:p>
        </p:txBody>
      </p:sp>
      <p:sp>
        <p:nvSpPr>
          <p:cNvPr id="47" name="TextBox 46"/>
          <p:cNvSpPr txBox="1"/>
          <p:nvPr/>
        </p:nvSpPr>
        <p:spPr>
          <a:xfrm>
            <a:off x="4352544" y="3694176"/>
            <a:ext cx="177393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Digerente e
Respiratorio</a:t>
            </a:r>
          </a:p>
        </p:txBody>
      </p:sp>
      <p:sp>
        <p:nvSpPr>
          <p:cNvPr id="48" name="TextBox 47"/>
          <p:cNvSpPr txBox="1"/>
          <p:nvPr/>
        </p:nvSpPr>
        <p:spPr>
          <a:xfrm>
            <a:off x="6248400" y="3694176"/>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dirty="0">
                <a:solidFill>
                  <a:srgbClr val="193248"/>
                </a:solidFill>
              </a:rPr>
              <a:t>Assorbono nutrienti e scambiano gas.</a:t>
            </a:r>
          </a:p>
          <a:p>
            <a:pPr>
              <a:lnSpc>
                <a:spcPts val="1900"/>
              </a:lnSpc>
              <a:spcBef>
                <a:spcPts val="0"/>
              </a:spcBef>
              <a:spcAft>
                <a:spcPts val="0"/>
              </a:spcAft>
              <a:defRPr sz="1750" b="0">
                <a:solidFill>
                  <a:srgbClr val="193248"/>
                </a:solidFill>
                <a:latin typeface="Arial"/>
              </a:defRPr>
            </a:pPr>
            <a:r>
              <a:rPr lang="it-IT" sz="1700" b="0" dirty="0">
                <a:solidFill>
                  <a:srgbClr val="193248"/>
                </a:solidFill>
              </a:rPr>
              <a:t>Il sangue li collega ai tessuti.</a:t>
            </a:r>
          </a:p>
        </p:txBody>
      </p:sp>
      <p:sp>
        <p:nvSpPr>
          <p:cNvPr id="50" name="TextBox 49"/>
          <p:cNvSpPr txBox="1"/>
          <p:nvPr/>
        </p:nvSpPr>
        <p:spPr>
          <a:xfrm>
            <a:off x="762000" y="4306824"/>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Trasporto e Drenaggio</a:t>
            </a:r>
          </a:p>
        </p:txBody>
      </p:sp>
      <p:sp>
        <p:nvSpPr>
          <p:cNvPr id="51" name="TextBox 50"/>
          <p:cNvSpPr txBox="1"/>
          <p:nvPr/>
        </p:nvSpPr>
        <p:spPr>
          <a:xfrm>
            <a:off x="2706624" y="4306824"/>
            <a:ext cx="1527048"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Linfatico</a:t>
            </a:r>
          </a:p>
        </p:txBody>
      </p:sp>
      <p:sp>
        <p:nvSpPr>
          <p:cNvPr id="52" name="TextBox 51"/>
          <p:cNvSpPr txBox="1"/>
          <p:nvPr/>
        </p:nvSpPr>
        <p:spPr>
          <a:xfrm>
            <a:off x="6248400" y="4306824"/>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a:solidFill>
                  <a:srgbClr val="193248"/>
                </a:solidFill>
              </a:rPr>
              <a:t>Il sangue trasporta sostanze. La linfa riporta liquidi al sangue.</a:t>
            </a:r>
          </a:p>
        </p:txBody>
      </p:sp>
      <p:sp>
        <p:nvSpPr>
          <p:cNvPr id="54" name="TextBox 53"/>
          <p:cNvSpPr txBox="1"/>
          <p:nvPr/>
        </p:nvSpPr>
        <p:spPr>
          <a:xfrm>
            <a:off x="762000" y="4919472"/>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Scorie, acqua e sali</a:t>
            </a:r>
          </a:p>
        </p:txBody>
      </p:sp>
      <p:sp>
        <p:nvSpPr>
          <p:cNvPr id="55" name="TextBox 54"/>
          <p:cNvSpPr txBox="1"/>
          <p:nvPr/>
        </p:nvSpPr>
        <p:spPr>
          <a:xfrm>
            <a:off x="2706624" y="4919472"/>
            <a:ext cx="1527048"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Endocrino
(controllo)</a:t>
            </a:r>
          </a:p>
        </p:txBody>
      </p:sp>
      <p:sp>
        <p:nvSpPr>
          <p:cNvPr id="56" name="TextBox 55"/>
          <p:cNvSpPr txBox="1"/>
          <p:nvPr/>
        </p:nvSpPr>
        <p:spPr>
          <a:xfrm>
            <a:off x="6248400" y="4919472"/>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dirty="0">
                <a:solidFill>
                  <a:srgbClr val="193248"/>
                </a:solidFill>
              </a:rPr>
              <a:t>I reni eliminano scorie e regolano liquidi e sali.</a:t>
            </a:r>
          </a:p>
          <a:p>
            <a:pPr>
              <a:lnSpc>
                <a:spcPts val="1900"/>
              </a:lnSpc>
              <a:spcBef>
                <a:spcPts val="0"/>
              </a:spcBef>
              <a:spcAft>
                <a:spcPts val="0"/>
              </a:spcAft>
              <a:defRPr sz="1750" b="0">
                <a:solidFill>
                  <a:srgbClr val="193248"/>
                </a:solidFill>
                <a:latin typeface="Arial"/>
              </a:defRPr>
            </a:pPr>
            <a:r>
              <a:rPr lang="it-IT" sz="1700" b="0" dirty="0">
                <a:solidFill>
                  <a:srgbClr val="193248"/>
                </a:solidFill>
              </a:rPr>
              <a:t>Gli ormoni modulano il riassorbimento.</a:t>
            </a:r>
          </a:p>
        </p:txBody>
      </p:sp>
      <p:sp>
        <p:nvSpPr>
          <p:cNvPr id="58" name="TextBox 57"/>
          <p:cNvSpPr txBox="1"/>
          <p:nvPr/>
        </p:nvSpPr>
        <p:spPr>
          <a:xfrm>
            <a:off x="762000" y="5532120"/>
            <a:ext cx="181965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1">
                <a:solidFill>
                  <a:srgbClr val="123F67"/>
                </a:solidFill>
                <a:latin typeface="Arial"/>
              </a:defRPr>
            </a:pPr>
            <a:r>
              <a:rPr lang="it-IT" sz="1700" b="1">
                <a:solidFill>
                  <a:srgbClr val="123F67"/>
                </a:solidFill>
              </a:rPr>
              <a:t>Riproduzione</a:t>
            </a:r>
          </a:p>
        </p:txBody>
      </p:sp>
      <p:sp>
        <p:nvSpPr>
          <p:cNvPr id="59" name="TextBox 58"/>
          <p:cNvSpPr txBox="1"/>
          <p:nvPr/>
        </p:nvSpPr>
        <p:spPr>
          <a:xfrm>
            <a:off x="2706624" y="5532120"/>
            <a:ext cx="1527048"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Endocrino
(controllo)</a:t>
            </a:r>
          </a:p>
        </p:txBody>
      </p:sp>
      <p:sp>
        <p:nvSpPr>
          <p:cNvPr id="60" name="TextBox 59"/>
          <p:cNvSpPr txBox="1"/>
          <p:nvPr/>
        </p:nvSpPr>
        <p:spPr>
          <a:xfrm>
            <a:off x="6248400" y="5532120"/>
            <a:ext cx="5162550"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750" b="0">
                <a:solidFill>
                  <a:srgbClr val="193248"/>
                </a:solidFill>
                <a:latin typeface="Arial"/>
              </a:defRPr>
            </a:pPr>
            <a:r>
              <a:rPr lang="it-IT" sz="1700" b="0">
                <a:solidFill>
                  <a:srgbClr val="193248"/>
                </a:solidFill>
              </a:rPr>
              <a:t>Gonadi e vie genitali permettono la riproduzione, regolata dagli ormoni.</a:t>
            </a:r>
          </a:p>
        </p:txBody>
      </p:sp>
      <p:sp>
        <p:nvSpPr>
          <p:cNvPr id="66" name="Apparati 66"/>
          <p:cNvSpPr txBox="1"/>
          <p:nvPr/>
        </p:nvSpPr>
        <p:spPr>
          <a:xfrm>
            <a:off x="4352544" y="1508760"/>
            <a:ext cx="1773936" cy="318897"/>
          </a:xfrm>
          <a:prstGeom prst="rect">
            <a:avLst/>
          </a:prstGeom>
          <a:noFill/>
        </p:spPr>
        <p:txBody>
          <a:bodyPr wrap="square" lIns="0" tIns="0" rIns="0" bIns="0" anchor="ctr">
            <a:noAutofit/>
          </a:bodyPr>
          <a:lstStyle/>
          <a:p>
            <a:pPr algn="ctr">
              <a:lnSpc>
                <a:spcPct val="103000"/>
              </a:lnSpc>
              <a:spcBef>
                <a:spcPts val="0"/>
              </a:spcBef>
              <a:spcAft>
                <a:spcPts val="0"/>
              </a:spcAft>
              <a:defRPr sz="1500" b="1">
                <a:solidFill>
                  <a:srgbClr val="FFFFFF"/>
                </a:solidFill>
                <a:latin typeface="Arial"/>
              </a:defRPr>
            </a:pPr>
            <a:r>
              <a:rPr lang="it-IT" sz="1500" b="1" dirty="0">
                <a:solidFill>
                  <a:srgbClr val="FFFFFF"/>
                </a:solidFill>
              </a:rPr>
              <a:t>APPARATI</a:t>
            </a:r>
          </a:p>
        </p:txBody>
      </p:sp>
      <p:sp>
        <p:nvSpPr>
          <p:cNvPr id="67" name="Apparati 67"/>
          <p:cNvSpPr txBox="1"/>
          <p:nvPr/>
        </p:nvSpPr>
        <p:spPr>
          <a:xfrm>
            <a:off x="4352544" y="2468880"/>
            <a:ext cx="177393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Tegumentario</a:t>
            </a:r>
          </a:p>
        </p:txBody>
      </p:sp>
      <p:sp>
        <p:nvSpPr>
          <p:cNvPr id="68" name="Apparati 68"/>
          <p:cNvSpPr txBox="1"/>
          <p:nvPr/>
        </p:nvSpPr>
        <p:spPr>
          <a:xfrm>
            <a:off x="4352544" y="3081528"/>
            <a:ext cx="177393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Locomotore</a:t>
            </a:r>
          </a:p>
        </p:txBody>
      </p:sp>
      <p:sp>
        <p:nvSpPr>
          <p:cNvPr id="69" name="Apparati 69"/>
          <p:cNvSpPr txBox="1"/>
          <p:nvPr/>
        </p:nvSpPr>
        <p:spPr>
          <a:xfrm>
            <a:off x="4352544" y="4306824"/>
            <a:ext cx="177393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Cardiovascolare</a:t>
            </a:r>
          </a:p>
        </p:txBody>
      </p:sp>
      <p:sp>
        <p:nvSpPr>
          <p:cNvPr id="70" name="Apparati 70"/>
          <p:cNvSpPr txBox="1"/>
          <p:nvPr/>
        </p:nvSpPr>
        <p:spPr>
          <a:xfrm>
            <a:off x="4352544" y="4919472"/>
            <a:ext cx="177393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Urinario</a:t>
            </a:r>
          </a:p>
        </p:txBody>
      </p:sp>
      <p:sp>
        <p:nvSpPr>
          <p:cNvPr id="71" name="Apparati 71"/>
          <p:cNvSpPr txBox="1"/>
          <p:nvPr/>
        </p:nvSpPr>
        <p:spPr>
          <a:xfrm>
            <a:off x="4352544" y="5532120"/>
            <a:ext cx="1773936" cy="612648"/>
          </a:xfrm>
          <a:prstGeom prst="rect">
            <a:avLst/>
          </a:prstGeom>
          <a:noFill/>
          <a:ln>
            <a:noFill/>
          </a:ln>
        </p:spPr>
        <p:txBody>
          <a:bodyPr wrap="square" lIns="0" tIns="54864" rIns="0" bIns="54864" anchor="ctr">
            <a:noAutofit/>
          </a:bodyPr>
          <a:lstStyle/>
          <a:p>
            <a:pPr>
              <a:lnSpc>
                <a:spcPts val="1900"/>
              </a:lnSpc>
              <a:spcBef>
                <a:spcPts val="0"/>
              </a:spcBef>
              <a:spcAft>
                <a:spcPts val="0"/>
              </a:spcAft>
              <a:defRPr sz="1800" b="0">
                <a:solidFill>
                  <a:srgbClr val="087E8B"/>
                </a:solidFill>
                <a:latin typeface="Arial"/>
              </a:defRPr>
            </a:pPr>
            <a:r>
              <a:rPr lang="it-IT" sz="1700" b="0">
                <a:solidFill>
                  <a:srgbClr val="087E8B"/>
                </a:solidFill>
              </a:rPr>
              <a:t>Riproduttore</a:t>
            </a:r>
          </a:p>
        </p:txBody>
      </p:sp>
      <p:sp>
        <p:nvSpPr>
          <p:cNvPr id="72" name="Nota sul sistema nervoso"/>
          <p:cNvSpPr txBox="1"/>
          <p:nvPr/>
        </p:nvSpPr>
        <p:spPr>
          <a:xfrm>
            <a:off x="609904" y="6236208"/>
            <a:ext cx="10972800" cy="274320"/>
          </a:xfrm>
          <a:prstGeom prst="rect">
            <a:avLst/>
          </a:prstGeom>
          <a:noFill/>
        </p:spPr>
        <p:txBody>
          <a:bodyPr wrap="square" lIns="0" tIns="0" rIns="0" bIns="0" anchor="ctr">
            <a:noAutofit/>
          </a:bodyPr>
          <a:lstStyle/>
          <a:p>
            <a:pPr>
              <a:lnSpc>
                <a:spcPct val="103000"/>
              </a:lnSpc>
              <a:spcBef>
                <a:spcPts val="0"/>
              </a:spcBef>
              <a:spcAft>
                <a:spcPts val="0"/>
              </a:spcAft>
              <a:defRPr sz="1750" b="0">
                <a:solidFill>
                  <a:srgbClr val="193248"/>
                </a:solidFill>
                <a:latin typeface="Arial"/>
              </a:defRPr>
            </a:pPr>
            <a:r>
              <a:rPr lang="it-IT" sz="1750" b="1">
                <a:solidFill>
                  <a:srgbClr val="193248"/>
                </a:solidFill>
              </a:rPr>
              <a:t>NB= </a:t>
            </a:r>
            <a:r>
              <a:rPr lang="it-IT" sz="1750" b="1" u="sng">
                <a:solidFill>
                  <a:srgbClr val="193248"/>
                </a:solidFill>
              </a:rPr>
              <a:t>tutte le funzioni</a:t>
            </a:r>
            <a:r>
              <a:rPr lang="it-IT" sz="1750" b="1" u="none">
                <a:solidFill>
                  <a:srgbClr val="193248"/>
                </a:solidFill>
              </a:rPr>
              <a:t> sono coordinate e controllate dal sistema nervoso</a:t>
            </a:r>
          </a:p>
        </p:txBody>
      </p:sp>
    </p:spTree>
    <p:extLst>
      <p:ext uri="{BB962C8B-B14F-4D97-AF65-F5344CB8AC3E}">
        <p14:creationId xmlns:p14="http://schemas.microsoft.com/office/powerpoint/2010/main" val="200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SISTEMA 1 DI 5</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dirty="0">
                <a:solidFill>
                  <a:srgbClr val="123F67"/>
                </a:solidFill>
                <a:latin typeface="Arial"/>
                <a:ea typeface="Arial"/>
                <a:cs typeface="Arial"/>
              </a:rPr>
              <a:t>Sistema </a:t>
            </a:r>
            <a:r>
              <a:rPr lang="it-IT" sz="3225" b="1" dirty="0">
                <a:solidFill>
                  <a:srgbClr val="123F67"/>
                </a:solidFill>
                <a:latin typeface="Arial"/>
                <a:ea typeface="Arial"/>
                <a:cs typeface="Arial"/>
              </a:rPr>
              <a:t>L</a:t>
            </a:r>
            <a:r>
              <a:rPr sz="3225" b="1" dirty="0" err="1">
                <a:solidFill>
                  <a:srgbClr val="123F67"/>
                </a:solidFill>
                <a:latin typeface="Arial"/>
                <a:ea typeface="Arial"/>
                <a:cs typeface="Arial"/>
              </a:rPr>
              <a:t>infatico</a:t>
            </a:r>
            <a:r>
              <a:rPr sz="3225" b="1" dirty="0">
                <a:solidFill>
                  <a:srgbClr val="123F67"/>
                </a:solidFill>
                <a:latin typeface="Arial"/>
                <a:ea typeface="Arial"/>
                <a:cs typeface="Arial"/>
              </a:rPr>
              <a:t> e </a:t>
            </a:r>
            <a:r>
              <a:rPr lang="it-IT" sz="3225" b="1" dirty="0">
                <a:solidFill>
                  <a:srgbClr val="123F67"/>
                </a:solidFill>
                <a:latin typeface="Arial"/>
                <a:ea typeface="Arial"/>
                <a:cs typeface="Arial"/>
              </a:rPr>
              <a:t>I</a:t>
            </a:r>
            <a:r>
              <a:rPr sz="3225" b="1" dirty="0" err="1">
                <a:solidFill>
                  <a:srgbClr val="123F67"/>
                </a:solidFill>
                <a:latin typeface="Arial"/>
                <a:ea typeface="Arial"/>
                <a:cs typeface="Arial"/>
              </a:rPr>
              <a:t>mmunitario</a:t>
            </a:r>
            <a:endParaRPr sz="3225" b="1" dirty="0">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13</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5-0007-4000-8000-000000000000}"/>
              </a:ext>
            </a:extLst>
          </p:cNvPr>
          <p:cNvSpPr>
            <a:spLocks noGrp="1"/>
          </p:cNvSpPr>
          <p:nvPr/>
        </p:nvSpPr>
        <p:spPr>
          <a:xfrm>
            <a:off x="762000" y="1599819"/>
            <a:ext cx="10668000" cy="428625"/>
          </a:xfrm>
          <a:prstGeom prst="rect">
            <a:avLst/>
          </a:prstGeom>
          <a:noFill/>
          <a:ln w="0">
            <a:noFill/>
          </a:ln>
        </p:spPr>
        <p:txBody>
          <a:bodyPr>
            <a:noAutofit/>
          </a:bodyPr>
          <a:lstStyle/>
          <a:p>
            <a:pPr algn="ctr">
              <a:defRPr sz="2175" b="1">
                <a:solidFill>
                  <a:srgbClr val="193248"/>
                </a:solidFill>
                <a:latin typeface="Arial"/>
                <a:ea typeface="Arial"/>
                <a:cs typeface="Arial"/>
              </a:defRPr>
            </a:pPr>
            <a:r>
              <a:rPr lang="it-IT" sz="2175" b="1">
                <a:solidFill>
                  <a:srgbClr val="193248"/>
                </a:solidFill>
                <a:latin typeface="Arial"/>
                <a:ea typeface="Arial"/>
                <a:cs typeface="Arial"/>
              </a:rPr>
              <a:t>DIFESA IMMUNITARIA</a:t>
            </a:r>
          </a:p>
        </p:txBody>
      </p:sp>
      <p:sp>
        <p:nvSpPr>
          <p:cNvPr id="8" name="Rettangolo 7">
            <a:extLst>
              <a:ext uri="{FF2B5EF4-FFF2-40B4-BE49-F238E27FC236}">
                <a16:creationId xmlns:a16="http://schemas.microsoft.com/office/drawing/2014/main" id="{00000005-0008-4000-8000-000000000000}"/>
              </a:ext>
            </a:extLst>
          </p:cNvPr>
          <p:cNvSpPr>
            <a:spLocks noGrp="1"/>
          </p:cNvSpPr>
          <p:nvPr/>
        </p:nvSpPr>
        <p:spPr>
          <a:xfrm>
            <a:off x="585787" y="2352294"/>
            <a:ext cx="5000625" cy="1188720"/>
          </a:xfrm>
          <a:prstGeom prst="rect">
            <a:avLst/>
          </a:prstGeom>
          <a:noFill/>
          <a:ln w="0">
            <a:noFill/>
          </a:ln>
        </p:spPr>
        <p:txBody>
          <a:bodyPr wrap="square">
            <a:noAutofit/>
          </a:bodyPr>
          <a:lstStyle/>
          <a:p>
            <a:pPr algn="ctr">
              <a:lnSpc>
                <a:spcPts val="2200"/>
              </a:lnSpc>
              <a:defRPr sz="2025" b="1">
                <a:solidFill>
                  <a:srgbClr val="123F67"/>
                </a:solidFill>
                <a:latin typeface="Arial"/>
                <a:ea typeface="Arial"/>
                <a:cs typeface="Arial"/>
              </a:defRPr>
            </a:pPr>
            <a:r>
              <a:rPr sz="2025" b="1" dirty="0" err="1">
                <a:solidFill>
                  <a:srgbClr val="123F67"/>
                </a:solidFill>
                <a:latin typeface="Arial"/>
                <a:ea typeface="Arial"/>
                <a:cs typeface="Arial"/>
              </a:rPr>
              <a:t>Innata</a:t>
            </a:r>
            <a:br>
              <a:rPr lang="it-IT"/>
            </a:br>
            <a:r>
              <a:rPr lang="it-IT" sz="1875" b="0" err="1">
                <a:solidFill>
                  <a:srgbClr val="123F67"/>
                </a:solidFill>
                <a:latin typeface="Arial"/>
                <a:ea typeface="Arial"/>
                <a:cs typeface="Arial"/>
              </a:rPr>
              <a:t>(presente fin dalla nascita, con il patrimonio genetico).</a:t>
            </a:r>
            <a:endParaRPr lang="it-IT" sz="2025" b="1">
              <a:solidFill>
                <a:srgbClr val="123F67"/>
              </a:solidFill>
              <a:latin typeface="Arial"/>
              <a:ea typeface="Arial"/>
              <a:cs typeface="Arial"/>
            </a:endParaRPr>
          </a:p>
        </p:txBody>
      </p:sp>
      <p:sp>
        <p:nvSpPr>
          <p:cNvPr id="9" name="Rettangolo 8">
            <a:extLst>
              <a:ext uri="{FF2B5EF4-FFF2-40B4-BE49-F238E27FC236}">
                <a16:creationId xmlns:a16="http://schemas.microsoft.com/office/drawing/2014/main" id="{00000005-0009-4000-8000-000000000000}"/>
              </a:ext>
            </a:extLst>
          </p:cNvPr>
          <p:cNvSpPr>
            <a:spLocks noGrp="1"/>
          </p:cNvSpPr>
          <p:nvPr/>
        </p:nvSpPr>
        <p:spPr>
          <a:xfrm>
            <a:off x="609600" y="3529584"/>
            <a:ext cx="5000625" cy="667512"/>
          </a:xfrm>
          <a:prstGeom prst="rect">
            <a:avLst/>
          </a:prstGeom>
          <a:noFill/>
          <a:ln w="0">
            <a:noFill/>
          </a:ln>
        </p:spPr>
        <p:txBody>
          <a:bodyPr>
            <a:noAutofit/>
          </a:bodyPr>
          <a:lstStyle/>
          <a:p>
            <a:pPr>
              <a:defRPr sz="1875" b="0">
                <a:solidFill>
                  <a:srgbClr val="193248"/>
                </a:solidFill>
                <a:latin typeface="Arial"/>
                <a:ea typeface="Arial"/>
                <a:cs typeface="Arial"/>
              </a:defRPr>
            </a:pPr>
            <a:r>
              <a:rPr sz="1875" b="0" dirty="0">
                <a:solidFill>
                  <a:srgbClr val="193248"/>
                </a:solidFill>
                <a:latin typeface="Arial"/>
                <a:ea typeface="Arial"/>
                <a:cs typeface="Arial"/>
              </a:rPr>
              <a:t>Barriere </a:t>
            </a:r>
            <a:r>
              <a:rPr sz="1875" b="0" dirty="0" err="1">
                <a:solidFill>
                  <a:srgbClr val="193248"/>
                </a:solidFill>
                <a:latin typeface="Arial"/>
                <a:ea typeface="Arial"/>
                <a:cs typeface="Arial"/>
              </a:rPr>
              <a:t>epiteliali</a:t>
            </a:r>
            <a:r>
              <a:rPr sz="1875" b="0" dirty="0">
                <a:solidFill>
                  <a:srgbClr val="193248"/>
                </a:solidFill>
                <a:latin typeface="Arial"/>
                <a:ea typeface="Arial"/>
                <a:cs typeface="Arial"/>
              </a:rPr>
              <a:t>, </a:t>
            </a:r>
            <a:r>
              <a:rPr sz="1875" b="0" dirty="0" err="1">
                <a:solidFill>
                  <a:srgbClr val="193248"/>
                </a:solidFill>
                <a:latin typeface="Arial"/>
                <a:ea typeface="Arial"/>
                <a:cs typeface="Arial"/>
              </a:rPr>
              <a:t>fagociti</a:t>
            </a:r>
            <a:r>
              <a:rPr sz="1875" b="0" dirty="0">
                <a:solidFill>
                  <a:srgbClr val="193248"/>
                </a:solidFill>
                <a:latin typeface="Arial"/>
                <a:ea typeface="Arial"/>
                <a:cs typeface="Arial"/>
              </a:rPr>
              <a:t> e </a:t>
            </a:r>
            <a:r>
              <a:rPr sz="1875" b="0" dirty="0" err="1">
                <a:solidFill>
                  <a:srgbClr val="193248"/>
                </a:solidFill>
                <a:latin typeface="Arial"/>
                <a:ea typeface="Arial"/>
                <a:cs typeface="Arial"/>
              </a:rPr>
              <a:t>molecole</a:t>
            </a:r>
            <a:r>
              <a:rPr sz="1875" b="0" dirty="0">
                <a:solidFill>
                  <a:srgbClr val="193248"/>
                </a:solidFill>
                <a:latin typeface="Arial"/>
                <a:ea typeface="Arial"/>
                <a:cs typeface="Arial"/>
              </a:rPr>
              <a:t> </a:t>
            </a:r>
            <a:r>
              <a:rPr sz="1875" b="0" dirty="0" err="1">
                <a:solidFill>
                  <a:srgbClr val="193248"/>
                </a:solidFill>
                <a:latin typeface="Arial"/>
                <a:ea typeface="Arial"/>
                <a:cs typeface="Arial"/>
              </a:rPr>
              <a:t>dei</a:t>
            </a:r>
            <a:r>
              <a:rPr sz="1875" b="0" dirty="0">
                <a:solidFill>
                  <a:srgbClr val="193248"/>
                </a:solidFill>
                <a:latin typeface="Arial"/>
                <a:ea typeface="Arial"/>
                <a:cs typeface="Arial"/>
              </a:rPr>
              <a:t> </a:t>
            </a:r>
            <a:r>
              <a:rPr sz="1875" b="0" dirty="0" err="1">
                <a:solidFill>
                  <a:srgbClr val="193248"/>
                </a:solidFill>
                <a:latin typeface="Arial"/>
                <a:ea typeface="Arial"/>
                <a:cs typeface="Arial"/>
              </a:rPr>
              <a:t>fluidi</a:t>
            </a:r>
            <a:r>
              <a:rPr sz="1875" b="0" dirty="0">
                <a:solidFill>
                  <a:srgbClr val="193248"/>
                </a:solidFill>
                <a:latin typeface="Arial"/>
                <a:ea typeface="Arial"/>
                <a:cs typeface="Arial"/>
              </a:rPr>
              <a:t> </a:t>
            </a:r>
            <a:r>
              <a:rPr sz="1875" b="0" dirty="0" err="1">
                <a:solidFill>
                  <a:srgbClr val="193248"/>
                </a:solidFill>
                <a:latin typeface="Arial"/>
                <a:ea typeface="Arial"/>
                <a:cs typeface="Arial"/>
              </a:rPr>
              <a:t>corporei</a:t>
            </a:r>
            <a:r>
              <a:rPr sz="1875" b="0" dirty="0">
                <a:solidFill>
                  <a:srgbClr val="193248"/>
                </a:solidFill>
                <a:latin typeface="Arial"/>
                <a:ea typeface="Arial"/>
                <a:cs typeface="Arial"/>
              </a:rPr>
              <a:t> </a:t>
            </a:r>
            <a:r>
              <a:rPr sz="1875" b="0" dirty="0" err="1">
                <a:solidFill>
                  <a:srgbClr val="193248"/>
                </a:solidFill>
                <a:latin typeface="Arial"/>
                <a:ea typeface="Arial"/>
                <a:cs typeface="Arial"/>
              </a:rPr>
              <a:t>partecipano</a:t>
            </a:r>
            <a:r>
              <a:rPr sz="1875" b="0" dirty="0">
                <a:solidFill>
                  <a:srgbClr val="193248"/>
                </a:solidFill>
                <a:latin typeface="Arial"/>
                <a:ea typeface="Arial"/>
                <a:cs typeface="Arial"/>
              </a:rPr>
              <a:t> alla prima </a:t>
            </a:r>
            <a:r>
              <a:rPr sz="1875" b="0" dirty="0" err="1">
                <a:solidFill>
                  <a:srgbClr val="193248"/>
                </a:solidFill>
                <a:latin typeface="Arial"/>
                <a:ea typeface="Arial"/>
                <a:cs typeface="Arial"/>
              </a:rPr>
              <a:t>risposta</a:t>
            </a:r>
            <a:r>
              <a:rPr sz="1875" b="0" dirty="0">
                <a:solidFill>
                  <a:srgbClr val="193248"/>
                </a:solidFill>
                <a:latin typeface="Arial"/>
                <a:ea typeface="Arial"/>
                <a:cs typeface="Arial"/>
              </a:rPr>
              <a:t>.</a:t>
            </a:r>
          </a:p>
        </p:txBody>
      </p:sp>
      <p:sp>
        <p:nvSpPr>
          <p:cNvPr id="10" name="Rettangolo 9">
            <a:extLst>
              <a:ext uri="{FF2B5EF4-FFF2-40B4-BE49-F238E27FC236}">
                <a16:creationId xmlns:a16="http://schemas.microsoft.com/office/drawing/2014/main" id="{00000005-000A-4000-8000-000000000000}"/>
              </a:ext>
            </a:extLst>
          </p:cNvPr>
          <p:cNvSpPr>
            <a:spLocks noGrp="1"/>
          </p:cNvSpPr>
          <p:nvPr/>
        </p:nvSpPr>
        <p:spPr>
          <a:xfrm>
            <a:off x="6415087" y="2352294"/>
            <a:ext cx="5382901" cy="1188720"/>
          </a:xfrm>
          <a:prstGeom prst="rect">
            <a:avLst/>
          </a:prstGeom>
          <a:noFill/>
          <a:ln w="0">
            <a:noFill/>
          </a:ln>
        </p:spPr>
        <p:txBody>
          <a:bodyPr wrap="square">
            <a:noAutofit/>
          </a:bodyPr>
          <a:lstStyle/>
          <a:p>
            <a:pPr algn="ctr">
              <a:lnSpc>
                <a:spcPts val="2200"/>
              </a:lnSpc>
              <a:defRPr sz="2025" b="1">
                <a:solidFill>
                  <a:srgbClr val="123F67"/>
                </a:solidFill>
                <a:latin typeface="Arial"/>
                <a:ea typeface="Arial"/>
                <a:cs typeface="Arial"/>
              </a:defRPr>
            </a:pPr>
            <a:r>
              <a:rPr lang="it-IT" sz="2025" b="1" dirty="0">
                <a:solidFill>
                  <a:srgbClr val="123F67"/>
                </a:solidFill>
                <a:latin typeface="Arial"/>
                <a:ea typeface="Arial"/>
                <a:cs typeface="Arial"/>
              </a:rPr>
              <a:t>Adattativa</a:t>
            </a:r>
            <a:br>
              <a:rPr lang="it-IT" dirty="0"/>
            </a:br>
            <a:r>
              <a:rPr lang="it-IT" sz="1875" b="0" dirty="0">
                <a:solidFill>
                  <a:srgbClr val="123F67"/>
                </a:solidFill>
                <a:latin typeface="Arial"/>
                <a:ea typeface="Arial"/>
                <a:cs typeface="Arial"/>
              </a:rPr>
              <a:t>(si sviluppa durante la vita in risposta al contatto con antigeni, per esempio batteri e virus).</a:t>
            </a:r>
            <a:endParaRPr lang="it-IT" sz="2025" b="1" dirty="0">
              <a:solidFill>
                <a:srgbClr val="123F67"/>
              </a:solidFill>
              <a:latin typeface="Arial"/>
              <a:ea typeface="Arial"/>
              <a:cs typeface="Arial"/>
            </a:endParaRPr>
          </a:p>
        </p:txBody>
      </p:sp>
      <p:sp>
        <p:nvSpPr>
          <p:cNvPr id="11" name="Rettangolo 10">
            <a:extLst>
              <a:ext uri="{FF2B5EF4-FFF2-40B4-BE49-F238E27FC236}">
                <a16:creationId xmlns:a16="http://schemas.microsoft.com/office/drawing/2014/main" id="{00000005-000B-4000-8000-000000000000}"/>
              </a:ext>
            </a:extLst>
          </p:cNvPr>
          <p:cNvSpPr>
            <a:spLocks noGrp="1"/>
          </p:cNvSpPr>
          <p:nvPr/>
        </p:nvSpPr>
        <p:spPr>
          <a:xfrm>
            <a:off x="6255836" y="3529584"/>
            <a:ext cx="5542150" cy="786384"/>
          </a:xfrm>
          <a:prstGeom prst="rect">
            <a:avLst/>
          </a:prstGeom>
          <a:noFill/>
          <a:ln w="0">
            <a:noFill/>
          </a:ln>
        </p:spPr>
        <p:txBody>
          <a:bodyPr>
            <a:noAutofit/>
          </a:bodyPr>
          <a:lstStyle/>
          <a:p>
            <a:pPr>
              <a:defRPr sz="1875" b="0">
                <a:solidFill>
                  <a:srgbClr val="193248"/>
                </a:solidFill>
                <a:latin typeface="Arial"/>
                <a:ea typeface="Arial"/>
                <a:cs typeface="Arial"/>
              </a:defRPr>
            </a:pPr>
            <a:r>
              <a:rPr sz="1875" b="0" dirty="0">
                <a:solidFill>
                  <a:srgbClr val="193248"/>
                </a:solidFill>
                <a:latin typeface="Arial"/>
                <a:ea typeface="Arial"/>
                <a:cs typeface="Arial"/>
              </a:rPr>
              <a:t>I </a:t>
            </a:r>
            <a:r>
              <a:rPr sz="1875" b="0" dirty="0" err="1">
                <a:solidFill>
                  <a:srgbClr val="193248"/>
                </a:solidFill>
                <a:latin typeface="Arial"/>
                <a:ea typeface="Arial"/>
                <a:cs typeface="Arial"/>
              </a:rPr>
              <a:t>linfociti</a:t>
            </a:r>
            <a:r>
              <a:rPr sz="1875" b="0" dirty="0">
                <a:solidFill>
                  <a:srgbClr val="193248"/>
                </a:solidFill>
                <a:latin typeface="Arial"/>
                <a:ea typeface="Arial"/>
                <a:cs typeface="Arial"/>
              </a:rPr>
              <a:t> B e T </a:t>
            </a:r>
            <a:r>
              <a:rPr sz="1875" b="0" dirty="0" err="1">
                <a:solidFill>
                  <a:srgbClr val="193248"/>
                </a:solidFill>
                <a:latin typeface="Arial"/>
                <a:ea typeface="Arial"/>
                <a:cs typeface="Arial"/>
              </a:rPr>
              <a:t>riconoscono</a:t>
            </a:r>
            <a:r>
              <a:rPr sz="1875" b="0" dirty="0">
                <a:solidFill>
                  <a:srgbClr val="193248"/>
                </a:solidFill>
                <a:latin typeface="Arial"/>
                <a:ea typeface="Arial"/>
                <a:cs typeface="Arial"/>
              </a:rPr>
              <a:t> </a:t>
            </a:r>
            <a:r>
              <a:rPr sz="1875" b="0" dirty="0" err="1">
                <a:solidFill>
                  <a:srgbClr val="193248"/>
                </a:solidFill>
                <a:latin typeface="Arial"/>
                <a:ea typeface="Arial"/>
                <a:cs typeface="Arial"/>
              </a:rPr>
              <a:t>antigeni</a:t>
            </a:r>
            <a:r>
              <a:rPr sz="1875" b="0" dirty="0">
                <a:solidFill>
                  <a:srgbClr val="193248"/>
                </a:solidFill>
                <a:latin typeface="Arial"/>
                <a:ea typeface="Arial"/>
                <a:cs typeface="Arial"/>
              </a:rPr>
              <a:t> </a:t>
            </a:r>
            <a:r>
              <a:rPr sz="1875" b="0" dirty="0" err="1">
                <a:solidFill>
                  <a:srgbClr val="193248"/>
                </a:solidFill>
                <a:latin typeface="Arial"/>
                <a:ea typeface="Arial"/>
                <a:cs typeface="Arial"/>
              </a:rPr>
              <a:t>specifici</a:t>
            </a:r>
            <a:r>
              <a:rPr sz="1875" b="0" dirty="0">
                <a:solidFill>
                  <a:srgbClr val="193248"/>
                </a:solidFill>
                <a:latin typeface="Arial"/>
                <a:ea typeface="Arial"/>
                <a:cs typeface="Arial"/>
              </a:rPr>
              <a:t>. La memoria </a:t>
            </a:r>
            <a:r>
              <a:rPr lang="it-IT" sz="1875" b="0" dirty="0">
                <a:solidFill>
                  <a:srgbClr val="193248"/>
                </a:solidFill>
                <a:latin typeface="Arial"/>
                <a:ea typeface="Arial"/>
                <a:cs typeface="Arial"/>
              </a:rPr>
              <a:t>immunitaria guida</a:t>
            </a:r>
            <a:r>
              <a:rPr sz="1875" b="0" dirty="0">
                <a:solidFill>
                  <a:srgbClr val="193248"/>
                </a:solidFill>
                <a:latin typeface="Arial"/>
                <a:ea typeface="Arial"/>
                <a:cs typeface="Arial"/>
              </a:rPr>
              <a:t> le </a:t>
            </a:r>
            <a:r>
              <a:rPr sz="1875" b="0" dirty="0" err="1">
                <a:solidFill>
                  <a:srgbClr val="193248"/>
                </a:solidFill>
                <a:latin typeface="Arial"/>
                <a:ea typeface="Arial"/>
                <a:cs typeface="Arial"/>
              </a:rPr>
              <a:t>risposte</a:t>
            </a:r>
            <a:r>
              <a:rPr sz="1875" b="0" dirty="0">
                <a:solidFill>
                  <a:srgbClr val="193248"/>
                </a:solidFill>
                <a:latin typeface="Arial"/>
                <a:ea typeface="Arial"/>
                <a:cs typeface="Arial"/>
              </a:rPr>
              <a:t> successive.</a:t>
            </a:r>
          </a:p>
        </p:txBody>
      </p:sp>
      <p:sp>
        <p:nvSpPr>
          <p:cNvPr id="12" name="Rettangolo 11">
            <a:extLst>
              <a:ext uri="{FF2B5EF4-FFF2-40B4-BE49-F238E27FC236}">
                <a16:creationId xmlns:a16="http://schemas.microsoft.com/office/drawing/2014/main" id="{00000005-000C-4000-8000-000000000000}"/>
              </a:ext>
            </a:extLst>
          </p:cNvPr>
          <p:cNvSpPr>
            <a:spLocks noGrp="1"/>
          </p:cNvSpPr>
          <p:nvPr/>
        </p:nvSpPr>
        <p:spPr>
          <a:xfrm>
            <a:off x="609600" y="5038344"/>
            <a:ext cx="10972800" cy="19050"/>
          </a:xfrm>
          <a:prstGeom prst="rect">
            <a:avLst/>
          </a:prstGeom>
          <a:solidFill>
            <a:srgbClr val="CEDDE8"/>
          </a:solidFill>
          <a:ln w="0">
            <a:noFill/>
          </a:ln>
        </p:spPr>
        <p:txBody>
          <a:bodyPr/>
          <a:lstStyle/>
          <a:p>
            <a:endParaRPr lang="it-IT"/>
          </a:p>
        </p:txBody>
      </p:sp>
      <p:sp>
        <p:nvSpPr>
          <p:cNvPr id="13" name="Rettangolo 12">
            <a:extLst>
              <a:ext uri="{FF2B5EF4-FFF2-40B4-BE49-F238E27FC236}">
                <a16:creationId xmlns:a16="http://schemas.microsoft.com/office/drawing/2014/main" id="{00000005-000D-4000-8000-000000000000}"/>
              </a:ext>
            </a:extLst>
          </p:cNvPr>
          <p:cNvSpPr>
            <a:spLocks noGrp="1"/>
          </p:cNvSpPr>
          <p:nvPr/>
        </p:nvSpPr>
        <p:spPr>
          <a:xfrm>
            <a:off x="609600" y="5065776"/>
            <a:ext cx="10477500" cy="285750"/>
          </a:xfrm>
          <a:prstGeom prst="rect">
            <a:avLst/>
          </a:prstGeom>
          <a:noFill/>
          <a:ln w="0">
            <a:noFill/>
          </a:ln>
        </p:spPr>
        <p:txBody>
          <a:bodyPr>
            <a:noAutofit/>
          </a:bodyPr>
          <a:lstStyle/>
          <a:p>
            <a:pPr>
              <a:defRPr sz="1500" b="1">
                <a:solidFill>
                  <a:srgbClr val="087E8B"/>
                </a:solidFill>
                <a:latin typeface="Arial"/>
                <a:ea typeface="Arial"/>
                <a:cs typeface="Arial"/>
              </a:defRPr>
            </a:pPr>
            <a:r>
              <a:rPr sz="1500" b="1">
                <a:solidFill>
                  <a:srgbClr val="087E8B"/>
                </a:solidFill>
                <a:latin typeface="Arial"/>
                <a:ea typeface="Arial"/>
                <a:cs typeface="Arial"/>
              </a:rPr>
              <a:t>SEDI E COLLEGAMENTI</a:t>
            </a:r>
          </a:p>
        </p:txBody>
      </p:sp>
      <p:cxnSp>
        <p:nvCxnSpPr>
          <p:cNvPr id="16" name="Connector 15"/>
          <p:cNvCxnSpPr/>
          <p:nvPr/>
        </p:nvCxnSpPr>
        <p:spPr>
          <a:xfrm>
            <a:off x="6096000" y="2047494"/>
            <a:ext cx="0" cy="123825"/>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86100" y="2171319"/>
            <a:ext cx="58293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86100" y="2171319"/>
            <a:ext cx="0" cy="1333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915400" y="2171319"/>
            <a:ext cx="0" cy="13335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5413248"/>
            <a:ext cx="3286125" cy="276999"/>
          </a:xfrm>
          <a:prstGeom prst="rect">
            <a:avLst/>
          </a:prstGeom>
          <a:noFill/>
        </p:spPr>
        <p:txBody>
          <a:bodyPr wrap="square" lIns="0" tIns="0" rIns="0" bIns="0">
            <a:spAutoFit/>
          </a:bodyPr>
          <a:lstStyle/>
          <a:p>
            <a:pPr>
              <a:defRPr sz="1800" b="1">
                <a:solidFill>
                  <a:srgbClr val="123F67"/>
                </a:solidFill>
                <a:latin typeface="Arial"/>
              </a:defRPr>
            </a:pPr>
            <a:r>
              <a:rPr dirty="0" err="1"/>
              <a:t>Midollo</a:t>
            </a:r>
            <a:r>
              <a:rPr dirty="0"/>
              <a:t> </a:t>
            </a:r>
            <a:r>
              <a:rPr dirty="0" err="1"/>
              <a:t>osseo</a:t>
            </a:r>
            <a:r>
              <a:rPr dirty="0"/>
              <a:t> e </a:t>
            </a:r>
            <a:r>
              <a:rPr lang="it-IT" dirty="0"/>
              <a:t>T</a:t>
            </a:r>
            <a:r>
              <a:rPr dirty="0"/>
              <a:t>imo</a:t>
            </a:r>
          </a:p>
        </p:txBody>
      </p:sp>
      <p:cxnSp>
        <p:nvCxnSpPr>
          <p:cNvPr id="21" name="Connector 20"/>
          <p:cNvCxnSpPr/>
          <p:nvPr/>
        </p:nvCxnSpPr>
        <p:spPr>
          <a:xfrm>
            <a:off x="3952875" y="5575096"/>
            <a:ext cx="457200"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619625" y="5413248"/>
            <a:ext cx="6953250" cy="333375"/>
          </a:xfrm>
          <a:prstGeom prst="rect">
            <a:avLst/>
          </a:prstGeom>
          <a:noFill/>
        </p:spPr>
        <p:txBody>
          <a:bodyPr wrap="square" lIns="0" tIns="0" rIns="0" bIns="0">
            <a:spAutoFit/>
          </a:bodyPr>
          <a:lstStyle/>
          <a:p>
            <a:pPr>
              <a:defRPr sz="1800" b="0">
                <a:solidFill>
                  <a:srgbClr val="193248"/>
                </a:solidFill>
                <a:latin typeface="Arial"/>
              </a:defRPr>
            </a:pPr>
            <a:r>
              <a:t>Sviluppo e maturazione dei linfociti</a:t>
            </a:r>
          </a:p>
        </p:txBody>
      </p:sp>
      <p:sp>
        <p:nvSpPr>
          <p:cNvPr id="23" name="TextBox 22"/>
          <p:cNvSpPr txBox="1"/>
          <p:nvPr/>
        </p:nvSpPr>
        <p:spPr>
          <a:xfrm>
            <a:off x="609600" y="5724144"/>
            <a:ext cx="3286125" cy="276999"/>
          </a:xfrm>
          <a:prstGeom prst="rect">
            <a:avLst/>
          </a:prstGeom>
          <a:noFill/>
        </p:spPr>
        <p:txBody>
          <a:bodyPr wrap="square" lIns="0" tIns="0" rIns="0" bIns="0">
            <a:spAutoFit/>
          </a:bodyPr>
          <a:lstStyle/>
          <a:p>
            <a:pPr>
              <a:defRPr sz="1800" b="1">
                <a:solidFill>
                  <a:srgbClr val="123F67"/>
                </a:solidFill>
                <a:latin typeface="Arial"/>
              </a:defRPr>
            </a:pPr>
            <a:r>
              <a:rPr dirty="0" err="1"/>
              <a:t>Linfonodi</a:t>
            </a:r>
            <a:r>
              <a:rPr dirty="0"/>
              <a:t> e </a:t>
            </a:r>
            <a:r>
              <a:rPr lang="it-IT" dirty="0"/>
              <a:t>M</a:t>
            </a:r>
            <a:r>
              <a:rPr dirty="0" err="1"/>
              <a:t>ilza</a:t>
            </a:r>
            <a:endParaRPr dirty="0"/>
          </a:p>
        </p:txBody>
      </p:sp>
      <p:cxnSp>
        <p:nvCxnSpPr>
          <p:cNvPr id="24" name="Connector 23"/>
          <p:cNvCxnSpPr/>
          <p:nvPr/>
        </p:nvCxnSpPr>
        <p:spPr>
          <a:xfrm>
            <a:off x="3952875" y="5885992"/>
            <a:ext cx="457200"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619625" y="5724144"/>
            <a:ext cx="6953250" cy="276999"/>
          </a:xfrm>
          <a:prstGeom prst="rect">
            <a:avLst/>
          </a:prstGeom>
          <a:noFill/>
        </p:spPr>
        <p:txBody>
          <a:bodyPr wrap="square" lIns="0" tIns="0" rIns="0" bIns="0">
            <a:spAutoFit/>
          </a:bodyPr>
          <a:lstStyle/>
          <a:p>
            <a:pPr>
              <a:defRPr sz="1800" b="0">
                <a:solidFill>
                  <a:srgbClr val="193248"/>
                </a:solidFill>
                <a:latin typeface="Arial"/>
              </a:defRPr>
            </a:pPr>
            <a:r>
              <a:rPr lang="it-IT"/>
              <a:t>I linfociti incontrano gli antigeni </a:t>
            </a:r>
            <a:r>
              <a:t>e </a:t>
            </a:r>
            <a:r>
              <a:rPr lang="it-IT"/>
              <a:t>avviano la </a:t>
            </a:r>
            <a:r>
              <a:t>risposta immunitaria</a:t>
            </a:r>
            <a:r>
              <a:rPr lang="it-IT"/>
              <a:t>.</a:t>
            </a:r>
            <a:endParaRPr/>
          </a:p>
        </p:txBody>
      </p:sp>
      <p:sp>
        <p:nvSpPr>
          <p:cNvPr id="26" name="TextBox 25"/>
          <p:cNvSpPr txBox="1"/>
          <p:nvPr/>
        </p:nvSpPr>
        <p:spPr>
          <a:xfrm>
            <a:off x="609600" y="6035040"/>
            <a:ext cx="3286125" cy="276999"/>
          </a:xfrm>
          <a:prstGeom prst="rect">
            <a:avLst/>
          </a:prstGeom>
          <a:noFill/>
        </p:spPr>
        <p:txBody>
          <a:bodyPr wrap="square" lIns="0" tIns="0" rIns="0" bIns="0">
            <a:spAutoFit/>
          </a:bodyPr>
          <a:lstStyle/>
          <a:p>
            <a:pPr>
              <a:defRPr sz="1800" b="1">
                <a:solidFill>
                  <a:srgbClr val="123F67"/>
                </a:solidFill>
                <a:latin typeface="Arial"/>
              </a:defRPr>
            </a:pPr>
            <a:r>
              <a:rPr dirty="0"/>
              <a:t>Cute e </a:t>
            </a:r>
            <a:r>
              <a:rPr lang="it-IT" dirty="0"/>
              <a:t>S</a:t>
            </a:r>
            <a:r>
              <a:rPr dirty="0" err="1"/>
              <a:t>angue</a:t>
            </a:r>
            <a:endParaRPr dirty="0"/>
          </a:p>
        </p:txBody>
      </p:sp>
      <p:cxnSp>
        <p:nvCxnSpPr>
          <p:cNvPr id="27" name="Connector 26"/>
          <p:cNvCxnSpPr/>
          <p:nvPr/>
        </p:nvCxnSpPr>
        <p:spPr>
          <a:xfrm>
            <a:off x="3952875" y="6196888"/>
            <a:ext cx="457200"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19625" y="6035040"/>
            <a:ext cx="6953250" cy="333375"/>
          </a:xfrm>
          <a:prstGeom prst="rect">
            <a:avLst/>
          </a:prstGeom>
          <a:noFill/>
        </p:spPr>
        <p:txBody>
          <a:bodyPr wrap="square" lIns="0" tIns="0" rIns="0" bIns="0">
            <a:spAutoFit/>
          </a:bodyPr>
          <a:lstStyle/>
          <a:p>
            <a:pPr>
              <a:defRPr sz="1800" b="0">
                <a:solidFill>
                  <a:srgbClr val="193248"/>
                </a:solidFill>
                <a:latin typeface="Arial"/>
              </a:defRPr>
            </a:pPr>
            <a:r>
              <a:t>Collegamento della difesa agli altri apparati</a:t>
            </a:r>
          </a:p>
        </p:txBody>
      </p:sp>
      <p:sp>
        <p:nvSpPr>
          <p:cNvPr id="29" name="TextBox 28"/>
          <p:cNvSpPr txBox="1"/>
          <p:nvPr/>
        </p:nvSpPr>
        <p:spPr>
          <a:xfrm>
            <a:off x="680457" y="4519331"/>
            <a:ext cx="10972800" cy="261610"/>
          </a:xfrm>
          <a:prstGeom prst="rect">
            <a:avLst/>
          </a:prstGeom>
          <a:noFill/>
        </p:spPr>
        <p:txBody>
          <a:bodyPr wrap="square" lIns="0" tIns="0" rIns="0" bIns="0">
            <a:spAutoFit/>
          </a:bodyPr>
          <a:lstStyle/>
          <a:p>
            <a:pPr>
              <a:spcAft>
                <a:spcPts val="300"/>
              </a:spcAft>
            </a:pPr>
            <a:r>
              <a:rPr lang="it-IT" sz="1700" b="1" dirty="0">
                <a:solidFill>
                  <a:srgbClr val="008B9A"/>
                </a:solidFill>
                <a:latin typeface="Arial"/>
              </a:rPr>
              <a:t>I</a:t>
            </a:r>
            <a:r>
              <a:rPr sz="1700" b="1" dirty="0" err="1">
                <a:solidFill>
                  <a:srgbClr val="008B9A"/>
                </a:solidFill>
                <a:latin typeface="Arial"/>
              </a:rPr>
              <a:t>mmunità</a:t>
            </a:r>
            <a:r>
              <a:rPr sz="1700" b="1" dirty="0">
                <a:solidFill>
                  <a:srgbClr val="008B9A"/>
                </a:solidFill>
                <a:latin typeface="Arial"/>
              </a:rPr>
              <a:t> </a:t>
            </a:r>
            <a:r>
              <a:rPr sz="1700" b="1" dirty="0" err="1">
                <a:solidFill>
                  <a:srgbClr val="008B9A"/>
                </a:solidFill>
                <a:latin typeface="Arial"/>
              </a:rPr>
              <a:t>passiva</a:t>
            </a:r>
            <a:r>
              <a:rPr sz="1700" b="1" dirty="0">
                <a:solidFill>
                  <a:srgbClr val="008B9A"/>
                </a:solidFill>
                <a:latin typeface="Arial"/>
              </a:rPr>
              <a:t> </a:t>
            </a:r>
            <a:r>
              <a:rPr sz="1700" b="1" dirty="0" err="1">
                <a:solidFill>
                  <a:srgbClr val="008B9A"/>
                </a:solidFill>
                <a:latin typeface="Arial"/>
              </a:rPr>
              <a:t>naturale</a:t>
            </a:r>
            <a:r>
              <a:rPr lang="it-IT" sz="1700" b="1" dirty="0">
                <a:solidFill>
                  <a:srgbClr val="008B9A"/>
                </a:solidFill>
                <a:latin typeface="Arial"/>
              </a:rPr>
              <a:t>: </a:t>
            </a:r>
            <a:r>
              <a:rPr sz="1700" dirty="0" err="1">
                <a:solidFill>
                  <a:srgbClr val="123F67"/>
                </a:solidFill>
                <a:latin typeface="Arial"/>
              </a:rPr>
              <a:t>Anticorpi</a:t>
            </a:r>
            <a:r>
              <a:rPr sz="1700" dirty="0">
                <a:solidFill>
                  <a:srgbClr val="123F67"/>
                </a:solidFill>
                <a:latin typeface="Arial"/>
              </a:rPr>
              <a:t> </a:t>
            </a:r>
            <a:r>
              <a:rPr sz="1700" dirty="0" err="1">
                <a:solidFill>
                  <a:srgbClr val="123F67"/>
                </a:solidFill>
                <a:latin typeface="Arial"/>
              </a:rPr>
              <a:t>materni</a:t>
            </a:r>
            <a:r>
              <a:rPr sz="1700" dirty="0">
                <a:solidFill>
                  <a:srgbClr val="123F67"/>
                </a:solidFill>
                <a:latin typeface="Arial"/>
              </a:rPr>
              <a:t> da placenta e </a:t>
            </a:r>
            <a:r>
              <a:rPr sz="1700" dirty="0" err="1">
                <a:solidFill>
                  <a:srgbClr val="123F67"/>
                </a:solidFill>
                <a:latin typeface="Arial"/>
              </a:rPr>
              <a:t>allattamento</a:t>
            </a:r>
            <a:r>
              <a:rPr sz="1700" dirty="0">
                <a:solidFill>
                  <a:srgbClr val="123F67"/>
                </a:solidFill>
                <a:latin typeface="Arial"/>
              </a:rPr>
              <a:t> </a:t>
            </a:r>
            <a:r>
              <a:rPr sz="1700" dirty="0" err="1">
                <a:solidFill>
                  <a:srgbClr val="123F67"/>
                </a:solidFill>
                <a:latin typeface="Arial"/>
              </a:rPr>
              <a:t>forniscono</a:t>
            </a:r>
            <a:r>
              <a:rPr sz="1700" dirty="0">
                <a:solidFill>
                  <a:srgbClr val="123F67"/>
                </a:solidFill>
                <a:latin typeface="Arial"/>
              </a:rPr>
              <a:t> </a:t>
            </a:r>
            <a:r>
              <a:rPr sz="1700" dirty="0" err="1">
                <a:solidFill>
                  <a:srgbClr val="123F67"/>
                </a:solidFill>
                <a:latin typeface="Arial"/>
              </a:rPr>
              <a:t>una</a:t>
            </a:r>
            <a:r>
              <a:rPr sz="1700" dirty="0">
                <a:solidFill>
                  <a:srgbClr val="123F67"/>
                </a:solidFill>
                <a:latin typeface="Arial"/>
              </a:rPr>
              <a:t> </a:t>
            </a:r>
            <a:r>
              <a:rPr sz="1700" dirty="0" err="1">
                <a:solidFill>
                  <a:srgbClr val="123F67"/>
                </a:solidFill>
                <a:latin typeface="Arial"/>
              </a:rPr>
              <a:t>protezione</a:t>
            </a:r>
            <a:r>
              <a:rPr sz="1700" dirty="0">
                <a:solidFill>
                  <a:srgbClr val="123F67"/>
                </a:solidFill>
                <a:latin typeface="Arial"/>
              </a:rPr>
              <a:t> </a:t>
            </a:r>
            <a:r>
              <a:rPr sz="1700" dirty="0" err="1">
                <a:solidFill>
                  <a:srgbClr val="123F67"/>
                </a:solidFill>
                <a:latin typeface="Arial"/>
              </a:rPr>
              <a:t>temporanea</a:t>
            </a:r>
            <a:r>
              <a:rPr sz="1700" dirty="0">
                <a:solidFill>
                  <a:srgbClr val="123F67"/>
                </a:solidFill>
                <a:latin typeface="Arial"/>
              </a:rPr>
              <a:t>.</a:t>
            </a:r>
          </a:p>
        </p:txBody>
      </p:sp>
      <p:cxnSp>
        <p:nvCxnSpPr>
          <p:cNvPr id="30" name="Freccia Innata"/>
          <p:cNvCxnSpPr/>
          <p:nvPr/>
        </p:nvCxnSpPr>
        <p:spPr>
          <a:xfrm>
            <a:off x="3086100" y="3246120"/>
            <a:ext cx="0" cy="246888"/>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cxnSp>
        <p:nvCxnSpPr>
          <p:cNvPr id="31" name="Freccia Adattativa"/>
          <p:cNvCxnSpPr/>
          <p:nvPr/>
        </p:nvCxnSpPr>
        <p:spPr>
          <a:xfrm>
            <a:off x="8915400" y="3246120"/>
            <a:ext cx="0" cy="246888"/>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0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SISTEMA LINFATICO · DRENAGGIO E DIFESA</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Sistema linfatico: sedi e percorso della linfa</a:t>
            </a: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14</a:t>
            </a:r>
            <a:endParaRPr sz="1350" b="1">
              <a:solidFill>
                <a:srgbClr val="123F67"/>
              </a:solidFill>
              <a:latin typeface="Arial"/>
              <a:ea typeface="Arial"/>
              <a:cs typeface="Arial"/>
            </a:endParaRPr>
          </a:p>
        </p:txBody>
      </p:sp>
      <p:sp>
        <p:nvSpPr>
          <p:cNvPr id="16" name="TextBox 15"/>
          <p:cNvSpPr txBox="1"/>
          <p:nvPr/>
        </p:nvSpPr>
        <p:spPr>
          <a:xfrm>
            <a:off x="705002" y="1764792"/>
            <a:ext cx="10839450" cy="603504"/>
          </a:xfrm>
          <a:prstGeom prst="rect">
            <a:avLst/>
          </a:prstGeom>
          <a:noFill/>
        </p:spPr>
        <p:txBody>
          <a:bodyPr wrap="square" lIns="0" tIns="0" rIns="0" bIns="0">
            <a:noAutofit/>
          </a:bodyPr>
          <a:lstStyle/>
          <a:p>
            <a:pPr>
              <a:spcAft>
                <a:spcPts val="400"/>
              </a:spcAft>
              <a:defRPr sz="1900" b="0">
                <a:solidFill>
                  <a:srgbClr val="193248"/>
                </a:solidFill>
                <a:latin typeface="Arial"/>
              </a:defRPr>
            </a:pPr>
            <a:r>
              <a:rPr dirty="0"/>
              <a:t>È </a:t>
            </a:r>
            <a:r>
              <a:rPr dirty="0" err="1"/>
              <a:t>una</a:t>
            </a:r>
            <a:r>
              <a:rPr dirty="0"/>
              <a:t> rete </a:t>
            </a:r>
            <a:r>
              <a:rPr dirty="0" err="1"/>
              <a:t>diffusa</a:t>
            </a:r>
            <a:r>
              <a:rPr dirty="0"/>
              <a:t> </a:t>
            </a:r>
            <a:r>
              <a:rPr dirty="0" err="1"/>
              <a:t>nella</a:t>
            </a:r>
            <a:r>
              <a:rPr dirty="0"/>
              <a:t> </a:t>
            </a:r>
            <a:r>
              <a:rPr dirty="0" err="1"/>
              <a:t>maggior</a:t>
            </a:r>
            <a:r>
              <a:rPr dirty="0"/>
              <a:t> </a:t>
            </a:r>
            <a:r>
              <a:rPr dirty="0" err="1"/>
              <a:t>parte</a:t>
            </a:r>
            <a:r>
              <a:rPr dirty="0"/>
              <a:t> </a:t>
            </a:r>
            <a:r>
              <a:rPr dirty="0" err="1"/>
              <a:t>dei</a:t>
            </a:r>
            <a:r>
              <a:rPr dirty="0"/>
              <a:t> </a:t>
            </a:r>
            <a:r>
              <a:rPr dirty="0" err="1"/>
              <a:t>tessuti</a:t>
            </a:r>
            <a:r>
              <a:rPr dirty="0"/>
              <a:t>: </a:t>
            </a:r>
            <a:r>
              <a:rPr dirty="0" err="1"/>
              <a:t>comprende</a:t>
            </a:r>
            <a:r>
              <a:rPr dirty="0"/>
              <a:t> </a:t>
            </a:r>
            <a:r>
              <a:rPr dirty="0" err="1"/>
              <a:t>capillari</a:t>
            </a:r>
            <a:r>
              <a:rPr dirty="0"/>
              <a:t>, </a:t>
            </a:r>
            <a:r>
              <a:rPr dirty="0" err="1"/>
              <a:t>vasi</a:t>
            </a:r>
            <a:r>
              <a:rPr dirty="0"/>
              <a:t> e </a:t>
            </a:r>
            <a:r>
              <a:rPr dirty="0" err="1"/>
              <a:t>organi</a:t>
            </a:r>
            <a:r>
              <a:rPr dirty="0"/>
              <a:t> </a:t>
            </a:r>
            <a:r>
              <a:rPr dirty="0" err="1"/>
              <a:t>linfatici</a:t>
            </a:r>
            <a:r>
              <a:rPr dirty="0"/>
              <a:t>.</a:t>
            </a:r>
            <a:endParaRPr lang="it-IT" dirty="0"/>
          </a:p>
          <a:p>
            <a:pPr>
              <a:spcAft>
                <a:spcPts val="400"/>
              </a:spcAft>
              <a:defRPr sz="1900" b="0">
                <a:solidFill>
                  <a:srgbClr val="193248"/>
                </a:solidFill>
                <a:latin typeface="Arial"/>
              </a:defRPr>
            </a:pPr>
            <a:r>
              <a:rPr dirty="0"/>
              <a:t>I </a:t>
            </a:r>
            <a:r>
              <a:rPr dirty="0" err="1"/>
              <a:t>linfonodi</a:t>
            </a:r>
            <a:r>
              <a:rPr dirty="0"/>
              <a:t> </a:t>
            </a:r>
            <a:r>
              <a:rPr dirty="0" err="1"/>
              <a:t>si</a:t>
            </a:r>
            <a:r>
              <a:rPr dirty="0"/>
              <a:t> </a:t>
            </a:r>
            <a:r>
              <a:rPr dirty="0" err="1"/>
              <a:t>raggruppano</a:t>
            </a:r>
            <a:r>
              <a:rPr dirty="0"/>
              <a:t> </a:t>
            </a:r>
            <a:r>
              <a:rPr dirty="0" err="1"/>
              <a:t>anche</a:t>
            </a:r>
            <a:r>
              <a:rPr dirty="0"/>
              <a:t> </a:t>
            </a:r>
            <a:r>
              <a:rPr dirty="0" err="1"/>
              <a:t>nel</a:t>
            </a:r>
            <a:r>
              <a:rPr dirty="0"/>
              <a:t> </a:t>
            </a:r>
            <a:r>
              <a:rPr dirty="0" err="1"/>
              <a:t>collo</a:t>
            </a:r>
            <a:r>
              <a:rPr dirty="0"/>
              <a:t>, </a:t>
            </a:r>
            <a:r>
              <a:rPr dirty="0" err="1"/>
              <a:t>nelle</a:t>
            </a:r>
            <a:r>
              <a:rPr dirty="0"/>
              <a:t> </a:t>
            </a:r>
            <a:r>
              <a:rPr dirty="0" err="1"/>
              <a:t>ascelle</a:t>
            </a:r>
            <a:r>
              <a:rPr dirty="0"/>
              <a:t> e </a:t>
            </a:r>
            <a:r>
              <a:rPr dirty="0" err="1"/>
              <a:t>negli</a:t>
            </a:r>
            <a:r>
              <a:rPr dirty="0"/>
              <a:t> </a:t>
            </a:r>
            <a:r>
              <a:rPr dirty="0" err="1"/>
              <a:t>inguini</a:t>
            </a:r>
            <a:r>
              <a:rPr dirty="0"/>
              <a:t>.</a:t>
            </a:r>
          </a:p>
        </p:txBody>
      </p:sp>
      <p:sp>
        <p:nvSpPr>
          <p:cNvPr id="17" name="TextBox 16"/>
          <p:cNvSpPr txBox="1"/>
          <p:nvPr/>
        </p:nvSpPr>
        <p:spPr>
          <a:xfrm>
            <a:off x="704850" y="2587752"/>
            <a:ext cx="4953000" cy="310896"/>
          </a:xfrm>
          <a:prstGeom prst="rect">
            <a:avLst/>
          </a:prstGeom>
          <a:noFill/>
        </p:spPr>
        <p:txBody>
          <a:bodyPr wrap="square" lIns="0" tIns="0" rIns="0" bIns="0">
            <a:noAutofit/>
          </a:bodyPr>
          <a:lstStyle/>
          <a:p>
            <a:pPr>
              <a:spcAft>
                <a:spcPts val="400"/>
              </a:spcAft>
              <a:defRPr sz="1600" b="1">
                <a:solidFill>
                  <a:srgbClr val="087E8B"/>
                </a:solidFill>
                <a:latin typeface="Arial"/>
              </a:defRPr>
            </a:pPr>
            <a:r>
              <a:t>IL PERCORSO VERSO IL SANGUE</a:t>
            </a:r>
          </a:p>
        </p:txBody>
      </p:sp>
      <p:sp>
        <p:nvSpPr>
          <p:cNvPr id="18" name="TextBox 17"/>
          <p:cNvSpPr txBox="1"/>
          <p:nvPr/>
        </p:nvSpPr>
        <p:spPr>
          <a:xfrm>
            <a:off x="704850" y="3017520"/>
            <a:ext cx="5000625" cy="329184"/>
          </a:xfrm>
          <a:prstGeom prst="rect">
            <a:avLst/>
          </a:prstGeom>
          <a:noFill/>
        </p:spPr>
        <p:txBody>
          <a:bodyPr wrap="square" lIns="0" tIns="0" rIns="0" bIns="0">
            <a:noAutofit/>
          </a:bodyPr>
          <a:lstStyle/>
          <a:p>
            <a:pPr>
              <a:spcAft>
                <a:spcPts val="400"/>
              </a:spcAft>
              <a:defRPr sz="2025" b="1">
                <a:solidFill>
                  <a:srgbClr val="087E8B"/>
                </a:solidFill>
                <a:latin typeface="Arial"/>
              </a:defRPr>
            </a:pPr>
            <a:r>
              <a:t>1  Liquido interstiziale</a:t>
            </a:r>
          </a:p>
        </p:txBody>
      </p:sp>
      <p:sp>
        <p:nvSpPr>
          <p:cNvPr id="19" name="TextBox 18"/>
          <p:cNvSpPr txBox="1"/>
          <p:nvPr/>
        </p:nvSpPr>
        <p:spPr>
          <a:xfrm>
            <a:off x="704850" y="3438144"/>
            <a:ext cx="5000625" cy="594360"/>
          </a:xfrm>
          <a:prstGeom prst="rect">
            <a:avLst/>
          </a:prstGeom>
          <a:noFill/>
        </p:spPr>
        <p:txBody>
          <a:bodyPr wrap="square" lIns="0" tIns="0" rIns="0" bIns="0">
            <a:noAutofit/>
          </a:bodyPr>
          <a:lstStyle/>
          <a:p>
            <a:pPr>
              <a:lnSpc>
                <a:spcPts val="2200"/>
              </a:lnSpc>
              <a:spcAft>
                <a:spcPts val="0"/>
              </a:spcAft>
              <a:defRPr sz="1800" b="0">
                <a:solidFill>
                  <a:srgbClr val="193248"/>
                </a:solidFill>
                <a:latin typeface="Arial"/>
              </a:defRPr>
            </a:pPr>
            <a:r>
              <a:t>Il liquido tra le cellule entra nei capillari linfatici e diventa linfa.</a:t>
            </a:r>
            <a:endParaRPr lang="it-IT"/>
          </a:p>
        </p:txBody>
      </p:sp>
      <p:sp>
        <p:nvSpPr>
          <p:cNvPr id="20" name="TextBox 19"/>
          <p:cNvSpPr txBox="1"/>
          <p:nvPr/>
        </p:nvSpPr>
        <p:spPr>
          <a:xfrm>
            <a:off x="704850" y="4096512"/>
            <a:ext cx="5000625" cy="329184"/>
          </a:xfrm>
          <a:prstGeom prst="rect">
            <a:avLst/>
          </a:prstGeom>
          <a:noFill/>
        </p:spPr>
        <p:txBody>
          <a:bodyPr wrap="square" lIns="0" tIns="0" rIns="0" bIns="0">
            <a:noAutofit/>
          </a:bodyPr>
          <a:lstStyle/>
          <a:p>
            <a:pPr>
              <a:spcAft>
                <a:spcPts val="400"/>
              </a:spcAft>
              <a:defRPr sz="2025" b="1">
                <a:solidFill>
                  <a:srgbClr val="087E8B"/>
                </a:solidFill>
                <a:latin typeface="Arial"/>
              </a:defRPr>
            </a:pPr>
            <a:r>
              <a:rPr dirty="0"/>
              <a:t>2  Vasi e </a:t>
            </a:r>
            <a:r>
              <a:rPr lang="it-IT" dirty="0"/>
              <a:t>L</a:t>
            </a:r>
            <a:r>
              <a:rPr dirty="0" err="1"/>
              <a:t>infonodi</a:t>
            </a:r>
            <a:endParaRPr dirty="0"/>
          </a:p>
        </p:txBody>
      </p:sp>
      <p:sp>
        <p:nvSpPr>
          <p:cNvPr id="21" name="TextBox 20"/>
          <p:cNvSpPr txBox="1"/>
          <p:nvPr/>
        </p:nvSpPr>
        <p:spPr>
          <a:xfrm>
            <a:off x="704850" y="4517136"/>
            <a:ext cx="5000625" cy="594360"/>
          </a:xfrm>
          <a:prstGeom prst="rect">
            <a:avLst/>
          </a:prstGeom>
          <a:noFill/>
        </p:spPr>
        <p:txBody>
          <a:bodyPr wrap="square" lIns="0" tIns="0" rIns="0" bIns="0">
            <a:noAutofit/>
          </a:bodyPr>
          <a:lstStyle/>
          <a:p>
            <a:pPr>
              <a:lnSpc>
                <a:spcPts val="2200"/>
              </a:lnSpc>
              <a:spcAft>
                <a:spcPts val="0"/>
              </a:spcAft>
              <a:defRPr sz="1800" b="0">
                <a:solidFill>
                  <a:srgbClr val="193248"/>
                </a:solidFill>
                <a:latin typeface="Arial"/>
              </a:defRPr>
            </a:pPr>
            <a:r>
              <a:t>I vasi trasportano la linfa. I linfonodi la filtrano e favoriscono la risposta immunitaria.</a:t>
            </a:r>
            <a:endParaRPr lang="it-IT"/>
          </a:p>
        </p:txBody>
      </p:sp>
      <p:sp>
        <p:nvSpPr>
          <p:cNvPr id="22" name="TextBox 21"/>
          <p:cNvSpPr txBox="1"/>
          <p:nvPr/>
        </p:nvSpPr>
        <p:spPr>
          <a:xfrm>
            <a:off x="704850" y="5175504"/>
            <a:ext cx="5000625" cy="329184"/>
          </a:xfrm>
          <a:prstGeom prst="rect">
            <a:avLst/>
          </a:prstGeom>
          <a:noFill/>
        </p:spPr>
        <p:txBody>
          <a:bodyPr wrap="square" lIns="0" tIns="0" rIns="0" bIns="0">
            <a:noAutofit/>
          </a:bodyPr>
          <a:lstStyle/>
          <a:p>
            <a:pPr>
              <a:spcAft>
                <a:spcPts val="400"/>
              </a:spcAft>
              <a:defRPr sz="2025" b="1">
                <a:solidFill>
                  <a:srgbClr val="087E8B"/>
                </a:solidFill>
                <a:latin typeface="Arial"/>
              </a:defRPr>
            </a:pPr>
            <a:r>
              <a:t>3  Dotti e ritorno venoso</a:t>
            </a:r>
          </a:p>
        </p:txBody>
      </p:sp>
      <p:sp>
        <p:nvSpPr>
          <p:cNvPr id="23" name="TextBox 22"/>
          <p:cNvSpPr txBox="1"/>
          <p:nvPr/>
        </p:nvSpPr>
        <p:spPr>
          <a:xfrm>
            <a:off x="704850" y="5596128"/>
            <a:ext cx="5000625" cy="594360"/>
          </a:xfrm>
          <a:prstGeom prst="rect">
            <a:avLst/>
          </a:prstGeom>
          <a:noFill/>
        </p:spPr>
        <p:txBody>
          <a:bodyPr wrap="square" lIns="0" tIns="0" rIns="0" bIns="0">
            <a:noAutofit/>
          </a:bodyPr>
          <a:lstStyle/>
          <a:p>
            <a:pPr>
              <a:lnSpc>
                <a:spcPts val="2200"/>
              </a:lnSpc>
              <a:spcAft>
                <a:spcPts val="0"/>
              </a:spcAft>
              <a:defRPr sz="1800" b="0">
                <a:solidFill>
                  <a:srgbClr val="193248"/>
                </a:solidFill>
                <a:latin typeface="Arial"/>
              </a:defRPr>
            </a:pPr>
            <a:r>
              <a:t>Dotto toracico e dotto linfatico destro riportano la linfa nel sangue alla base del collo.</a:t>
            </a:r>
            <a:endParaRPr lang="it-IT"/>
          </a:p>
        </p:txBody>
      </p:sp>
      <p:sp>
        <p:nvSpPr>
          <p:cNvPr id="24" name="TextBox 23"/>
          <p:cNvSpPr txBox="1"/>
          <p:nvPr/>
        </p:nvSpPr>
        <p:spPr>
          <a:xfrm>
            <a:off x="6419850" y="2587752"/>
            <a:ext cx="5048250" cy="310896"/>
          </a:xfrm>
          <a:prstGeom prst="rect">
            <a:avLst/>
          </a:prstGeom>
          <a:noFill/>
        </p:spPr>
        <p:txBody>
          <a:bodyPr wrap="square" lIns="0" tIns="0" rIns="0" bIns="0">
            <a:noAutofit/>
          </a:bodyPr>
          <a:lstStyle/>
          <a:p>
            <a:pPr>
              <a:spcAft>
                <a:spcPts val="400"/>
              </a:spcAft>
              <a:defRPr sz="1600" b="1">
                <a:solidFill>
                  <a:srgbClr val="087E8B"/>
                </a:solidFill>
                <a:latin typeface="Arial"/>
              </a:defRPr>
            </a:pPr>
            <a:r>
              <a:t>ORGANI E FUNZIONI DISTINTE</a:t>
            </a:r>
          </a:p>
        </p:txBody>
      </p:sp>
      <p:sp>
        <p:nvSpPr>
          <p:cNvPr id="25" name="TextBox 24"/>
          <p:cNvSpPr txBox="1"/>
          <p:nvPr/>
        </p:nvSpPr>
        <p:spPr>
          <a:xfrm>
            <a:off x="6419850" y="3017520"/>
            <a:ext cx="5048250" cy="329184"/>
          </a:xfrm>
          <a:prstGeom prst="rect">
            <a:avLst/>
          </a:prstGeom>
          <a:noFill/>
        </p:spPr>
        <p:txBody>
          <a:bodyPr wrap="square" lIns="0" tIns="0" rIns="0" bIns="0">
            <a:noAutofit/>
          </a:bodyPr>
          <a:lstStyle/>
          <a:p>
            <a:pPr>
              <a:spcAft>
                <a:spcPts val="400"/>
              </a:spcAft>
              <a:defRPr sz="2025" b="1">
                <a:solidFill>
                  <a:srgbClr val="087E8B"/>
                </a:solidFill>
                <a:latin typeface="Arial"/>
              </a:defRPr>
            </a:pPr>
            <a:r>
              <a:t>Milza</a:t>
            </a:r>
          </a:p>
        </p:txBody>
      </p:sp>
      <p:sp>
        <p:nvSpPr>
          <p:cNvPr id="26" name="TextBox 25"/>
          <p:cNvSpPr txBox="1"/>
          <p:nvPr/>
        </p:nvSpPr>
        <p:spPr>
          <a:xfrm>
            <a:off x="6419850" y="3438144"/>
            <a:ext cx="5048250" cy="914400"/>
          </a:xfrm>
          <a:prstGeom prst="rect">
            <a:avLst/>
          </a:prstGeom>
          <a:noFill/>
        </p:spPr>
        <p:txBody>
          <a:bodyPr wrap="square" lIns="0" tIns="0" rIns="0" bIns="0">
            <a:noAutofit/>
          </a:bodyPr>
          <a:lstStyle/>
          <a:p>
            <a:pPr>
              <a:lnSpc>
                <a:spcPts val="2200"/>
              </a:lnSpc>
              <a:spcAft>
                <a:spcPts val="0"/>
              </a:spcAft>
              <a:defRPr sz="1800" b="0">
                <a:solidFill>
                  <a:srgbClr val="193248"/>
                </a:solidFill>
                <a:latin typeface="Arial"/>
              </a:defRPr>
            </a:pPr>
            <a:r>
              <a:t>Nell’addome superiore sinistro, dietro lo stomaco. Filtra il sangue, rimuove eritrociti vecchi e partecipa alla difesa.</a:t>
            </a:r>
            <a:endParaRPr lang="it-IT"/>
          </a:p>
        </p:txBody>
      </p:sp>
      <p:sp>
        <p:nvSpPr>
          <p:cNvPr id="27" name="TextBox 26"/>
          <p:cNvSpPr txBox="1"/>
          <p:nvPr/>
        </p:nvSpPr>
        <p:spPr>
          <a:xfrm>
            <a:off x="6419850" y="4681728"/>
            <a:ext cx="5048250" cy="329184"/>
          </a:xfrm>
          <a:prstGeom prst="rect">
            <a:avLst/>
          </a:prstGeom>
          <a:noFill/>
        </p:spPr>
        <p:txBody>
          <a:bodyPr wrap="square" lIns="0" tIns="0" rIns="0" bIns="0">
            <a:noAutofit/>
          </a:bodyPr>
          <a:lstStyle/>
          <a:p>
            <a:pPr>
              <a:spcAft>
                <a:spcPts val="400"/>
              </a:spcAft>
              <a:defRPr sz="2025" b="1">
                <a:solidFill>
                  <a:srgbClr val="087E8B"/>
                </a:solidFill>
                <a:latin typeface="Arial"/>
              </a:defRPr>
            </a:pPr>
            <a:r>
              <a:rPr dirty="0" err="1"/>
              <a:t>Midollo</a:t>
            </a:r>
            <a:r>
              <a:rPr dirty="0"/>
              <a:t> </a:t>
            </a:r>
            <a:r>
              <a:rPr dirty="0" err="1"/>
              <a:t>osseo</a:t>
            </a:r>
            <a:r>
              <a:rPr dirty="0"/>
              <a:t> e </a:t>
            </a:r>
            <a:r>
              <a:rPr lang="it-IT" dirty="0"/>
              <a:t>T</a:t>
            </a:r>
            <a:r>
              <a:rPr dirty="0"/>
              <a:t>imo</a:t>
            </a:r>
          </a:p>
        </p:txBody>
      </p:sp>
      <p:sp>
        <p:nvSpPr>
          <p:cNvPr id="28" name="TextBox 27"/>
          <p:cNvSpPr txBox="1"/>
          <p:nvPr/>
        </p:nvSpPr>
        <p:spPr>
          <a:xfrm>
            <a:off x="6419850" y="5102352"/>
            <a:ext cx="5048250" cy="969264"/>
          </a:xfrm>
          <a:prstGeom prst="rect">
            <a:avLst/>
          </a:prstGeom>
          <a:noFill/>
        </p:spPr>
        <p:txBody>
          <a:bodyPr wrap="square" lIns="0" tIns="0" rIns="0" bIns="0">
            <a:noAutofit/>
          </a:bodyPr>
          <a:lstStyle/>
          <a:p>
            <a:pPr>
              <a:lnSpc>
                <a:spcPts val="2200"/>
              </a:lnSpc>
              <a:spcAft>
                <a:spcPts val="0"/>
              </a:spcAft>
              <a:defRPr sz="1800" b="0">
                <a:solidFill>
                  <a:srgbClr val="193248"/>
                </a:solidFill>
                <a:latin typeface="Arial"/>
              </a:defRPr>
            </a:pPr>
            <a:r>
              <a:rPr dirty="0"/>
              <a:t>Il </a:t>
            </a:r>
            <a:r>
              <a:rPr dirty="0" err="1"/>
              <a:t>midollo</a:t>
            </a:r>
            <a:r>
              <a:rPr dirty="0"/>
              <a:t> </a:t>
            </a:r>
            <a:r>
              <a:rPr lang="it-IT" dirty="0"/>
              <a:t>osseo rosso </a:t>
            </a:r>
            <a:r>
              <a:rPr dirty="0"/>
              <a:t>forma le cellule del </a:t>
            </a:r>
            <a:r>
              <a:rPr dirty="0" err="1"/>
              <a:t>sangue</a:t>
            </a:r>
            <a:r>
              <a:rPr lang="it-IT" dirty="0"/>
              <a:t> attraverso l’emopoiesi</a:t>
            </a:r>
            <a:r>
              <a:rPr dirty="0"/>
              <a:t>. Nel </a:t>
            </a:r>
            <a:r>
              <a:rPr lang="it-IT" dirty="0"/>
              <a:t>T</a:t>
            </a:r>
            <a:r>
              <a:rPr dirty="0"/>
              <a:t>imo, </a:t>
            </a:r>
            <a:r>
              <a:rPr lang="it-IT" dirty="0"/>
              <a:t>situato </a:t>
            </a:r>
            <a:r>
              <a:rPr dirty="0" err="1"/>
              <a:t>dietro</a:t>
            </a:r>
            <a:r>
              <a:rPr dirty="0"/>
              <a:t> lo </a:t>
            </a:r>
            <a:r>
              <a:rPr dirty="0" err="1"/>
              <a:t>sterno</a:t>
            </a:r>
            <a:r>
              <a:rPr dirty="0"/>
              <a:t>, </a:t>
            </a:r>
            <a:r>
              <a:rPr dirty="0" err="1"/>
              <a:t>maturano</a:t>
            </a:r>
            <a:r>
              <a:rPr dirty="0"/>
              <a:t> </a:t>
            </a:r>
            <a:r>
              <a:rPr dirty="0" err="1"/>
              <a:t>i</a:t>
            </a:r>
            <a:r>
              <a:rPr dirty="0"/>
              <a:t> </a:t>
            </a:r>
            <a:r>
              <a:rPr dirty="0" err="1"/>
              <a:t>linfociti</a:t>
            </a:r>
            <a:r>
              <a:rPr dirty="0"/>
              <a:t> T.</a:t>
            </a:r>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SISTEMA LINFATICO E IMMUNITARIO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La milza</a:t>
            </a:r>
            <a:endParaRPr sz="3225" b="1">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15</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Filtrazione del sangue e difesa immunitaria</a:t>
            </a:r>
            <a:endParaRPr sz="1900" b="0">
              <a:solidFill>
                <a:srgbClr val="087E8B"/>
              </a:solidFill>
              <a:latin typeface="Arial"/>
            </a:endParaRPr>
          </a:p>
        </p:txBody>
      </p:sp>
      <p:pic>
        <p:nvPicPr>
          <p:cNvPr id="8" name="Picture 7" descr="Illustrazione anatomica schematica generata con IA: La milza"/>
          <p:cNvPicPr>
            <a:picLocks noChangeAspect="1"/>
          </p:cNvPicPr>
          <p:nvPr/>
        </p:nvPicPr>
        <p:blipFill>
          <a:blip r:embed="rId3"/>
          <a:stretch>
            <a:fillRect/>
          </a:stretch>
        </p:blipFill>
        <p:spPr>
          <a:xfrm>
            <a:off x="1175083" y="2100834"/>
            <a:ext cx="2807049" cy="3250692"/>
          </a:xfrm>
          <a:prstGeom prst="rect">
            <a:avLst/>
          </a:prstGeom>
        </p:spPr>
      </p:pic>
      <p:sp>
        <p:nvSpPr>
          <p:cNvPr id="9" name="Organ profile 9"/>
          <p:cNvSpPr txBox="1"/>
          <p:nvPr/>
        </p:nvSpPr>
        <p:spPr>
          <a:xfrm>
            <a:off x="667512" y="5696712"/>
            <a:ext cx="3886200" cy="612648"/>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Nell’addome superiore sinistro,</a:t>
            </a:r>
          </a:p>
          <a:p>
            <a:pPr algn="ctr">
              <a:lnSpc>
                <a:spcPct val="105000"/>
              </a:lnSpc>
              <a:spcBef>
                <a:spcPts val="0"/>
              </a:spcBef>
              <a:spcAft>
                <a:spcPts val="0"/>
              </a:spcAft>
            </a:pPr>
            <a:r>
              <a:rPr sz="1650" b="0">
                <a:solidFill>
                  <a:srgbClr val="087E8B"/>
                </a:solidFill>
                <a:latin typeface="Arial"/>
              </a:rPr>
              <a:t>sotto il diaframma e dietro lo stomaco.</a:t>
            </a:r>
          </a:p>
        </p:txBody>
      </p:sp>
      <p:sp>
        <p:nvSpPr>
          <p:cNvPr id="10" name="Organ profile 10"/>
          <p:cNvSpPr txBox="1"/>
          <p:nvPr/>
        </p:nvSpPr>
        <p:spPr>
          <a:xfrm>
            <a:off x="4800600" y="196596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Polpa rossa: filtrazione del sangue</a:t>
            </a:r>
            <a:endParaRPr sz="2000" b="1">
              <a:solidFill>
                <a:srgbClr val="123F67"/>
              </a:solidFill>
              <a:latin typeface="Arial"/>
            </a:endParaRPr>
          </a:p>
        </p:txBody>
      </p:sp>
      <p:sp>
        <p:nvSpPr>
          <p:cNvPr id="11" name="Organ profile 11"/>
          <p:cNvSpPr txBox="1"/>
          <p:nvPr/>
        </p:nvSpPr>
        <p:spPr>
          <a:xfrm>
            <a:off x="4800600" y="235915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lang="it-IT" sz="1850" b="0">
                <a:solidFill>
                  <a:srgbClr val="193248"/>
                </a:solidFill>
                <a:latin typeface="Arial"/>
              </a:rPr>
              <a:t>I macrofagi eliminano i globuli rossi vecchi o danneggiati e recuperano il ferro che contengono.</a:t>
            </a:r>
          </a:p>
        </p:txBody>
      </p:sp>
      <p:sp>
        <p:nvSpPr>
          <p:cNvPr id="12" name="Organ profile 12"/>
          <p:cNvSpPr txBox="1"/>
          <p:nvPr/>
        </p:nvSpPr>
        <p:spPr>
          <a:xfrm>
            <a:off x="4800600" y="338328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Polpa bianca: difesa dalle infezioni</a:t>
            </a:r>
            <a:endParaRPr sz="2000" b="1">
              <a:solidFill>
                <a:srgbClr val="123F67"/>
              </a:solidFill>
              <a:latin typeface="Arial"/>
            </a:endParaRPr>
          </a:p>
        </p:txBody>
      </p:sp>
      <p:sp>
        <p:nvSpPr>
          <p:cNvPr id="13" name="Organ profile 13"/>
          <p:cNvSpPr txBox="1"/>
          <p:nvPr/>
        </p:nvSpPr>
        <p:spPr>
          <a:xfrm>
            <a:off x="4800600" y="377647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lang="it-IT" sz="1850" b="0">
                <a:solidFill>
                  <a:srgbClr val="193248"/>
                </a:solidFill>
                <a:latin typeface="Arial"/>
              </a:rPr>
              <a:t>Contiene linfociti e altre cellule immunitarie che riconoscono gli antigeni nel sangue e attivano la difesa contro le infezioni.</a:t>
            </a:r>
          </a:p>
        </p:txBody>
      </p:sp>
      <p:sp>
        <p:nvSpPr>
          <p:cNvPr id="14" name="Organ profile 14"/>
          <p:cNvSpPr txBox="1"/>
          <p:nvPr/>
        </p:nvSpPr>
        <p:spPr>
          <a:xfrm>
            <a:off x="4800600" y="480060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Riserva di piastrine</a:t>
            </a:r>
            <a:endParaRPr sz="2000" b="1" dirty="0">
              <a:solidFill>
                <a:srgbClr val="123F67"/>
              </a:solidFill>
              <a:latin typeface="Arial"/>
            </a:endParaRPr>
          </a:p>
        </p:txBody>
      </p:sp>
      <p:sp>
        <p:nvSpPr>
          <p:cNvPr id="15" name="Organ profile 15"/>
          <p:cNvSpPr txBox="1"/>
          <p:nvPr/>
        </p:nvSpPr>
        <p:spPr>
          <a:xfrm>
            <a:off x="4800600" y="519379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La milza </a:t>
            </a:r>
            <a:r>
              <a:rPr lang="it-IT" sz="1850" b="0">
                <a:solidFill>
                  <a:srgbClr val="193248"/>
                </a:solidFill>
                <a:latin typeface="Arial"/>
              </a:rPr>
              <a:t>trattiene una parte delle piastrine</a:t>
            </a:r>
            <a:r>
              <a:rPr sz="1850" b="0">
                <a:solidFill>
                  <a:srgbClr val="193248"/>
                </a:solidFill>
                <a:latin typeface="Arial"/>
              </a:rPr>
              <a:t>, </a:t>
            </a:r>
            <a:r>
              <a:rPr lang="it-IT" sz="1850" b="0">
                <a:solidFill>
                  <a:srgbClr val="193248"/>
                </a:solidFill>
                <a:latin typeface="Arial"/>
              </a:rPr>
              <a:t>che partecipano alla coagulazione del sangue</a:t>
            </a:r>
            <a:r>
              <a:rPr sz="1850" b="0">
                <a:solidFill>
                  <a:srgbClr val="193248"/>
                </a:solidFill>
                <a:latin typeface="Aria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SISTEMA LINFATICO E IMMUNITARIO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I linfonodi</a:t>
            </a:r>
            <a:endParaRPr sz="3225" b="1">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16</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Filtrazione della linfa e attivazione della risposta immunitaria</a:t>
            </a:r>
            <a:endParaRPr sz="1900" b="0">
              <a:solidFill>
                <a:srgbClr val="087E8B"/>
              </a:solidFill>
              <a:latin typeface="Arial"/>
            </a:endParaRPr>
          </a:p>
        </p:txBody>
      </p:sp>
      <p:sp>
        <p:nvSpPr>
          <p:cNvPr id="9" name="Organ profile 9"/>
          <p:cNvSpPr txBox="1"/>
          <p:nvPr/>
        </p:nvSpPr>
        <p:spPr>
          <a:xfrm>
            <a:off x="667512" y="5696712"/>
            <a:ext cx="3886200" cy="612648"/>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Lungo i vasi linfatici, anche nel collo,
nelle ascelle e negli inguini.</a:t>
            </a:r>
          </a:p>
        </p:txBody>
      </p:sp>
      <p:sp>
        <p:nvSpPr>
          <p:cNvPr id="10" name="Organ profile 10"/>
          <p:cNvSpPr txBox="1"/>
          <p:nvPr/>
        </p:nvSpPr>
        <p:spPr>
          <a:xfrm>
            <a:off x="4800600" y="196596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Struttura e passaggio della linfa</a:t>
            </a:r>
            <a:endParaRPr sz="2000" b="1">
              <a:solidFill>
                <a:srgbClr val="123F67"/>
              </a:solidFill>
              <a:latin typeface="Arial"/>
            </a:endParaRPr>
          </a:p>
        </p:txBody>
      </p:sp>
      <p:sp>
        <p:nvSpPr>
          <p:cNvPr id="11" name="Organ profile 11"/>
          <p:cNvSpPr txBox="1"/>
          <p:nvPr/>
        </p:nvSpPr>
        <p:spPr>
          <a:xfrm>
            <a:off x="4800600" y="235915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lang="it-IT" sz="1850" b="0">
                <a:solidFill>
                  <a:srgbClr val="193248"/>
                </a:solidFill>
                <a:latin typeface="Arial"/>
              </a:rPr>
              <a:t>Sono piccoli organi a forma di fagiolo. La linfa entra dai vasi afferenti, attraversa il linfonodo ed esce dai vasi efferenti.</a:t>
            </a:r>
          </a:p>
        </p:txBody>
      </p:sp>
      <p:sp>
        <p:nvSpPr>
          <p:cNvPr id="12" name="Organ profile 12"/>
          <p:cNvSpPr txBox="1"/>
          <p:nvPr/>
        </p:nvSpPr>
        <p:spPr>
          <a:xfrm>
            <a:off x="4800600" y="338328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Filtrazione della linfa</a:t>
            </a:r>
            <a:endParaRPr sz="2000" b="1">
              <a:solidFill>
                <a:srgbClr val="123F67"/>
              </a:solidFill>
              <a:latin typeface="Arial"/>
            </a:endParaRPr>
          </a:p>
        </p:txBody>
      </p:sp>
      <p:sp>
        <p:nvSpPr>
          <p:cNvPr id="13" name="Organ profile 13"/>
          <p:cNvSpPr txBox="1"/>
          <p:nvPr/>
        </p:nvSpPr>
        <p:spPr>
          <a:xfrm>
            <a:off x="4800600" y="377647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lang="it-IT" sz="1850" b="0" dirty="0">
                <a:solidFill>
                  <a:srgbClr val="193248"/>
                </a:solidFill>
                <a:latin typeface="Arial"/>
              </a:rPr>
              <a:t>I macrofagi e altre cellule immunitarie trattengono ed eliminano microrganismi e detriti cellulari trasportati nella linfa dai tessuti.</a:t>
            </a:r>
          </a:p>
        </p:txBody>
      </p:sp>
      <p:sp>
        <p:nvSpPr>
          <p:cNvPr id="14" name="Organ profile 14"/>
          <p:cNvSpPr txBox="1"/>
          <p:nvPr/>
        </p:nvSpPr>
        <p:spPr>
          <a:xfrm>
            <a:off x="4800600" y="480060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Attivazione dei linfociti</a:t>
            </a:r>
            <a:endParaRPr sz="2000" b="1">
              <a:solidFill>
                <a:srgbClr val="123F67"/>
              </a:solidFill>
              <a:latin typeface="Arial"/>
            </a:endParaRPr>
          </a:p>
        </p:txBody>
      </p:sp>
      <p:sp>
        <p:nvSpPr>
          <p:cNvPr id="15" name="Organ profile 15"/>
          <p:cNvSpPr txBox="1"/>
          <p:nvPr/>
        </p:nvSpPr>
        <p:spPr>
          <a:xfrm>
            <a:off x="4800600" y="519379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L’incontro con gli antigeni favorisce l’attivazione e la moltiplicazione dei linfociti B e T, che avviano una risposta immunitaria specifica.</a:t>
            </a:r>
          </a:p>
        </p:txBody>
      </p:sp>
      <p:pic>
        <p:nvPicPr>
          <p:cNvPr id="17" name="Picture 16" descr="Illustrazione didattica di un linfonodo in sezione, con vasi linfatici. Immagine generata con IA."/>
          <p:cNvPicPr>
            <a:picLocks noChangeAspect="1"/>
          </p:cNvPicPr>
          <p:nvPr/>
        </p:nvPicPr>
        <p:blipFill>
          <a:blip r:embed="rId3"/>
          <a:stretch>
            <a:fillRect/>
          </a:stretch>
        </p:blipFill>
        <p:spPr>
          <a:xfrm>
            <a:off x="814521" y="2057400"/>
            <a:ext cx="3528173" cy="3429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SISTEMA LINFATICO E IMMUNITARIO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dirty="0" err="1">
                <a:solidFill>
                  <a:srgbClr val="123F67"/>
                </a:solidFill>
                <a:latin typeface="Arial"/>
                <a:ea typeface="Arial"/>
                <a:cs typeface="Arial"/>
              </a:rPr>
              <a:t>Midollo</a:t>
            </a:r>
            <a:r>
              <a:rPr sz="3000" b="1" dirty="0">
                <a:solidFill>
                  <a:srgbClr val="123F67"/>
                </a:solidFill>
                <a:latin typeface="Arial"/>
                <a:ea typeface="Arial"/>
                <a:cs typeface="Arial"/>
              </a:rPr>
              <a:t> </a:t>
            </a:r>
            <a:r>
              <a:rPr sz="3000" b="1" dirty="0" err="1">
                <a:solidFill>
                  <a:srgbClr val="123F67"/>
                </a:solidFill>
                <a:latin typeface="Arial"/>
                <a:ea typeface="Arial"/>
                <a:cs typeface="Arial"/>
              </a:rPr>
              <a:t>osseo</a:t>
            </a:r>
            <a:r>
              <a:rPr sz="3000" b="1" dirty="0">
                <a:solidFill>
                  <a:srgbClr val="123F67"/>
                </a:solidFill>
                <a:latin typeface="Arial"/>
                <a:ea typeface="Arial"/>
                <a:cs typeface="Arial"/>
              </a:rPr>
              <a:t> e </a:t>
            </a:r>
            <a:r>
              <a:rPr lang="it-IT" sz="3000" b="1" dirty="0">
                <a:solidFill>
                  <a:srgbClr val="123F67"/>
                </a:solidFill>
                <a:latin typeface="Arial"/>
                <a:ea typeface="Arial"/>
                <a:cs typeface="Arial"/>
              </a:rPr>
              <a:t>T</a:t>
            </a:r>
            <a:r>
              <a:rPr sz="3000" b="1" dirty="0">
                <a:solidFill>
                  <a:srgbClr val="123F67"/>
                </a:solidFill>
                <a:latin typeface="Arial"/>
                <a:ea typeface="Arial"/>
                <a:cs typeface="Arial"/>
              </a:rPr>
              <a:t>imo</a:t>
            </a:r>
            <a:endParaRPr sz="3225" b="1" dirty="0">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17</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Produzione delle cellule del sangue e maturazione dei linfociti</a:t>
            </a:r>
            <a:endParaRPr sz="1900" b="0">
              <a:solidFill>
                <a:srgbClr val="087E8B"/>
              </a:solidFill>
              <a:latin typeface="Arial"/>
            </a:endParaRPr>
          </a:p>
        </p:txBody>
      </p:sp>
      <p:pic>
        <p:nvPicPr>
          <p:cNvPr id="8" name="Picture 7" descr="Illustrazione anatomica schematica generata con IA: Midollo osseo e timo"/>
          <p:cNvPicPr>
            <a:picLocks noChangeAspect="1"/>
          </p:cNvPicPr>
          <p:nvPr/>
        </p:nvPicPr>
        <p:blipFill>
          <a:blip r:embed="rId3"/>
          <a:stretch>
            <a:fillRect/>
          </a:stretch>
        </p:blipFill>
        <p:spPr>
          <a:xfrm>
            <a:off x="982285" y="2101296"/>
            <a:ext cx="3192644" cy="3249769"/>
          </a:xfrm>
          <a:prstGeom prst="rect">
            <a:avLst/>
          </a:prstGeom>
        </p:spPr>
      </p:pic>
      <p:sp>
        <p:nvSpPr>
          <p:cNvPr id="9" name="Organ profile 9"/>
          <p:cNvSpPr txBox="1"/>
          <p:nvPr/>
        </p:nvSpPr>
        <p:spPr>
          <a:xfrm>
            <a:off x="731520" y="5477256"/>
            <a:ext cx="1947672" cy="841248"/>
          </a:xfrm>
          <a:prstGeom prst="rect">
            <a:avLst/>
          </a:prstGeom>
          <a:noFill/>
        </p:spPr>
        <p:txBody>
          <a:bodyPr wrap="square" lIns="0" tIns="0" rIns="0" bIns="0" anchor="t">
            <a:noAutofit/>
          </a:bodyPr>
          <a:lstStyle/>
          <a:p>
            <a:pPr algn="ctr">
              <a:lnSpc>
                <a:spcPct val="105000"/>
              </a:lnSpc>
              <a:spcBef>
                <a:spcPts val="0"/>
              </a:spcBef>
              <a:spcAft>
                <a:spcPts val="0"/>
              </a:spcAft>
            </a:pPr>
            <a:r>
              <a:rPr sz="1650" b="0" dirty="0" err="1">
                <a:solidFill>
                  <a:srgbClr val="087E8B"/>
                </a:solidFill>
                <a:latin typeface="Arial"/>
              </a:rPr>
              <a:t>Midollo</a:t>
            </a:r>
            <a:r>
              <a:rPr lang="it-IT" sz="1650" b="0" dirty="0">
                <a:solidFill>
                  <a:srgbClr val="087E8B"/>
                </a:solidFill>
                <a:latin typeface="Arial"/>
              </a:rPr>
              <a:t> osseo</a:t>
            </a:r>
            <a:r>
              <a:rPr sz="1650" b="0" dirty="0">
                <a:solidFill>
                  <a:srgbClr val="087E8B"/>
                </a:solidFill>
                <a:latin typeface="Arial"/>
              </a:rPr>
              <a:t>: </a:t>
            </a:r>
            <a:r>
              <a:rPr sz="1650" b="0" dirty="0" err="1">
                <a:solidFill>
                  <a:srgbClr val="087E8B"/>
                </a:solidFill>
                <a:latin typeface="Arial"/>
              </a:rPr>
              <a:t>all’interno</a:t>
            </a:r>
            <a:r>
              <a:rPr sz="1650" b="0" dirty="0">
                <a:solidFill>
                  <a:srgbClr val="087E8B"/>
                </a:solidFill>
                <a:latin typeface="Arial"/>
              </a:rPr>
              <a:t> delle ossa.</a:t>
            </a:r>
          </a:p>
        </p:txBody>
      </p:sp>
      <p:sp>
        <p:nvSpPr>
          <p:cNvPr id="10" name="Organ profile 10"/>
          <p:cNvSpPr txBox="1"/>
          <p:nvPr/>
        </p:nvSpPr>
        <p:spPr>
          <a:xfrm>
            <a:off x="4800600" y="196596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Midollo osseo rosso: produzione</a:t>
            </a:r>
          </a:p>
        </p:txBody>
      </p:sp>
      <p:sp>
        <p:nvSpPr>
          <p:cNvPr id="11" name="Organ profile 11"/>
          <p:cNvSpPr txBox="1"/>
          <p:nvPr/>
        </p:nvSpPr>
        <p:spPr>
          <a:xfrm>
            <a:off x="4800600" y="2377440"/>
            <a:ext cx="6748272" cy="978408"/>
          </a:xfrm>
          <a:prstGeom prst="rect">
            <a:avLst/>
          </a:prstGeom>
          <a:noFill/>
        </p:spPr>
        <p:txBody>
          <a:bodyPr wrap="square" lIns="0" tIns="0" rIns="0" bIns="0" anchor="t">
            <a:noAutofit/>
          </a:bodyPr>
          <a:lstStyle/>
          <a:p>
            <a:pPr algn="l">
              <a:lnSpc>
                <a:spcPct val="105000"/>
              </a:lnSpc>
              <a:spcBef>
                <a:spcPts val="0"/>
              </a:spcBef>
              <a:spcAft>
                <a:spcPts val="0"/>
              </a:spcAft>
            </a:pPr>
            <a:r>
              <a:rPr sz="1850" b="0" dirty="0">
                <a:solidFill>
                  <a:srgbClr val="193248"/>
                </a:solidFill>
                <a:latin typeface="Arial"/>
              </a:rPr>
              <a:t>Le cellule </a:t>
            </a:r>
            <a:r>
              <a:rPr sz="1850" b="0" dirty="0" err="1">
                <a:solidFill>
                  <a:srgbClr val="193248"/>
                </a:solidFill>
                <a:latin typeface="Arial"/>
              </a:rPr>
              <a:t>staminali</a:t>
            </a:r>
            <a:r>
              <a:rPr sz="1850" b="0" dirty="0">
                <a:solidFill>
                  <a:srgbClr val="193248"/>
                </a:solidFill>
                <a:latin typeface="Arial"/>
              </a:rPr>
              <a:t> </a:t>
            </a:r>
            <a:r>
              <a:rPr sz="1850" b="0" dirty="0" err="1">
                <a:solidFill>
                  <a:srgbClr val="193248"/>
                </a:solidFill>
                <a:latin typeface="Arial"/>
              </a:rPr>
              <a:t>danno</a:t>
            </a:r>
            <a:r>
              <a:rPr sz="1850" b="0" dirty="0">
                <a:solidFill>
                  <a:srgbClr val="193248"/>
                </a:solidFill>
                <a:latin typeface="Arial"/>
              </a:rPr>
              <a:t> origine a </a:t>
            </a:r>
            <a:r>
              <a:rPr sz="1850" b="0" dirty="0" err="1">
                <a:solidFill>
                  <a:srgbClr val="193248"/>
                </a:solidFill>
                <a:latin typeface="Arial"/>
              </a:rPr>
              <a:t>globuli</a:t>
            </a:r>
            <a:r>
              <a:rPr sz="1850" b="0" dirty="0">
                <a:solidFill>
                  <a:srgbClr val="193248"/>
                </a:solidFill>
                <a:latin typeface="Arial"/>
              </a:rPr>
              <a:t> rossi, </a:t>
            </a:r>
            <a:r>
              <a:rPr sz="1850" b="0" dirty="0" err="1">
                <a:solidFill>
                  <a:srgbClr val="193248"/>
                </a:solidFill>
                <a:latin typeface="Arial"/>
              </a:rPr>
              <a:t>globuli</a:t>
            </a:r>
            <a:r>
              <a:rPr sz="1850" b="0" dirty="0">
                <a:solidFill>
                  <a:srgbClr val="193248"/>
                </a:solidFill>
                <a:latin typeface="Arial"/>
              </a:rPr>
              <a:t> </a:t>
            </a:r>
            <a:r>
              <a:rPr sz="1850" b="0" dirty="0" err="1">
                <a:solidFill>
                  <a:srgbClr val="193248"/>
                </a:solidFill>
                <a:latin typeface="Arial"/>
              </a:rPr>
              <a:t>bianchi</a:t>
            </a:r>
            <a:r>
              <a:rPr sz="1850" b="0" dirty="0">
                <a:solidFill>
                  <a:srgbClr val="193248"/>
                </a:solidFill>
                <a:latin typeface="Arial"/>
              </a:rPr>
              <a:t> e </a:t>
            </a:r>
            <a:r>
              <a:rPr sz="1850" b="0" dirty="0" err="1">
                <a:solidFill>
                  <a:srgbClr val="193248"/>
                </a:solidFill>
                <a:latin typeface="Arial"/>
              </a:rPr>
              <a:t>piastrine</a:t>
            </a:r>
            <a:r>
              <a:rPr sz="1850" b="0" dirty="0">
                <a:solidFill>
                  <a:srgbClr val="193248"/>
                </a:solidFill>
                <a:latin typeface="Arial"/>
              </a:rPr>
              <a:t>. </a:t>
            </a:r>
            <a:r>
              <a:rPr sz="1850" b="0" dirty="0" err="1">
                <a:solidFill>
                  <a:srgbClr val="193248"/>
                </a:solidFill>
                <a:latin typeface="Arial"/>
              </a:rPr>
              <a:t>Questo</a:t>
            </a:r>
            <a:r>
              <a:rPr sz="1850" b="0" dirty="0">
                <a:solidFill>
                  <a:srgbClr val="193248"/>
                </a:solidFill>
                <a:latin typeface="Arial"/>
              </a:rPr>
              <a:t> </a:t>
            </a:r>
            <a:r>
              <a:rPr sz="1850" b="0" dirty="0" err="1">
                <a:solidFill>
                  <a:srgbClr val="193248"/>
                </a:solidFill>
                <a:latin typeface="Arial"/>
              </a:rPr>
              <a:t>processo</a:t>
            </a:r>
            <a:r>
              <a:rPr sz="1850" b="0" dirty="0">
                <a:solidFill>
                  <a:srgbClr val="193248"/>
                </a:solidFill>
                <a:latin typeface="Arial"/>
              </a:rPr>
              <a:t> </a:t>
            </a:r>
            <a:r>
              <a:rPr sz="1850" b="0" dirty="0" err="1">
                <a:solidFill>
                  <a:srgbClr val="193248"/>
                </a:solidFill>
                <a:latin typeface="Arial"/>
              </a:rPr>
              <a:t>si</a:t>
            </a:r>
            <a:r>
              <a:rPr sz="1850" b="0" dirty="0">
                <a:solidFill>
                  <a:srgbClr val="193248"/>
                </a:solidFill>
                <a:latin typeface="Arial"/>
              </a:rPr>
              <a:t> </a:t>
            </a:r>
            <a:r>
              <a:rPr sz="1850" b="0" dirty="0" err="1">
                <a:solidFill>
                  <a:srgbClr val="193248"/>
                </a:solidFill>
                <a:latin typeface="Arial"/>
              </a:rPr>
              <a:t>chiama</a:t>
            </a:r>
            <a:r>
              <a:rPr sz="1850" b="0" dirty="0">
                <a:solidFill>
                  <a:srgbClr val="193248"/>
                </a:solidFill>
                <a:latin typeface="Arial"/>
              </a:rPr>
              <a:t> </a:t>
            </a:r>
            <a:r>
              <a:rPr sz="2000" u="sng" dirty="0" err="1">
                <a:solidFill>
                  <a:srgbClr val="193248"/>
                </a:solidFill>
                <a:latin typeface="Arial"/>
              </a:rPr>
              <a:t>emopoiesi</a:t>
            </a:r>
            <a:r>
              <a:rPr sz="1850" b="0" dirty="0">
                <a:solidFill>
                  <a:srgbClr val="193248"/>
                </a:solidFill>
                <a:latin typeface="Arial"/>
              </a:rPr>
              <a:t> e </a:t>
            </a:r>
            <a:r>
              <a:rPr sz="1850" b="0" dirty="0" err="1">
                <a:solidFill>
                  <a:srgbClr val="193248"/>
                </a:solidFill>
                <a:latin typeface="Arial"/>
              </a:rPr>
              <a:t>rinnova</a:t>
            </a:r>
            <a:r>
              <a:rPr sz="1850" b="0" dirty="0">
                <a:solidFill>
                  <a:srgbClr val="193248"/>
                </a:solidFill>
                <a:latin typeface="Arial"/>
              </a:rPr>
              <a:t> </a:t>
            </a:r>
            <a:r>
              <a:rPr sz="1850" b="0" dirty="0" err="1">
                <a:solidFill>
                  <a:srgbClr val="193248"/>
                </a:solidFill>
                <a:latin typeface="Arial"/>
              </a:rPr>
              <a:t>continuamente</a:t>
            </a:r>
            <a:r>
              <a:rPr sz="1850" b="0" dirty="0">
                <a:solidFill>
                  <a:srgbClr val="193248"/>
                </a:solidFill>
                <a:latin typeface="Arial"/>
              </a:rPr>
              <a:t> le cellule del </a:t>
            </a:r>
            <a:r>
              <a:rPr sz="1850" b="0" dirty="0" err="1">
                <a:solidFill>
                  <a:srgbClr val="193248"/>
                </a:solidFill>
                <a:latin typeface="Arial"/>
              </a:rPr>
              <a:t>sangue</a:t>
            </a:r>
            <a:r>
              <a:rPr sz="1850" b="0" dirty="0">
                <a:solidFill>
                  <a:srgbClr val="193248"/>
                </a:solidFill>
                <a:latin typeface="Arial"/>
              </a:rPr>
              <a:t>.</a:t>
            </a:r>
          </a:p>
        </p:txBody>
      </p:sp>
      <p:sp>
        <p:nvSpPr>
          <p:cNvPr id="12" name="Organ profile 12"/>
          <p:cNvSpPr txBox="1"/>
          <p:nvPr/>
        </p:nvSpPr>
        <p:spPr>
          <a:xfrm>
            <a:off x="4800600" y="3401568"/>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Timo: maturazione e selezione</a:t>
            </a:r>
          </a:p>
        </p:txBody>
      </p:sp>
      <p:sp>
        <p:nvSpPr>
          <p:cNvPr id="13" name="Organ profile 13"/>
          <p:cNvSpPr txBox="1"/>
          <p:nvPr/>
        </p:nvSpPr>
        <p:spPr>
          <a:xfrm>
            <a:off x="4800600" y="3813048"/>
            <a:ext cx="6748272" cy="978408"/>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I precursori dei linfociti T arrivano dal midollo e maturano nel timo. La selezione aiuta a evitare risposte contro i tessuti dell’organismo. Il timo si riduce con l’età.</a:t>
            </a:r>
          </a:p>
        </p:txBody>
      </p:sp>
      <p:sp>
        <p:nvSpPr>
          <p:cNvPr id="14" name="Organ profile 14"/>
          <p:cNvSpPr txBox="1"/>
          <p:nvPr/>
        </p:nvSpPr>
        <p:spPr>
          <a:xfrm>
            <a:off x="4800600" y="4864608"/>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Linfociti B e T: funzioni diverse</a:t>
            </a:r>
            <a:endParaRPr sz="2000" b="1">
              <a:solidFill>
                <a:srgbClr val="123F67"/>
              </a:solidFill>
              <a:latin typeface="Arial"/>
            </a:endParaRPr>
          </a:p>
        </p:txBody>
      </p:sp>
      <p:sp>
        <p:nvSpPr>
          <p:cNvPr id="15" name="Organ profile 15"/>
          <p:cNvSpPr txBox="1"/>
          <p:nvPr/>
        </p:nvSpPr>
        <p:spPr>
          <a:xfrm>
            <a:off x="4800600" y="5276088"/>
            <a:ext cx="6748272" cy="1207008"/>
          </a:xfrm>
          <a:prstGeom prst="rect">
            <a:avLst/>
          </a:prstGeom>
          <a:noFill/>
        </p:spPr>
        <p:txBody>
          <a:bodyPr wrap="square" lIns="0" tIns="0" rIns="0" bIns="0" anchor="t">
            <a:noAutofit/>
          </a:bodyPr>
          <a:lstStyle/>
          <a:p>
            <a:pPr algn="l">
              <a:lnSpc>
                <a:spcPct val="105000"/>
              </a:lnSpc>
              <a:spcBef>
                <a:spcPts val="0"/>
              </a:spcBef>
              <a:spcAft>
                <a:spcPts val="500"/>
              </a:spcAft>
            </a:pPr>
            <a:r>
              <a:rPr lang="it-IT" sz="1850" b="1">
                <a:solidFill>
                  <a:srgbClr val="193248"/>
                </a:solidFill>
                <a:latin typeface="Arial"/>
              </a:rPr>
              <a:t>Linfociti B:</a:t>
            </a:r>
            <a:r>
              <a:rPr sz="1850" b="0">
                <a:solidFill>
                  <a:srgbClr val="193248"/>
                </a:solidFill>
                <a:latin typeface="Arial"/>
              </a:rPr>
              <a:t> maturano nel midollo </a:t>
            </a:r>
            <a:r>
              <a:rPr lang="it-IT" sz="1850" b="0">
                <a:solidFill>
                  <a:srgbClr val="193248"/>
                </a:solidFill>
                <a:latin typeface="Arial"/>
              </a:rPr>
              <a:t>e possono diventare plasmacellule</a:t>
            </a:r>
            <a:r>
              <a:rPr sz="1850" b="0">
                <a:solidFill>
                  <a:srgbClr val="193248"/>
                </a:solidFill>
                <a:latin typeface="Arial"/>
              </a:rPr>
              <a:t>, </a:t>
            </a:r>
            <a:r>
              <a:rPr lang="it-IT" sz="1850" b="0">
                <a:solidFill>
                  <a:srgbClr val="193248"/>
                </a:solidFill>
                <a:latin typeface="Arial"/>
              </a:rPr>
              <a:t>che producono anticorpi.</a:t>
            </a:r>
          </a:p>
          <a:p>
            <a:pPr algn="l">
              <a:lnSpc>
                <a:spcPct val="105000"/>
              </a:lnSpc>
              <a:spcBef>
                <a:spcPts val="0"/>
              </a:spcBef>
              <a:spcAft>
                <a:spcPts val="500"/>
              </a:spcAft>
            </a:pPr>
            <a:r>
              <a:rPr lang="it-IT" sz="1850" b="1">
                <a:solidFill>
                  <a:srgbClr val="193248"/>
                </a:solidFill>
                <a:latin typeface="Arial"/>
              </a:rPr>
              <a:t>Linfociti T:</a:t>
            </a:r>
            <a:r>
              <a:rPr lang="it-IT" sz="1850" b="0">
                <a:solidFill>
                  <a:srgbClr val="193248"/>
                </a:solidFill>
                <a:latin typeface="Arial"/>
              </a:rPr>
              <a:t> maturano</a:t>
            </a:r>
            <a:r>
              <a:rPr sz="1850" b="0">
                <a:solidFill>
                  <a:srgbClr val="193248"/>
                </a:solidFill>
                <a:latin typeface="Arial"/>
              </a:rPr>
              <a:t> nel timo. </a:t>
            </a:r>
            <a:r>
              <a:rPr lang="it-IT" sz="1850" b="0">
                <a:solidFill>
                  <a:srgbClr val="193248"/>
                </a:solidFill>
                <a:latin typeface="Arial"/>
              </a:rPr>
              <a:t>I T helper coordinano le difese, i T citotossici eliminano cellule infette o tumorali</a:t>
            </a:r>
            <a:r>
              <a:rPr sz="1850" b="0">
                <a:solidFill>
                  <a:srgbClr val="193248"/>
                </a:solidFill>
                <a:latin typeface="Arial"/>
              </a:rPr>
              <a:t>.</a:t>
            </a:r>
            <a:endParaRPr lang="it-IT" sz="1850" b="0">
              <a:solidFill>
                <a:srgbClr val="193248"/>
              </a:solidFill>
              <a:latin typeface="Arial"/>
            </a:endParaRPr>
          </a:p>
        </p:txBody>
      </p:sp>
      <p:sp>
        <p:nvSpPr>
          <p:cNvPr id="19" name="Posizione del timo"/>
          <p:cNvSpPr txBox="1"/>
          <p:nvPr/>
        </p:nvSpPr>
        <p:spPr>
          <a:xfrm>
            <a:off x="2542032" y="5477256"/>
            <a:ext cx="1783080" cy="841248"/>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Timo: </a:t>
            </a:r>
            <a:r>
              <a:rPr sz="1650" b="0" err="1">
                <a:solidFill>
                  <a:srgbClr val="087E8B"/>
                </a:solidFill>
                <a:latin typeface="Arial"/>
              </a:rPr>
              <a:t>nel</a:t>
            </a:r>
            <a:r>
              <a:rPr sz="1650" b="0">
                <a:solidFill>
                  <a:srgbClr val="087E8B"/>
                </a:solidFill>
                <a:latin typeface="Arial"/>
              </a:rPr>
              <a:t> </a:t>
            </a:r>
            <a:r>
              <a:rPr sz="1650" b="0" err="1">
                <a:solidFill>
                  <a:srgbClr val="087E8B"/>
                </a:solidFill>
                <a:latin typeface="Arial"/>
              </a:rPr>
              <a:t>torace</a:t>
            </a:r>
            <a:r>
              <a:rPr sz="1650" b="0">
                <a:solidFill>
                  <a:srgbClr val="087E8B"/>
                </a:solidFill>
                <a:latin typeface="Arial"/>
              </a:rPr>
              <a:t>, </a:t>
            </a:r>
            <a:r>
              <a:rPr sz="1650" b="0" err="1">
                <a:solidFill>
                  <a:srgbClr val="087E8B"/>
                </a:solidFill>
                <a:latin typeface="Arial"/>
              </a:rPr>
              <a:t>dietro</a:t>
            </a:r>
            <a:r>
              <a:rPr sz="1650" b="0">
                <a:solidFill>
                  <a:srgbClr val="087E8B"/>
                </a:solidFill>
                <a:latin typeface="Arial"/>
              </a:rPr>
              <a:t> lo </a:t>
            </a:r>
            <a:r>
              <a:rPr sz="1650" b="0" err="1">
                <a:solidFill>
                  <a:srgbClr val="087E8B"/>
                </a:solidFill>
                <a:latin typeface="Arial"/>
              </a:rPr>
              <a:t>sterno</a:t>
            </a:r>
            <a:r>
              <a:rPr sz="1650" b="0">
                <a:solidFill>
                  <a:srgbClr val="087E8B"/>
                </a:solidFill>
                <a:latin typeface="Arial"/>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 sistema linfatico e immunitario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18</a:t>
            </a:r>
            <a:endParaRPr sz="1350" b="1">
              <a:solidFill>
                <a:srgbClr val="123F67"/>
              </a:solidFill>
              <a:latin typeface="Arial"/>
              <a:ea typeface="Arial"/>
              <a:cs typeface="Arial"/>
            </a:endParaRPr>
          </a:p>
        </p:txBody>
      </p:sp>
      <p:sp>
        <p:nvSpPr>
          <p:cNvPr id="24" name="TextBox 23"/>
          <p:cNvSpPr txBox="1"/>
          <p:nvPr/>
        </p:nvSpPr>
        <p:spPr>
          <a:xfrm>
            <a:off x="704850" y="1476375"/>
            <a:ext cx="10877550" cy="365760"/>
          </a:xfrm>
          <a:prstGeom prst="rect">
            <a:avLst/>
          </a:prstGeom>
          <a:noFill/>
        </p:spPr>
        <p:txBody>
          <a:bodyPr wrap="square" lIns="0" tIns="0" rIns="0" bIns="0">
            <a:noAutofit/>
          </a:bodyPr>
          <a:lstStyle/>
          <a:p>
            <a:pPr>
              <a:lnSpc>
                <a:spcPts val="2200"/>
              </a:lnSpc>
            </a:pPr>
            <a:r>
              <a:rPr lang="it-IT" sz="1900" b="0">
                <a:solidFill>
                  <a:srgbClr val="087E8B"/>
                </a:solidFill>
                <a:latin typeface="Arial"/>
              </a:rPr>
              <a:t>Alterazioni </a:t>
            </a:r>
            <a:r>
              <a:rPr sz="1900" b="0">
                <a:solidFill>
                  <a:srgbClr val="087E8B"/>
                </a:solidFill>
                <a:latin typeface="Arial"/>
              </a:rPr>
              <a:t>del drenaggio</a:t>
            </a:r>
            <a:r>
              <a:rPr lang="it-IT" sz="1900" b="0">
                <a:solidFill>
                  <a:srgbClr val="087E8B"/>
                </a:solidFill>
                <a:latin typeface="Arial"/>
              </a:rPr>
              <a:t>,</a:t>
            </a:r>
            <a:r>
              <a:rPr sz="1900" b="0">
                <a:solidFill>
                  <a:srgbClr val="087E8B"/>
                </a:solidFill>
                <a:latin typeface="Arial"/>
              </a:rPr>
              <a:t> delle difese</a:t>
            </a:r>
            <a:r>
              <a:rPr lang="it-IT" sz="1900" b="0">
                <a:solidFill>
                  <a:srgbClr val="087E8B"/>
                </a:solidFill>
                <a:latin typeface="Arial"/>
              </a:rPr>
              <a:t> e della risposta immunitaria</a:t>
            </a:r>
            <a:endParaRPr sz="1900" b="0">
              <a:solidFill>
                <a:srgbClr val="087E8B"/>
              </a:solidFill>
              <a:latin typeface="Arial"/>
            </a:endParaRPr>
          </a:p>
        </p:txBody>
      </p:sp>
      <p:sp>
        <p:nvSpPr>
          <p:cNvPr id="25" name="TextBox 24"/>
          <p:cNvSpPr txBox="1"/>
          <p:nvPr/>
        </p:nvSpPr>
        <p:spPr>
          <a:xfrm>
            <a:off x="704850" y="1965960"/>
            <a:ext cx="3143250" cy="285750"/>
          </a:xfrm>
          <a:prstGeom prst="rect">
            <a:avLst/>
          </a:prstGeom>
          <a:noFill/>
        </p:spPr>
        <p:txBody>
          <a:bodyPr wrap="square" lIns="0" tIns="0" rIns="0" bIns="0">
            <a:noAutofit/>
          </a:bodyPr>
          <a:lstStyle/>
          <a:p>
            <a:pPr>
              <a:lnSpc>
                <a:spcPts val="1700"/>
              </a:lnSpc>
            </a:pPr>
            <a:r>
              <a:rPr sz="1400" b="1">
                <a:solidFill>
                  <a:srgbClr val="087E8B"/>
                </a:solidFill>
                <a:latin typeface="Arial"/>
              </a:rPr>
              <a:t>VASI LINFATICI</a:t>
            </a:r>
          </a:p>
        </p:txBody>
      </p:sp>
      <p:sp>
        <p:nvSpPr>
          <p:cNvPr id="26" name="TextBox 25"/>
          <p:cNvSpPr txBox="1"/>
          <p:nvPr/>
        </p:nvSpPr>
        <p:spPr>
          <a:xfrm>
            <a:off x="704850" y="2267712"/>
            <a:ext cx="3381375" cy="731520"/>
          </a:xfrm>
          <a:prstGeom prst="rect">
            <a:avLst/>
          </a:prstGeom>
          <a:noFill/>
        </p:spPr>
        <p:txBody>
          <a:bodyPr wrap="square" lIns="0" tIns="0" rIns="0" bIns="0">
            <a:noAutofit/>
          </a:bodyPr>
          <a:lstStyle/>
          <a:p>
            <a:pPr>
              <a:lnSpc>
                <a:spcPct val="100000"/>
              </a:lnSpc>
              <a:spcAft>
                <a:spcPts val="300"/>
              </a:spcAft>
            </a:pPr>
            <a:r>
              <a:rPr lang="it-IT" sz="2200" b="1" dirty="0">
                <a:solidFill>
                  <a:srgbClr val="123F67"/>
                </a:solidFill>
                <a:latin typeface="Arial"/>
              </a:rPr>
              <a:t>Linfedema</a:t>
            </a:r>
          </a:p>
        </p:txBody>
      </p:sp>
      <p:sp>
        <p:nvSpPr>
          <p:cNvPr id="27" name="TextBox 26"/>
          <p:cNvSpPr txBox="1"/>
          <p:nvPr/>
        </p:nvSpPr>
        <p:spPr>
          <a:xfrm>
            <a:off x="4476750" y="2267712"/>
            <a:ext cx="7105650" cy="777240"/>
          </a:xfrm>
          <a:prstGeom prst="rect">
            <a:avLst/>
          </a:prstGeom>
          <a:noFill/>
        </p:spPr>
        <p:txBody>
          <a:bodyPr wrap="square" lIns="0" tIns="0" rIns="0" bIns="0">
            <a:noAutofit/>
          </a:bodyPr>
          <a:lstStyle/>
          <a:p>
            <a:pPr>
              <a:lnSpc>
                <a:spcPts val="2400"/>
              </a:lnSpc>
            </a:pPr>
            <a:r>
              <a:rPr lang="it-IT" sz="2000" b="0">
                <a:solidFill>
                  <a:srgbClr val="193248"/>
                </a:solidFill>
                <a:latin typeface="Arial"/>
              </a:rPr>
              <a:t>Accumulo di liquido nei tessuti per un drenaggio linfatico insufficiente. Provoca gonfiore, spesso a un arto.</a:t>
            </a:r>
          </a:p>
        </p:txBody>
      </p:sp>
      <p:sp>
        <p:nvSpPr>
          <p:cNvPr id="28" name="TextBox 27"/>
          <p:cNvSpPr txBox="1"/>
          <p:nvPr/>
        </p:nvSpPr>
        <p:spPr>
          <a:xfrm>
            <a:off x="704850" y="3081528"/>
            <a:ext cx="3143250" cy="285750"/>
          </a:xfrm>
          <a:prstGeom prst="rect">
            <a:avLst/>
          </a:prstGeom>
          <a:noFill/>
        </p:spPr>
        <p:txBody>
          <a:bodyPr wrap="square" lIns="0" tIns="0" rIns="0" bIns="0">
            <a:noAutofit/>
          </a:bodyPr>
          <a:lstStyle/>
          <a:p>
            <a:pPr>
              <a:lnSpc>
                <a:spcPts val="1700"/>
              </a:lnSpc>
            </a:pPr>
            <a:r>
              <a:rPr sz="1400" b="1">
                <a:solidFill>
                  <a:srgbClr val="087E8B"/>
                </a:solidFill>
                <a:latin typeface="Arial"/>
              </a:rPr>
              <a:t>DIFESE IMMUNITARIE</a:t>
            </a:r>
          </a:p>
        </p:txBody>
      </p:sp>
      <p:sp>
        <p:nvSpPr>
          <p:cNvPr id="29" name="TextBox 28"/>
          <p:cNvSpPr txBox="1"/>
          <p:nvPr/>
        </p:nvSpPr>
        <p:spPr>
          <a:xfrm>
            <a:off x="704850" y="3410712"/>
            <a:ext cx="3381375" cy="877824"/>
          </a:xfrm>
          <a:prstGeom prst="rect">
            <a:avLst/>
          </a:prstGeom>
          <a:noFill/>
        </p:spPr>
        <p:txBody>
          <a:bodyPr wrap="square" lIns="0" tIns="0" rIns="0" bIns="0">
            <a:noAutofit/>
          </a:bodyPr>
          <a:lstStyle/>
          <a:p>
            <a:pPr>
              <a:lnSpc>
                <a:spcPct val="100000"/>
              </a:lnSpc>
              <a:spcAft>
                <a:spcPts val="300"/>
              </a:spcAft>
            </a:pPr>
            <a:r>
              <a:rPr lang="it-IT" sz="2200" b="1">
                <a:solidFill>
                  <a:srgbClr val="123F67"/>
                </a:solidFill>
                <a:latin typeface="Arial"/>
              </a:rPr>
              <a:t>Immunodeficienze</a:t>
            </a:r>
          </a:p>
          <a:p>
            <a:pPr>
              <a:lnSpc>
                <a:spcPct val="100000"/>
              </a:lnSpc>
              <a:spcAft>
                <a:spcPts val="0"/>
              </a:spcAft>
            </a:pPr>
            <a:r>
              <a:rPr lang="it-IT" sz="1700" b="0">
                <a:solidFill>
                  <a:srgbClr val="087E8B"/>
                </a:solidFill>
                <a:latin typeface="Arial"/>
              </a:rPr>
              <a:t>(immunoglobuline, se deficit anticorpale)</a:t>
            </a:r>
          </a:p>
        </p:txBody>
      </p:sp>
      <p:sp>
        <p:nvSpPr>
          <p:cNvPr id="30" name="TextBox 29"/>
          <p:cNvSpPr txBox="1"/>
          <p:nvPr/>
        </p:nvSpPr>
        <p:spPr>
          <a:xfrm>
            <a:off x="4476750" y="3410712"/>
            <a:ext cx="7105650" cy="1499616"/>
          </a:xfrm>
          <a:prstGeom prst="rect">
            <a:avLst/>
          </a:prstGeom>
          <a:noFill/>
        </p:spPr>
        <p:txBody>
          <a:bodyPr wrap="square" lIns="0" tIns="0" rIns="0" bIns="0">
            <a:noAutofit/>
          </a:bodyPr>
          <a:lstStyle/>
          <a:p>
            <a:pPr>
              <a:lnSpc>
                <a:spcPts val="2400"/>
              </a:lnSpc>
            </a:pPr>
            <a:r>
              <a:rPr lang="it-IT" sz="2000" b="0" dirty="0">
                <a:solidFill>
                  <a:srgbClr val="193248"/>
                </a:solidFill>
                <a:latin typeface="Arial"/>
              </a:rPr>
              <a:t>Difetti o carenze delle difese immunitarie, congeniti o acquisiti, che aumentano la predisposizione alle infezioni.</a:t>
            </a:r>
          </a:p>
          <a:p>
            <a:pPr>
              <a:lnSpc>
                <a:spcPts val="2100"/>
              </a:lnSpc>
              <a:spcBef>
                <a:spcPts val="600"/>
              </a:spcBef>
            </a:pPr>
            <a:r>
              <a:rPr lang="it-IT" sz="1800" b="1" dirty="0">
                <a:solidFill>
                  <a:srgbClr val="193248"/>
                </a:solidFill>
                <a:latin typeface="Arial"/>
              </a:rPr>
              <a:t>Es: Infezione da HIV: </a:t>
            </a:r>
            <a:r>
              <a:rPr lang="it-IT" sz="1800" b="0" dirty="0">
                <a:solidFill>
                  <a:srgbClr val="193248"/>
                </a:solidFill>
                <a:latin typeface="Arial"/>
              </a:rPr>
              <a:t>colpisce i linfociti T CD4 e indebolisce le difese. Senza terapia, può progredire in AIDS. La terapia antiretrovirale controlla l’infezione.</a:t>
            </a:r>
          </a:p>
        </p:txBody>
      </p:sp>
      <p:cxnSp>
        <p:nvCxnSpPr>
          <p:cNvPr id="31" name="Connector 30"/>
          <p:cNvCxnSpPr/>
          <p:nvPr/>
        </p:nvCxnSpPr>
        <p:spPr>
          <a:xfrm>
            <a:off x="704850" y="2971800"/>
            <a:ext cx="1087755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sp>
        <p:nvSpPr>
          <p:cNvPr id="32" name="TextBox 27"/>
          <p:cNvSpPr txBox="1"/>
          <p:nvPr/>
        </p:nvSpPr>
        <p:spPr>
          <a:xfrm>
            <a:off x="704850" y="5074920"/>
            <a:ext cx="3143250" cy="285750"/>
          </a:xfrm>
          <a:prstGeom prst="rect">
            <a:avLst/>
          </a:prstGeom>
          <a:noFill/>
        </p:spPr>
        <p:txBody>
          <a:bodyPr wrap="square" lIns="0" tIns="0" rIns="0" bIns="0">
            <a:noAutofit/>
          </a:bodyPr>
          <a:lstStyle/>
          <a:p>
            <a:pPr>
              <a:lnSpc>
                <a:spcPts val="1700"/>
              </a:lnSpc>
            </a:pPr>
            <a:r>
              <a:rPr sz="1400" b="1">
                <a:solidFill>
                  <a:srgbClr val="087E8B"/>
                </a:solidFill>
                <a:latin typeface="Arial"/>
              </a:rPr>
              <a:t>RISPOSTA IMMUNITARIA</a:t>
            </a:r>
          </a:p>
        </p:txBody>
      </p:sp>
      <p:sp>
        <p:nvSpPr>
          <p:cNvPr id="33" name="TextBox 28"/>
          <p:cNvSpPr txBox="1"/>
          <p:nvPr/>
        </p:nvSpPr>
        <p:spPr>
          <a:xfrm>
            <a:off x="704850" y="5358384"/>
            <a:ext cx="3381375" cy="1024128"/>
          </a:xfrm>
          <a:prstGeom prst="rect">
            <a:avLst/>
          </a:prstGeom>
          <a:noFill/>
        </p:spPr>
        <p:txBody>
          <a:bodyPr wrap="square" lIns="0" tIns="0" rIns="0" bIns="0">
            <a:noAutofit/>
          </a:bodyPr>
          <a:lstStyle/>
          <a:p>
            <a:pPr>
              <a:lnSpc>
                <a:spcPct val="100000"/>
              </a:lnSpc>
              <a:spcAft>
                <a:spcPts val="300"/>
              </a:spcAft>
            </a:pPr>
            <a:r>
              <a:rPr lang="it-IT" sz="2200" b="1">
                <a:solidFill>
                  <a:srgbClr val="123F67"/>
                </a:solidFill>
                <a:latin typeface="Arial"/>
              </a:rPr>
              <a:t>Allergie</a:t>
            </a:r>
          </a:p>
          <a:p>
            <a:pPr>
              <a:lnSpc>
                <a:spcPct val="100000"/>
              </a:lnSpc>
              <a:spcAft>
                <a:spcPts val="0"/>
              </a:spcAft>
            </a:pPr>
            <a:r>
              <a:rPr lang="it-IT" sz="1700" b="0">
                <a:solidFill>
                  <a:srgbClr val="087E8B"/>
                </a:solidFill>
                <a:latin typeface="Arial"/>
              </a:rPr>
              <a:t>(cetirizina, per sintomi lievi)</a:t>
            </a:r>
          </a:p>
          <a:p>
            <a:pPr>
              <a:lnSpc>
                <a:spcPct val="100000"/>
              </a:lnSpc>
              <a:spcAft>
                <a:spcPts val="0"/>
              </a:spcAft>
            </a:pPr>
            <a:r>
              <a:rPr lang="it-IT" sz="1700" b="0">
                <a:solidFill>
                  <a:srgbClr val="087E8B"/>
                </a:solidFill>
                <a:latin typeface="Arial"/>
              </a:rPr>
              <a:t>(adrenalina intramuscolare, in emergenza per anafilassi)</a:t>
            </a:r>
          </a:p>
        </p:txBody>
      </p:sp>
      <p:sp>
        <p:nvSpPr>
          <p:cNvPr id="34" name="TextBox 29"/>
          <p:cNvSpPr txBox="1"/>
          <p:nvPr/>
        </p:nvSpPr>
        <p:spPr>
          <a:xfrm>
            <a:off x="4476750" y="5358384"/>
            <a:ext cx="7105650" cy="950976"/>
          </a:xfrm>
          <a:prstGeom prst="rect">
            <a:avLst/>
          </a:prstGeom>
          <a:noFill/>
        </p:spPr>
        <p:txBody>
          <a:bodyPr wrap="square" lIns="0" tIns="0" rIns="0" bIns="0">
            <a:noAutofit/>
          </a:bodyPr>
          <a:lstStyle/>
          <a:p>
            <a:pPr>
              <a:lnSpc>
                <a:spcPts val="2400"/>
              </a:lnSpc>
            </a:pPr>
            <a:r>
              <a:rPr lang="it-IT" sz="2000" b="0">
                <a:solidFill>
                  <a:srgbClr val="193248"/>
                </a:solidFill>
                <a:latin typeface="Arial"/>
              </a:rPr>
              <a:t>Risposta eccessiva ad allergeni, come pollini o alimenti, con rinite, prurito o orticaria. Anafilassi: emergenza medica.</a:t>
            </a:r>
          </a:p>
        </p:txBody>
      </p:sp>
      <p:cxnSp>
        <p:nvCxnSpPr>
          <p:cNvPr id="36" name="Separatore righe"/>
          <p:cNvCxnSpPr/>
          <p:nvPr/>
        </p:nvCxnSpPr>
        <p:spPr>
          <a:xfrm>
            <a:off x="704850" y="4956048"/>
            <a:ext cx="1087755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00000006-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6-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SISTEMA 2 DI 5</a:t>
            </a:r>
          </a:p>
        </p:txBody>
      </p:sp>
      <p:sp>
        <p:nvSpPr>
          <p:cNvPr id="3" name="Rettangolo 2">
            <a:extLst>
              <a:ext uri="{FF2B5EF4-FFF2-40B4-BE49-F238E27FC236}">
                <a16:creationId xmlns:a16="http://schemas.microsoft.com/office/drawing/2014/main" id="{00000006-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Sistema nervoso</a:t>
            </a:r>
          </a:p>
        </p:txBody>
      </p:sp>
      <p:sp>
        <p:nvSpPr>
          <p:cNvPr id="4" name="Rettangolo 3">
            <a:extLst>
              <a:ext uri="{FF2B5EF4-FFF2-40B4-BE49-F238E27FC236}">
                <a16:creationId xmlns:a16="http://schemas.microsoft.com/office/drawing/2014/main" id="{00000006-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6-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6-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19</a:t>
            </a:r>
            <a:endParaRPr sz="1350" b="1">
              <a:solidFill>
                <a:srgbClr val="123F67"/>
              </a:solidFill>
              <a:latin typeface="Arial"/>
              <a:ea typeface="Arial"/>
              <a:cs typeface="Arial"/>
            </a:endParaRPr>
          </a:p>
        </p:txBody>
      </p:sp>
      <p:sp>
        <p:nvSpPr>
          <p:cNvPr id="8" name="Rettangolo 7">
            <a:extLst>
              <a:ext uri="{FF2B5EF4-FFF2-40B4-BE49-F238E27FC236}">
                <a16:creationId xmlns:a16="http://schemas.microsoft.com/office/drawing/2014/main" id="{00000006-0007-4000-8000-000000000000}"/>
              </a:ext>
            </a:extLst>
          </p:cNvPr>
          <p:cNvSpPr>
            <a:spLocks noGrp="1"/>
          </p:cNvSpPr>
          <p:nvPr/>
        </p:nvSpPr>
        <p:spPr>
          <a:xfrm>
            <a:off x="4023360" y="1828800"/>
            <a:ext cx="7479792" cy="36576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Sistema nervoso centrale</a:t>
            </a:r>
          </a:p>
        </p:txBody>
      </p:sp>
      <p:sp>
        <p:nvSpPr>
          <p:cNvPr id="9" name="Rettangolo 8">
            <a:extLst>
              <a:ext uri="{FF2B5EF4-FFF2-40B4-BE49-F238E27FC236}">
                <a16:creationId xmlns:a16="http://schemas.microsoft.com/office/drawing/2014/main" id="{00000006-0008-4000-8000-000000000000}"/>
              </a:ext>
            </a:extLst>
          </p:cNvPr>
          <p:cNvSpPr>
            <a:spLocks noGrp="1"/>
          </p:cNvSpPr>
          <p:nvPr/>
        </p:nvSpPr>
        <p:spPr>
          <a:xfrm>
            <a:off x="4023360" y="2295144"/>
            <a:ext cx="7479792" cy="1389888"/>
          </a:xfrm>
          <a:prstGeom prst="rect">
            <a:avLst/>
          </a:prstGeom>
          <a:noFill/>
          <a:ln w="0">
            <a:noFill/>
          </a:ln>
        </p:spPr>
        <p:txBody>
          <a:bodyPr wrap="square" tIns="0" bIns="0">
            <a:noAutofit/>
          </a:bodyPr>
          <a:lstStyle/>
          <a:p>
            <a:pPr>
              <a:lnSpc>
                <a:spcPct val="100000"/>
              </a:lnSpc>
              <a:spcAft>
                <a:spcPts val="600"/>
              </a:spcAft>
              <a:defRPr sz="1875" b="0">
                <a:solidFill>
                  <a:srgbClr val="193248"/>
                </a:solidFill>
                <a:latin typeface="Arial"/>
                <a:ea typeface="Arial"/>
                <a:cs typeface="Arial"/>
              </a:defRPr>
            </a:pPr>
            <a:r>
              <a:rPr sz="1875" b="0" dirty="0" err="1">
                <a:solidFill>
                  <a:srgbClr val="193248"/>
                </a:solidFill>
                <a:latin typeface="Arial"/>
                <a:ea typeface="Arial"/>
                <a:cs typeface="Arial"/>
              </a:rPr>
              <a:t>Encefalo</a:t>
            </a:r>
            <a:r>
              <a:rPr lang="it-IT" sz="1875" b="0" err="1">
                <a:solidFill>
                  <a:srgbClr val="193248"/>
                </a:solidFill>
                <a:latin typeface="Arial"/>
                <a:ea typeface="Arial"/>
                <a:cs typeface="Arial"/>
              </a:rPr>
              <a:t> e </a:t>
            </a:r>
            <a:r>
              <a:rPr sz="1875" b="0" dirty="0" err="1">
                <a:solidFill>
                  <a:srgbClr val="193248"/>
                </a:solidFill>
                <a:latin typeface="Arial"/>
                <a:ea typeface="Arial"/>
                <a:cs typeface="Arial"/>
              </a:rPr>
              <a:t>midollo</a:t>
            </a:r>
            <a:r>
              <a:rPr lang="it-IT" sz="1875" b="0" err="1">
                <a:solidFill>
                  <a:srgbClr val="193248"/>
                </a:solidFill>
                <a:latin typeface="Arial"/>
                <a:ea typeface="Arial"/>
                <a:cs typeface="Arial"/>
              </a:rPr>
              <a:t> </a:t>
            </a:r>
            <a:r>
              <a:rPr sz="1875" b="0" dirty="0" err="1">
                <a:solidFill>
                  <a:srgbClr val="193248"/>
                </a:solidFill>
                <a:latin typeface="Arial"/>
                <a:ea typeface="Arial"/>
                <a:cs typeface="Arial"/>
              </a:rPr>
              <a:t>spinale</a:t>
            </a:r>
            <a:r>
              <a:rPr lang="it-IT" sz="1875" b="0" err="1">
                <a:solidFill>
                  <a:srgbClr val="193248"/>
                </a:solidFill>
                <a:latin typeface="Arial"/>
                <a:ea typeface="Arial"/>
                <a:cs typeface="Arial"/>
              </a:rPr>
              <a:t> ricevono le </a:t>
            </a:r>
            <a:r>
              <a:rPr sz="1875" b="0" dirty="0" err="1">
                <a:solidFill>
                  <a:srgbClr val="193248"/>
                </a:solidFill>
                <a:latin typeface="Arial"/>
                <a:ea typeface="Arial"/>
                <a:cs typeface="Arial"/>
              </a:rPr>
              <a:t>informazioni</a:t>
            </a:r>
            <a:r>
              <a:rPr lang="it-IT" sz="1875" b="0" err="1">
                <a:solidFill>
                  <a:srgbClr val="193248"/>
                </a:solidFill>
                <a:latin typeface="Arial"/>
                <a:ea typeface="Arial"/>
                <a:cs typeface="Arial"/>
              </a:rPr>
              <a:t> sensitive, le elaborano e </a:t>
            </a:r>
            <a:r>
              <a:rPr sz="1875" b="0" dirty="0" err="1">
                <a:solidFill>
                  <a:srgbClr val="193248"/>
                </a:solidFill>
                <a:latin typeface="Arial"/>
                <a:ea typeface="Arial"/>
                <a:cs typeface="Arial"/>
              </a:rPr>
              <a:t>organizzano</a:t>
            </a:r>
            <a:r>
              <a:rPr lang="it-IT" sz="1875" b="0" err="1">
                <a:solidFill>
                  <a:srgbClr val="193248"/>
                </a:solidFill>
                <a:latin typeface="Arial"/>
                <a:ea typeface="Arial"/>
                <a:cs typeface="Arial"/>
              </a:rPr>
              <a:t> le </a:t>
            </a:r>
            <a:r>
              <a:rPr sz="1875" b="0" dirty="0" err="1">
                <a:solidFill>
                  <a:srgbClr val="193248"/>
                </a:solidFill>
                <a:latin typeface="Arial"/>
                <a:ea typeface="Arial"/>
                <a:cs typeface="Arial"/>
              </a:rPr>
              <a:t>risposte</a:t>
            </a:r>
            <a:r>
              <a:rPr lang="it-IT" sz="1875" b="0" err="1">
                <a:solidFill>
                  <a:srgbClr val="193248"/>
                </a:solidFill>
                <a:latin typeface="Arial"/>
                <a:ea typeface="Arial"/>
                <a:cs typeface="Arial"/>
              </a:rPr>
              <a:t>.</a:t>
            </a:r>
          </a:p>
          <a:p>
            <a:pPr>
              <a:lnSpc>
                <a:spcPct val="100000"/>
              </a:lnSpc>
              <a:spcAft>
                <a:spcPts val="0"/>
              </a:spcAft>
              <a:defRPr sz="1875" b="0">
                <a:solidFill>
                  <a:srgbClr val="193248"/>
                </a:solidFill>
                <a:latin typeface="Arial"/>
                <a:ea typeface="Arial"/>
                <a:cs typeface="Arial"/>
              </a:defRPr>
            </a:pPr>
            <a:r>
              <a:rPr lang="it-IT" sz="1875" b="0" err="1">
                <a:solidFill>
                  <a:srgbClr val="193248"/>
                </a:solidFill>
                <a:latin typeface="Arial"/>
                <a:ea typeface="Arial"/>
                <a:cs typeface="Arial"/>
              </a:rPr>
              <a:t>L’encefalo coordina percezioni, pensiero e movimento. Il midollo collega l’encefalo al resto del corpo e partecipa alle risposte riflesse.</a:t>
            </a:r>
          </a:p>
        </p:txBody>
      </p:sp>
      <p:sp>
        <p:nvSpPr>
          <p:cNvPr id="10" name="Rettangolo 9">
            <a:extLst>
              <a:ext uri="{FF2B5EF4-FFF2-40B4-BE49-F238E27FC236}">
                <a16:creationId xmlns:a16="http://schemas.microsoft.com/office/drawing/2014/main" id="{00000006-0009-4000-8000-000000000000}"/>
              </a:ext>
            </a:extLst>
          </p:cNvPr>
          <p:cNvSpPr>
            <a:spLocks noGrp="1"/>
          </p:cNvSpPr>
          <p:nvPr/>
        </p:nvSpPr>
        <p:spPr>
          <a:xfrm>
            <a:off x="4023360" y="3721608"/>
            <a:ext cx="7479792" cy="36576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Sistema nervoso periferico</a:t>
            </a:r>
          </a:p>
        </p:txBody>
      </p:sp>
      <p:sp>
        <p:nvSpPr>
          <p:cNvPr id="11" name="Rettangolo 10">
            <a:extLst>
              <a:ext uri="{FF2B5EF4-FFF2-40B4-BE49-F238E27FC236}">
                <a16:creationId xmlns:a16="http://schemas.microsoft.com/office/drawing/2014/main" id="{00000006-000A-4000-8000-000000000000}"/>
              </a:ext>
            </a:extLst>
          </p:cNvPr>
          <p:cNvSpPr>
            <a:spLocks noGrp="1"/>
          </p:cNvSpPr>
          <p:nvPr/>
        </p:nvSpPr>
        <p:spPr>
          <a:xfrm>
            <a:off x="4023360" y="4187952"/>
            <a:ext cx="7479792" cy="1499616"/>
          </a:xfrm>
          <a:prstGeom prst="rect">
            <a:avLst/>
          </a:prstGeom>
          <a:noFill/>
          <a:ln w="0">
            <a:noFill/>
          </a:ln>
        </p:spPr>
        <p:txBody>
          <a:bodyPr wrap="square" tIns="0" bIns="0">
            <a:noAutofit/>
          </a:bodyPr>
          <a:lstStyle/>
          <a:p>
            <a:pPr>
              <a:lnSpc>
                <a:spcPct val="100000"/>
              </a:lnSpc>
              <a:spcAft>
                <a:spcPts val="600"/>
              </a:spcAft>
              <a:defRPr sz="1875" b="0">
                <a:solidFill>
                  <a:srgbClr val="193248"/>
                </a:solidFill>
                <a:latin typeface="Arial"/>
                <a:ea typeface="Arial"/>
                <a:cs typeface="Arial"/>
              </a:defRPr>
            </a:pPr>
            <a:r>
              <a:rPr sz="1875" b="0">
                <a:solidFill>
                  <a:srgbClr val="193248"/>
                </a:solidFill>
                <a:latin typeface="Arial"/>
                <a:ea typeface="Arial"/>
                <a:cs typeface="Arial"/>
              </a:rPr>
              <a:t>I nervi </a:t>
            </a:r>
            <a:r>
              <a:rPr lang="it-IT" sz="1875" b="0">
                <a:solidFill>
                  <a:srgbClr val="193248"/>
                </a:solidFill>
                <a:latin typeface="Arial"/>
                <a:ea typeface="Arial"/>
                <a:cs typeface="Arial"/>
              </a:rPr>
              <a:t>cranici e spinali </a:t>
            </a:r>
            <a:r>
              <a:rPr sz="1875" b="0">
                <a:solidFill>
                  <a:srgbClr val="193248"/>
                </a:solidFill>
                <a:latin typeface="Arial"/>
                <a:ea typeface="Arial"/>
                <a:cs typeface="Arial"/>
              </a:rPr>
              <a:t>collegano il sistema centrale </a:t>
            </a:r>
            <a:r>
              <a:rPr lang="it-IT" sz="1875" b="0">
                <a:solidFill>
                  <a:srgbClr val="193248"/>
                </a:solidFill>
                <a:latin typeface="Arial"/>
                <a:ea typeface="Arial"/>
                <a:cs typeface="Arial"/>
              </a:rPr>
              <a:t>al resto </a:t>
            </a:r>
            <a:r>
              <a:rPr sz="1875" b="0">
                <a:solidFill>
                  <a:srgbClr val="193248"/>
                </a:solidFill>
                <a:latin typeface="Arial"/>
                <a:ea typeface="Arial"/>
                <a:cs typeface="Arial"/>
              </a:rPr>
              <a:t>del corpo</a:t>
            </a:r>
            <a:r>
              <a:rPr lang="it-IT" sz="1875" b="0">
                <a:solidFill>
                  <a:srgbClr val="193248"/>
                </a:solidFill>
                <a:latin typeface="Arial"/>
                <a:ea typeface="Arial"/>
                <a:cs typeface="Arial"/>
              </a:rPr>
              <a:t>.</a:t>
            </a:r>
          </a:p>
          <a:p>
            <a:pPr>
              <a:lnSpc>
                <a:spcPct val="100000"/>
              </a:lnSpc>
              <a:spcAft>
                <a:spcPts val="0"/>
              </a:spcAft>
              <a:defRPr sz="1875" b="0">
                <a:solidFill>
                  <a:srgbClr val="193248"/>
                </a:solidFill>
                <a:latin typeface="Arial"/>
                <a:ea typeface="Arial"/>
                <a:cs typeface="Arial"/>
              </a:defRPr>
            </a:pPr>
            <a:r>
              <a:rPr lang="it-IT" sz="1875" b="0">
                <a:solidFill>
                  <a:srgbClr val="193248"/>
                </a:solidFill>
                <a:latin typeface="Arial"/>
                <a:ea typeface="Arial"/>
                <a:cs typeface="Arial"/>
              </a:rPr>
              <a:t>Le vie sensitive portano informazioni dalla periferia al centro. Le vie motorie trasmettono i comandi a muscoli e ghiandole, per le azioni volontarie e le funzioni automatiche</a:t>
            </a:r>
            <a:r>
              <a:rPr sz="1875" b="0">
                <a:solidFill>
                  <a:srgbClr val="193248"/>
                </a:solidFill>
                <a:latin typeface="Arial"/>
                <a:ea typeface="Arial"/>
                <a:cs typeface="Arial"/>
              </a:rPr>
              <a:t>.</a:t>
            </a:r>
            <a:endParaRPr lang="it-IT" sz="1875" b="0">
              <a:solidFill>
                <a:srgbClr val="193248"/>
              </a:solidFill>
              <a:latin typeface="Arial"/>
              <a:ea typeface="Arial"/>
              <a:cs typeface="Arial"/>
            </a:endParaRPr>
          </a:p>
        </p:txBody>
      </p:sp>
      <p:sp>
        <p:nvSpPr>
          <p:cNvPr id="14" name="TextBox 13"/>
          <p:cNvSpPr txBox="1"/>
          <p:nvPr/>
        </p:nvSpPr>
        <p:spPr>
          <a:xfrm>
            <a:off x="713232" y="5879592"/>
            <a:ext cx="3017520" cy="347472"/>
          </a:xfrm>
          <a:prstGeom prst="rect">
            <a:avLst/>
          </a:prstGeom>
          <a:noFill/>
        </p:spPr>
        <p:txBody>
          <a:bodyPr wrap="square" lIns="0" tIns="0" rIns="0" bIns="0">
            <a:spAutoFit/>
          </a:bodyPr>
          <a:lstStyle/>
          <a:p>
            <a:pPr algn="ctr">
              <a:defRPr sz="2100" b="1">
                <a:solidFill>
                  <a:srgbClr val="087E8B"/>
                </a:solidFill>
                <a:latin typeface="Arial"/>
              </a:defRPr>
            </a:pPr>
            <a:r>
              <a:rPr lang="it-IT"/>
              <a:t>Ricezione degli stimoli</a:t>
            </a:r>
          </a:p>
        </p:txBody>
      </p:sp>
      <p:sp>
        <p:nvSpPr>
          <p:cNvPr id="15" name="TextBox 14"/>
          <p:cNvSpPr txBox="1"/>
          <p:nvPr/>
        </p:nvSpPr>
        <p:spPr>
          <a:xfrm>
            <a:off x="4736592" y="5879592"/>
            <a:ext cx="2743200" cy="347472"/>
          </a:xfrm>
          <a:prstGeom prst="rect">
            <a:avLst/>
          </a:prstGeom>
          <a:noFill/>
        </p:spPr>
        <p:txBody>
          <a:bodyPr wrap="square" lIns="0" tIns="0" rIns="0" bIns="0">
            <a:spAutoFit/>
          </a:bodyPr>
          <a:lstStyle/>
          <a:p>
            <a:pPr algn="ctr">
              <a:defRPr sz="2100" b="1">
                <a:solidFill>
                  <a:srgbClr val="087E8B"/>
                </a:solidFill>
                <a:latin typeface="Arial"/>
              </a:defRPr>
            </a:pPr>
            <a:r>
              <a:rPr lang="it-IT"/>
              <a:t>Elaborazione</a:t>
            </a:r>
          </a:p>
        </p:txBody>
      </p:sp>
      <p:sp>
        <p:nvSpPr>
          <p:cNvPr id="16" name="TextBox 15"/>
          <p:cNvSpPr txBox="1"/>
          <p:nvPr/>
        </p:nvSpPr>
        <p:spPr>
          <a:xfrm>
            <a:off x="8851392" y="5879592"/>
            <a:ext cx="2560320" cy="347472"/>
          </a:xfrm>
          <a:prstGeom prst="rect">
            <a:avLst/>
          </a:prstGeom>
          <a:noFill/>
        </p:spPr>
        <p:txBody>
          <a:bodyPr wrap="square" lIns="0" tIns="0" rIns="0" bIns="0">
            <a:spAutoFit/>
          </a:bodyPr>
          <a:lstStyle/>
          <a:p>
            <a:pPr algn="ctr">
              <a:defRPr sz="2100" b="1">
                <a:solidFill>
                  <a:srgbClr val="087E8B"/>
                </a:solidFill>
                <a:latin typeface="Arial"/>
              </a:defRPr>
            </a:pPr>
            <a:r>
              <a:rPr lang="it-IT"/>
              <a:t>Risposta</a:t>
            </a:r>
          </a:p>
        </p:txBody>
      </p:sp>
      <p:cxnSp>
        <p:nvCxnSpPr>
          <p:cNvPr id="17" name="Connector 16"/>
          <p:cNvCxnSpPr/>
          <p:nvPr/>
        </p:nvCxnSpPr>
        <p:spPr>
          <a:xfrm>
            <a:off x="3840480" y="6053328"/>
            <a:ext cx="694944"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54112" y="6053328"/>
            <a:ext cx="850392"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pic>
        <p:nvPicPr>
          <p:cNvPr id="19" name="Picture 18" descr="Schema illustrativo del sistema nervoso: encefalo, asse spinale e rete dei nervi periferici. Immagine generata con IA, rappresentazione semplificata non in scala."/>
          <p:cNvPicPr>
            <a:picLocks noChangeAspect="1"/>
          </p:cNvPicPr>
          <p:nvPr/>
        </p:nvPicPr>
        <p:blipFill>
          <a:blip r:embed="rId3"/>
          <a:stretch>
            <a:fillRect/>
          </a:stretch>
        </p:blipFill>
        <p:spPr>
          <a:xfrm>
            <a:off x="1435002" y="1733550"/>
            <a:ext cx="1892496" cy="3924300"/>
          </a:xfrm>
          <a:prstGeom prst="rect">
            <a:avLst/>
          </a:prstGeom>
        </p:spPr>
      </p:pic>
    </p:spTree>
    <p:extLst>
      <p:ext uri="{BB962C8B-B14F-4D97-AF65-F5344CB8AC3E}">
        <p14:creationId xmlns:p14="http://schemas.microsoft.com/office/powerpoint/2010/main" val="600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SISTEMA NERVOSO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lang="it-IT" sz="3000" b="1">
                <a:solidFill>
                  <a:srgbClr val="123F67"/>
                </a:solidFill>
                <a:latin typeface="Arial"/>
                <a:ea typeface="Arial"/>
                <a:cs typeface="Arial"/>
              </a:rPr>
              <a:t>L’Encefalo</a:t>
            </a:r>
            <a:endParaRPr sz="3225" b="1">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20</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Elaborazione delle informazioni, movimento e funzioni vitali</a:t>
            </a:r>
            <a:endParaRPr sz="1900" b="0">
              <a:solidFill>
                <a:srgbClr val="087E8B"/>
              </a:solidFill>
              <a:latin typeface="Arial"/>
            </a:endParaRPr>
          </a:p>
        </p:txBody>
      </p:sp>
      <p:pic>
        <p:nvPicPr>
          <p:cNvPr id="8" name="Picture 7" descr="Schema dell’encefalo fornito dall’utente, con strutture anatomiche etichettate"/>
          <p:cNvPicPr>
            <a:picLocks noChangeAspect="1"/>
          </p:cNvPicPr>
          <p:nvPr/>
        </p:nvPicPr>
        <p:blipFill>
          <a:blip r:embed="rId3"/>
          <a:stretch>
            <a:fillRect/>
          </a:stretch>
        </p:blipFill>
        <p:spPr>
          <a:xfrm>
            <a:off x="841248" y="1965960"/>
            <a:ext cx="3063240" cy="3063240"/>
          </a:xfrm>
          <a:prstGeom prst="rect">
            <a:avLst/>
          </a:prstGeom>
        </p:spPr>
      </p:pic>
      <p:sp>
        <p:nvSpPr>
          <p:cNvPr id="9" name="Organ profile 9"/>
          <p:cNvSpPr txBox="1"/>
          <p:nvPr/>
        </p:nvSpPr>
        <p:spPr>
          <a:xfrm>
            <a:off x="676656" y="5129784"/>
            <a:ext cx="4105656" cy="457200"/>
          </a:xfrm>
          <a:prstGeom prst="rect">
            <a:avLst/>
          </a:prstGeom>
          <a:noFill/>
        </p:spPr>
        <p:txBody>
          <a:bodyPr wrap="square" lIns="0" tIns="0" rIns="0" bIns="0" anchor="t">
            <a:noAutofit/>
          </a:bodyPr>
          <a:lstStyle/>
          <a:p>
            <a:pPr algn="ctr">
              <a:lnSpc>
                <a:spcPct val="105000"/>
              </a:lnSpc>
              <a:spcBef>
                <a:spcPts val="0"/>
              </a:spcBef>
              <a:spcAft>
                <a:spcPts val="0"/>
              </a:spcAft>
            </a:pPr>
            <a:r>
              <a:rPr lang="it-IT" sz="1600" b="0" dirty="0">
                <a:solidFill>
                  <a:srgbClr val="087E8B"/>
                </a:solidFill>
                <a:latin typeface="Arial"/>
              </a:rPr>
              <a:t>Protetto dal cranio, dalle meningi</a:t>
            </a:r>
          </a:p>
          <a:p>
            <a:pPr algn="ctr">
              <a:lnSpc>
                <a:spcPct val="105000"/>
              </a:lnSpc>
              <a:spcBef>
                <a:spcPts val="0"/>
              </a:spcBef>
              <a:spcAft>
                <a:spcPts val="0"/>
              </a:spcAft>
            </a:pPr>
            <a:r>
              <a:rPr lang="it-IT" sz="1600" b="0" dirty="0">
                <a:solidFill>
                  <a:srgbClr val="087E8B"/>
                </a:solidFill>
                <a:latin typeface="Arial"/>
              </a:rPr>
              <a:t>e dal liquido cerebrospinale.</a:t>
            </a:r>
          </a:p>
        </p:txBody>
      </p:sp>
      <p:sp>
        <p:nvSpPr>
          <p:cNvPr id="10" name="Organ profile 10"/>
          <p:cNvSpPr txBox="1"/>
          <p:nvPr/>
        </p:nvSpPr>
        <p:spPr>
          <a:xfrm>
            <a:off x="5010912" y="1920240"/>
            <a:ext cx="656539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Cervello</a:t>
            </a:r>
            <a:endParaRPr sz="2000" b="1">
              <a:solidFill>
                <a:srgbClr val="123F67"/>
              </a:solidFill>
              <a:latin typeface="Arial"/>
            </a:endParaRPr>
          </a:p>
        </p:txBody>
      </p:sp>
      <p:sp>
        <p:nvSpPr>
          <p:cNvPr id="11" name="Organ profile 11"/>
          <p:cNvSpPr txBox="1"/>
          <p:nvPr/>
        </p:nvSpPr>
        <p:spPr>
          <a:xfrm>
            <a:off x="5010912" y="2322576"/>
            <a:ext cx="6565392" cy="1371600"/>
          </a:xfrm>
          <a:prstGeom prst="rect">
            <a:avLst/>
          </a:prstGeom>
          <a:noFill/>
        </p:spPr>
        <p:txBody>
          <a:bodyPr wrap="square" lIns="0" tIns="0" rIns="0" bIns="0" anchor="t">
            <a:noAutofit/>
          </a:bodyPr>
          <a:lstStyle/>
          <a:p>
            <a:pPr marL="228600" indent="-171450" algn="l">
              <a:lnSpc>
                <a:spcPts val="1850"/>
              </a:lnSpc>
              <a:spcBef>
                <a:spcPts val="0"/>
              </a:spcBef>
              <a:spcAft>
                <a:spcPts val="300"/>
              </a:spcAft>
              <a:buFont typeface="Arial"/>
              <a:buChar char="•"/>
            </a:pPr>
            <a:r>
              <a:rPr lang="it-IT" sz="1700" b="1">
                <a:solidFill>
                  <a:srgbClr val="193248"/>
                </a:solidFill>
                <a:latin typeface="Arial"/>
              </a:rPr>
              <a:t>Emisferi destro e sinistro:</a:t>
            </a:r>
            <a:r>
              <a:rPr lang="it-IT" sz="1700" b="0">
                <a:solidFill>
                  <a:srgbClr val="193248"/>
                </a:solidFill>
                <a:latin typeface="Arial"/>
              </a:rPr>
              <a:t> collaborano e controllano soprattutto il lato opposto del corpo. Il destro contribuisce all’orientamento spaziale, il sinistro è di solito prevalente nel linguaggio.</a:t>
            </a:r>
          </a:p>
          <a:p>
            <a:pPr marL="228600" indent="-171450" algn="l">
              <a:lnSpc>
                <a:spcPts val="1850"/>
              </a:lnSpc>
              <a:spcBef>
                <a:spcPts val="0"/>
              </a:spcBef>
              <a:spcAft>
                <a:spcPts val="300"/>
              </a:spcAft>
              <a:buFont typeface="Arial"/>
              <a:buChar char="•"/>
            </a:pPr>
            <a:r>
              <a:rPr lang="it-IT" sz="1700" b="1">
                <a:solidFill>
                  <a:srgbClr val="193248"/>
                </a:solidFill>
                <a:latin typeface="Arial"/>
              </a:rPr>
              <a:t>Corteccia:</a:t>
            </a:r>
            <a:r>
              <a:rPr lang="it-IT" sz="1700" b="0">
                <a:solidFill>
                  <a:srgbClr val="193248"/>
                </a:solidFill>
                <a:latin typeface="Arial"/>
              </a:rPr>
              <a:t> strato esterno che elabora informazioni e partecipa a pensiero, memoria, linguaggio e movimenti volontari.</a:t>
            </a:r>
            <a:endParaRPr lang="it-IT" sz="1850" b="0">
              <a:solidFill>
                <a:srgbClr val="193248"/>
              </a:solidFill>
              <a:latin typeface="Arial"/>
            </a:endParaRPr>
          </a:p>
        </p:txBody>
      </p:sp>
      <p:sp>
        <p:nvSpPr>
          <p:cNvPr id="12" name="Organ profile 12"/>
          <p:cNvSpPr txBox="1"/>
          <p:nvPr/>
        </p:nvSpPr>
        <p:spPr>
          <a:xfrm>
            <a:off x="5010912" y="3822191"/>
            <a:ext cx="656539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dirty="0">
                <a:solidFill>
                  <a:srgbClr val="123F67"/>
                </a:solidFill>
                <a:latin typeface="Arial"/>
              </a:rPr>
              <a:t>Ogni Emisfero è suddiviso in Lobi</a:t>
            </a:r>
            <a:endParaRPr sz="2000" b="1" dirty="0">
              <a:solidFill>
                <a:srgbClr val="123F67"/>
              </a:solidFill>
              <a:latin typeface="Arial"/>
            </a:endParaRPr>
          </a:p>
        </p:txBody>
      </p:sp>
      <p:sp>
        <p:nvSpPr>
          <p:cNvPr id="13" name="Organ profile 13"/>
          <p:cNvSpPr txBox="1"/>
          <p:nvPr/>
        </p:nvSpPr>
        <p:spPr>
          <a:xfrm>
            <a:off x="5010912" y="4224528"/>
            <a:ext cx="6565392" cy="1033271"/>
          </a:xfrm>
          <a:prstGeom prst="rect">
            <a:avLst/>
          </a:prstGeom>
          <a:noFill/>
        </p:spPr>
        <p:txBody>
          <a:bodyPr wrap="square" lIns="0" tIns="0" rIns="0" bIns="0" anchor="t">
            <a:noAutofit/>
          </a:bodyPr>
          <a:lstStyle/>
          <a:p>
            <a:pPr marL="228600" indent="-171450" algn="l">
              <a:lnSpc>
                <a:spcPts val="1850"/>
              </a:lnSpc>
              <a:spcBef>
                <a:spcPts val="0"/>
              </a:spcBef>
              <a:spcAft>
                <a:spcPts val="300"/>
              </a:spcAft>
              <a:buFont typeface="Arial"/>
              <a:buChar char="•"/>
            </a:pPr>
            <a:r>
              <a:rPr lang="it-IT" sz="1700" b="1">
                <a:solidFill>
                  <a:srgbClr val="193248"/>
                </a:solidFill>
                <a:latin typeface="Arial"/>
              </a:rPr>
              <a:t>Frontale:</a:t>
            </a:r>
            <a:r>
              <a:rPr lang="it-IT" sz="1700" b="0">
                <a:solidFill>
                  <a:srgbClr val="193248"/>
                </a:solidFill>
                <a:latin typeface="Arial"/>
              </a:rPr>
              <a:t> pianifica le azioni e controlla i movimenti.</a:t>
            </a:r>
            <a:endParaRPr lang="it-IT" sz="1850" b="0">
              <a:solidFill>
                <a:srgbClr val="193248"/>
              </a:solidFill>
              <a:latin typeface="Arial"/>
            </a:endParaRPr>
          </a:p>
          <a:p>
            <a:pPr marL="228600" indent="-171450" algn="l">
              <a:lnSpc>
                <a:spcPts val="1850"/>
              </a:lnSpc>
              <a:spcBef>
                <a:spcPts val="0"/>
              </a:spcBef>
              <a:spcAft>
                <a:spcPts val="300"/>
              </a:spcAft>
              <a:buFont typeface="Arial"/>
              <a:buChar char="•"/>
            </a:pPr>
            <a:r>
              <a:rPr lang="it-IT" sz="1700" b="1">
                <a:solidFill>
                  <a:srgbClr val="193248"/>
                </a:solidFill>
                <a:latin typeface="Arial"/>
              </a:rPr>
              <a:t>Parietale:</a:t>
            </a:r>
            <a:r>
              <a:rPr lang="it-IT" sz="1700" b="0">
                <a:solidFill>
                  <a:srgbClr val="193248"/>
                </a:solidFill>
                <a:latin typeface="Arial"/>
              </a:rPr>
              <a:t> elabora la sensibilità e l’orientamento nello spazio.</a:t>
            </a:r>
            <a:endParaRPr lang="it-IT" sz="1850" b="0">
              <a:solidFill>
                <a:srgbClr val="193248"/>
              </a:solidFill>
              <a:latin typeface="Arial"/>
            </a:endParaRPr>
          </a:p>
          <a:p>
            <a:pPr marL="228600" indent="-171450" algn="l">
              <a:lnSpc>
                <a:spcPts val="1850"/>
              </a:lnSpc>
              <a:spcBef>
                <a:spcPts val="0"/>
              </a:spcBef>
              <a:spcAft>
                <a:spcPts val="300"/>
              </a:spcAft>
              <a:buFont typeface="Arial"/>
              <a:buChar char="•"/>
            </a:pPr>
            <a:r>
              <a:rPr lang="it-IT" sz="1700" b="1">
                <a:solidFill>
                  <a:srgbClr val="193248"/>
                </a:solidFill>
                <a:latin typeface="Arial"/>
              </a:rPr>
              <a:t>Temporale:</a:t>
            </a:r>
            <a:r>
              <a:rPr lang="it-IT" sz="1700" b="0">
                <a:solidFill>
                  <a:srgbClr val="193248"/>
                </a:solidFill>
                <a:latin typeface="Arial"/>
              </a:rPr>
              <a:t> partecipa all’udito e alla memoria.</a:t>
            </a:r>
            <a:endParaRPr lang="it-IT" sz="1850" b="0">
              <a:solidFill>
                <a:srgbClr val="193248"/>
              </a:solidFill>
              <a:latin typeface="Arial"/>
            </a:endParaRPr>
          </a:p>
          <a:p>
            <a:pPr marL="228600" indent="-171450" algn="l">
              <a:lnSpc>
                <a:spcPts val="1850"/>
              </a:lnSpc>
              <a:spcBef>
                <a:spcPts val="0"/>
              </a:spcBef>
              <a:spcAft>
                <a:spcPts val="300"/>
              </a:spcAft>
              <a:buFont typeface="Arial"/>
              <a:buChar char="•"/>
            </a:pPr>
            <a:r>
              <a:rPr lang="it-IT" sz="1700" b="1">
                <a:solidFill>
                  <a:srgbClr val="193248"/>
                </a:solidFill>
                <a:latin typeface="Arial"/>
              </a:rPr>
              <a:t>Occipitale:</a:t>
            </a:r>
            <a:r>
              <a:rPr lang="it-IT" sz="1700" b="0">
                <a:solidFill>
                  <a:srgbClr val="193248"/>
                </a:solidFill>
                <a:latin typeface="Arial"/>
              </a:rPr>
              <a:t> elabora le informazioni visive.</a:t>
            </a:r>
            <a:endParaRPr lang="it-IT" sz="1850" b="0">
              <a:solidFill>
                <a:srgbClr val="193248"/>
              </a:solidFill>
              <a:latin typeface="Arial"/>
            </a:endParaRPr>
          </a:p>
        </p:txBody>
      </p:sp>
      <p:sp>
        <p:nvSpPr>
          <p:cNvPr id="14" name="Organ profile 14"/>
          <p:cNvSpPr txBox="1"/>
          <p:nvPr/>
        </p:nvSpPr>
        <p:spPr>
          <a:xfrm>
            <a:off x="5010912" y="5349240"/>
            <a:ext cx="656539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dirty="0" err="1">
                <a:solidFill>
                  <a:srgbClr val="123F67"/>
                </a:solidFill>
                <a:latin typeface="Arial"/>
              </a:rPr>
              <a:t>Cervelletto</a:t>
            </a:r>
            <a:r>
              <a:rPr sz="2000" b="1" dirty="0">
                <a:solidFill>
                  <a:srgbClr val="123F67"/>
                </a:solidFill>
                <a:latin typeface="Arial"/>
              </a:rPr>
              <a:t> e </a:t>
            </a:r>
            <a:r>
              <a:rPr lang="it-IT" sz="2000" b="1" dirty="0">
                <a:solidFill>
                  <a:srgbClr val="123F67"/>
                </a:solidFill>
                <a:latin typeface="Arial"/>
              </a:rPr>
              <a:t>T</a:t>
            </a:r>
            <a:r>
              <a:rPr sz="2000" b="1" dirty="0">
                <a:solidFill>
                  <a:srgbClr val="123F67"/>
                </a:solidFill>
                <a:latin typeface="Arial"/>
              </a:rPr>
              <a:t>ronco </a:t>
            </a:r>
            <a:r>
              <a:rPr sz="2000" b="1" dirty="0" err="1">
                <a:solidFill>
                  <a:srgbClr val="123F67"/>
                </a:solidFill>
                <a:latin typeface="Arial"/>
              </a:rPr>
              <a:t>encefalico</a:t>
            </a:r>
            <a:endParaRPr sz="2000" b="1" dirty="0">
              <a:solidFill>
                <a:srgbClr val="123F67"/>
              </a:solidFill>
              <a:latin typeface="Arial"/>
            </a:endParaRPr>
          </a:p>
        </p:txBody>
      </p:sp>
      <p:sp>
        <p:nvSpPr>
          <p:cNvPr id="15" name="Organ profile 15"/>
          <p:cNvSpPr txBox="1"/>
          <p:nvPr/>
        </p:nvSpPr>
        <p:spPr>
          <a:xfrm>
            <a:off x="5010912" y="5751576"/>
            <a:ext cx="6565392" cy="694944"/>
          </a:xfrm>
          <a:prstGeom prst="rect">
            <a:avLst/>
          </a:prstGeom>
          <a:noFill/>
        </p:spPr>
        <p:txBody>
          <a:bodyPr wrap="square" lIns="0" tIns="0" rIns="0" bIns="0" anchor="t">
            <a:noAutofit/>
          </a:bodyPr>
          <a:lstStyle/>
          <a:p>
            <a:pPr marL="228600" indent="-171450" algn="l">
              <a:lnSpc>
                <a:spcPts val="1850"/>
              </a:lnSpc>
              <a:spcBef>
                <a:spcPts val="0"/>
              </a:spcBef>
              <a:spcAft>
                <a:spcPts val="300"/>
              </a:spcAft>
              <a:buFont typeface="Arial"/>
              <a:buChar char="•"/>
            </a:pPr>
            <a:r>
              <a:rPr lang="it-IT" sz="1700" b="1">
                <a:solidFill>
                  <a:srgbClr val="193248"/>
                </a:solidFill>
                <a:latin typeface="Arial"/>
              </a:rPr>
              <a:t>Cervelletto:</a:t>
            </a:r>
            <a:r>
              <a:rPr lang="it-IT" sz="1700" b="0">
                <a:solidFill>
                  <a:srgbClr val="193248"/>
                </a:solidFill>
                <a:latin typeface="Arial"/>
              </a:rPr>
              <a:t> coordina i movimenti e l’equilibrio.</a:t>
            </a:r>
            <a:endParaRPr lang="it-IT" sz="1850" b="0">
              <a:solidFill>
                <a:srgbClr val="193248"/>
              </a:solidFill>
              <a:latin typeface="Arial"/>
            </a:endParaRPr>
          </a:p>
          <a:p>
            <a:pPr marL="228600" indent="-171450" algn="l">
              <a:lnSpc>
                <a:spcPts val="1850"/>
              </a:lnSpc>
              <a:spcBef>
                <a:spcPts val="0"/>
              </a:spcBef>
              <a:spcAft>
                <a:spcPts val="300"/>
              </a:spcAft>
              <a:buFont typeface="Arial"/>
              <a:buChar char="•"/>
            </a:pPr>
            <a:r>
              <a:rPr lang="it-IT" sz="1700" b="1">
                <a:solidFill>
                  <a:srgbClr val="193248"/>
                </a:solidFill>
                <a:latin typeface="Arial"/>
              </a:rPr>
              <a:t>Tronco encefalico:</a:t>
            </a:r>
            <a:r>
              <a:rPr lang="it-IT" sz="1700" b="0">
                <a:solidFill>
                  <a:srgbClr val="193248"/>
                </a:solidFill>
                <a:latin typeface="Arial"/>
              </a:rPr>
              <a:t> collega l’encefalo al </a:t>
            </a:r>
            <a:r>
              <a:rPr lang="it-IT" sz="1700" b="0" u="sng">
                <a:solidFill>
                  <a:srgbClr val="193248"/>
                </a:solidFill>
                <a:latin typeface="Arial"/>
              </a:rPr>
              <a:t>midollo spinale </a:t>
            </a:r>
            <a:r>
              <a:rPr lang="it-IT" sz="1700" b="0">
                <a:solidFill>
                  <a:srgbClr val="193248"/>
                </a:solidFill>
                <a:latin typeface="Arial"/>
              </a:rPr>
              <a:t>e regola respiro e battito cardiaco.</a:t>
            </a:r>
            <a:endParaRPr lang="it-IT" sz="1850" b="0">
              <a:solidFill>
                <a:srgbClr val="193248"/>
              </a:solidFill>
              <a:latin typeface="Arial"/>
            </a:endParaRPr>
          </a:p>
        </p:txBody>
      </p:sp>
      <p:sp>
        <p:nvSpPr>
          <p:cNvPr id="17" name="TextBox 16"/>
          <p:cNvSpPr txBox="1"/>
          <p:nvPr/>
        </p:nvSpPr>
        <p:spPr>
          <a:xfrm>
            <a:off x="676656" y="5669280"/>
            <a:ext cx="4105656" cy="841248"/>
          </a:xfrm>
          <a:prstGeom prst="rect">
            <a:avLst/>
          </a:prstGeom>
          <a:noFill/>
        </p:spPr>
        <p:txBody>
          <a:bodyPr wrap="square" lIns="0" tIns="0" rIns="0" bIns="0">
            <a:noAutofit/>
          </a:bodyPr>
          <a:lstStyle/>
          <a:p>
            <a:pPr>
              <a:lnSpc>
                <a:spcPts val="1800"/>
              </a:lnSpc>
              <a:spcAft>
                <a:spcPts val="300"/>
              </a:spcAft>
            </a:pPr>
            <a:r>
              <a:rPr lang="it-IT" sz="1700" b="1">
                <a:solidFill>
                  <a:srgbClr val="123F67"/>
                </a:solidFill>
                <a:latin typeface="Arial"/>
              </a:rPr>
              <a:t>Talamo: </a:t>
            </a:r>
            <a:r>
              <a:rPr lang="it-IT" sz="1700" b="0">
                <a:solidFill>
                  <a:srgbClr val="193248"/>
                </a:solidFill>
                <a:latin typeface="Arial"/>
              </a:rPr>
              <a:t>smista alla corteccia i segnali sensoriali, tranne l’olfatto.</a:t>
            </a:r>
          </a:p>
          <a:p>
            <a:pPr>
              <a:lnSpc>
                <a:spcPts val="1800"/>
              </a:lnSpc>
              <a:spcAft>
                <a:spcPts val="300"/>
              </a:spcAft>
            </a:pPr>
            <a:r>
              <a:rPr lang="it-IT" sz="1700" b="1">
                <a:solidFill>
                  <a:srgbClr val="123F67"/>
                </a:solidFill>
                <a:latin typeface="Arial"/>
              </a:rPr>
              <a:t>Ipotalamo: </a:t>
            </a:r>
            <a:r>
              <a:rPr lang="it-IT" sz="1700" b="0">
                <a:solidFill>
                  <a:srgbClr val="193248"/>
                </a:solidFill>
                <a:latin typeface="Arial"/>
              </a:rPr>
              <a:t>regola fame, sete, temperatura e sonno. Controlla l’ipofisi.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 sistema nervoso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21</a:t>
            </a:r>
            <a:endParaRPr sz="1350" b="1">
              <a:solidFill>
                <a:srgbClr val="123F67"/>
              </a:solidFill>
              <a:latin typeface="Arial"/>
              <a:ea typeface="Arial"/>
              <a:cs typeface="Arial"/>
            </a:endParaRPr>
          </a:p>
        </p:txBody>
      </p:sp>
      <p:sp>
        <p:nvSpPr>
          <p:cNvPr id="24" name="TextBox 23"/>
          <p:cNvSpPr txBox="1"/>
          <p:nvPr/>
        </p:nvSpPr>
        <p:spPr>
          <a:xfrm>
            <a:off x="704850" y="1476375"/>
            <a:ext cx="10877550" cy="552450"/>
          </a:xfrm>
          <a:prstGeom prst="rect">
            <a:avLst/>
          </a:prstGeom>
          <a:noFill/>
        </p:spPr>
        <p:txBody>
          <a:bodyPr wrap="square" lIns="0" tIns="0" rIns="0" bIns="0">
            <a:noAutofit/>
          </a:bodyPr>
          <a:lstStyle/>
          <a:p>
            <a:pPr>
              <a:lnSpc>
                <a:spcPts val="2200"/>
              </a:lnSpc>
            </a:pPr>
            <a:r>
              <a:rPr sz="1900" b="0">
                <a:solidFill>
                  <a:srgbClr val="087E8B"/>
                </a:solidFill>
                <a:latin typeface="Arial"/>
              </a:rPr>
              <a:t>Cause diverse: attività elettrica, autoimmunità, degenerazione, vasi e infezioni</a:t>
            </a:r>
          </a:p>
        </p:txBody>
      </p:sp>
      <p:sp>
        <p:nvSpPr>
          <p:cNvPr id="25" name="TextBox 24"/>
          <p:cNvSpPr txBox="1"/>
          <p:nvPr/>
        </p:nvSpPr>
        <p:spPr>
          <a:xfrm>
            <a:off x="704850" y="2019300"/>
            <a:ext cx="5181600" cy="228600"/>
          </a:xfrm>
          <a:prstGeom prst="rect">
            <a:avLst/>
          </a:prstGeom>
          <a:noFill/>
        </p:spPr>
        <p:txBody>
          <a:bodyPr wrap="square" lIns="0" tIns="0" rIns="0" bIns="0">
            <a:noAutofit/>
          </a:bodyPr>
          <a:lstStyle/>
          <a:p>
            <a:pPr>
              <a:lnSpc>
                <a:spcPts val="1500"/>
              </a:lnSpc>
            </a:pPr>
            <a:r>
              <a:rPr sz="1200" b="1">
                <a:solidFill>
                  <a:srgbClr val="087E8B"/>
                </a:solidFill>
                <a:latin typeface="Arial"/>
              </a:rPr>
              <a:t>ATTIVITÀ ELETTRICA</a:t>
            </a:r>
          </a:p>
        </p:txBody>
      </p:sp>
      <p:sp>
        <p:nvSpPr>
          <p:cNvPr id="26" name="TextBox 25"/>
          <p:cNvSpPr txBox="1"/>
          <p:nvPr/>
        </p:nvSpPr>
        <p:spPr>
          <a:xfrm>
            <a:off x="704850" y="2276475"/>
            <a:ext cx="5181600" cy="333375"/>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Epilessia</a:t>
            </a:r>
          </a:p>
        </p:txBody>
      </p:sp>
      <p:sp>
        <p:nvSpPr>
          <p:cNvPr id="27" name="TextBox 26"/>
          <p:cNvSpPr txBox="1"/>
          <p:nvPr/>
        </p:nvSpPr>
        <p:spPr>
          <a:xfrm>
            <a:off x="704850" y="2638425"/>
            <a:ext cx="5181600" cy="676275"/>
          </a:xfrm>
          <a:prstGeom prst="rect">
            <a:avLst/>
          </a:prstGeom>
          <a:noFill/>
        </p:spPr>
        <p:txBody>
          <a:bodyPr wrap="square" lIns="0" tIns="0" rIns="0" bIns="0">
            <a:noAutofit/>
          </a:bodyPr>
          <a:lstStyle/>
          <a:p>
            <a:pPr>
              <a:lnSpc>
                <a:spcPts val="1800"/>
              </a:lnSpc>
            </a:pPr>
            <a:r>
              <a:rPr lang="it-IT" sz="1700" b="0">
                <a:solidFill>
                  <a:srgbClr val="193248"/>
                </a:solidFill>
                <a:latin typeface="Arial"/>
              </a:rPr>
              <a:t>Predisposizione a crisi ricorrenti dovute a un’attività elettrica cerebrale anomala.</a:t>
            </a:r>
          </a:p>
        </p:txBody>
      </p:sp>
      <p:sp>
        <p:nvSpPr>
          <p:cNvPr id="28" name="TextBox 27"/>
          <p:cNvSpPr txBox="1"/>
          <p:nvPr/>
        </p:nvSpPr>
        <p:spPr>
          <a:xfrm>
            <a:off x="6362700" y="2019300"/>
            <a:ext cx="5181600" cy="228600"/>
          </a:xfrm>
          <a:prstGeom prst="rect">
            <a:avLst/>
          </a:prstGeom>
          <a:noFill/>
        </p:spPr>
        <p:txBody>
          <a:bodyPr wrap="square" lIns="0" tIns="0" rIns="0" bIns="0">
            <a:noAutofit/>
          </a:bodyPr>
          <a:lstStyle/>
          <a:p>
            <a:pPr>
              <a:lnSpc>
                <a:spcPts val="1500"/>
              </a:lnSpc>
            </a:pPr>
            <a:r>
              <a:rPr sz="1200" b="1">
                <a:solidFill>
                  <a:srgbClr val="087E8B"/>
                </a:solidFill>
                <a:latin typeface="Arial"/>
              </a:rPr>
              <a:t>AUTOIMMUNITÀ</a:t>
            </a:r>
          </a:p>
        </p:txBody>
      </p:sp>
      <p:sp>
        <p:nvSpPr>
          <p:cNvPr id="29" name="TextBox 28"/>
          <p:cNvSpPr txBox="1"/>
          <p:nvPr/>
        </p:nvSpPr>
        <p:spPr>
          <a:xfrm>
            <a:off x="6362700" y="2276475"/>
            <a:ext cx="5181600" cy="333375"/>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Sclerosi multipla</a:t>
            </a:r>
          </a:p>
        </p:txBody>
      </p:sp>
      <p:sp>
        <p:nvSpPr>
          <p:cNvPr id="30" name="TextBox 29"/>
          <p:cNvSpPr txBox="1"/>
          <p:nvPr/>
        </p:nvSpPr>
        <p:spPr>
          <a:xfrm>
            <a:off x="6362700" y="2638425"/>
            <a:ext cx="5181600" cy="676275"/>
          </a:xfrm>
          <a:prstGeom prst="rect">
            <a:avLst/>
          </a:prstGeom>
          <a:noFill/>
        </p:spPr>
        <p:txBody>
          <a:bodyPr wrap="square" lIns="0" tIns="0" rIns="0" bIns="0">
            <a:noAutofit/>
          </a:bodyPr>
          <a:lstStyle/>
          <a:p>
            <a:pPr>
              <a:lnSpc>
                <a:spcPts val="1800"/>
              </a:lnSpc>
            </a:pPr>
            <a:r>
              <a:rPr lang="it-IT" sz="1700" b="0">
                <a:solidFill>
                  <a:srgbClr val="193248"/>
                </a:solidFill>
                <a:latin typeface="Arial"/>
              </a:rPr>
              <a:t>Malattia autoimmune che danneggia la mielina e le fibre nervose di encefalo e midollo.</a:t>
            </a:r>
          </a:p>
        </p:txBody>
      </p:sp>
      <p:sp>
        <p:nvSpPr>
          <p:cNvPr id="31" name="TextBox 30"/>
          <p:cNvSpPr txBox="1"/>
          <p:nvPr/>
        </p:nvSpPr>
        <p:spPr>
          <a:xfrm>
            <a:off x="704850" y="3371850"/>
            <a:ext cx="5181600" cy="228600"/>
          </a:xfrm>
          <a:prstGeom prst="rect">
            <a:avLst/>
          </a:prstGeom>
          <a:noFill/>
        </p:spPr>
        <p:txBody>
          <a:bodyPr wrap="square" lIns="0" tIns="0" rIns="0" bIns="0">
            <a:noAutofit/>
          </a:bodyPr>
          <a:lstStyle/>
          <a:p>
            <a:pPr>
              <a:lnSpc>
                <a:spcPts val="1500"/>
              </a:lnSpc>
            </a:pPr>
            <a:r>
              <a:rPr sz="1200" b="1">
                <a:solidFill>
                  <a:srgbClr val="087E8B"/>
                </a:solidFill>
                <a:latin typeface="Arial"/>
              </a:rPr>
              <a:t>NEURODEGENERAZIONE</a:t>
            </a:r>
          </a:p>
        </p:txBody>
      </p:sp>
      <p:sp>
        <p:nvSpPr>
          <p:cNvPr id="32" name="TextBox 31"/>
          <p:cNvSpPr txBox="1"/>
          <p:nvPr/>
        </p:nvSpPr>
        <p:spPr>
          <a:xfrm>
            <a:off x="704850" y="3629025"/>
            <a:ext cx="5181600" cy="333375"/>
          </a:xfrm>
          <a:prstGeom prst="rect">
            <a:avLst/>
          </a:prstGeom>
          <a:noFill/>
        </p:spPr>
        <p:txBody>
          <a:bodyPr wrap="square" lIns="0" tIns="0" rIns="0" bIns="0">
            <a:noAutofit/>
          </a:bodyPr>
          <a:lstStyle/>
          <a:p>
            <a:pPr>
              <a:lnSpc>
                <a:spcPct val="100000"/>
              </a:lnSpc>
              <a:spcAft>
                <a:spcPts val="300"/>
              </a:spcAft>
            </a:pPr>
            <a:r>
              <a:rPr sz="2000" b="1">
                <a:solidFill>
                  <a:srgbClr val="123F67"/>
                </a:solidFill>
                <a:latin typeface="Arial"/>
              </a:rPr>
              <a:t>SLA: sclerosi laterale amiotrofica</a:t>
            </a:r>
            <a:endParaRPr lang="it-IT" sz="2000" b="1">
              <a:solidFill>
                <a:srgbClr val="123F67"/>
              </a:solidFill>
              <a:latin typeface="Arial"/>
            </a:endParaRPr>
          </a:p>
        </p:txBody>
      </p:sp>
      <p:sp>
        <p:nvSpPr>
          <p:cNvPr id="33" name="TextBox 32"/>
          <p:cNvSpPr txBox="1"/>
          <p:nvPr/>
        </p:nvSpPr>
        <p:spPr>
          <a:xfrm>
            <a:off x="704850" y="3990975"/>
            <a:ext cx="5181600" cy="676275"/>
          </a:xfrm>
          <a:prstGeom prst="rect">
            <a:avLst/>
          </a:prstGeom>
          <a:noFill/>
        </p:spPr>
        <p:txBody>
          <a:bodyPr wrap="square" lIns="0" tIns="0" rIns="0" bIns="0">
            <a:noAutofit/>
          </a:bodyPr>
          <a:lstStyle/>
          <a:p>
            <a:pPr>
              <a:lnSpc>
                <a:spcPts val="1800"/>
              </a:lnSpc>
            </a:pPr>
            <a:r>
              <a:rPr lang="it-IT" sz="1700" b="0">
                <a:solidFill>
                  <a:srgbClr val="193248"/>
                </a:solidFill>
                <a:latin typeface="Arial"/>
              </a:rPr>
              <a:t>Degenerazione dei motoneuroni, con perdita progressiva del controllo dei muscoli.</a:t>
            </a:r>
          </a:p>
        </p:txBody>
      </p:sp>
      <p:sp>
        <p:nvSpPr>
          <p:cNvPr id="34" name="TextBox 33"/>
          <p:cNvSpPr txBox="1"/>
          <p:nvPr/>
        </p:nvSpPr>
        <p:spPr>
          <a:xfrm>
            <a:off x="6362700" y="3371850"/>
            <a:ext cx="5181600" cy="228600"/>
          </a:xfrm>
          <a:prstGeom prst="rect">
            <a:avLst/>
          </a:prstGeom>
          <a:noFill/>
        </p:spPr>
        <p:txBody>
          <a:bodyPr wrap="square" lIns="0" tIns="0" rIns="0" bIns="0">
            <a:noAutofit/>
          </a:bodyPr>
          <a:lstStyle/>
          <a:p>
            <a:pPr>
              <a:lnSpc>
                <a:spcPts val="1500"/>
              </a:lnSpc>
            </a:pPr>
            <a:r>
              <a:rPr sz="1200" b="1">
                <a:solidFill>
                  <a:srgbClr val="087E8B"/>
                </a:solidFill>
                <a:latin typeface="Arial"/>
              </a:rPr>
              <a:t>DISTURBO VASCOLARE</a:t>
            </a:r>
          </a:p>
        </p:txBody>
      </p:sp>
      <p:sp>
        <p:nvSpPr>
          <p:cNvPr id="35" name="TextBox 34"/>
          <p:cNvSpPr txBox="1"/>
          <p:nvPr/>
        </p:nvSpPr>
        <p:spPr>
          <a:xfrm>
            <a:off x="6362700" y="3629025"/>
            <a:ext cx="5181600" cy="333375"/>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Ictus ischemico</a:t>
            </a:r>
          </a:p>
        </p:txBody>
      </p:sp>
      <p:sp>
        <p:nvSpPr>
          <p:cNvPr id="36" name="TextBox 35"/>
          <p:cNvSpPr txBox="1"/>
          <p:nvPr/>
        </p:nvSpPr>
        <p:spPr>
          <a:xfrm>
            <a:off x="6362700" y="3990975"/>
            <a:ext cx="5557954" cy="941832"/>
          </a:xfrm>
          <a:prstGeom prst="rect">
            <a:avLst/>
          </a:prstGeom>
          <a:noFill/>
        </p:spPr>
        <p:txBody>
          <a:bodyPr wrap="square" lIns="0" tIns="0" rIns="0" bIns="0">
            <a:noAutofit/>
          </a:bodyPr>
          <a:lstStyle/>
          <a:p>
            <a:pPr>
              <a:lnSpc>
                <a:spcPts val="1800"/>
              </a:lnSpc>
            </a:pPr>
            <a:r>
              <a:rPr lang="it-IT" sz="1700" b="0" dirty="0">
                <a:solidFill>
                  <a:srgbClr val="193248"/>
                </a:solidFill>
                <a:latin typeface="Arial"/>
              </a:rPr>
              <a:t>Un’arteria ostruita riduce </a:t>
            </a:r>
            <a:r>
              <a:rPr lang="it-IT" sz="1700" b="0">
                <a:solidFill>
                  <a:srgbClr val="193248"/>
                </a:solidFill>
                <a:latin typeface="Arial"/>
              </a:rPr>
              <a:t>sangue e ossigeno </a:t>
            </a:r>
            <a:r>
              <a:rPr lang="it-IT" sz="1700" b="0" dirty="0">
                <a:solidFill>
                  <a:srgbClr val="193248"/>
                </a:solidFill>
                <a:latin typeface="Arial"/>
              </a:rPr>
              <a:t>al cervello</a:t>
            </a:r>
            <a:r>
              <a:rPr lang="it-IT" sz="1700" b="0">
                <a:solidFill>
                  <a:srgbClr val="193248"/>
                </a:solidFill>
                <a:latin typeface="Arial"/>
              </a:rPr>
              <a:t>. Durata e gravità dell’ischemia influenzano gli esiti: i danni possono essere temporanei o permanenti</a:t>
            </a:r>
            <a:r>
              <a:rPr lang="it-IT" sz="1700" b="0" dirty="0">
                <a:solidFill>
                  <a:srgbClr val="193248"/>
                </a:solidFill>
                <a:latin typeface="Arial"/>
              </a:rPr>
              <a:t>.</a:t>
            </a:r>
          </a:p>
        </p:txBody>
      </p:sp>
      <p:sp>
        <p:nvSpPr>
          <p:cNvPr id="37" name="TextBox 36"/>
          <p:cNvSpPr txBox="1"/>
          <p:nvPr/>
        </p:nvSpPr>
        <p:spPr>
          <a:xfrm>
            <a:off x="704850" y="4724400"/>
            <a:ext cx="5181600" cy="228600"/>
          </a:xfrm>
          <a:prstGeom prst="rect">
            <a:avLst/>
          </a:prstGeom>
          <a:noFill/>
        </p:spPr>
        <p:txBody>
          <a:bodyPr wrap="square" lIns="0" tIns="0" rIns="0" bIns="0">
            <a:noAutofit/>
          </a:bodyPr>
          <a:lstStyle/>
          <a:p>
            <a:pPr>
              <a:lnSpc>
                <a:spcPts val="1500"/>
              </a:lnSpc>
            </a:pPr>
            <a:r>
              <a:rPr sz="1200" b="1">
                <a:solidFill>
                  <a:srgbClr val="087E8B"/>
                </a:solidFill>
                <a:latin typeface="Arial"/>
              </a:rPr>
              <a:t>DISTURBO VASCOLARE</a:t>
            </a:r>
          </a:p>
        </p:txBody>
      </p:sp>
      <p:sp>
        <p:nvSpPr>
          <p:cNvPr id="38" name="TextBox 37"/>
          <p:cNvSpPr txBox="1"/>
          <p:nvPr/>
        </p:nvSpPr>
        <p:spPr>
          <a:xfrm>
            <a:off x="704850" y="4981575"/>
            <a:ext cx="5181600" cy="333375"/>
          </a:xfrm>
          <a:prstGeom prst="rect">
            <a:avLst/>
          </a:prstGeom>
          <a:noFill/>
        </p:spPr>
        <p:txBody>
          <a:bodyPr wrap="square" lIns="0" tIns="0" rIns="0" bIns="0">
            <a:noAutofit/>
          </a:bodyPr>
          <a:lstStyle/>
          <a:p>
            <a:pPr>
              <a:lnSpc>
                <a:spcPct val="100000"/>
              </a:lnSpc>
              <a:spcAft>
                <a:spcPts val="300"/>
              </a:spcAft>
            </a:pPr>
            <a:r>
              <a:rPr lang="it-IT" sz="2000" b="1" dirty="0">
                <a:solidFill>
                  <a:srgbClr val="123F67"/>
                </a:solidFill>
                <a:latin typeface="Arial"/>
              </a:rPr>
              <a:t>Emorragia cerebrale</a:t>
            </a:r>
          </a:p>
        </p:txBody>
      </p:sp>
      <p:sp>
        <p:nvSpPr>
          <p:cNvPr id="39" name="TextBox 38"/>
          <p:cNvSpPr txBox="1"/>
          <p:nvPr/>
        </p:nvSpPr>
        <p:spPr>
          <a:xfrm>
            <a:off x="704850" y="5343525"/>
            <a:ext cx="5181600" cy="941832"/>
          </a:xfrm>
          <a:prstGeom prst="rect">
            <a:avLst/>
          </a:prstGeom>
          <a:noFill/>
        </p:spPr>
        <p:txBody>
          <a:bodyPr wrap="square" lIns="0" tIns="0" rIns="0" bIns="0">
            <a:noAutofit/>
          </a:bodyPr>
          <a:lstStyle/>
          <a:p>
            <a:pPr>
              <a:lnSpc>
                <a:spcPts val="1800"/>
              </a:lnSpc>
            </a:pPr>
            <a:r>
              <a:rPr lang="it-IT" sz="1700" b="0" dirty="0">
                <a:solidFill>
                  <a:srgbClr val="193248"/>
                </a:solidFill>
                <a:latin typeface="Arial"/>
              </a:rPr>
              <a:t>Sanguinamento nel cervello, di solito da una piccola arteria o più raramente di origine venosa.</a:t>
            </a:r>
          </a:p>
          <a:p>
            <a:pPr>
              <a:lnSpc>
                <a:spcPts val="1800"/>
              </a:lnSpc>
            </a:pPr>
            <a:r>
              <a:rPr lang="it-IT" sz="1700" b="0" dirty="0">
                <a:solidFill>
                  <a:srgbClr val="193248"/>
                </a:solidFill>
                <a:latin typeface="Arial"/>
              </a:rPr>
              <a:t>Può causare un ictus emorragico.</a:t>
            </a:r>
          </a:p>
        </p:txBody>
      </p:sp>
      <p:sp>
        <p:nvSpPr>
          <p:cNvPr id="40" name="TextBox 39"/>
          <p:cNvSpPr txBox="1"/>
          <p:nvPr/>
        </p:nvSpPr>
        <p:spPr>
          <a:xfrm>
            <a:off x="6362700" y="4971288"/>
            <a:ext cx="5181600" cy="228600"/>
          </a:xfrm>
          <a:prstGeom prst="rect">
            <a:avLst/>
          </a:prstGeom>
          <a:noFill/>
        </p:spPr>
        <p:txBody>
          <a:bodyPr wrap="square" lIns="0" tIns="0" rIns="0" bIns="0">
            <a:noAutofit/>
          </a:bodyPr>
          <a:lstStyle/>
          <a:p>
            <a:pPr>
              <a:lnSpc>
                <a:spcPts val="1500"/>
              </a:lnSpc>
            </a:pPr>
            <a:r>
              <a:rPr sz="1200" b="1">
                <a:solidFill>
                  <a:srgbClr val="087E8B"/>
                </a:solidFill>
                <a:latin typeface="Arial"/>
              </a:rPr>
              <a:t>INFIAMMAZIONE</a:t>
            </a:r>
          </a:p>
        </p:txBody>
      </p:sp>
      <p:sp>
        <p:nvSpPr>
          <p:cNvPr id="41" name="TextBox 40"/>
          <p:cNvSpPr txBox="1"/>
          <p:nvPr/>
        </p:nvSpPr>
        <p:spPr>
          <a:xfrm>
            <a:off x="6362700" y="5228463"/>
            <a:ext cx="5181600" cy="333375"/>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Meningite</a:t>
            </a:r>
          </a:p>
        </p:txBody>
      </p:sp>
      <p:sp>
        <p:nvSpPr>
          <p:cNvPr id="42" name="TextBox 41"/>
          <p:cNvSpPr txBox="1"/>
          <p:nvPr/>
        </p:nvSpPr>
        <p:spPr>
          <a:xfrm>
            <a:off x="6362700" y="5590413"/>
            <a:ext cx="5181600" cy="676275"/>
          </a:xfrm>
          <a:prstGeom prst="rect">
            <a:avLst/>
          </a:prstGeom>
          <a:noFill/>
        </p:spPr>
        <p:txBody>
          <a:bodyPr wrap="square" lIns="0" tIns="0" rIns="0" bIns="0">
            <a:noAutofit/>
          </a:bodyPr>
          <a:lstStyle/>
          <a:p>
            <a:pPr>
              <a:lnSpc>
                <a:spcPts val="1800"/>
              </a:lnSpc>
            </a:pPr>
            <a:r>
              <a:rPr lang="it-IT" sz="1700" b="0">
                <a:solidFill>
                  <a:srgbClr val="193248"/>
                </a:solidFill>
                <a:latin typeface="Arial"/>
              </a:rPr>
              <a:t>Infiammazione delle meningi, membrane che rivestono encefalo e midollo, spesso infettiva.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00000007-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7-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SISTEMA 3 DI 5</a:t>
            </a:r>
          </a:p>
        </p:txBody>
      </p:sp>
      <p:sp>
        <p:nvSpPr>
          <p:cNvPr id="3" name="Rettangolo 2">
            <a:extLst>
              <a:ext uri="{FF2B5EF4-FFF2-40B4-BE49-F238E27FC236}">
                <a16:creationId xmlns:a16="http://schemas.microsoft.com/office/drawing/2014/main" id="{00000007-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Sistema scheletrico</a:t>
            </a:r>
          </a:p>
        </p:txBody>
      </p:sp>
      <p:sp>
        <p:nvSpPr>
          <p:cNvPr id="4" name="Rettangolo 3">
            <a:extLst>
              <a:ext uri="{FF2B5EF4-FFF2-40B4-BE49-F238E27FC236}">
                <a16:creationId xmlns:a16="http://schemas.microsoft.com/office/drawing/2014/main" id="{00000007-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7-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7-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22</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7-0007-4000-8000-000000000000}"/>
              </a:ext>
            </a:extLst>
          </p:cNvPr>
          <p:cNvSpPr>
            <a:spLocks noGrp="1"/>
          </p:cNvSpPr>
          <p:nvPr/>
        </p:nvSpPr>
        <p:spPr>
          <a:xfrm>
            <a:off x="609600" y="1781175"/>
            <a:ext cx="7667625" cy="361950"/>
          </a:xfrm>
          <a:prstGeom prst="rect">
            <a:avLst/>
          </a:prstGeom>
          <a:noFill/>
          <a:ln w="0">
            <a:noFill/>
          </a:ln>
        </p:spPr>
        <p:txBody>
          <a:bodyPr wrap="square">
            <a:noAutofit/>
          </a:bodyPr>
          <a:lstStyle/>
          <a:p>
            <a:pPr>
              <a:defRPr sz="2025" b="1">
                <a:solidFill>
                  <a:srgbClr val="123F67"/>
                </a:solidFill>
                <a:latin typeface="Arial"/>
                <a:ea typeface="Arial"/>
                <a:cs typeface="Arial"/>
              </a:defRPr>
            </a:pPr>
            <a:r>
              <a:rPr lang="it-IT" sz="2025" b="1">
                <a:solidFill>
                  <a:srgbClr val="123F67"/>
                </a:solidFill>
                <a:latin typeface="Arial"/>
                <a:ea typeface="Arial"/>
                <a:cs typeface="Arial"/>
              </a:rPr>
              <a:t>Sostegno, protezione e riserva</a:t>
            </a:r>
            <a:endParaRPr sz="2025" b="1">
              <a:solidFill>
                <a:srgbClr val="123F67"/>
              </a:solidFill>
              <a:latin typeface="Arial"/>
              <a:ea typeface="Arial"/>
              <a:cs typeface="Arial"/>
            </a:endParaRPr>
          </a:p>
        </p:txBody>
      </p:sp>
      <p:sp>
        <p:nvSpPr>
          <p:cNvPr id="8" name="Rettangolo 7">
            <a:extLst>
              <a:ext uri="{FF2B5EF4-FFF2-40B4-BE49-F238E27FC236}">
                <a16:creationId xmlns:a16="http://schemas.microsoft.com/office/drawing/2014/main" id="{00000007-0008-4000-8000-000000000000}"/>
              </a:ext>
            </a:extLst>
          </p:cNvPr>
          <p:cNvSpPr>
            <a:spLocks noGrp="1"/>
          </p:cNvSpPr>
          <p:nvPr/>
        </p:nvSpPr>
        <p:spPr>
          <a:xfrm>
            <a:off x="609600" y="2190750"/>
            <a:ext cx="7667625" cy="1162050"/>
          </a:xfrm>
          <a:prstGeom prst="rect">
            <a:avLst/>
          </a:prstGeom>
          <a:noFill/>
          <a:ln w="0">
            <a:noFill/>
          </a:ln>
        </p:spPr>
        <p:txBody>
          <a:bodyPr wrap="square">
            <a:noAutofit/>
          </a:bodyPr>
          <a:lstStyle/>
          <a:p>
            <a:pPr>
              <a:defRPr sz="1875" b="0">
                <a:solidFill>
                  <a:srgbClr val="193248"/>
                </a:solidFill>
                <a:latin typeface="Arial"/>
                <a:ea typeface="Arial"/>
                <a:cs typeface="Arial"/>
              </a:defRPr>
            </a:pPr>
            <a:r>
              <a:rPr sz="1875" b="0" dirty="0">
                <a:solidFill>
                  <a:srgbClr val="193248"/>
                </a:solidFill>
                <a:latin typeface="Arial"/>
                <a:ea typeface="Arial"/>
                <a:cs typeface="Arial"/>
              </a:rPr>
              <a:t>Le ossa </a:t>
            </a:r>
            <a:r>
              <a:rPr lang="it-IT" sz="1875" b="0" dirty="0">
                <a:solidFill>
                  <a:srgbClr val="193248"/>
                </a:solidFill>
                <a:latin typeface="Arial"/>
                <a:ea typeface="Arial"/>
                <a:cs typeface="Arial"/>
              </a:rPr>
              <a:t>sostengono il corpo, </a:t>
            </a:r>
            <a:r>
              <a:rPr sz="1875" b="0" dirty="0" err="1">
                <a:solidFill>
                  <a:srgbClr val="193248"/>
                </a:solidFill>
                <a:latin typeface="Arial"/>
                <a:ea typeface="Arial"/>
                <a:cs typeface="Arial"/>
              </a:rPr>
              <a:t>proteggono</a:t>
            </a:r>
            <a:r>
              <a:rPr sz="1875" b="0" dirty="0">
                <a:solidFill>
                  <a:srgbClr val="193248"/>
                </a:solidFill>
                <a:latin typeface="Arial"/>
                <a:ea typeface="Arial"/>
                <a:cs typeface="Arial"/>
              </a:rPr>
              <a:t> </a:t>
            </a:r>
            <a:r>
              <a:rPr sz="1875" b="0" dirty="0" err="1">
                <a:solidFill>
                  <a:srgbClr val="193248"/>
                </a:solidFill>
                <a:latin typeface="Arial"/>
                <a:ea typeface="Arial"/>
                <a:cs typeface="Arial"/>
              </a:rPr>
              <a:t>gli</a:t>
            </a:r>
            <a:r>
              <a:rPr sz="1875" b="0" dirty="0">
                <a:solidFill>
                  <a:srgbClr val="193248"/>
                </a:solidFill>
                <a:latin typeface="Arial"/>
                <a:ea typeface="Arial"/>
                <a:cs typeface="Arial"/>
              </a:rPr>
              <a:t> </a:t>
            </a:r>
            <a:r>
              <a:rPr sz="1875" b="0" dirty="0" err="1">
                <a:solidFill>
                  <a:srgbClr val="193248"/>
                </a:solidFill>
                <a:latin typeface="Arial"/>
                <a:ea typeface="Arial"/>
                <a:cs typeface="Arial"/>
              </a:rPr>
              <a:t>organi</a:t>
            </a:r>
            <a:r>
              <a:rPr sz="1875" b="0" dirty="0">
                <a:solidFill>
                  <a:srgbClr val="193248"/>
                </a:solidFill>
                <a:latin typeface="Arial"/>
                <a:ea typeface="Arial"/>
                <a:cs typeface="Arial"/>
              </a:rPr>
              <a:t> e </a:t>
            </a:r>
            <a:r>
              <a:rPr lang="it-IT" sz="1875" b="0" dirty="0">
                <a:solidFill>
                  <a:srgbClr val="193248"/>
                </a:solidFill>
                <a:latin typeface="Arial"/>
                <a:ea typeface="Arial"/>
                <a:cs typeface="Arial"/>
              </a:rPr>
              <a:t>offrono </a:t>
            </a:r>
            <a:r>
              <a:rPr sz="1875" b="0" dirty="0" err="1">
                <a:solidFill>
                  <a:srgbClr val="193248"/>
                </a:solidFill>
                <a:latin typeface="Arial"/>
                <a:ea typeface="Arial"/>
                <a:cs typeface="Arial"/>
              </a:rPr>
              <a:t>punti</a:t>
            </a:r>
            <a:r>
              <a:rPr sz="1875" b="0" dirty="0">
                <a:solidFill>
                  <a:srgbClr val="193248"/>
                </a:solidFill>
                <a:latin typeface="Arial"/>
                <a:ea typeface="Arial"/>
                <a:cs typeface="Arial"/>
              </a:rPr>
              <a:t> di </a:t>
            </a:r>
            <a:r>
              <a:rPr sz="1875" b="0" dirty="0" err="1">
                <a:solidFill>
                  <a:srgbClr val="193248"/>
                </a:solidFill>
                <a:latin typeface="Arial"/>
                <a:ea typeface="Arial"/>
                <a:cs typeface="Arial"/>
              </a:rPr>
              <a:t>inserzione</a:t>
            </a:r>
            <a:r>
              <a:rPr sz="1875" b="0" dirty="0">
                <a:solidFill>
                  <a:srgbClr val="193248"/>
                </a:solidFill>
                <a:latin typeface="Arial"/>
                <a:ea typeface="Arial"/>
                <a:cs typeface="Arial"/>
              </a:rPr>
              <a:t> ai </a:t>
            </a:r>
            <a:r>
              <a:rPr sz="1875" b="0" dirty="0" err="1">
                <a:solidFill>
                  <a:srgbClr val="193248"/>
                </a:solidFill>
                <a:latin typeface="Arial"/>
                <a:ea typeface="Arial"/>
                <a:cs typeface="Arial"/>
              </a:rPr>
              <a:t>muscoli</a:t>
            </a:r>
            <a:r>
              <a:rPr lang="it-IT" sz="1875" b="0" dirty="0">
                <a:solidFill>
                  <a:srgbClr val="193248"/>
                </a:solidFill>
                <a:latin typeface="Arial"/>
                <a:ea typeface="Arial"/>
                <a:cs typeface="Arial"/>
              </a:rPr>
              <a:t>. Partecipano all’equilibrio minerale. Il midollo osseo rosso produce le cellule del sangue</a:t>
            </a:r>
            <a:r>
              <a:rPr lang="it-IT" sz="1875" b="0">
                <a:solidFill>
                  <a:srgbClr val="193248"/>
                </a:solidFill>
                <a:latin typeface="Arial"/>
                <a:ea typeface="Arial"/>
                <a:cs typeface="Arial"/>
              </a:rPr>
              <a:t> (emopoiesi).</a:t>
            </a:r>
            <a:endParaRPr sz="1875" b="0" dirty="0">
              <a:solidFill>
                <a:srgbClr val="193248"/>
              </a:solidFill>
              <a:latin typeface="Arial"/>
              <a:ea typeface="Arial"/>
              <a:cs typeface="Arial"/>
            </a:endParaRPr>
          </a:p>
        </p:txBody>
      </p:sp>
      <p:sp>
        <p:nvSpPr>
          <p:cNvPr id="9" name="Rettangolo 8">
            <a:extLst>
              <a:ext uri="{FF2B5EF4-FFF2-40B4-BE49-F238E27FC236}">
                <a16:creationId xmlns:a16="http://schemas.microsoft.com/office/drawing/2014/main" id="{00000007-0009-4000-8000-000000000000}"/>
              </a:ext>
            </a:extLst>
          </p:cNvPr>
          <p:cNvSpPr>
            <a:spLocks noGrp="1"/>
          </p:cNvSpPr>
          <p:nvPr/>
        </p:nvSpPr>
        <p:spPr>
          <a:xfrm>
            <a:off x="609600" y="3409950"/>
            <a:ext cx="3524250" cy="361950"/>
          </a:xfrm>
          <a:prstGeom prst="rect">
            <a:avLst/>
          </a:prstGeom>
          <a:noFill/>
          <a:ln w="0">
            <a:noFill/>
          </a:ln>
        </p:spPr>
        <p:txBody>
          <a:bodyPr wrap="square">
            <a:noAutofit/>
          </a:bodyPr>
          <a:lstStyle/>
          <a:p>
            <a:pPr>
              <a:defRPr sz="2025" b="1">
                <a:solidFill>
                  <a:srgbClr val="123F67"/>
                </a:solidFill>
                <a:latin typeface="Arial"/>
                <a:ea typeface="Arial"/>
                <a:cs typeface="Arial"/>
              </a:defRPr>
            </a:pPr>
            <a:r>
              <a:rPr lang="it-IT" sz="1875" b="1">
                <a:solidFill>
                  <a:srgbClr val="123F67"/>
                </a:solidFill>
                <a:latin typeface="Arial"/>
                <a:ea typeface="Arial"/>
                <a:cs typeface="Arial"/>
              </a:rPr>
              <a:t>Ossa per forma</a:t>
            </a:r>
          </a:p>
        </p:txBody>
      </p:sp>
      <p:sp>
        <p:nvSpPr>
          <p:cNvPr id="10" name="Rettangolo 9">
            <a:extLst>
              <a:ext uri="{FF2B5EF4-FFF2-40B4-BE49-F238E27FC236}">
                <a16:creationId xmlns:a16="http://schemas.microsoft.com/office/drawing/2014/main" id="{00000007-000A-4000-8000-000000000000}"/>
              </a:ext>
            </a:extLst>
          </p:cNvPr>
          <p:cNvSpPr>
            <a:spLocks noGrp="1"/>
          </p:cNvSpPr>
          <p:nvPr/>
        </p:nvSpPr>
        <p:spPr>
          <a:xfrm>
            <a:off x="609600" y="3848100"/>
            <a:ext cx="3524250" cy="1485900"/>
          </a:xfrm>
          <a:prstGeom prst="rect">
            <a:avLst/>
          </a:prstGeom>
          <a:noFill/>
          <a:ln w="0">
            <a:noFill/>
          </a:ln>
        </p:spPr>
        <p:txBody>
          <a:bodyPr wrap="square">
            <a:noAutofit/>
          </a:bodyPr>
          <a:lstStyle/>
          <a:p>
            <a:pPr marL="228600" indent="-152400">
              <a:spcAft>
                <a:spcPts val="700"/>
              </a:spcAft>
              <a:buFont typeface="Arial"/>
              <a:buChar char="•"/>
              <a:defRPr sz="1875" b="0">
                <a:solidFill>
                  <a:srgbClr val="193248"/>
                </a:solidFill>
                <a:latin typeface="Arial"/>
                <a:ea typeface="Arial"/>
                <a:cs typeface="Arial"/>
              </a:defRPr>
            </a:pPr>
            <a:r>
              <a:rPr lang="it-IT" sz="1875" b="1">
                <a:solidFill>
                  <a:srgbClr val="193248"/>
                </a:solidFill>
                <a:latin typeface="Arial"/>
                <a:ea typeface="Arial"/>
                <a:cs typeface="Arial"/>
              </a:rPr>
              <a:t>Lunghe:</a:t>
            </a:r>
            <a:r>
              <a:rPr lang="it-IT" sz="1875" b="0">
                <a:solidFill>
                  <a:srgbClr val="193248"/>
                </a:solidFill>
                <a:latin typeface="Arial"/>
                <a:ea typeface="Arial"/>
                <a:cs typeface="Arial"/>
              </a:rPr>
              <a:t> femore, omero</a:t>
            </a:r>
          </a:p>
          <a:p>
            <a:pPr marL="228600" indent="-152400">
              <a:spcAft>
                <a:spcPts val="700"/>
              </a:spcAft>
              <a:buFont typeface="Arial"/>
              <a:buChar char="•"/>
              <a:defRPr sz="1875" b="0">
                <a:solidFill>
                  <a:srgbClr val="193248"/>
                </a:solidFill>
                <a:latin typeface="Arial"/>
                <a:ea typeface="Arial"/>
                <a:cs typeface="Arial"/>
              </a:defRPr>
            </a:pPr>
            <a:r>
              <a:rPr lang="it-IT" sz="1875" b="1">
                <a:solidFill>
                  <a:srgbClr val="193248"/>
                </a:solidFill>
                <a:latin typeface="Arial"/>
                <a:ea typeface="Arial"/>
                <a:cs typeface="Arial"/>
              </a:rPr>
              <a:t>Corte:</a:t>
            </a:r>
            <a:r>
              <a:rPr lang="it-IT" sz="1875" b="0">
                <a:solidFill>
                  <a:srgbClr val="193248"/>
                </a:solidFill>
                <a:latin typeface="Arial"/>
                <a:ea typeface="Arial"/>
                <a:cs typeface="Arial"/>
              </a:rPr>
              <a:t> carpo e tarso</a:t>
            </a:r>
          </a:p>
          <a:p>
            <a:pPr marL="228600" indent="-152400">
              <a:spcAft>
                <a:spcPts val="700"/>
              </a:spcAft>
              <a:buFont typeface="Arial"/>
              <a:buChar char="•"/>
              <a:defRPr sz="1875" b="0">
                <a:solidFill>
                  <a:srgbClr val="193248"/>
                </a:solidFill>
                <a:latin typeface="Arial"/>
                <a:ea typeface="Arial"/>
                <a:cs typeface="Arial"/>
              </a:defRPr>
            </a:pPr>
            <a:r>
              <a:rPr lang="it-IT" sz="1875" b="1">
                <a:solidFill>
                  <a:srgbClr val="193248"/>
                </a:solidFill>
                <a:latin typeface="Arial"/>
                <a:ea typeface="Arial"/>
                <a:cs typeface="Arial"/>
              </a:rPr>
              <a:t>Piatte:</a:t>
            </a:r>
            <a:r>
              <a:rPr lang="it-IT" sz="1875" b="0">
                <a:solidFill>
                  <a:srgbClr val="193248"/>
                </a:solidFill>
                <a:latin typeface="Arial"/>
                <a:ea typeface="Arial"/>
                <a:cs typeface="Arial"/>
              </a:rPr>
              <a:t> sterno, scapola</a:t>
            </a:r>
          </a:p>
          <a:p>
            <a:pPr marL="228600" indent="-152400">
              <a:spcAft>
                <a:spcPts val="700"/>
              </a:spcAft>
              <a:buFont typeface="Arial"/>
              <a:buChar char="•"/>
              <a:defRPr sz="1875" b="0">
                <a:solidFill>
                  <a:srgbClr val="193248"/>
                </a:solidFill>
                <a:latin typeface="Arial"/>
                <a:ea typeface="Arial"/>
                <a:cs typeface="Arial"/>
              </a:defRPr>
            </a:pPr>
            <a:r>
              <a:rPr lang="it-IT" sz="1875" b="1">
                <a:solidFill>
                  <a:srgbClr val="193248"/>
                </a:solidFill>
                <a:latin typeface="Arial"/>
                <a:ea typeface="Arial"/>
                <a:cs typeface="Arial"/>
              </a:rPr>
              <a:t>Irregolari:</a:t>
            </a:r>
            <a:r>
              <a:rPr lang="it-IT" sz="1875" b="0">
                <a:solidFill>
                  <a:srgbClr val="193248"/>
                </a:solidFill>
                <a:latin typeface="Arial"/>
                <a:ea typeface="Arial"/>
                <a:cs typeface="Arial"/>
              </a:rPr>
              <a:t> vertebre</a:t>
            </a:r>
          </a:p>
        </p:txBody>
      </p:sp>
      <p:sp>
        <p:nvSpPr>
          <p:cNvPr id="12" name="Rettangolo 11">
            <a:extLst>
              <a:ext uri="{FF2B5EF4-FFF2-40B4-BE49-F238E27FC236}">
                <a16:creationId xmlns:a16="http://schemas.microsoft.com/office/drawing/2014/main" id="{00000007-000B-4000-8000-000000000000}"/>
              </a:ext>
            </a:extLst>
          </p:cNvPr>
          <p:cNvSpPr>
            <a:spLocks noGrp="1"/>
          </p:cNvSpPr>
          <p:nvPr/>
        </p:nvSpPr>
        <p:spPr>
          <a:xfrm>
            <a:off x="609600" y="5591175"/>
            <a:ext cx="7667625" cy="666750"/>
          </a:xfrm>
          <a:prstGeom prst="rect">
            <a:avLst/>
          </a:prstGeom>
          <a:noFill/>
          <a:ln w="0">
            <a:noFill/>
          </a:ln>
        </p:spPr>
        <p:txBody>
          <a:bodyPr wrap="square">
            <a:noAutofit/>
          </a:bodyPr>
          <a:lstStyle/>
          <a:p>
            <a:pPr>
              <a:defRPr sz="2100" b="1">
                <a:solidFill>
                  <a:srgbClr val="087E8B"/>
                </a:solidFill>
                <a:latin typeface="Arial"/>
                <a:ea typeface="Arial"/>
                <a:cs typeface="Arial"/>
              </a:defRPr>
            </a:pPr>
            <a:r>
              <a:rPr lang="it-IT" sz="2100" b="1" dirty="0">
                <a:solidFill>
                  <a:srgbClr val="087E8B"/>
                </a:solidFill>
                <a:latin typeface="Arial"/>
                <a:ea typeface="Arial"/>
                <a:cs typeface="Arial"/>
              </a:rPr>
              <a:t>Assile (centrale): cranio, colonna, torace</a:t>
            </a:r>
            <a:endParaRPr lang="it-IT" sz="1875" b="1" dirty="0">
              <a:solidFill>
                <a:srgbClr val="087E8B"/>
              </a:solidFill>
              <a:latin typeface="Arial"/>
              <a:ea typeface="Arial"/>
              <a:cs typeface="Arial"/>
            </a:endParaRPr>
          </a:p>
          <a:p>
            <a:pPr>
              <a:defRPr sz="2100" b="1">
                <a:solidFill>
                  <a:srgbClr val="087E8B"/>
                </a:solidFill>
                <a:latin typeface="Arial"/>
                <a:ea typeface="Arial"/>
                <a:cs typeface="Arial"/>
              </a:defRPr>
            </a:pPr>
            <a:r>
              <a:rPr lang="it-IT" sz="2100" b="1" dirty="0">
                <a:solidFill>
                  <a:srgbClr val="087E8B"/>
                </a:solidFill>
                <a:latin typeface="Arial"/>
                <a:ea typeface="Arial"/>
                <a:cs typeface="Arial"/>
              </a:rPr>
              <a:t>Appendicolare (periferico): arti e cingoli</a:t>
            </a:r>
            <a:endParaRPr lang="it-IT" sz="1875" b="1" dirty="0">
              <a:solidFill>
                <a:srgbClr val="087E8B"/>
              </a:solidFill>
              <a:latin typeface="Arial"/>
              <a:ea typeface="Arial"/>
              <a:cs typeface="Arial"/>
            </a:endParaRPr>
          </a:p>
        </p:txBody>
      </p:sp>
      <p:sp>
        <p:nvSpPr>
          <p:cNvPr id="30" name="Bone classification 30">
            <a:extLst>
              <a:ext uri="{FF2B5EF4-FFF2-40B4-BE49-F238E27FC236}">
                <a16:creationId xmlns:a16="http://schemas.microsoft.com/office/drawing/2014/main" id="{00000007-0007-4000-8000-000000000000}"/>
              </a:ext>
            </a:extLst>
          </p:cNvPr>
          <p:cNvSpPr>
            <a:spLocks noGrp="1"/>
          </p:cNvSpPr>
          <p:nvPr/>
        </p:nvSpPr>
        <p:spPr>
          <a:xfrm>
            <a:off x="4419600" y="3409950"/>
            <a:ext cx="3810000" cy="36195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Tessuto osseo</a:t>
            </a:r>
          </a:p>
        </p:txBody>
      </p:sp>
      <p:sp>
        <p:nvSpPr>
          <p:cNvPr id="31" name="Bone classification 31">
            <a:extLst>
              <a:ext uri="{FF2B5EF4-FFF2-40B4-BE49-F238E27FC236}">
                <a16:creationId xmlns:a16="http://schemas.microsoft.com/office/drawing/2014/main" id="{00000007-0008-4000-8000-000000000000}"/>
              </a:ext>
            </a:extLst>
          </p:cNvPr>
          <p:cNvSpPr>
            <a:spLocks noGrp="1"/>
          </p:cNvSpPr>
          <p:nvPr/>
        </p:nvSpPr>
        <p:spPr>
          <a:xfrm>
            <a:off x="4419600" y="3848100"/>
            <a:ext cx="4297680" cy="1647825"/>
          </a:xfrm>
          <a:prstGeom prst="rect">
            <a:avLst/>
          </a:prstGeom>
          <a:noFill/>
          <a:ln w="0">
            <a:noFill/>
          </a:ln>
        </p:spPr>
        <p:txBody>
          <a:bodyPr wrap="square">
            <a:noAutofit/>
          </a:bodyPr>
          <a:lstStyle/>
          <a:p>
            <a:pPr marL="228600" indent="-152400">
              <a:spcAft>
                <a:spcPts val="600"/>
              </a:spcAft>
              <a:buFont typeface="Arial"/>
              <a:buChar char="•"/>
              <a:defRPr sz="1875" b="0">
                <a:solidFill>
                  <a:srgbClr val="193248"/>
                </a:solidFill>
                <a:latin typeface="Arial"/>
                <a:ea typeface="Arial"/>
                <a:cs typeface="Arial"/>
              </a:defRPr>
            </a:pPr>
            <a:r>
              <a:rPr lang="it-IT" sz="1875" b="1" err="1">
                <a:solidFill>
                  <a:srgbClr val="193248"/>
                </a:solidFill>
                <a:latin typeface="Arial"/>
                <a:ea typeface="Arial"/>
                <a:cs typeface="Arial"/>
              </a:rPr>
              <a:t>Compatto</a:t>
            </a:r>
            <a:r>
              <a:rPr lang="it-IT" sz="1875" b="1">
                <a:solidFill>
                  <a:srgbClr val="193248"/>
                </a:solidFill>
                <a:latin typeface="Arial"/>
                <a:ea typeface="Arial"/>
                <a:cs typeface="Arial"/>
              </a:rPr>
              <a:t>:</a:t>
            </a:r>
            <a:r>
              <a:rPr sz="1875" b="0" dirty="0">
                <a:solidFill>
                  <a:srgbClr val="193248"/>
                </a:solidFill>
                <a:latin typeface="Arial"/>
                <a:ea typeface="Arial"/>
                <a:cs typeface="Arial"/>
              </a:rPr>
              <a:t> </a:t>
            </a:r>
            <a:r>
              <a:rPr sz="1875" b="0" dirty="0" err="1">
                <a:solidFill>
                  <a:srgbClr val="193248"/>
                </a:solidFill>
                <a:latin typeface="Arial"/>
                <a:ea typeface="Arial"/>
                <a:cs typeface="Arial"/>
              </a:rPr>
              <a:t>denso</a:t>
            </a:r>
            <a:r>
              <a:rPr sz="1875" b="0" dirty="0">
                <a:solidFill>
                  <a:srgbClr val="193248"/>
                </a:solidFill>
                <a:latin typeface="Arial"/>
                <a:ea typeface="Arial"/>
                <a:cs typeface="Arial"/>
              </a:rPr>
              <a:t> e </a:t>
            </a:r>
            <a:r>
              <a:rPr sz="1875" b="0" dirty="0" err="1">
                <a:solidFill>
                  <a:srgbClr val="193248"/>
                </a:solidFill>
                <a:latin typeface="Arial"/>
                <a:ea typeface="Arial"/>
                <a:cs typeface="Arial"/>
              </a:rPr>
              <a:t>resistente</a:t>
            </a:r>
            <a:r>
              <a:rPr lang="it-IT" sz="1875" b="0" err="1">
                <a:solidFill>
                  <a:srgbClr val="193248"/>
                </a:solidFill>
                <a:latin typeface="Arial"/>
                <a:ea typeface="Arial"/>
                <a:cs typeface="Arial"/>
              </a:rPr>
              <a:t> (diafisi del femore)</a:t>
            </a:r>
            <a:endParaRPr lang="it-IT" sz="1875" b="0" dirty="0">
              <a:solidFill>
                <a:srgbClr val="193248"/>
              </a:solidFill>
              <a:latin typeface="Arial"/>
              <a:ea typeface="Arial"/>
              <a:cs typeface="Arial"/>
            </a:endParaRPr>
          </a:p>
          <a:p>
            <a:pPr marL="228600" indent="-152400">
              <a:spcAft>
                <a:spcPts val="600"/>
              </a:spcAft>
              <a:buFont typeface="Arial"/>
              <a:buChar char="•"/>
              <a:defRPr sz="1875" b="0">
                <a:solidFill>
                  <a:srgbClr val="193248"/>
                </a:solidFill>
                <a:latin typeface="Arial"/>
                <a:ea typeface="Arial"/>
                <a:cs typeface="Arial"/>
              </a:defRPr>
            </a:pPr>
            <a:r>
              <a:rPr lang="it-IT" sz="1875" b="1" err="1">
                <a:solidFill>
                  <a:srgbClr val="193248"/>
                </a:solidFill>
                <a:latin typeface="Arial"/>
                <a:ea typeface="Arial"/>
                <a:cs typeface="Arial"/>
              </a:rPr>
              <a:t>Spugnoso</a:t>
            </a:r>
            <a:r>
              <a:rPr lang="it-IT" sz="1875" b="1">
                <a:solidFill>
                  <a:srgbClr val="193248"/>
                </a:solidFill>
                <a:latin typeface="Arial"/>
                <a:ea typeface="Arial"/>
                <a:cs typeface="Arial"/>
              </a:rPr>
              <a:t>:</a:t>
            </a:r>
            <a:r>
              <a:rPr sz="1875" b="0" dirty="0">
                <a:solidFill>
                  <a:srgbClr val="193248"/>
                </a:solidFill>
                <a:latin typeface="Arial"/>
                <a:ea typeface="Arial"/>
                <a:cs typeface="Arial"/>
              </a:rPr>
              <a:t> rete di </a:t>
            </a:r>
            <a:r>
              <a:rPr sz="1875" b="0" dirty="0" err="1">
                <a:solidFill>
                  <a:srgbClr val="193248"/>
                </a:solidFill>
                <a:latin typeface="Arial"/>
                <a:ea typeface="Arial"/>
                <a:cs typeface="Arial"/>
              </a:rPr>
              <a:t>trabecole</a:t>
            </a:r>
            <a:r>
              <a:rPr sz="1875" b="0" dirty="0">
                <a:solidFill>
                  <a:srgbClr val="193248"/>
                </a:solidFill>
                <a:latin typeface="Arial"/>
                <a:ea typeface="Arial"/>
                <a:cs typeface="Arial"/>
              </a:rPr>
              <a:t> con </a:t>
            </a:r>
            <a:r>
              <a:rPr sz="1875" b="0" dirty="0" err="1">
                <a:solidFill>
                  <a:srgbClr val="193248"/>
                </a:solidFill>
                <a:latin typeface="Arial"/>
                <a:ea typeface="Arial"/>
                <a:cs typeface="Arial"/>
              </a:rPr>
              <a:t>spazi</a:t>
            </a:r>
            <a:r>
              <a:rPr sz="1875" b="0" dirty="0">
                <a:solidFill>
                  <a:srgbClr val="193248"/>
                </a:solidFill>
                <a:latin typeface="Arial"/>
                <a:ea typeface="Arial"/>
                <a:cs typeface="Arial"/>
              </a:rPr>
              <a:t> </a:t>
            </a:r>
            <a:r>
              <a:rPr sz="1875" b="0" dirty="0" err="1">
                <a:solidFill>
                  <a:srgbClr val="193248"/>
                </a:solidFill>
                <a:latin typeface="Arial"/>
                <a:ea typeface="Arial"/>
                <a:cs typeface="Arial"/>
              </a:rPr>
              <a:t>che</a:t>
            </a:r>
            <a:r>
              <a:rPr sz="1875" b="0" dirty="0">
                <a:solidFill>
                  <a:srgbClr val="193248"/>
                </a:solidFill>
                <a:latin typeface="Arial"/>
                <a:ea typeface="Arial"/>
                <a:cs typeface="Arial"/>
              </a:rPr>
              <a:t> </a:t>
            </a:r>
            <a:r>
              <a:rPr sz="1875" b="0" dirty="0" err="1">
                <a:solidFill>
                  <a:srgbClr val="193248"/>
                </a:solidFill>
                <a:latin typeface="Arial"/>
                <a:ea typeface="Arial"/>
                <a:cs typeface="Arial"/>
              </a:rPr>
              <a:t>ospitano</a:t>
            </a:r>
            <a:r>
              <a:rPr sz="1875" b="0" dirty="0">
                <a:solidFill>
                  <a:srgbClr val="193248"/>
                </a:solidFill>
                <a:latin typeface="Arial"/>
                <a:ea typeface="Arial"/>
                <a:cs typeface="Arial"/>
              </a:rPr>
              <a:t> il </a:t>
            </a:r>
            <a:r>
              <a:rPr sz="1875" b="0" dirty="0" err="1">
                <a:solidFill>
                  <a:srgbClr val="193248"/>
                </a:solidFill>
                <a:latin typeface="Arial"/>
                <a:ea typeface="Arial"/>
                <a:cs typeface="Arial"/>
              </a:rPr>
              <a:t>midollo</a:t>
            </a:r>
            <a:r>
              <a:rPr lang="it-IT" sz="1875" b="0">
                <a:solidFill>
                  <a:srgbClr val="193248"/>
                </a:solidFill>
                <a:latin typeface="Arial"/>
                <a:ea typeface="Arial"/>
                <a:cs typeface="Arial"/>
              </a:rPr>
              <a:t> (epifisi del femore).</a:t>
            </a:r>
          </a:p>
        </p:txBody>
      </p:sp>
      <p:pic>
        <p:nvPicPr>
          <p:cNvPr id="32" name="Picture 31" descr="Scheletro umano completo in vista anteriore. Illustrazione anatomica schematica generata con IA, non in scala."/>
          <p:cNvPicPr>
            <a:picLocks noChangeAspect="1"/>
          </p:cNvPicPr>
          <p:nvPr/>
        </p:nvPicPr>
        <p:blipFill>
          <a:blip r:embed="rId3"/>
          <a:stretch>
            <a:fillRect/>
          </a:stretch>
        </p:blipFill>
        <p:spPr>
          <a:xfrm>
            <a:off x="8965566" y="1809750"/>
            <a:ext cx="1880867" cy="4191000"/>
          </a:xfrm>
          <a:prstGeom prst="rect">
            <a:avLst/>
          </a:prstGeom>
        </p:spPr>
      </p:pic>
    </p:spTree>
    <p:extLst>
      <p:ext uri="{BB962C8B-B14F-4D97-AF65-F5344CB8AC3E}">
        <p14:creationId xmlns:p14="http://schemas.microsoft.com/office/powerpoint/2010/main" val="700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 sistema scheletrico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23</a:t>
            </a:r>
            <a:endParaRPr sz="1350" b="1">
              <a:solidFill>
                <a:srgbClr val="123F67"/>
              </a:solidFill>
              <a:latin typeface="Arial"/>
              <a:ea typeface="Arial"/>
              <a:cs typeface="Arial"/>
            </a:endParaRPr>
          </a:p>
        </p:txBody>
      </p:sp>
      <p:sp>
        <p:nvSpPr>
          <p:cNvPr id="24" name="TextBox 23"/>
          <p:cNvSpPr txBox="1"/>
          <p:nvPr/>
        </p:nvSpPr>
        <p:spPr>
          <a:xfrm>
            <a:off x="704850" y="1463040"/>
            <a:ext cx="10877550" cy="365760"/>
          </a:xfrm>
          <a:prstGeom prst="rect">
            <a:avLst/>
          </a:prstGeom>
          <a:noFill/>
        </p:spPr>
        <p:txBody>
          <a:bodyPr wrap="square" lIns="0" tIns="0" rIns="0" bIns="0">
            <a:noAutofit/>
          </a:bodyPr>
          <a:lstStyle/>
          <a:p>
            <a:pPr>
              <a:lnSpc>
                <a:spcPts val="2200"/>
              </a:lnSpc>
            </a:pPr>
            <a:r>
              <a:rPr sz="1900" b="0">
                <a:solidFill>
                  <a:srgbClr val="087E8B"/>
                </a:solidFill>
                <a:latin typeface="Arial"/>
              </a:rPr>
              <a:t>Fragilità e integrità</a:t>
            </a:r>
            <a:r>
              <a:rPr lang="it-IT" sz="1900" b="0">
                <a:solidFill>
                  <a:srgbClr val="087E8B"/>
                </a:solidFill>
                <a:latin typeface="Arial"/>
              </a:rPr>
              <a:t> dell’osso, alterazioni della colonna vertebrale</a:t>
            </a:r>
            <a:endParaRPr sz="1900" b="0">
              <a:solidFill>
                <a:srgbClr val="087E8B"/>
              </a:solidFill>
              <a:latin typeface="Arial"/>
            </a:endParaRPr>
          </a:p>
        </p:txBody>
      </p:sp>
      <p:sp>
        <p:nvSpPr>
          <p:cNvPr id="25" name="TextBox 24"/>
          <p:cNvSpPr txBox="1"/>
          <p:nvPr/>
        </p:nvSpPr>
        <p:spPr>
          <a:xfrm>
            <a:off x="704088" y="1920240"/>
            <a:ext cx="5193792" cy="256032"/>
          </a:xfrm>
          <a:prstGeom prst="rect">
            <a:avLst/>
          </a:prstGeom>
          <a:noFill/>
        </p:spPr>
        <p:txBody>
          <a:bodyPr wrap="square" lIns="0" tIns="0" rIns="0" bIns="0">
            <a:noAutofit/>
          </a:bodyPr>
          <a:lstStyle/>
          <a:p>
            <a:pPr>
              <a:lnSpc>
                <a:spcPts val="1600"/>
              </a:lnSpc>
              <a:spcAft>
                <a:spcPts val="700"/>
              </a:spcAft>
            </a:pPr>
            <a:r>
              <a:rPr sz="1400" b="1">
                <a:solidFill>
                  <a:srgbClr val="087E8B"/>
                </a:solidFill>
                <a:latin typeface="Arial"/>
              </a:rPr>
              <a:t>TESSUTO OSSEO</a:t>
            </a:r>
            <a:endParaRPr lang="it-IT" sz="1400" b="1">
              <a:solidFill>
                <a:srgbClr val="087E8B"/>
              </a:solidFill>
              <a:latin typeface="Arial"/>
            </a:endParaRPr>
          </a:p>
        </p:txBody>
      </p:sp>
      <p:sp>
        <p:nvSpPr>
          <p:cNvPr id="26" name="TextBox 25"/>
          <p:cNvSpPr txBox="1"/>
          <p:nvPr/>
        </p:nvSpPr>
        <p:spPr>
          <a:xfrm>
            <a:off x="704088" y="2267712"/>
            <a:ext cx="5193792" cy="347472"/>
          </a:xfrm>
          <a:prstGeom prst="rect">
            <a:avLst/>
          </a:prstGeom>
          <a:noFill/>
        </p:spPr>
        <p:txBody>
          <a:bodyPr wrap="square" lIns="0" tIns="0" rIns="0" bIns="0">
            <a:noAutofit/>
          </a:bodyPr>
          <a:lstStyle/>
          <a:p>
            <a:pPr>
              <a:lnSpc>
                <a:spcPts val="2300"/>
              </a:lnSpc>
              <a:spcAft>
                <a:spcPts val="700"/>
              </a:spcAft>
            </a:pPr>
            <a:r>
              <a:rPr lang="it-IT" sz="2100" b="1">
                <a:solidFill>
                  <a:srgbClr val="123F67"/>
                </a:solidFill>
                <a:latin typeface="Arial"/>
              </a:rPr>
              <a:t>Osteoporosi</a:t>
            </a:r>
          </a:p>
        </p:txBody>
      </p:sp>
      <p:sp>
        <p:nvSpPr>
          <p:cNvPr id="27" name="TextBox 26"/>
          <p:cNvSpPr txBox="1"/>
          <p:nvPr/>
        </p:nvSpPr>
        <p:spPr>
          <a:xfrm>
            <a:off x="704088" y="2734056"/>
            <a:ext cx="5193792" cy="2148840"/>
          </a:xfrm>
          <a:prstGeom prst="rect">
            <a:avLst/>
          </a:prstGeom>
          <a:noFill/>
        </p:spPr>
        <p:txBody>
          <a:bodyPr wrap="square" lIns="0" tIns="0" rIns="0" bIns="0">
            <a:noAutofit/>
          </a:bodyPr>
          <a:lstStyle/>
          <a:p>
            <a:pPr>
              <a:lnSpc>
                <a:spcPts val="1900"/>
              </a:lnSpc>
              <a:spcAft>
                <a:spcPts val="300"/>
              </a:spcAft>
            </a:pPr>
            <a:r>
              <a:rPr lang="it-IT" sz="1750" b="0" err="1">
                <a:solidFill>
                  <a:srgbClr val="193248"/>
                </a:solidFill>
                <a:latin typeface="Arial"/>
              </a:rPr>
              <a:t>Riduzione</a:t>
            </a:r>
            <a:r>
              <a:rPr lang="it-IT" sz="1750" b="0">
                <a:solidFill>
                  <a:srgbClr val="193248"/>
                </a:solidFill>
                <a:latin typeface="Arial"/>
              </a:rPr>
              <a:t> della </a:t>
            </a:r>
            <a:r>
              <a:rPr lang="it-IT" sz="1750" b="0" err="1">
                <a:solidFill>
                  <a:srgbClr val="193248"/>
                </a:solidFill>
                <a:latin typeface="Arial"/>
              </a:rPr>
              <a:t>densità</a:t>
            </a:r>
            <a:r>
              <a:rPr lang="it-IT" sz="1750" b="0">
                <a:solidFill>
                  <a:srgbClr val="193248"/>
                </a:solidFill>
                <a:latin typeface="Arial"/>
              </a:rPr>
              <a:t> e della </a:t>
            </a:r>
            <a:r>
              <a:rPr lang="it-IT" sz="1750" b="0" err="1">
                <a:solidFill>
                  <a:srgbClr val="193248"/>
                </a:solidFill>
                <a:latin typeface="Arial"/>
              </a:rPr>
              <a:t>resistenza</a:t>
            </a:r>
            <a:r>
              <a:rPr lang="it-IT" sz="1750" b="0">
                <a:solidFill>
                  <a:srgbClr val="193248"/>
                </a:solidFill>
                <a:latin typeface="Arial"/>
              </a:rPr>
              <a:t> </a:t>
            </a:r>
            <a:r>
              <a:rPr lang="it-IT" sz="1750" b="0" err="1">
                <a:solidFill>
                  <a:srgbClr val="193248"/>
                </a:solidFill>
                <a:latin typeface="Arial"/>
              </a:rPr>
              <a:t>dell’osso</a:t>
            </a:r>
            <a:r>
              <a:rPr lang="it-IT" sz="1750" b="0">
                <a:solidFill>
                  <a:srgbClr val="193248"/>
                </a:solidFill>
                <a:latin typeface="Arial"/>
              </a:rPr>
              <a:t>. Le ossa </a:t>
            </a:r>
            <a:r>
              <a:rPr lang="it-IT" sz="1750" b="0" err="1">
                <a:solidFill>
                  <a:srgbClr val="193248"/>
                </a:solidFill>
                <a:latin typeface="Arial"/>
              </a:rPr>
              <a:t>diventano</a:t>
            </a:r>
            <a:r>
              <a:rPr lang="it-IT" sz="1750" b="0">
                <a:solidFill>
                  <a:srgbClr val="193248"/>
                </a:solidFill>
                <a:latin typeface="Arial"/>
              </a:rPr>
              <a:t> </a:t>
            </a:r>
            <a:r>
              <a:rPr lang="it-IT" sz="1750" b="0" err="1">
                <a:solidFill>
                  <a:srgbClr val="193248"/>
                </a:solidFill>
                <a:latin typeface="Arial"/>
              </a:rPr>
              <a:t>più</a:t>
            </a:r>
            <a:r>
              <a:rPr lang="it-IT" sz="1750" b="0">
                <a:solidFill>
                  <a:srgbClr val="193248"/>
                </a:solidFill>
                <a:latin typeface="Arial"/>
              </a:rPr>
              <a:t> </a:t>
            </a:r>
            <a:r>
              <a:rPr lang="it-IT" sz="1750" b="0" err="1">
                <a:solidFill>
                  <a:srgbClr val="193248"/>
                </a:solidFill>
                <a:latin typeface="Arial"/>
              </a:rPr>
              <a:t>fragili</a:t>
            </a:r>
            <a:r>
              <a:rPr lang="it-IT" sz="1750" b="0">
                <a:solidFill>
                  <a:srgbClr val="193248"/>
                </a:solidFill>
                <a:latin typeface="Arial"/>
              </a:rPr>
              <a:t> e </a:t>
            </a:r>
            <a:r>
              <a:rPr lang="it-IT" sz="1750" b="0" err="1">
                <a:solidFill>
                  <a:srgbClr val="193248"/>
                </a:solidFill>
                <a:latin typeface="Arial"/>
              </a:rPr>
              <a:t>si</a:t>
            </a:r>
            <a:r>
              <a:rPr lang="it-IT" sz="1750" b="0">
                <a:solidFill>
                  <a:srgbClr val="193248"/>
                </a:solidFill>
                <a:latin typeface="Arial"/>
              </a:rPr>
              <a:t> </a:t>
            </a:r>
            <a:r>
              <a:rPr lang="it-IT" sz="1750" b="0" err="1">
                <a:solidFill>
                  <a:srgbClr val="193248"/>
                </a:solidFill>
                <a:latin typeface="Arial"/>
              </a:rPr>
              <a:t>fratturano</a:t>
            </a:r>
            <a:r>
              <a:rPr lang="it-IT" sz="1750" b="0">
                <a:solidFill>
                  <a:srgbClr val="193248"/>
                </a:solidFill>
                <a:latin typeface="Arial"/>
              </a:rPr>
              <a:t> </a:t>
            </a:r>
            <a:r>
              <a:rPr lang="it-IT" sz="1750" b="0" err="1">
                <a:solidFill>
                  <a:srgbClr val="193248"/>
                </a:solidFill>
                <a:latin typeface="Arial"/>
              </a:rPr>
              <a:t>più</a:t>
            </a:r>
            <a:r>
              <a:rPr lang="it-IT" sz="1750" b="0">
                <a:solidFill>
                  <a:srgbClr val="193248"/>
                </a:solidFill>
                <a:latin typeface="Arial"/>
              </a:rPr>
              <a:t> </a:t>
            </a:r>
            <a:r>
              <a:rPr lang="it-IT" sz="1750" b="0" err="1">
                <a:solidFill>
                  <a:srgbClr val="193248"/>
                </a:solidFill>
                <a:latin typeface="Arial"/>
              </a:rPr>
              <a:t>facilmente</a:t>
            </a:r>
            <a:r>
              <a:rPr lang="it-IT" sz="1750" b="0">
                <a:solidFill>
                  <a:srgbClr val="193248"/>
                </a:solidFill>
                <a:latin typeface="Arial"/>
              </a:rPr>
              <a:t>.</a:t>
            </a:r>
            <a:endParaRPr lang="it-IT" sz="2200" b="0">
              <a:solidFill>
                <a:srgbClr val="193248"/>
              </a:solidFill>
              <a:latin typeface="Arial"/>
            </a:endParaRPr>
          </a:p>
          <a:p>
            <a:pPr>
              <a:lnSpc>
                <a:spcPts val="1900"/>
              </a:lnSpc>
              <a:spcBef>
                <a:spcPts val="800"/>
              </a:spcBef>
              <a:spcAft>
                <a:spcPts val="300"/>
              </a:spcAft>
            </a:pPr>
            <a:r>
              <a:rPr lang="it-IT" sz="1750" b="1" u="sng">
                <a:solidFill>
                  <a:srgbClr val="193248"/>
                </a:solidFill>
                <a:latin typeface="Arial"/>
              </a:rPr>
              <a:t>Cause</a:t>
            </a:r>
            <a:r>
              <a:rPr lang="it-IT" sz="1750" b="1">
                <a:solidFill>
                  <a:srgbClr val="193248"/>
                </a:solidFill>
                <a:latin typeface="Arial"/>
              </a:rPr>
              <a:t>:</a:t>
            </a:r>
            <a:r>
              <a:rPr lang="it-IT" sz="1750" b="0">
                <a:solidFill>
                  <a:srgbClr val="193248"/>
                </a:solidFill>
                <a:latin typeface="Arial"/>
              </a:rPr>
              <a:t> perdita ossea superiore alla formazione, favorita da età e calo degli estrogeni in menopausa.</a:t>
            </a:r>
          </a:p>
          <a:p>
            <a:pPr>
              <a:lnSpc>
                <a:spcPts val="1900"/>
              </a:lnSpc>
              <a:spcBef>
                <a:spcPts val="800"/>
              </a:spcBef>
              <a:spcAft>
                <a:spcPts val="300"/>
              </a:spcAft>
            </a:pPr>
            <a:r>
              <a:rPr lang="it-IT" sz="1750" b="1" u="sng">
                <a:solidFill>
                  <a:srgbClr val="193248"/>
                </a:solidFill>
                <a:latin typeface="Arial"/>
              </a:rPr>
              <a:t>Cura</a:t>
            </a:r>
            <a:r>
              <a:rPr lang="it-IT" sz="1750" b="1">
                <a:solidFill>
                  <a:srgbClr val="193248"/>
                </a:solidFill>
                <a:latin typeface="Arial"/>
              </a:rPr>
              <a:t>:</a:t>
            </a:r>
            <a:r>
              <a:rPr lang="it-IT" sz="1750" b="0">
                <a:solidFill>
                  <a:srgbClr val="193248"/>
                </a:solidFill>
                <a:latin typeface="Arial"/>
              </a:rPr>
              <a:t> esercizio, apporto adeguato di calcio e vitamina D. (Farmaci es. bisfosfonati)</a:t>
            </a:r>
          </a:p>
        </p:txBody>
      </p:sp>
      <p:sp>
        <p:nvSpPr>
          <p:cNvPr id="28" name="TextBox 27"/>
          <p:cNvSpPr txBox="1"/>
          <p:nvPr/>
        </p:nvSpPr>
        <p:spPr>
          <a:xfrm>
            <a:off x="704088" y="4965192"/>
            <a:ext cx="5193792" cy="256032"/>
          </a:xfrm>
          <a:prstGeom prst="rect">
            <a:avLst/>
          </a:prstGeom>
          <a:noFill/>
        </p:spPr>
        <p:txBody>
          <a:bodyPr wrap="square" lIns="0" tIns="0" rIns="0" bIns="0">
            <a:noAutofit/>
          </a:bodyPr>
          <a:lstStyle/>
          <a:p>
            <a:pPr>
              <a:lnSpc>
                <a:spcPts val="1600"/>
              </a:lnSpc>
              <a:spcAft>
                <a:spcPts val="700"/>
              </a:spcAft>
            </a:pPr>
            <a:r>
              <a:rPr sz="1400" b="1">
                <a:solidFill>
                  <a:srgbClr val="087E8B"/>
                </a:solidFill>
                <a:latin typeface="Arial"/>
              </a:rPr>
              <a:t>INTEGRITÀ DELL’OSSO</a:t>
            </a:r>
            <a:endParaRPr lang="it-IT" sz="1400" b="1">
              <a:solidFill>
                <a:srgbClr val="087E8B"/>
              </a:solidFill>
              <a:latin typeface="Arial"/>
            </a:endParaRPr>
          </a:p>
        </p:txBody>
      </p:sp>
      <p:sp>
        <p:nvSpPr>
          <p:cNvPr id="29" name="TextBox 28"/>
          <p:cNvSpPr txBox="1"/>
          <p:nvPr/>
        </p:nvSpPr>
        <p:spPr>
          <a:xfrm>
            <a:off x="704088" y="5303520"/>
            <a:ext cx="5193792" cy="347472"/>
          </a:xfrm>
          <a:prstGeom prst="rect">
            <a:avLst/>
          </a:prstGeom>
          <a:noFill/>
        </p:spPr>
        <p:txBody>
          <a:bodyPr wrap="square" lIns="0" tIns="0" rIns="0" bIns="0">
            <a:noAutofit/>
          </a:bodyPr>
          <a:lstStyle/>
          <a:p>
            <a:pPr>
              <a:lnSpc>
                <a:spcPts val="2300"/>
              </a:lnSpc>
              <a:spcAft>
                <a:spcPts val="700"/>
              </a:spcAft>
            </a:pPr>
            <a:r>
              <a:rPr lang="it-IT" sz="2100" b="1">
                <a:solidFill>
                  <a:srgbClr val="123F67"/>
                </a:solidFill>
                <a:latin typeface="Arial"/>
              </a:rPr>
              <a:t>Fratture</a:t>
            </a:r>
          </a:p>
        </p:txBody>
      </p:sp>
      <p:sp>
        <p:nvSpPr>
          <p:cNvPr id="30" name="TextBox 29"/>
          <p:cNvSpPr txBox="1"/>
          <p:nvPr/>
        </p:nvSpPr>
        <p:spPr>
          <a:xfrm>
            <a:off x="704088" y="5715000"/>
            <a:ext cx="5193792" cy="795528"/>
          </a:xfrm>
          <a:prstGeom prst="rect">
            <a:avLst/>
          </a:prstGeom>
          <a:noFill/>
        </p:spPr>
        <p:txBody>
          <a:bodyPr wrap="square" lIns="0" tIns="0" rIns="0" bIns="0">
            <a:noAutofit/>
          </a:bodyPr>
          <a:lstStyle/>
          <a:p>
            <a:pPr>
              <a:lnSpc>
                <a:spcPts val="2000"/>
              </a:lnSpc>
              <a:spcAft>
                <a:spcPts val="700"/>
              </a:spcAft>
            </a:pPr>
            <a:r>
              <a:rPr lang="it-IT" sz="1800" b="0" err="1">
                <a:solidFill>
                  <a:srgbClr val="193248"/>
                </a:solidFill>
                <a:latin typeface="Arial"/>
              </a:rPr>
              <a:t>Rottura di un osso per cadute o traumi, anche senza osteoporosi. Con l’osteoporosi bastano talvolta traumi modesti.</a:t>
            </a:r>
          </a:p>
        </p:txBody>
      </p:sp>
      <p:sp>
        <p:nvSpPr>
          <p:cNvPr id="33" name="Bone tumor 28"/>
          <p:cNvSpPr txBox="1"/>
          <p:nvPr/>
        </p:nvSpPr>
        <p:spPr>
          <a:xfrm>
            <a:off x="6364224" y="4965192"/>
            <a:ext cx="5193792" cy="256032"/>
          </a:xfrm>
          <a:prstGeom prst="rect">
            <a:avLst/>
          </a:prstGeom>
          <a:noFill/>
        </p:spPr>
        <p:txBody>
          <a:bodyPr wrap="square" lIns="0" tIns="0" rIns="0" bIns="0">
            <a:noAutofit/>
          </a:bodyPr>
          <a:lstStyle/>
          <a:p>
            <a:pPr>
              <a:lnSpc>
                <a:spcPts val="1600"/>
              </a:lnSpc>
              <a:spcAft>
                <a:spcPts val="700"/>
              </a:spcAft>
            </a:pPr>
            <a:r>
              <a:rPr sz="1400" b="1">
                <a:solidFill>
                  <a:srgbClr val="087E8B"/>
                </a:solidFill>
                <a:latin typeface="Arial"/>
              </a:rPr>
              <a:t>NEOPLASIE</a:t>
            </a:r>
            <a:endParaRPr lang="it-IT" sz="1400" b="1">
              <a:solidFill>
                <a:srgbClr val="087E8B"/>
              </a:solidFill>
              <a:latin typeface="Arial"/>
            </a:endParaRPr>
          </a:p>
        </p:txBody>
      </p:sp>
      <p:sp>
        <p:nvSpPr>
          <p:cNvPr id="34" name="Bone tumor 29"/>
          <p:cNvSpPr txBox="1"/>
          <p:nvPr/>
        </p:nvSpPr>
        <p:spPr>
          <a:xfrm>
            <a:off x="6364224" y="5303520"/>
            <a:ext cx="5193792" cy="347472"/>
          </a:xfrm>
          <a:prstGeom prst="rect">
            <a:avLst/>
          </a:prstGeom>
          <a:noFill/>
        </p:spPr>
        <p:txBody>
          <a:bodyPr wrap="square" lIns="0" tIns="0" rIns="0" bIns="0">
            <a:noAutofit/>
          </a:bodyPr>
          <a:lstStyle/>
          <a:p>
            <a:pPr>
              <a:lnSpc>
                <a:spcPts val="2300"/>
              </a:lnSpc>
              <a:spcAft>
                <a:spcPts val="700"/>
              </a:spcAft>
            </a:pPr>
            <a:r>
              <a:rPr lang="it-IT" sz="2100" b="1">
                <a:solidFill>
                  <a:srgbClr val="123F67"/>
                </a:solidFill>
                <a:latin typeface="Arial"/>
              </a:rPr>
              <a:t>Tumori ossei</a:t>
            </a:r>
          </a:p>
        </p:txBody>
      </p:sp>
      <p:sp>
        <p:nvSpPr>
          <p:cNvPr id="35" name="Bone tumor 30"/>
          <p:cNvSpPr txBox="1"/>
          <p:nvPr/>
        </p:nvSpPr>
        <p:spPr>
          <a:xfrm>
            <a:off x="6364224" y="5715000"/>
            <a:ext cx="5193792" cy="795528"/>
          </a:xfrm>
          <a:prstGeom prst="rect">
            <a:avLst/>
          </a:prstGeom>
          <a:noFill/>
        </p:spPr>
        <p:txBody>
          <a:bodyPr wrap="square" lIns="0" tIns="0" rIns="0" bIns="0">
            <a:noAutofit/>
          </a:bodyPr>
          <a:lstStyle/>
          <a:p>
            <a:pPr>
              <a:lnSpc>
                <a:spcPts val="2000"/>
              </a:lnSpc>
              <a:spcAft>
                <a:spcPts val="700"/>
              </a:spcAft>
            </a:pPr>
            <a:r>
              <a:rPr lang="it-IT" sz="1800" b="0" err="1">
                <a:solidFill>
                  <a:srgbClr val="193248"/>
                </a:solidFill>
                <a:latin typeface="Arial"/>
              </a:rPr>
              <a:t>I tumori ossei possono essere benigni o maligni. L’osteosarcoma è un tumore maligno delle cellule che producono tessuto osseo.</a:t>
            </a:r>
          </a:p>
        </p:txBody>
      </p:sp>
      <p:sp>
        <p:nvSpPr>
          <p:cNvPr id="36" name="Alterazioni della colonna vertebrale"/>
          <p:cNvSpPr txBox="1"/>
          <p:nvPr/>
        </p:nvSpPr>
        <p:spPr>
          <a:xfrm>
            <a:off x="6364224" y="2267712"/>
            <a:ext cx="5193792" cy="374904"/>
          </a:xfrm>
          <a:prstGeom prst="rect">
            <a:avLst/>
          </a:prstGeom>
          <a:noFill/>
        </p:spPr>
        <p:txBody>
          <a:bodyPr wrap="square" lIns="0" tIns="0" rIns="0" bIns="0">
            <a:noAutofit/>
          </a:bodyPr>
          <a:lstStyle/>
          <a:p>
            <a:pPr>
              <a:lnSpc>
                <a:spcPts val="2300"/>
              </a:lnSpc>
              <a:spcAft>
                <a:spcPts val="700"/>
              </a:spcAft>
            </a:pPr>
            <a:r>
              <a:rPr lang="it-IT" sz="2100" b="1">
                <a:solidFill>
                  <a:srgbClr val="123F67"/>
                </a:solidFill>
                <a:latin typeface="Arial"/>
              </a:rPr>
              <a:t>Alterazioni della colonna vertebrale</a:t>
            </a:r>
          </a:p>
        </p:txBody>
      </p:sp>
      <p:sp>
        <p:nvSpPr>
          <p:cNvPr id="37" name="Scoliosi: deviazione laterale con rotazi"/>
          <p:cNvSpPr txBox="1"/>
          <p:nvPr/>
        </p:nvSpPr>
        <p:spPr>
          <a:xfrm>
            <a:off x="6364224" y="2734056"/>
            <a:ext cx="5193792" cy="1901952"/>
          </a:xfrm>
          <a:prstGeom prst="rect">
            <a:avLst/>
          </a:prstGeom>
          <a:noFill/>
        </p:spPr>
        <p:txBody>
          <a:bodyPr wrap="square" lIns="0" tIns="0" rIns="0" bIns="0">
            <a:noAutofit/>
          </a:bodyPr>
          <a:lstStyle/>
          <a:p>
            <a:pPr marL="190500" indent="-152400">
              <a:lnSpc>
                <a:spcPts val="2000"/>
              </a:lnSpc>
              <a:spcAft>
                <a:spcPts val="1200"/>
              </a:spcAft>
              <a:buChar char="•"/>
            </a:pPr>
            <a:r>
              <a:rPr sz="1800" b="0" err="1">
                <a:solidFill>
                  <a:srgbClr val="193248"/>
                </a:solidFill>
                <a:latin typeface="Arial"/>
              </a:rPr>
              <a:t>Scoliosi: deviazione laterale con rotazione delle vertebre.</a:t>
            </a:r>
          </a:p>
          <a:p>
            <a:pPr marL="190500" indent="-152400">
              <a:lnSpc>
                <a:spcPts val="2000"/>
              </a:lnSpc>
              <a:spcAft>
                <a:spcPts val="1200"/>
              </a:spcAft>
              <a:buChar char="•"/>
            </a:pPr>
            <a:r>
              <a:rPr sz="1800" b="0" err="1">
                <a:solidFill>
                  <a:srgbClr val="193248"/>
                </a:solidFill>
                <a:latin typeface="Arial"/>
              </a:rPr>
              <a:t>Cifosi accentuata (ipercifosi).</a:t>
            </a:r>
          </a:p>
          <a:p>
            <a:pPr marL="190500" indent="-152400">
              <a:lnSpc>
                <a:spcPts val="2000"/>
              </a:lnSpc>
              <a:spcAft>
                <a:spcPts val="1200"/>
              </a:spcAft>
              <a:buChar char="•"/>
            </a:pPr>
            <a:r>
              <a:rPr sz="1800" b="0" err="1">
                <a:solidFill>
                  <a:srgbClr val="193248"/>
                </a:solidFill>
                <a:latin typeface="Arial"/>
              </a:rPr>
              <a:t>Lordosi accentuata (iperlordosi).</a:t>
            </a:r>
          </a:p>
        </p:txBody>
      </p:sp>
      <p:sp>
        <p:nvSpPr>
          <p:cNvPr id="38" name="Cifosi e lordosi sono curve fisiologiche"/>
          <p:cNvSpPr txBox="1"/>
          <p:nvPr/>
        </p:nvSpPr>
        <p:spPr>
          <a:xfrm>
            <a:off x="6364224" y="4215384"/>
            <a:ext cx="5193792" cy="667512"/>
          </a:xfrm>
          <a:prstGeom prst="rect">
            <a:avLst/>
          </a:prstGeom>
          <a:noFill/>
        </p:spPr>
        <p:txBody>
          <a:bodyPr wrap="square" lIns="0" tIns="0" rIns="0" bIns="0">
            <a:noAutofit/>
          </a:bodyPr>
          <a:lstStyle/>
          <a:p>
            <a:pPr>
              <a:lnSpc>
                <a:spcPts val="1800"/>
              </a:lnSpc>
              <a:spcAft>
                <a:spcPts val="700"/>
              </a:spcAft>
            </a:pPr>
            <a:r>
              <a:rPr sz="1600" b="0" err="1">
                <a:solidFill>
                  <a:srgbClr val="193248"/>
                </a:solidFill>
                <a:latin typeface="Arial"/>
              </a:rPr>
              <a:t>Cifosi e lordosi sono curve fisiologiche: qui si considerano le forme eccessivamente accentuate.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8-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8-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SISTEMA 4 DI 5</a:t>
            </a:r>
          </a:p>
        </p:txBody>
      </p:sp>
      <p:sp>
        <p:nvSpPr>
          <p:cNvPr id="3" name="Rettangolo 2">
            <a:extLst>
              <a:ext uri="{FF2B5EF4-FFF2-40B4-BE49-F238E27FC236}">
                <a16:creationId xmlns:a16="http://schemas.microsoft.com/office/drawing/2014/main" id="{00000008-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Sistema muscolare</a:t>
            </a:r>
          </a:p>
        </p:txBody>
      </p:sp>
      <p:sp>
        <p:nvSpPr>
          <p:cNvPr id="4" name="Rettangolo 3">
            <a:extLst>
              <a:ext uri="{FF2B5EF4-FFF2-40B4-BE49-F238E27FC236}">
                <a16:creationId xmlns:a16="http://schemas.microsoft.com/office/drawing/2014/main" id="{00000008-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8-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8-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24</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8-0007-4000-8000-000000000000}"/>
              </a:ext>
            </a:extLst>
          </p:cNvPr>
          <p:cNvSpPr>
            <a:spLocks noGrp="1"/>
          </p:cNvSpPr>
          <p:nvPr/>
        </p:nvSpPr>
        <p:spPr>
          <a:xfrm>
            <a:off x="647700" y="2847975"/>
            <a:ext cx="3429000" cy="400050"/>
          </a:xfrm>
          <a:prstGeom prst="rect">
            <a:avLst/>
          </a:prstGeom>
          <a:noFill/>
          <a:ln w="0">
            <a:noFill/>
          </a:ln>
        </p:spPr>
        <p:txBody>
          <a:bodyPr wrap="square">
            <a:noAutofit/>
          </a:bodyPr>
          <a:lstStyle/>
          <a:p>
            <a:pPr algn="ctr">
              <a:defRPr sz="2300" b="1">
                <a:solidFill>
                  <a:srgbClr val="087E8B"/>
                </a:solidFill>
                <a:latin typeface="Arial"/>
                <a:ea typeface="Arial"/>
                <a:cs typeface="Arial"/>
              </a:defRPr>
            </a:pPr>
            <a:r>
              <a:rPr lang="it-IT" sz="2300" b="1">
                <a:solidFill>
                  <a:srgbClr val="087E8B"/>
                </a:solidFill>
                <a:latin typeface="Arial"/>
                <a:ea typeface="Arial"/>
                <a:cs typeface="Arial"/>
              </a:rPr>
              <a:t>Scheletrico</a:t>
            </a:r>
          </a:p>
        </p:txBody>
      </p:sp>
      <p:sp>
        <p:nvSpPr>
          <p:cNvPr id="8" name="Rettangolo 7">
            <a:extLst>
              <a:ext uri="{FF2B5EF4-FFF2-40B4-BE49-F238E27FC236}">
                <a16:creationId xmlns:a16="http://schemas.microsoft.com/office/drawing/2014/main" id="{00000008-0008-4000-8000-000000000000}"/>
              </a:ext>
            </a:extLst>
          </p:cNvPr>
          <p:cNvSpPr>
            <a:spLocks noGrp="1"/>
          </p:cNvSpPr>
          <p:nvPr/>
        </p:nvSpPr>
        <p:spPr>
          <a:xfrm>
            <a:off x="695325" y="4000500"/>
            <a:ext cx="3333750" cy="1295400"/>
          </a:xfrm>
          <a:prstGeom prst="rect">
            <a:avLst/>
          </a:prstGeom>
          <a:noFill/>
          <a:ln w="0">
            <a:noFill/>
          </a:ln>
        </p:spPr>
        <p:txBody>
          <a:bodyPr wrap="square">
            <a:noAutofit/>
          </a:bodyPr>
          <a:lstStyle/>
          <a:p>
            <a:pPr algn="ctr">
              <a:defRPr sz="1900" b="0">
                <a:solidFill>
                  <a:srgbClr val="193248"/>
                </a:solidFill>
                <a:latin typeface="Arial"/>
                <a:ea typeface="Arial"/>
                <a:cs typeface="Arial"/>
              </a:defRPr>
            </a:pPr>
            <a:r>
              <a:rPr lang="it-IT" sz="1900" b="0">
                <a:solidFill>
                  <a:srgbClr val="193248"/>
                </a:solidFill>
                <a:latin typeface="Arial"/>
                <a:ea typeface="Arial"/>
                <a:cs typeface="Arial"/>
              </a:rPr>
              <a:t>Muove le ossa e sostiene la postura. La contrazione riceve il comando dai motoneuroni.</a:t>
            </a:r>
          </a:p>
        </p:txBody>
      </p:sp>
      <p:sp>
        <p:nvSpPr>
          <p:cNvPr id="9" name="Rettangolo 8">
            <a:extLst>
              <a:ext uri="{FF2B5EF4-FFF2-40B4-BE49-F238E27FC236}">
                <a16:creationId xmlns:a16="http://schemas.microsoft.com/office/drawing/2014/main" id="{00000008-0009-4000-8000-000000000000}"/>
              </a:ext>
            </a:extLst>
          </p:cNvPr>
          <p:cNvSpPr>
            <a:spLocks noGrp="1"/>
          </p:cNvSpPr>
          <p:nvPr/>
        </p:nvSpPr>
        <p:spPr>
          <a:xfrm>
            <a:off x="4381500" y="2847975"/>
            <a:ext cx="3429000" cy="400050"/>
          </a:xfrm>
          <a:prstGeom prst="rect">
            <a:avLst/>
          </a:prstGeom>
          <a:noFill/>
          <a:ln w="0">
            <a:noFill/>
          </a:ln>
        </p:spPr>
        <p:txBody>
          <a:bodyPr wrap="square">
            <a:noAutofit/>
          </a:bodyPr>
          <a:lstStyle/>
          <a:p>
            <a:pPr algn="ctr">
              <a:defRPr sz="2300" b="1">
                <a:solidFill>
                  <a:srgbClr val="087E8B"/>
                </a:solidFill>
                <a:latin typeface="Arial"/>
                <a:ea typeface="Arial"/>
                <a:cs typeface="Arial"/>
              </a:defRPr>
            </a:pPr>
            <a:r>
              <a:rPr lang="it-IT" sz="2300" b="1">
                <a:solidFill>
                  <a:srgbClr val="087E8B"/>
                </a:solidFill>
                <a:latin typeface="Arial"/>
                <a:ea typeface="Arial"/>
                <a:cs typeface="Arial"/>
              </a:rPr>
              <a:t>Cardiaco</a:t>
            </a:r>
          </a:p>
        </p:txBody>
      </p:sp>
      <p:sp>
        <p:nvSpPr>
          <p:cNvPr id="10" name="Rettangolo 9">
            <a:extLst>
              <a:ext uri="{FF2B5EF4-FFF2-40B4-BE49-F238E27FC236}">
                <a16:creationId xmlns:a16="http://schemas.microsoft.com/office/drawing/2014/main" id="{00000008-000A-4000-8000-000000000000}"/>
              </a:ext>
            </a:extLst>
          </p:cNvPr>
          <p:cNvSpPr>
            <a:spLocks noGrp="1"/>
          </p:cNvSpPr>
          <p:nvPr/>
        </p:nvSpPr>
        <p:spPr>
          <a:xfrm>
            <a:off x="4429125" y="4000500"/>
            <a:ext cx="3333750" cy="1295400"/>
          </a:xfrm>
          <a:prstGeom prst="rect">
            <a:avLst/>
          </a:prstGeom>
          <a:noFill/>
          <a:ln w="0">
            <a:noFill/>
          </a:ln>
        </p:spPr>
        <p:txBody>
          <a:bodyPr wrap="square">
            <a:noAutofit/>
          </a:bodyPr>
          <a:lstStyle/>
          <a:p>
            <a:pPr algn="ctr">
              <a:defRPr sz="1900" b="0">
                <a:solidFill>
                  <a:srgbClr val="193248"/>
                </a:solidFill>
                <a:latin typeface="Arial"/>
                <a:ea typeface="Arial"/>
                <a:cs typeface="Arial"/>
              </a:defRPr>
            </a:pPr>
            <a:r>
              <a:rPr lang="it-IT" sz="1900" b="0">
                <a:solidFill>
                  <a:srgbClr val="193248"/>
                </a:solidFill>
                <a:latin typeface="Arial"/>
                <a:ea typeface="Arial"/>
                <a:cs typeface="Arial"/>
              </a:rPr>
              <a:t>Costituisce il tessuto muscolare del cuore e sostiene la sua attività di pompa.</a:t>
            </a:r>
          </a:p>
        </p:txBody>
      </p:sp>
      <p:sp>
        <p:nvSpPr>
          <p:cNvPr id="11" name="Rettangolo 10">
            <a:extLst>
              <a:ext uri="{FF2B5EF4-FFF2-40B4-BE49-F238E27FC236}">
                <a16:creationId xmlns:a16="http://schemas.microsoft.com/office/drawing/2014/main" id="{00000008-000B-4000-8000-000000000000}"/>
              </a:ext>
            </a:extLst>
          </p:cNvPr>
          <p:cNvSpPr>
            <a:spLocks noGrp="1"/>
          </p:cNvSpPr>
          <p:nvPr/>
        </p:nvSpPr>
        <p:spPr>
          <a:xfrm>
            <a:off x="8115300" y="2847975"/>
            <a:ext cx="3429000" cy="400050"/>
          </a:xfrm>
          <a:prstGeom prst="rect">
            <a:avLst/>
          </a:prstGeom>
          <a:noFill/>
          <a:ln w="0">
            <a:noFill/>
          </a:ln>
        </p:spPr>
        <p:txBody>
          <a:bodyPr wrap="square">
            <a:noAutofit/>
          </a:bodyPr>
          <a:lstStyle/>
          <a:p>
            <a:pPr algn="ctr">
              <a:defRPr sz="2300" b="1">
                <a:solidFill>
                  <a:srgbClr val="087E8B"/>
                </a:solidFill>
                <a:latin typeface="Arial"/>
                <a:ea typeface="Arial"/>
                <a:cs typeface="Arial"/>
              </a:defRPr>
            </a:pPr>
            <a:r>
              <a:rPr lang="it-IT" sz="2300" b="1">
                <a:solidFill>
                  <a:srgbClr val="087E8B"/>
                </a:solidFill>
                <a:latin typeface="Arial"/>
                <a:ea typeface="Arial"/>
                <a:cs typeface="Arial"/>
              </a:rPr>
              <a:t>Liscio</a:t>
            </a:r>
          </a:p>
        </p:txBody>
      </p:sp>
      <p:sp>
        <p:nvSpPr>
          <p:cNvPr id="12" name="Rettangolo 11">
            <a:extLst>
              <a:ext uri="{FF2B5EF4-FFF2-40B4-BE49-F238E27FC236}">
                <a16:creationId xmlns:a16="http://schemas.microsoft.com/office/drawing/2014/main" id="{00000008-000C-4000-8000-000000000000}"/>
              </a:ext>
            </a:extLst>
          </p:cNvPr>
          <p:cNvSpPr>
            <a:spLocks noGrp="1"/>
          </p:cNvSpPr>
          <p:nvPr/>
        </p:nvSpPr>
        <p:spPr>
          <a:xfrm>
            <a:off x="8162925" y="4000500"/>
            <a:ext cx="3333750" cy="1295400"/>
          </a:xfrm>
          <a:prstGeom prst="rect">
            <a:avLst/>
          </a:prstGeom>
          <a:noFill/>
          <a:ln w="0">
            <a:noFill/>
          </a:ln>
        </p:spPr>
        <p:txBody>
          <a:bodyPr wrap="square">
            <a:noAutofit/>
          </a:bodyPr>
          <a:lstStyle/>
          <a:p>
            <a:pPr algn="ctr">
              <a:defRPr sz="1900" b="0">
                <a:solidFill>
                  <a:srgbClr val="193248"/>
                </a:solidFill>
                <a:latin typeface="Arial"/>
                <a:ea typeface="Arial"/>
                <a:cs typeface="Arial"/>
              </a:defRPr>
            </a:pPr>
            <a:r>
              <a:rPr lang="it-IT" sz="1900" b="0">
                <a:solidFill>
                  <a:srgbClr val="193248"/>
                </a:solidFill>
                <a:latin typeface="Arial"/>
                <a:ea typeface="Arial"/>
                <a:cs typeface="Arial"/>
              </a:rPr>
              <a:t>Si trova nelle pareti dei vasi e degli organi cavi, dove regola il movimento del contenuto.</a:t>
            </a:r>
          </a:p>
        </p:txBody>
      </p:sp>
      <p:sp>
        <p:nvSpPr>
          <p:cNvPr id="13" name="Rettangolo 12">
            <a:extLst>
              <a:ext uri="{FF2B5EF4-FFF2-40B4-BE49-F238E27FC236}">
                <a16:creationId xmlns:a16="http://schemas.microsoft.com/office/drawing/2014/main" id="{00000008-000D-4000-8000-000000000000}"/>
              </a:ext>
            </a:extLst>
          </p:cNvPr>
          <p:cNvSpPr>
            <a:spLocks noGrp="1"/>
          </p:cNvSpPr>
          <p:nvPr/>
        </p:nvSpPr>
        <p:spPr>
          <a:xfrm>
            <a:off x="609600" y="5410200"/>
            <a:ext cx="10972800" cy="790575"/>
          </a:xfrm>
          <a:prstGeom prst="rect">
            <a:avLst/>
          </a:prstGeom>
          <a:solidFill>
            <a:srgbClr val="EAF2F8"/>
          </a:solidFill>
          <a:ln w="0">
            <a:noFill/>
          </a:ln>
        </p:spPr>
        <p:txBody>
          <a:bodyPr/>
          <a:lstStyle/>
          <a:p>
            <a:endParaRPr lang="it-IT"/>
          </a:p>
        </p:txBody>
      </p:sp>
      <p:sp>
        <p:nvSpPr>
          <p:cNvPr id="14" name="Rettangolo 13">
            <a:extLst>
              <a:ext uri="{FF2B5EF4-FFF2-40B4-BE49-F238E27FC236}">
                <a16:creationId xmlns:a16="http://schemas.microsoft.com/office/drawing/2014/main" id="{00000008-000E-4000-8000-000000000000}"/>
              </a:ext>
            </a:extLst>
          </p:cNvPr>
          <p:cNvSpPr>
            <a:spLocks noGrp="1"/>
          </p:cNvSpPr>
          <p:nvPr/>
        </p:nvSpPr>
        <p:spPr>
          <a:xfrm>
            <a:off x="809625" y="5486400"/>
            <a:ext cx="10572750" cy="666750"/>
          </a:xfrm>
          <a:prstGeom prst="rect">
            <a:avLst/>
          </a:prstGeom>
          <a:noFill/>
          <a:ln w="0">
            <a:noFill/>
          </a:ln>
        </p:spPr>
        <p:txBody>
          <a:bodyPr>
            <a:noAutofit/>
          </a:bodyPr>
          <a:lstStyle/>
          <a:p>
            <a:pPr algn="ctr">
              <a:defRPr sz="2025" b="0">
                <a:solidFill>
                  <a:srgbClr val="193248"/>
                </a:solidFill>
                <a:latin typeface="Arial"/>
                <a:ea typeface="Arial"/>
                <a:cs typeface="Arial"/>
              </a:defRPr>
            </a:pPr>
            <a:r>
              <a:rPr sz="2025" b="0">
                <a:solidFill>
                  <a:srgbClr val="193248"/>
                </a:solidFill>
                <a:latin typeface="Arial"/>
                <a:ea typeface="Arial"/>
                <a:cs typeface="Arial"/>
              </a:rPr>
              <a:t>La contrazione sviluppa forza e consuma energia.</a:t>
            </a:r>
            <a:endParaRPr lang="it-IT" sz="2025" b="0">
              <a:solidFill>
                <a:srgbClr val="193248"/>
              </a:solidFill>
              <a:latin typeface="Arial"/>
              <a:ea typeface="Arial"/>
              <a:cs typeface="Arial"/>
            </a:endParaRPr>
          </a:p>
          <a:p>
            <a:pPr algn="ctr">
              <a:defRPr sz="2025" b="0">
                <a:solidFill>
                  <a:srgbClr val="193248"/>
                </a:solidFill>
                <a:latin typeface="Arial"/>
                <a:ea typeface="Arial"/>
                <a:cs typeface="Arial"/>
              </a:defRPr>
            </a:pPr>
            <a:r>
              <a:rPr sz="2025" b="0">
                <a:solidFill>
                  <a:srgbClr val="193248"/>
                </a:solidFill>
                <a:latin typeface="Arial"/>
                <a:ea typeface="Arial"/>
                <a:cs typeface="Arial"/>
              </a:rPr>
              <a:t>I muscoli scheletrici contribuiscono anche alla produzione di calore.</a:t>
            </a:r>
            <a:endParaRPr lang="it-IT" sz="2025" b="0">
              <a:solidFill>
                <a:srgbClr val="193248"/>
              </a:solidFill>
              <a:latin typeface="Arial"/>
              <a:ea typeface="Arial"/>
              <a:cs typeface="Arial"/>
            </a:endParaRPr>
          </a:p>
        </p:txBody>
      </p:sp>
      <p:sp>
        <p:nvSpPr>
          <p:cNvPr id="16" name="TextBox 15"/>
          <p:cNvSpPr txBox="1"/>
          <p:nvPr/>
        </p:nvSpPr>
        <p:spPr>
          <a:xfrm>
            <a:off x="609600" y="1847850"/>
            <a:ext cx="10972800" cy="353943"/>
          </a:xfrm>
          <a:prstGeom prst="rect">
            <a:avLst/>
          </a:prstGeom>
          <a:noFill/>
        </p:spPr>
        <p:txBody>
          <a:bodyPr wrap="square" lIns="0" tIns="0" rIns="0" bIns="0">
            <a:spAutoFit/>
          </a:bodyPr>
          <a:lstStyle/>
          <a:p>
            <a:pPr algn="ctr">
              <a:defRPr sz="2300" b="1">
                <a:solidFill>
                  <a:srgbClr val="123F67"/>
                </a:solidFill>
                <a:latin typeface="Arial"/>
              </a:defRPr>
            </a:pPr>
            <a:r>
              <a:t>Tipi di muscolo</a:t>
            </a:r>
            <a:endParaRPr lang="it-IT"/>
          </a:p>
        </p:txBody>
      </p:sp>
      <p:cxnSp>
        <p:nvCxnSpPr>
          <p:cNvPr id="17" name="Connector 16"/>
          <p:cNvCxnSpPr/>
          <p:nvPr/>
        </p:nvCxnSpPr>
        <p:spPr>
          <a:xfrm>
            <a:off x="6096000" y="2305050"/>
            <a:ext cx="0" cy="2286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362200" y="2533650"/>
            <a:ext cx="7467600" cy="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62200" y="2533650"/>
            <a:ext cx="0" cy="2286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0" y="2533650"/>
            <a:ext cx="0" cy="2286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29800" y="2533650"/>
            <a:ext cx="0" cy="228600"/>
          </a:xfrm>
          <a:prstGeom prst="line">
            <a:avLst/>
          </a:prstGeom>
          <a:ln w="25400">
            <a:solidFill>
              <a:srgbClr val="087E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5325" y="3286125"/>
            <a:ext cx="3333750" cy="666750"/>
          </a:xfrm>
          <a:prstGeom prst="rect">
            <a:avLst/>
          </a:prstGeom>
          <a:noFill/>
        </p:spPr>
        <p:txBody>
          <a:bodyPr wrap="square" tIns="0" bIns="0">
            <a:spAutoFit/>
          </a:bodyPr>
          <a:lstStyle/>
          <a:p>
            <a:pPr algn="ctr">
              <a:defRPr sz="1875" b="1">
                <a:solidFill>
                  <a:srgbClr val="087E8B"/>
                </a:solidFill>
                <a:latin typeface="Arial"/>
              </a:defRPr>
            </a:pPr>
            <a:r>
              <a:t>Striato</a:t>
            </a:r>
          </a:p>
          <a:p>
            <a:pPr algn="ctr">
              <a:defRPr sz="1875" b="1">
                <a:solidFill>
                  <a:srgbClr val="087E8B"/>
                </a:solidFill>
                <a:latin typeface="Arial"/>
              </a:defRPr>
            </a:pPr>
            <a:r>
              <a:t>Volontario</a:t>
            </a:r>
          </a:p>
        </p:txBody>
      </p:sp>
      <p:sp>
        <p:nvSpPr>
          <p:cNvPr id="23" name="TextBox 22"/>
          <p:cNvSpPr txBox="1"/>
          <p:nvPr/>
        </p:nvSpPr>
        <p:spPr>
          <a:xfrm>
            <a:off x="4429125" y="3286125"/>
            <a:ext cx="3333750" cy="666750"/>
          </a:xfrm>
          <a:prstGeom prst="rect">
            <a:avLst/>
          </a:prstGeom>
          <a:noFill/>
        </p:spPr>
        <p:txBody>
          <a:bodyPr wrap="square" tIns="0" bIns="0">
            <a:spAutoFit/>
          </a:bodyPr>
          <a:lstStyle/>
          <a:p>
            <a:pPr algn="ctr">
              <a:defRPr sz="1875" b="1">
                <a:solidFill>
                  <a:srgbClr val="087E8B"/>
                </a:solidFill>
                <a:latin typeface="Arial"/>
              </a:defRPr>
            </a:pPr>
            <a:r>
              <a:t>Striato</a:t>
            </a:r>
          </a:p>
          <a:p>
            <a:pPr algn="ctr">
              <a:defRPr sz="1875" b="1">
                <a:solidFill>
                  <a:srgbClr val="087E8B"/>
                </a:solidFill>
                <a:latin typeface="Arial"/>
              </a:defRPr>
            </a:pPr>
            <a:r>
              <a:t>Involontario</a:t>
            </a:r>
          </a:p>
        </p:txBody>
      </p:sp>
      <p:sp>
        <p:nvSpPr>
          <p:cNvPr id="24" name="TextBox 23"/>
          <p:cNvSpPr txBox="1"/>
          <p:nvPr/>
        </p:nvSpPr>
        <p:spPr>
          <a:xfrm>
            <a:off x="8162925" y="3286125"/>
            <a:ext cx="3333750" cy="288541"/>
          </a:xfrm>
          <a:prstGeom prst="rect">
            <a:avLst/>
          </a:prstGeom>
          <a:noFill/>
        </p:spPr>
        <p:txBody>
          <a:bodyPr wrap="square" tIns="0" bIns="0">
            <a:spAutoFit/>
          </a:bodyPr>
          <a:lstStyle/>
          <a:p>
            <a:pPr algn="ctr">
              <a:defRPr sz="1875" b="1">
                <a:solidFill>
                  <a:srgbClr val="087E8B"/>
                </a:solidFill>
                <a:latin typeface="Arial"/>
              </a:defRPr>
            </a:pPr>
            <a:r>
              <a:rPr dirty="0" err="1"/>
              <a:t>Involontario</a:t>
            </a:r>
            <a:endParaRPr dirty="0"/>
          </a:p>
        </p:txBody>
      </p:sp>
    </p:spTree>
    <p:extLst>
      <p:ext uri="{BB962C8B-B14F-4D97-AF65-F5344CB8AC3E}">
        <p14:creationId xmlns:p14="http://schemas.microsoft.com/office/powerpoint/2010/main" val="800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 sistema muscolare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25</a:t>
            </a:r>
            <a:endParaRPr sz="1350" b="1">
              <a:solidFill>
                <a:srgbClr val="123F67"/>
              </a:solidFill>
              <a:latin typeface="Arial"/>
              <a:ea typeface="Arial"/>
              <a:cs typeface="Arial"/>
            </a:endParaRPr>
          </a:p>
        </p:txBody>
      </p:sp>
      <p:sp>
        <p:nvSpPr>
          <p:cNvPr id="25" name="TextBox 24"/>
          <p:cNvSpPr txBox="1"/>
          <p:nvPr/>
        </p:nvSpPr>
        <p:spPr>
          <a:xfrm>
            <a:off x="704088" y="1600200"/>
            <a:ext cx="3346704" cy="274320"/>
          </a:xfrm>
          <a:prstGeom prst="rect">
            <a:avLst/>
          </a:prstGeom>
          <a:noFill/>
        </p:spPr>
        <p:txBody>
          <a:bodyPr wrap="square" lIns="0" tIns="0" rIns="0" bIns="0">
            <a:noAutofit/>
          </a:bodyPr>
          <a:lstStyle/>
          <a:p>
            <a:pPr>
              <a:lnSpc>
                <a:spcPts val="1700"/>
              </a:lnSpc>
            </a:pPr>
            <a:r>
              <a:rPr sz="1400" b="1">
                <a:solidFill>
                  <a:srgbClr val="087E8B"/>
                </a:solidFill>
                <a:latin typeface="Arial"/>
              </a:rPr>
              <a:t>ORIGINE GENETICA</a:t>
            </a:r>
          </a:p>
        </p:txBody>
      </p:sp>
      <p:sp>
        <p:nvSpPr>
          <p:cNvPr id="26" name="TextBox 25"/>
          <p:cNvSpPr txBox="1"/>
          <p:nvPr/>
        </p:nvSpPr>
        <p:spPr>
          <a:xfrm>
            <a:off x="704088" y="1938528"/>
            <a:ext cx="3346704" cy="594360"/>
          </a:xfrm>
          <a:prstGeom prst="rect">
            <a:avLst/>
          </a:prstGeom>
          <a:noFill/>
        </p:spPr>
        <p:txBody>
          <a:bodyPr wrap="square" lIns="0" tIns="0" rIns="0" bIns="0">
            <a:noAutofit/>
          </a:bodyPr>
          <a:lstStyle/>
          <a:p>
            <a:pPr>
              <a:lnSpc>
                <a:spcPts val="2300"/>
              </a:lnSpc>
              <a:spcBef>
                <a:spcPts val="0"/>
              </a:spcBef>
              <a:spcAft>
                <a:spcPts val="500"/>
              </a:spcAft>
            </a:pPr>
            <a:r>
              <a:rPr lang="it-IT" sz="2000" b="1">
                <a:solidFill>
                  <a:srgbClr val="123F67"/>
                </a:solidFill>
                <a:latin typeface="Arial"/>
              </a:rPr>
              <a:t>Distrofie muscolari</a:t>
            </a:r>
          </a:p>
        </p:txBody>
      </p:sp>
      <p:sp>
        <p:nvSpPr>
          <p:cNvPr id="27" name="TextBox 26"/>
          <p:cNvSpPr txBox="1"/>
          <p:nvPr/>
        </p:nvSpPr>
        <p:spPr>
          <a:xfrm>
            <a:off x="704088" y="2414016"/>
            <a:ext cx="3346704" cy="1298448"/>
          </a:xfrm>
          <a:prstGeom prst="rect">
            <a:avLst/>
          </a:prstGeom>
          <a:noFill/>
        </p:spPr>
        <p:txBody>
          <a:bodyPr wrap="square" lIns="0" tIns="0" rIns="0" bIns="0">
            <a:noAutofit/>
          </a:bodyPr>
          <a:lstStyle/>
          <a:p>
            <a:pPr>
              <a:lnSpc>
                <a:spcPts val="2000"/>
              </a:lnSpc>
              <a:spcBef>
                <a:spcPts val="0"/>
              </a:spcBef>
              <a:spcAft>
                <a:spcPts val="0"/>
              </a:spcAft>
            </a:pPr>
            <a:r>
              <a:rPr lang="it-IT" sz="1850" b="0">
                <a:solidFill>
                  <a:srgbClr val="193248"/>
                </a:solidFill>
                <a:latin typeface="Arial"/>
              </a:rPr>
              <a:t>Malattie genetiche con degenerazione progressiva e debolezza dei muscoli scheletrici. Esempio: distrofia di Duchenne.</a:t>
            </a:r>
          </a:p>
        </p:txBody>
      </p:sp>
      <p:sp>
        <p:nvSpPr>
          <p:cNvPr id="28" name="TextBox 27"/>
          <p:cNvSpPr txBox="1"/>
          <p:nvPr/>
        </p:nvSpPr>
        <p:spPr>
          <a:xfrm>
            <a:off x="4453128" y="1600200"/>
            <a:ext cx="3346704" cy="274320"/>
          </a:xfrm>
          <a:prstGeom prst="rect">
            <a:avLst/>
          </a:prstGeom>
          <a:noFill/>
        </p:spPr>
        <p:txBody>
          <a:bodyPr wrap="square" lIns="0" tIns="0" rIns="0" bIns="0">
            <a:noAutofit/>
          </a:bodyPr>
          <a:lstStyle/>
          <a:p>
            <a:pPr>
              <a:lnSpc>
                <a:spcPts val="1700"/>
              </a:lnSpc>
            </a:pPr>
            <a:r>
              <a:rPr sz="1400" b="1">
                <a:solidFill>
                  <a:srgbClr val="087E8B"/>
                </a:solidFill>
                <a:latin typeface="Arial"/>
              </a:rPr>
              <a:t>INFIAMMAZIONE MUSCOLARE</a:t>
            </a:r>
          </a:p>
        </p:txBody>
      </p:sp>
      <p:sp>
        <p:nvSpPr>
          <p:cNvPr id="29" name="TextBox 28"/>
          <p:cNvSpPr txBox="1"/>
          <p:nvPr/>
        </p:nvSpPr>
        <p:spPr>
          <a:xfrm>
            <a:off x="4453128" y="1938528"/>
            <a:ext cx="3346704" cy="594360"/>
          </a:xfrm>
          <a:prstGeom prst="rect">
            <a:avLst/>
          </a:prstGeom>
          <a:noFill/>
        </p:spPr>
        <p:txBody>
          <a:bodyPr wrap="square" lIns="0" tIns="0" rIns="0" bIns="0">
            <a:noAutofit/>
          </a:bodyPr>
          <a:lstStyle/>
          <a:p>
            <a:pPr>
              <a:lnSpc>
                <a:spcPts val="2300"/>
              </a:lnSpc>
              <a:spcBef>
                <a:spcPts val="0"/>
              </a:spcBef>
              <a:spcAft>
                <a:spcPts val="500"/>
              </a:spcAft>
            </a:pPr>
            <a:r>
              <a:rPr lang="it-IT" sz="2000" b="1">
                <a:solidFill>
                  <a:srgbClr val="123F67"/>
                </a:solidFill>
                <a:latin typeface="Arial"/>
              </a:rPr>
              <a:t>Miopatie infiammatorie</a:t>
            </a:r>
          </a:p>
        </p:txBody>
      </p:sp>
      <p:sp>
        <p:nvSpPr>
          <p:cNvPr id="30" name="TextBox 29"/>
          <p:cNvSpPr txBox="1"/>
          <p:nvPr/>
        </p:nvSpPr>
        <p:spPr>
          <a:xfrm>
            <a:off x="4453128" y="2414016"/>
            <a:ext cx="3346704" cy="1298448"/>
          </a:xfrm>
          <a:prstGeom prst="rect">
            <a:avLst/>
          </a:prstGeom>
          <a:noFill/>
        </p:spPr>
        <p:txBody>
          <a:bodyPr wrap="square" lIns="0" tIns="0" rIns="0" bIns="0">
            <a:noAutofit/>
          </a:bodyPr>
          <a:lstStyle/>
          <a:p>
            <a:pPr>
              <a:lnSpc>
                <a:spcPts val="2000"/>
              </a:lnSpc>
              <a:spcBef>
                <a:spcPts val="0"/>
              </a:spcBef>
              <a:spcAft>
                <a:spcPts val="0"/>
              </a:spcAft>
            </a:pPr>
            <a:r>
              <a:rPr lang="it-IT" sz="1850" b="0">
                <a:solidFill>
                  <a:srgbClr val="193248"/>
                </a:solidFill>
                <a:latin typeface="Arial"/>
              </a:rPr>
              <a:t>Infiammazione persistente dei muscoli, spesso autoimmune. Esempi: polimiosite e dermatomiosite.</a:t>
            </a:r>
          </a:p>
        </p:txBody>
      </p:sp>
      <p:sp>
        <p:nvSpPr>
          <p:cNvPr id="32" name="Lesioni muscolari"/>
          <p:cNvSpPr txBox="1"/>
          <p:nvPr/>
        </p:nvSpPr>
        <p:spPr>
          <a:xfrm>
            <a:off x="8202168" y="1938528"/>
            <a:ext cx="3346704" cy="594360"/>
          </a:xfrm>
          <a:prstGeom prst="rect">
            <a:avLst/>
          </a:prstGeom>
          <a:noFill/>
        </p:spPr>
        <p:txBody>
          <a:bodyPr wrap="square" lIns="0" tIns="0" rIns="0" bIns="0">
            <a:noAutofit/>
          </a:bodyPr>
          <a:lstStyle/>
          <a:p>
            <a:pPr>
              <a:lnSpc>
                <a:spcPts val="2300"/>
              </a:lnSpc>
              <a:spcBef>
                <a:spcPts val="0"/>
              </a:spcBef>
              <a:spcAft>
                <a:spcPts val="500"/>
              </a:spcAft>
            </a:pPr>
            <a:r>
              <a:rPr lang="it-IT" sz="2000" b="1">
                <a:solidFill>
                  <a:srgbClr val="123F67"/>
                </a:solidFill>
                <a:latin typeface="Arial"/>
              </a:rPr>
              <a:t>Stiramenti e strappi</a:t>
            </a:r>
          </a:p>
        </p:txBody>
      </p:sp>
      <p:sp>
        <p:nvSpPr>
          <p:cNvPr id="33" name="Stiramenti e strappi: eccessivo allungamento o rottura "/>
          <p:cNvSpPr txBox="1"/>
          <p:nvPr/>
        </p:nvSpPr>
        <p:spPr>
          <a:xfrm>
            <a:off x="8202168" y="2414016"/>
            <a:ext cx="3346704" cy="1298448"/>
          </a:xfrm>
          <a:prstGeom prst="rect">
            <a:avLst/>
          </a:prstGeom>
          <a:noFill/>
        </p:spPr>
        <p:txBody>
          <a:bodyPr wrap="square" lIns="0" tIns="0" rIns="0" bIns="0">
            <a:noAutofit/>
          </a:bodyPr>
          <a:lstStyle/>
          <a:p>
            <a:pPr>
              <a:lnSpc>
                <a:spcPts val="2000"/>
              </a:lnSpc>
              <a:spcBef>
                <a:spcPts val="0"/>
              </a:spcBef>
              <a:spcAft>
                <a:spcPts val="0"/>
              </a:spcAft>
            </a:pPr>
            <a:r>
              <a:rPr lang="it-IT" sz="1850" b="0">
                <a:solidFill>
                  <a:srgbClr val="193248"/>
                </a:solidFill>
                <a:latin typeface="Arial"/>
              </a:rPr>
              <a:t>Stiramenti e strappi: eccessivo allungamento o rottura delle fibre muscolari.</a:t>
            </a:r>
          </a:p>
        </p:txBody>
      </p:sp>
      <p:sp>
        <p:nvSpPr>
          <p:cNvPr id="34" name="Categoria lesioni muscolari"/>
          <p:cNvSpPr txBox="1"/>
          <p:nvPr/>
        </p:nvSpPr>
        <p:spPr>
          <a:xfrm>
            <a:off x="8202168" y="1600200"/>
            <a:ext cx="3346704" cy="274320"/>
          </a:xfrm>
          <a:prstGeom prst="rect">
            <a:avLst/>
          </a:prstGeom>
          <a:noFill/>
        </p:spPr>
        <p:txBody>
          <a:bodyPr wrap="square" lIns="0" tIns="0" rIns="0" bIns="0">
            <a:noAutofit/>
          </a:bodyPr>
          <a:lstStyle/>
          <a:p>
            <a:pPr>
              <a:lnSpc>
                <a:spcPts val="1700"/>
              </a:lnSpc>
            </a:pPr>
            <a:r>
              <a:rPr lang="it-IT" sz="1400" b="1">
                <a:solidFill>
                  <a:srgbClr val="087E8B"/>
                </a:solidFill>
                <a:latin typeface="Arial"/>
              </a:rPr>
              <a:t>LESIONI MUSCOLARI</a:t>
            </a:r>
            <a:endParaRPr sz="1400" b="1">
              <a:solidFill>
                <a:srgbClr val="087E8B"/>
              </a:solidFill>
              <a:latin typeface="Arial"/>
            </a:endParaRPr>
          </a:p>
        </p:txBody>
      </p:sp>
      <p:sp>
        <p:nvSpPr>
          <p:cNvPr id="35" name="TextBox 26"/>
          <p:cNvSpPr txBox="1"/>
          <p:nvPr/>
        </p:nvSpPr>
        <p:spPr>
          <a:xfrm>
            <a:off x="704088" y="3877056"/>
            <a:ext cx="3346704" cy="1078992"/>
          </a:xfrm>
          <a:prstGeom prst="rect">
            <a:avLst/>
          </a:prstGeom>
          <a:noFill/>
        </p:spPr>
        <p:txBody>
          <a:bodyPr wrap="square" lIns="0" tIns="0" rIns="0" bIns="0">
            <a:noAutofit/>
          </a:bodyPr>
          <a:lstStyle/>
          <a:p>
            <a:pPr>
              <a:lnSpc>
                <a:spcPts val="2000"/>
              </a:lnSpc>
              <a:spcBef>
                <a:spcPts val="0"/>
              </a:spcBef>
              <a:spcAft>
                <a:spcPts val="0"/>
              </a:spcAft>
            </a:pPr>
            <a:r>
              <a:rPr lang="it-IT" sz="1750" b="1" u="sng">
                <a:solidFill>
                  <a:srgbClr val="193248"/>
                </a:solidFill>
                <a:latin typeface="Arial"/>
              </a:rPr>
              <a:t>Sintomi</a:t>
            </a:r>
            <a:r>
              <a:rPr lang="it-IT" sz="1750" b="1">
                <a:solidFill>
                  <a:srgbClr val="193248"/>
                </a:solidFill>
                <a:latin typeface="Arial"/>
              </a:rPr>
              <a:t>:</a:t>
            </a:r>
            <a:r>
              <a:rPr lang="it-IT" sz="1750" b="0">
                <a:solidFill>
                  <a:srgbClr val="193248"/>
                </a:solidFill>
                <a:latin typeface="Arial"/>
              </a:rPr>
              <a:t> difficoltà a camminare e sollevare oggetti, cadute frequenti. Esordio e gravità variano secondo il tipo.</a:t>
            </a:r>
          </a:p>
        </p:txBody>
      </p:sp>
      <p:sp>
        <p:nvSpPr>
          <p:cNvPr id="36" name="TextBox 26"/>
          <p:cNvSpPr txBox="1"/>
          <p:nvPr/>
        </p:nvSpPr>
        <p:spPr>
          <a:xfrm>
            <a:off x="704088" y="5029200"/>
            <a:ext cx="3346704" cy="1444752"/>
          </a:xfrm>
          <a:prstGeom prst="rect">
            <a:avLst/>
          </a:prstGeom>
          <a:noFill/>
        </p:spPr>
        <p:txBody>
          <a:bodyPr wrap="square" lIns="0" tIns="0" rIns="0" bIns="0">
            <a:noAutofit/>
          </a:bodyPr>
          <a:lstStyle/>
          <a:p>
            <a:pPr>
              <a:lnSpc>
                <a:spcPts val="2000"/>
              </a:lnSpc>
              <a:spcBef>
                <a:spcPts val="0"/>
              </a:spcBef>
              <a:spcAft>
                <a:spcPts val="0"/>
              </a:spcAft>
            </a:pPr>
            <a:r>
              <a:rPr lang="it-IT" sz="1750" b="1" u="sng">
                <a:solidFill>
                  <a:srgbClr val="193248"/>
                </a:solidFill>
                <a:latin typeface="Arial"/>
              </a:rPr>
              <a:t>Cura</a:t>
            </a:r>
            <a:r>
              <a:rPr lang="it-IT" sz="1750" b="1">
                <a:solidFill>
                  <a:srgbClr val="193248"/>
                </a:solidFill>
                <a:latin typeface="Arial"/>
              </a:rPr>
              <a:t>:</a:t>
            </a:r>
            <a:r>
              <a:rPr lang="it-IT" sz="1750" b="0">
                <a:solidFill>
                  <a:srgbClr val="193248"/>
                </a:solidFill>
                <a:latin typeface="Arial"/>
              </a:rPr>
              <a:t> trattamenti specialistici per gestire i sintomi. Non esiste una cura risolutiva.</a:t>
            </a:r>
            <a:endParaRPr lang="it-IT" sz="2200" b="0">
              <a:solidFill>
                <a:srgbClr val="193248"/>
              </a:solidFill>
              <a:latin typeface="Arial"/>
            </a:endParaRPr>
          </a:p>
        </p:txBody>
      </p:sp>
      <p:sp>
        <p:nvSpPr>
          <p:cNvPr id="37" name="TextBox 29"/>
          <p:cNvSpPr txBox="1"/>
          <p:nvPr/>
        </p:nvSpPr>
        <p:spPr>
          <a:xfrm>
            <a:off x="4453128" y="3877056"/>
            <a:ext cx="3346704" cy="1078992"/>
          </a:xfrm>
          <a:prstGeom prst="rect">
            <a:avLst/>
          </a:prstGeom>
          <a:noFill/>
        </p:spPr>
        <p:txBody>
          <a:bodyPr wrap="square" lIns="0" tIns="0" rIns="0" bIns="0">
            <a:noAutofit/>
          </a:bodyPr>
          <a:lstStyle/>
          <a:p>
            <a:pPr>
              <a:lnSpc>
                <a:spcPts val="2000"/>
              </a:lnSpc>
              <a:spcBef>
                <a:spcPts val="0"/>
              </a:spcBef>
              <a:spcAft>
                <a:spcPts val="0"/>
              </a:spcAft>
            </a:pPr>
            <a:r>
              <a:rPr lang="it-IT" sz="1750" b="1" u="sng">
                <a:solidFill>
                  <a:srgbClr val="193248"/>
                </a:solidFill>
                <a:latin typeface="Arial"/>
              </a:rPr>
              <a:t>Sintomi</a:t>
            </a:r>
            <a:r>
              <a:rPr lang="it-IT" sz="1750" b="1">
                <a:solidFill>
                  <a:srgbClr val="193248"/>
                </a:solidFill>
                <a:latin typeface="Arial"/>
              </a:rPr>
              <a:t>:</a:t>
            </a:r>
            <a:r>
              <a:rPr lang="it-IT" sz="1750" b="0">
                <a:solidFill>
                  <a:srgbClr val="193248"/>
                </a:solidFill>
                <a:latin typeface="Arial"/>
              </a:rPr>
              <a:t> debolezza, talvolta dolore e difficoltà a salire le scale. Nella dermatomiosite anche eruzioni cutanee.</a:t>
            </a:r>
          </a:p>
        </p:txBody>
      </p:sp>
      <p:sp>
        <p:nvSpPr>
          <p:cNvPr id="38" name="TextBox 29"/>
          <p:cNvSpPr txBox="1"/>
          <p:nvPr/>
        </p:nvSpPr>
        <p:spPr>
          <a:xfrm>
            <a:off x="4453128" y="5029200"/>
            <a:ext cx="3346704" cy="1444752"/>
          </a:xfrm>
          <a:prstGeom prst="rect">
            <a:avLst/>
          </a:prstGeom>
          <a:noFill/>
        </p:spPr>
        <p:txBody>
          <a:bodyPr wrap="square" lIns="0" tIns="0" rIns="0" bIns="0">
            <a:noAutofit/>
          </a:bodyPr>
          <a:lstStyle/>
          <a:p>
            <a:pPr>
              <a:lnSpc>
                <a:spcPts val="2000"/>
              </a:lnSpc>
              <a:spcBef>
                <a:spcPts val="0"/>
              </a:spcBef>
              <a:spcAft>
                <a:spcPts val="0"/>
              </a:spcAft>
            </a:pPr>
            <a:r>
              <a:rPr lang="it-IT" sz="1750" b="1" u="sng">
                <a:solidFill>
                  <a:srgbClr val="193248"/>
                </a:solidFill>
                <a:latin typeface="Arial"/>
              </a:rPr>
              <a:t>Cura</a:t>
            </a:r>
            <a:r>
              <a:rPr lang="it-IT" sz="1750" b="1">
                <a:solidFill>
                  <a:srgbClr val="193248"/>
                </a:solidFill>
                <a:latin typeface="Arial"/>
              </a:rPr>
              <a:t>:</a:t>
            </a:r>
            <a:r>
              <a:rPr lang="it-IT" sz="1750" b="0">
                <a:solidFill>
                  <a:srgbClr val="193248"/>
                </a:solidFill>
                <a:latin typeface="Arial"/>
              </a:rPr>
              <a:t> esercizio guidato e, nelle forme sensibili, corticosteroidi e immunosoppressori sotto controllo specialistico.</a:t>
            </a:r>
            <a:endParaRPr lang="it-IT" sz="2200" b="0">
              <a:solidFill>
                <a:srgbClr val="193248"/>
              </a:solidFill>
              <a:latin typeface="Arial"/>
            </a:endParaRPr>
          </a:p>
        </p:txBody>
      </p:sp>
      <p:sp>
        <p:nvSpPr>
          <p:cNvPr id="39" name="Stiramenti e strappi: eccessivo allungamento o rottura "/>
          <p:cNvSpPr txBox="1"/>
          <p:nvPr/>
        </p:nvSpPr>
        <p:spPr>
          <a:xfrm>
            <a:off x="8202168" y="3877056"/>
            <a:ext cx="3346704" cy="1078992"/>
          </a:xfrm>
          <a:prstGeom prst="rect">
            <a:avLst/>
          </a:prstGeom>
          <a:noFill/>
        </p:spPr>
        <p:txBody>
          <a:bodyPr wrap="square" lIns="0" tIns="0" rIns="0" bIns="0">
            <a:noAutofit/>
          </a:bodyPr>
          <a:lstStyle/>
          <a:p>
            <a:pPr>
              <a:lnSpc>
                <a:spcPts val="2000"/>
              </a:lnSpc>
              <a:spcBef>
                <a:spcPts val="0"/>
              </a:spcBef>
              <a:spcAft>
                <a:spcPts val="0"/>
              </a:spcAft>
            </a:pPr>
            <a:r>
              <a:rPr lang="it-IT" sz="1750" b="1" u="sng">
                <a:solidFill>
                  <a:srgbClr val="193248"/>
                </a:solidFill>
                <a:latin typeface="Arial"/>
              </a:rPr>
              <a:t>Sintomi</a:t>
            </a:r>
            <a:r>
              <a:rPr lang="it-IT" sz="1750" b="1">
                <a:solidFill>
                  <a:srgbClr val="193248"/>
                </a:solidFill>
                <a:latin typeface="Arial"/>
              </a:rPr>
              <a:t>:</a:t>
            </a:r>
            <a:r>
              <a:rPr lang="it-IT" sz="1750" b="0">
                <a:solidFill>
                  <a:srgbClr val="193248"/>
                </a:solidFill>
                <a:latin typeface="Arial"/>
              </a:rPr>
              <a:t> dolore, debolezza e possibili gonfiore o lividi.</a:t>
            </a:r>
          </a:p>
        </p:txBody>
      </p:sp>
      <p:sp>
        <p:nvSpPr>
          <p:cNvPr id="40" name="Stiramenti e strappi: eccessivo allungamento o rottura "/>
          <p:cNvSpPr txBox="1"/>
          <p:nvPr/>
        </p:nvSpPr>
        <p:spPr>
          <a:xfrm>
            <a:off x="8202168" y="5029200"/>
            <a:ext cx="3346704" cy="1444752"/>
          </a:xfrm>
          <a:prstGeom prst="rect">
            <a:avLst/>
          </a:prstGeom>
          <a:noFill/>
        </p:spPr>
        <p:txBody>
          <a:bodyPr wrap="square" lIns="0" tIns="0" rIns="0" bIns="0">
            <a:noAutofit/>
          </a:bodyPr>
          <a:lstStyle/>
          <a:p>
            <a:pPr>
              <a:lnSpc>
                <a:spcPts val="2000"/>
              </a:lnSpc>
              <a:spcBef>
                <a:spcPts val="0"/>
              </a:spcBef>
              <a:spcAft>
                <a:spcPts val="0"/>
              </a:spcAft>
            </a:pPr>
            <a:r>
              <a:rPr lang="it-IT" sz="1750" b="1" u="sng">
                <a:solidFill>
                  <a:srgbClr val="193248"/>
                </a:solidFill>
                <a:latin typeface="Arial"/>
              </a:rPr>
              <a:t>Cura</a:t>
            </a:r>
            <a:r>
              <a:rPr lang="it-IT" sz="1750" b="1">
                <a:solidFill>
                  <a:srgbClr val="193248"/>
                </a:solidFill>
                <a:latin typeface="Arial"/>
              </a:rPr>
              <a:t>:</a:t>
            </a:r>
            <a:r>
              <a:rPr lang="it-IT" sz="1750" b="0">
                <a:solidFill>
                  <a:srgbClr val="193248"/>
                </a:solidFill>
                <a:latin typeface="Arial"/>
              </a:rPr>
              <a:t> riposo relativo, ghiaccio protetto da un panno e ripresa graduale del movimento. Valutazione medica se dolore intenso o difficoltà a usare il muscolo.</a:t>
            </a:r>
            <a:endParaRPr lang="it-IT" sz="2200" b="0">
              <a:solidFill>
                <a:srgbClr val="193248"/>
              </a:solidFill>
              <a:latin typeface="Arial"/>
            </a:endParaRPr>
          </a:p>
        </p:txBody>
      </p:sp>
      <p:cxnSp>
        <p:nvCxnSpPr>
          <p:cNvPr id="41" name="Connector 40"/>
          <p:cNvCxnSpPr/>
          <p:nvPr/>
        </p:nvCxnSpPr>
        <p:spPr>
          <a:xfrm>
            <a:off x="4251960" y="1600200"/>
            <a:ext cx="0" cy="4855464"/>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001000" y="1600200"/>
            <a:ext cx="0" cy="4855464"/>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09-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9-0002-4000-8000-000000000000}"/>
              </a:ext>
            </a:extLst>
          </p:cNvPr>
          <p:cNvSpPr>
            <a:spLocks noGrp="1"/>
          </p:cNvSpPr>
          <p:nvPr/>
        </p:nvSpPr>
        <p:spPr>
          <a:xfrm>
            <a:off x="609904" y="210312"/>
            <a:ext cx="10858500" cy="267004"/>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SISTEMA 5 DI 5</a:t>
            </a:r>
          </a:p>
        </p:txBody>
      </p:sp>
      <p:sp>
        <p:nvSpPr>
          <p:cNvPr id="3" name="Rettangolo 2">
            <a:extLst>
              <a:ext uri="{FF2B5EF4-FFF2-40B4-BE49-F238E27FC236}">
                <a16:creationId xmlns:a16="http://schemas.microsoft.com/office/drawing/2014/main" id="{00000009-0003-4000-8000-000000000000}"/>
              </a:ext>
            </a:extLst>
          </p:cNvPr>
          <p:cNvSpPr>
            <a:spLocks noGrp="1"/>
          </p:cNvSpPr>
          <p:nvPr/>
        </p:nvSpPr>
        <p:spPr>
          <a:xfrm>
            <a:off x="609904" y="512064"/>
            <a:ext cx="10972800" cy="557784"/>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Sistema endocrino</a:t>
            </a:r>
          </a:p>
        </p:txBody>
      </p:sp>
      <p:sp>
        <p:nvSpPr>
          <p:cNvPr id="4" name="Rettangolo 3">
            <a:extLst>
              <a:ext uri="{FF2B5EF4-FFF2-40B4-BE49-F238E27FC236}">
                <a16:creationId xmlns:a16="http://schemas.microsoft.com/office/drawing/2014/main" id="{00000009-0004-4000-8000-000000000000}"/>
              </a:ext>
            </a:extLst>
          </p:cNvPr>
          <p:cNvSpPr>
            <a:spLocks noGrp="1"/>
          </p:cNvSpPr>
          <p:nvPr/>
        </p:nvSpPr>
        <p:spPr>
          <a:xfrm>
            <a:off x="609904" y="1188720"/>
            <a:ext cx="10972800" cy="18288"/>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9-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9-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26</a:t>
            </a:r>
            <a:endParaRPr sz="1350" b="1">
              <a:solidFill>
                <a:srgbClr val="123F67"/>
              </a:solidFill>
              <a:latin typeface="Arial"/>
              <a:ea typeface="Arial"/>
              <a:cs typeface="Arial"/>
            </a:endParaRPr>
          </a:p>
        </p:txBody>
      </p:sp>
      <p:sp>
        <p:nvSpPr>
          <p:cNvPr id="24" name="TextBox 23"/>
          <p:cNvSpPr txBox="1"/>
          <p:nvPr/>
        </p:nvSpPr>
        <p:spPr>
          <a:xfrm>
            <a:off x="609600" y="1398731"/>
            <a:ext cx="3352800" cy="284693"/>
          </a:xfrm>
          <a:prstGeom prst="rect">
            <a:avLst/>
          </a:prstGeom>
          <a:noFill/>
        </p:spPr>
        <p:txBody>
          <a:bodyPr wrap="square" lIns="0" tIns="0" rIns="0" bIns="0">
            <a:spAutoFit/>
          </a:bodyPr>
          <a:lstStyle/>
          <a:p>
            <a:pPr algn="ctr">
              <a:lnSpc>
                <a:spcPct val="100000"/>
              </a:lnSpc>
              <a:defRPr sz="2400" b="1">
                <a:solidFill>
                  <a:srgbClr val="087E8B"/>
                </a:solidFill>
                <a:latin typeface="Arial"/>
              </a:defRPr>
            </a:pPr>
            <a:r>
              <a:rPr lang="it-IT" sz="1850"/>
              <a:t>Ghiandole endocrine</a:t>
            </a:r>
          </a:p>
        </p:txBody>
      </p:sp>
      <p:sp>
        <p:nvSpPr>
          <p:cNvPr id="25" name="TextBox 24"/>
          <p:cNvSpPr txBox="1"/>
          <p:nvPr/>
        </p:nvSpPr>
        <p:spPr>
          <a:xfrm>
            <a:off x="4381500" y="1398731"/>
            <a:ext cx="3352800" cy="284693"/>
          </a:xfrm>
          <a:prstGeom prst="rect">
            <a:avLst/>
          </a:prstGeom>
          <a:noFill/>
        </p:spPr>
        <p:txBody>
          <a:bodyPr wrap="square" lIns="0" tIns="0" rIns="0" bIns="0">
            <a:spAutoFit/>
          </a:bodyPr>
          <a:lstStyle/>
          <a:p>
            <a:pPr algn="ctr">
              <a:lnSpc>
                <a:spcPct val="100000"/>
              </a:lnSpc>
              <a:defRPr sz="2400" b="1">
                <a:solidFill>
                  <a:srgbClr val="087E8B"/>
                </a:solidFill>
                <a:latin typeface="Arial"/>
              </a:defRPr>
            </a:pPr>
            <a:r>
              <a:rPr lang="it-IT" sz="1850"/>
              <a:t>Sangue</a:t>
            </a:r>
          </a:p>
        </p:txBody>
      </p:sp>
      <p:sp>
        <p:nvSpPr>
          <p:cNvPr id="26" name="TextBox 25"/>
          <p:cNvSpPr txBox="1"/>
          <p:nvPr/>
        </p:nvSpPr>
        <p:spPr>
          <a:xfrm>
            <a:off x="8153399" y="1398731"/>
            <a:ext cx="3352800" cy="284693"/>
          </a:xfrm>
          <a:prstGeom prst="rect">
            <a:avLst/>
          </a:prstGeom>
          <a:noFill/>
        </p:spPr>
        <p:txBody>
          <a:bodyPr wrap="square" lIns="0" tIns="0" rIns="0" bIns="0">
            <a:spAutoFit/>
          </a:bodyPr>
          <a:lstStyle/>
          <a:p>
            <a:pPr algn="ctr">
              <a:lnSpc>
                <a:spcPct val="100000"/>
              </a:lnSpc>
              <a:defRPr sz="2400" b="1">
                <a:solidFill>
                  <a:srgbClr val="087E8B"/>
                </a:solidFill>
                <a:latin typeface="Arial"/>
              </a:defRPr>
            </a:pPr>
            <a:r>
              <a:rPr lang="it-IT" sz="1850"/>
              <a:t>Organi bersaglio</a:t>
            </a:r>
          </a:p>
        </p:txBody>
      </p:sp>
      <p:cxnSp>
        <p:nvCxnSpPr>
          <p:cNvPr id="27" name="Connector 26"/>
          <p:cNvCxnSpPr/>
          <p:nvPr/>
        </p:nvCxnSpPr>
        <p:spPr>
          <a:xfrm>
            <a:off x="3990974" y="1564275"/>
            <a:ext cx="333375"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62875" y="1564275"/>
            <a:ext cx="333375"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1728216"/>
            <a:ext cx="3352800" cy="553998"/>
          </a:xfrm>
          <a:prstGeom prst="rect">
            <a:avLst/>
          </a:prstGeom>
          <a:noFill/>
        </p:spPr>
        <p:txBody>
          <a:bodyPr wrap="square">
            <a:spAutoFit/>
          </a:bodyPr>
          <a:lstStyle/>
          <a:p>
            <a:pPr algn="ctr">
              <a:lnSpc>
                <a:spcPts val="1800"/>
              </a:lnSpc>
              <a:defRPr sz="1800">
                <a:solidFill>
                  <a:srgbClr val="193248"/>
                </a:solidFill>
                <a:latin typeface="Arial"/>
              </a:defRPr>
            </a:pPr>
            <a:r>
              <a:rPr lang="it-IT" sz="1550"/>
              <a:t>Producono e rilasciano gli ormoni: messaggeri chimici.</a:t>
            </a:r>
          </a:p>
        </p:txBody>
      </p:sp>
      <p:sp>
        <p:nvSpPr>
          <p:cNvPr id="30" name="TextBox 29"/>
          <p:cNvSpPr txBox="1"/>
          <p:nvPr/>
        </p:nvSpPr>
        <p:spPr>
          <a:xfrm>
            <a:off x="4381500" y="1728216"/>
            <a:ext cx="3352800" cy="553998"/>
          </a:xfrm>
          <a:prstGeom prst="rect">
            <a:avLst/>
          </a:prstGeom>
          <a:noFill/>
        </p:spPr>
        <p:txBody>
          <a:bodyPr wrap="square">
            <a:spAutoFit/>
          </a:bodyPr>
          <a:lstStyle/>
          <a:p>
            <a:pPr algn="ctr">
              <a:lnSpc>
                <a:spcPts val="1800"/>
              </a:lnSpc>
              <a:defRPr sz="1800">
                <a:solidFill>
                  <a:srgbClr val="193248"/>
                </a:solidFill>
                <a:latin typeface="Arial"/>
              </a:defRPr>
            </a:pPr>
            <a:r>
              <a:rPr lang="it-IT" sz="1550"/>
              <a:t>Trasporta gli ormoni in tutto il corpo, anche lontano dalla ghiandola.</a:t>
            </a:r>
          </a:p>
        </p:txBody>
      </p:sp>
      <p:sp>
        <p:nvSpPr>
          <p:cNvPr id="31" name="TextBox 30"/>
          <p:cNvSpPr txBox="1"/>
          <p:nvPr/>
        </p:nvSpPr>
        <p:spPr>
          <a:xfrm>
            <a:off x="8153399" y="1728216"/>
            <a:ext cx="3352800" cy="784830"/>
          </a:xfrm>
          <a:prstGeom prst="rect">
            <a:avLst/>
          </a:prstGeom>
          <a:noFill/>
        </p:spPr>
        <p:txBody>
          <a:bodyPr wrap="square">
            <a:spAutoFit/>
          </a:bodyPr>
          <a:lstStyle/>
          <a:p>
            <a:pPr algn="ctr">
              <a:lnSpc>
                <a:spcPts val="1800"/>
              </a:lnSpc>
              <a:defRPr sz="1800">
                <a:solidFill>
                  <a:srgbClr val="193248"/>
                </a:solidFill>
                <a:latin typeface="Arial"/>
              </a:defRPr>
            </a:pPr>
            <a:r>
              <a:rPr lang="it-IT" sz="1550"/>
              <a:t>Le cellule con i recettori adatti riconoscono l’ormone e rispondono al suo segnale.</a:t>
            </a:r>
          </a:p>
        </p:txBody>
      </p:sp>
      <p:sp>
        <p:nvSpPr>
          <p:cNvPr id="51" name="Richiamo ghiandola 1"/>
          <p:cNvSpPr/>
          <p:nvPr/>
        </p:nvSpPr>
        <p:spPr>
          <a:xfrm>
            <a:off x="704088" y="3113532"/>
            <a:ext cx="265176" cy="26517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lang="it-IT" sz="1371" b="1">
                <a:solidFill>
                  <a:srgbClr val="FFFFFF"/>
                </a:solidFill>
                <a:latin typeface="Arial"/>
              </a:rPr>
              <a:t>1</a:t>
            </a:r>
          </a:p>
        </p:txBody>
      </p:sp>
      <p:sp>
        <p:nvSpPr>
          <p:cNvPr id="52" name="Richiamo ghiandola 2"/>
          <p:cNvSpPr/>
          <p:nvPr/>
        </p:nvSpPr>
        <p:spPr>
          <a:xfrm>
            <a:off x="704088" y="3762756"/>
            <a:ext cx="265176" cy="26517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lang="it-IT" sz="1371" b="1">
                <a:solidFill>
                  <a:srgbClr val="FFFFFF"/>
                </a:solidFill>
                <a:latin typeface="Arial"/>
              </a:rPr>
              <a:t>2</a:t>
            </a:r>
          </a:p>
        </p:txBody>
      </p:sp>
      <p:sp>
        <p:nvSpPr>
          <p:cNvPr id="53" name="Richiamo ghiandola 3"/>
          <p:cNvSpPr/>
          <p:nvPr/>
        </p:nvSpPr>
        <p:spPr>
          <a:xfrm>
            <a:off x="704088" y="4402836"/>
            <a:ext cx="265176" cy="26517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lang="it-IT" sz="1371" b="1">
                <a:solidFill>
                  <a:srgbClr val="FFFFFF"/>
                </a:solidFill>
                <a:latin typeface="Arial"/>
              </a:rPr>
              <a:t>3</a:t>
            </a:r>
          </a:p>
        </p:txBody>
      </p:sp>
      <p:sp>
        <p:nvSpPr>
          <p:cNvPr id="54" name="Richiamo ghiandola 4"/>
          <p:cNvSpPr/>
          <p:nvPr/>
        </p:nvSpPr>
        <p:spPr>
          <a:xfrm>
            <a:off x="704088" y="4878324"/>
            <a:ext cx="265176" cy="26517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lang="it-IT" sz="1371" b="1">
                <a:solidFill>
                  <a:srgbClr val="FFFFFF"/>
                </a:solidFill>
                <a:latin typeface="Arial"/>
              </a:rPr>
              <a:t>4</a:t>
            </a:r>
          </a:p>
        </p:txBody>
      </p:sp>
      <p:sp>
        <p:nvSpPr>
          <p:cNvPr id="55" name="TextBox 54"/>
          <p:cNvSpPr txBox="1"/>
          <p:nvPr/>
        </p:nvSpPr>
        <p:spPr>
          <a:xfrm>
            <a:off x="704088" y="2697480"/>
            <a:ext cx="2423160" cy="205184"/>
          </a:xfrm>
          <a:prstGeom prst="rect">
            <a:avLst/>
          </a:prstGeom>
          <a:noFill/>
        </p:spPr>
        <p:txBody>
          <a:bodyPr wrap="square" lIns="0" tIns="0" rIns="0" bIns="0">
            <a:spAutoFit/>
          </a:bodyPr>
          <a:lstStyle/>
          <a:p>
            <a:pPr algn="l">
              <a:lnSpc>
                <a:spcPts val="1600"/>
              </a:lnSpc>
            </a:pPr>
            <a:r>
              <a:rPr sz="1400" b="1" dirty="0">
                <a:solidFill>
                  <a:srgbClr val="087E8B"/>
                </a:solidFill>
                <a:latin typeface="Arial"/>
              </a:rPr>
              <a:t>GHIANDOLA</a:t>
            </a:r>
            <a:endParaRPr lang="it-IT" sz="1400" b="1">
              <a:solidFill>
                <a:srgbClr val="087E8B"/>
              </a:solidFill>
              <a:latin typeface="Arial"/>
            </a:endParaRPr>
          </a:p>
        </p:txBody>
      </p:sp>
      <p:sp>
        <p:nvSpPr>
          <p:cNvPr id="56" name="TextBox 55"/>
          <p:cNvSpPr txBox="1"/>
          <p:nvPr/>
        </p:nvSpPr>
        <p:spPr>
          <a:xfrm>
            <a:off x="3429000" y="2697480"/>
            <a:ext cx="3794760" cy="205184"/>
          </a:xfrm>
          <a:prstGeom prst="rect">
            <a:avLst/>
          </a:prstGeom>
          <a:noFill/>
        </p:spPr>
        <p:txBody>
          <a:bodyPr wrap="square" lIns="0" tIns="0" rIns="0" bIns="0">
            <a:spAutoFit/>
          </a:bodyPr>
          <a:lstStyle/>
          <a:p>
            <a:pPr algn="l">
              <a:lnSpc>
                <a:spcPts val="1600"/>
              </a:lnSpc>
            </a:pPr>
            <a:r>
              <a:rPr sz="1400" b="1" dirty="0">
                <a:solidFill>
                  <a:srgbClr val="087E8B"/>
                </a:solidFill>
                <a:latin typeface="Arial"/>
              </a:rPr>
              <a:t>ORMONI</a:t>
            </a:r>
            <a:endParaRPr lang="it-IT" sz="1400" b="1">
              <a:solidFill>
                <a:srgbClr val="087E8B"/>
              </a:solidFill>
              <a:latin typeface="Arial"/>
            </a:endParaRPr>
          </a:p>
        </p:txBody>
      </p:sp>
      <p:sp>
        <p:nvSpPr>
          <p:cNvPr id="57" name="TextBox 56"/>
          <p:cNvSpPr txBox="1"/>
          <p:nvPr/>
        </p:nvSpPr>
        <p:spPr>
          <a:xfrm>
            <a:off x="7726679" y="2697480"/>
            <a:ext cx="3831336" cy="205184"/>
          </a:xfrm>
          <a:prstGeom prst="rect">
            <a:avLst/>
          </a:prstGeom>
          <a:noFill/>
        </p:spPr>
        <p:txBody>
          <a:bodyPr wrap="square" lIns="0" tIns="0" rIns="0" bIns="0">
            <a:spAutoFit/>
          </a:bodyPr>
          <a:lstStyle/>
          <a:p>
            <a:pPr algn="l">
              <a:lnSpc>
                <a:spcPts val="1600"/>
              </a:lnSpc>
            </a:pPr>
            <a:r>
              <a:rPr sz="1400" b="1">
                <a:solidFill>
                  <a:srgbClr val="087E8B"/>
                </a:solidFill>
                <a:latin typeface="Arial"/>
              </a:rPr>
              <a:t>FUNZIONE</a:t>
            </a:r>
            <a:endParaRPr lang="it-IT" sz="1400" b="1">
              <a:solidFill>
                <a:srgbClr val="087E8B"/>
              </a:solidFill>
              <a:latin typeface="Arial"/>
            </a:endParaRPr>
          </a:p>
        </p:txBody>
      </p:sp>
      <p:sp>
        <p:nvSpPr>
          <p:cNvPr id="58" name="TextBox 57"/>
          <p:cNvSpPr txBox="1"/>
          <p:nvPr/>
        </p:nvSpPr>
        <p:spPr>
          <a:xfrm>
            <a:off x="1060704" y="3099816"/>
            <a:ext cx="2322576" cy="548640"/>
          </a:xfrm>
          <a:prstGeom prst="rect">
            <a:avLst/>
          </a:prstGeom>
          <a:noFill/>
        </p:spPr>
        <p:txBody>
          <a:bodyPr wrap="square" lIns="0" tIns="0" rIns="0" bIns="0">
            <a:spAutoFit/>
          </a:bodyPr>
          <a:lstStyle/>
          <a:p>
            <a:pPr>
              <a:lnSpc>
                <a:spcPts val="2000"/>
              </a:lnSpc>
            </a:pPr>
            <a:r>
              <a:rPr sz="1800" b="1">
                <a:solidFill>
                  <a:srgbClr val="123F67"/>
                </a:solidFill>
                <a:latin typeface="Arial"/>
              </a:rPr>
              <a:t>Ipofisi</a:t>
            </a:r>
          </a:p>
        </p:txBody>
      </p:sp>
      <p:sp>
        <p:nvSpPr>
          <p:cNvPr id="59" name="TextBox 58"/>
          <p:cNvSpPr txBox="1"/>
          <p:nvPr/>
        </p:nvSpPr>
        <p:spPr>
          <a:xfrm>
            <a:off x="3429000" y="3099816"/>
            <a:ext cx="3703320" cy="487313"/>
          </a:xfrm>
          <a:prstGeom prst="rect">
            <a:avLst/>
          </a:prstGeom>
          <a:noFill/>
        </p:spPr>
        <p:txBody>
          <a:bodyPr wrap="square" lIns="0" tIns="0" rIns="0" bIns="0">
            <a:spAutoFit/>
          </a:bodyPr>
          <a:lstStyle/>
          <a:p>
            <a:pPr>
              <a:lnSpc>
                <a:spcPts val="1900"/>
              </a:lnSpc>
            </a:pPr>
            <a:r>
              <a:rPr lang="it-IT" sz="1600" b="0">
                <a:solidFill>
                  <a:srgbClr val="087E8B"/>
                </a:solidFill>
                <a:latin typeface="Arial"/>
              </a:rPr>
              <a:t>Rilascia GH, TSH, ACTH, FSH, LH,</a:t>
            </a:r>
          </a:p>
          <a:p>
            <a:pPr>
              <a:lnSpc>
                <a:spcPts val="1900"/>
              </a:lnSpc>
            </a:pPr>
            <a:r>
              <a:rPr lang="it-IT" sz="1600" b="0">
                <a:solidFill>
                  <a:srgbClr val="087E8B"/>
                </a:solidFill>
                <a:latin typeface="Arial"/>
              </a:rPr>
              <a:t>prolattina e ADH</a:t>
            </a:r>
          </a:p>
        </p:txBody>
      </p:sp>
      <p:sp>
        <p:nvSpPr>
          <p:cNvPr id="60" name="TextBox 59"/>
          <p:cNvSpPr txBox="1"/>
          <p:nvPr/>
        </p:nvSpPr>
        <p:spPr>
          <a:xfrm>
            <a:off x="7726679" y="3099816"/>
            <a:ext cx="3831336" cy="487313"/>
          </a:xfrm>
          <a:prstGeom prst="rect">
            <a:avLst/>
          </a:prstGeom>
          <a:noFill/>
        </p:spPr>
        <p:txBody>
          <a:bodyPr wrap="square" lIns="0" tIns="0" rIns="0" bIns="0">
            <a:spAutoFit/>
          </a:bodyPr>
          <a:lstStyle/>
          <a:p>
            <a:pPr>
              <a:lnSpc>
                <a:spcPts val="1900"/>
              </a:lnSpc>
            </a:pPr>
            <a:r>
              <a:rPr lang="it-IT" sz="1600" b="0">
                <a:solidFill>
                  <a:srgbClr val="193248"/>
                </a:solidFill>
                <a:latin typeface="Arial"/>
              </a:rPr>
              <a:t>Crescita e regolazione</a:t>
            </a:r>
          </a:p>
          <a:p>
            <a:pPr>
              <a:lnSpc>
                <a:spcPts val="1900"/>
              </a:lnSpc>
            </a:pPr>
            <a:r>
              <a:rPr lang="it-IT" sz="1600" b="0">
                <a:solidFill>
                  <a:srgbClr val="193248"/>
                </a:solidFill>
                <a:latin typeface="Arial"/>
              </a:rPr>
              <a:t>di altre ghiandole</a:t>
            </a:r>
          </a:p>
        </p:txBody>
      </p:sp>
      <p:sp>
        <p:nvSpPr>
          <p:cNvPr id="61" name="TextBox 60"/>
          <p:cNvSpPr txBox="1"/>
          <p:nvPr/>
        </p:nvSpPr>
        <p:spPr>
          <a:xfrm>
            <a:off x="1060704" y="3749039"/>
            <a:ext cx="2322576" cy="521207"/>
          </a:xfrm>
          <a:prstGeom prst="rect">
            <a:avLst/>
          </a:prstGeom>
          <a:noFill/>
        </p:spPr>
        <p:txBody>
          <a:bodyPr wrap="square" lIns="0" tIns="0" rIns="0" bIns="0">
            <a:spAutoFit/>
          </a:bodyPr>
          <a:lstStyle/>
          <a:p>
            <a:pPr>
              <a:lnSpc>
                <a:spcPts val="2000"/>
              </a:lnSpc>
            </a:pPr>
            <a:r>
              <a:rPr sz="1800" b="1">
                <a:solidFill>
                  <a:srgbClr val="123F67"/>
                </a:solidFill>
                <a:latin typeface="Arial"/>
              </a:rPr>
              <a:t>Tiroide</a:t>
            </a:r>
          </a:p>
        </p:txBody>
      </p:sp>
      <p:sp>
        <p:nvSpPr>
          <p:cNvPr id="62" name="TextBox 61"/>
          <p:cNvSpPr txBox="1"/>
          <p:nvPr/>
        </p:nvSpPr>
        <p:spPr>
          <a:xfrm>
            <a:off x="3429000" y="3749039"/>
            <a:ext cx="3703320" cy="243656"/>
          </a:xfrm>
          <a:prstGeom prst="rect">
            <a:avLst/>
          </a:prstGeom>
          <a:noFill/>
        </p:spPr>
        <p:txBody>
          <a:bodyPr wrap="square" lIns="0" tIns="0" rIns="0" bIns="0">
            <a:spAutoFit/>
          </a:bodyPr>
          <a:lstStyle/>
          <a:p>
            <a:pPr>
              <a:lnSpc>
                <a:spcPts val="1900"/>
              </a:lnSpc>
            </a:pPr>
            <a:r>
              <a:rPr lang="it-IT" sz="1600" b="0">
                <a:solidFill>
                  <a:srgbClr val="087E8B"/>
                </a:solidFill>
                <a:latin typeface="Arial"/>
              </a:rPr>
              <a:t>T3 e T4</a:t>
            </a:r>
          </a:p>
        </p:txBody>
      </p:sp>
      <p:sp>
        <p:nvSpPr>
          <p:cNvPr id="63" name="TextBox 62"/>
          <p:cNvSpPr txBox="1"/>
          <p:nvPr/>
        </p:nvSpPr>
        <p:spPr>
          <a:xfrm>
            <a:off x="7726679" y="3749039"/>
            <a:ext cx="3831336" cy="487313"/>
          </a:xfrm>
          <a:prstGeom prst="rect">
            <a:avLst/>
          </a:prstGeom>
          <a:noFill/>
        </p:spPr>
        <p:txBody>
          <a:bodyPr wrap="square" lIns="0" tIns="0" rIns="0" bIns="0">
            <a:spAutoFit/>
          </a:bodyPr>
          <a:lstStyle/>
          <a:p>
            <a:pPr>
              <a:lnSpc>
                <a:spcPts val="1900"/>
              </a:lnSpc>
            </a:pPr>
            <a:r>
              <a:rPr lang="it-IT" sz="1600" b="0">
                <a:solidFill>
                  <a:srgbClr val="193248"/>
                </a:solidFill>
                <a:latin typeface="Arial"/>
              </a:rPr>
              <a:t>Metabolismo, consumo di energia</a:t>
            </a:r>
          </a:p>
          <a:p>
            <a:pPr>
              <a:lnSpc>
                <a:spcPts val="1900"/>
              </a:lnSpc>
            </a:pPr>
            <a:r>
              <a:rPr lang="it-IT" sz="1600" b="0">
                <a:solidFill>
                  <a:srgbClr val="193248"/>
                </a:solidFill>
                <a:latin typeface="Arial"/>
              </a:rPr>
              <a:t>e produzione di calore.</a:t>
            </a:r>
          </a:p>
        </p:txBody>
      </p:sp>
      <p:sp>
        <p:nvSpPr>
          <p:cNvPr id="64" name="TextBox 63"/>
          <p:cNvSpPr txBox="1"/>
          <p:nvPr/>
        </p:nvSpPr>
        <p:spPr>
          <a:xfrm>
            <a:off x="1060704" y="4389120"/>
            <a:ext cx="2322576" cy="365760"/>
          </a:xfrm>
          <a:prstGeom prst="rect">
            <a:avLst/>
          </a:prstGeom>
          <a:noFill/>
        </p:spPr>
        <p:txBody>
          <a:bodyPr wrap="square" lIns="0" tIns="0" rIns="0" bIns="0">
            <a:spAutoFit/>
          </a:bodyPr>
          <a:lstStyle/>
          <a:p>
            <a:pPr>
              <a:lnSpc>
                <a:spcPts val="2000"/>
              </a:lnSpc>
            </a:pPr>
            <a:r>
              <a:rPr sz="1800" b="1">
                <a:solidFill>
                  <a:srgbClr val="123F67"/>
                </a:solidFill>
                <a:latin typeface="Arial"/>
              </a:rPr>
              <a:t>Paratiroidi</a:t>
            </a:r>
          </a:p>
        </p:txBody>
      </p:sp>
      <p:sp>
        <p:nvSpPr>
          <p:cNvPr id="65" name="TextBox 64"/>
          <p:cNvSpPr txBox="1"/>
          <p:nvPr/>
        </p:nvSpPr>
        <p:spPr>
          <a:xfrm>
            <a:off x="3429000" y="4389120"/>
            <a:ext cx="3703320" cy="243656"/>
          </a:xfrm>
          <a:prstGeom prst="rect">
            <a:avLst/>
          </a:prstGeom>
          <a:noFill/>
        </p:spPr>
        <p:txBody>
          <a:bodyPr wrap="square" lIns="0" tIns="0" rIns="0" bIns="0">
            <a:spAutoFit/>
          </a:bodyPr>
          <a:lstStyle/>
          <a:p>
            <a:pPr>
              <a:lnSpc>
                <a:spcPts val="1900"/>
              </a:lnSpc>
            </a:pPr>
            <a:r>
              <a:rPr lang="it-IT" sz="1600" b="0">
                <a:solidFill>
                  <a:srgbClr val="087E8B"/>
                </a:solidFill>
                <a:latin typeface="Arial"/>
              </a:rPr>
              <a:t>Paratormone (PTH)</a:t>
            </a:r>
          </a:p>
        </p:txBody>
      </p:sp>
      <p:sp>
        <p:nvSpPr>
          <p:cNvPr id="66" name="TextBox 65"/>
          <p:cNvSpPr txBox="1"/>
          <p:nvPr/>
        </p:nvSpPr>
        <p:spPr>
          <a:xfrm>
            <a:off x="7726679" y="4389120"/>
            <a:ext cx="3831336" cy="243656"/>
          </a:xfrm>
          <a:prstGeom prst="rect">
            <a:avLst/>
          </a:prstGeom>
          <a:noFill/>
        </p:spPr>
        <p:txBody>
          <a:bodyPr wrap="square" lIns="0" tIns="0" rIns="0" bIns="0">
            <a:spAutoFit/>
          </a:bodyPr>
          <a:lstStyle/>
          <a:p>
            <a:pPr>
              <a:lnSpc>
                <a:spcPts val="1900"/>
              </a:lnSpc>
            </a:pPr>
            <a:r>
              <a:rPr lang="it-IT" sz="1600" b="0">
                <a:solidFill>
                  <a:srgbClr val="193248"/>
                </a:solidFill>
                <a:latin typeface="Arial"/>
              </a:rPr>
              <a:t>Regolazione del calcio</a:t>
            </a:r>
          </a:p>
        </p:txBody>
      </p:sp>
      <p:sp>
        <p:nvSpPr>
          <p:cNvPr id="67" name="TextBox 66"/>
          <p:cNvSpPr txBox="1"/>
          <p:nvPr/>
        </p:nvSpPr>
        <p:spPr>
          <a:xfrm>
            <a:off x="1060704" y="4864608"/>
            <a:ext cx="2322576" cy="530352"/>
          </a:xfrm>
          <a:prstGeom prst="rect">
            <a:avLst/>
          </a:prstGeom>
          <a:noFill/>
        </p:spPr>
        <p:txBody>
          <a:bodyPr wrap="square" lIns="0" tIns="0" rIns="0" bIns="0">
            <a:spAutoFit/>
          </a:bodyPr>
          <a:lstStyle/>
          <a:p>
            <a:pPr>
              <a:lnSpc>
                <a:spcPts val="2000"/>
              </a:lnSpc>
            </a:pPr>
            <a:r>
              <a:rPr sz="1800" b="1">
                <a:solidFill>
                  <a:srgbClr val="123F67"/>
                </a:solidFill>
                <a:latin typeface="Arial"/>
              </a:rPr>
              <a:t>Surreni</a:t>
            </a:r>
          </a:p>
        </p:txBody>
      </p:sp>
      <p:sp>
        <p:nvSpPr>
          <p:cNvPr id="68" name="TextBox 67"/>
          <p:cNvSpPr txBox="1"/>
          <p:nvPr/>
        </p:nvSpPr>
        <p:spPr>
          <a:xfrm>
            <a:off x="3429000" y="4864608"/>
            <a:ext cx="3703320" cy="487313"/>
          </a:xfrm>
          <a:prstGeom prst="rect">
            <a:avLst/>
          </a:prstGeom>
          <a:noFill/>
        </p:spPr>
        <p:txBody>
          <a:bodyPr wrap="square" lIns="0" tIns="0" rIns="0" bIns="0">
            <a:spAutoFit/>
          </a:bodyPr>
          <a:lstStyle/>
          <a:p>
            <a:pPr>
              <a:lnSpc>
                <a:spcPts val="1900"/>
              </a:lnSpc>
            </a:pPr>
            <a:r>
              <a:rPr lang="it-IT" sz="1600" b="0">
                <a:solidFill>
                  <a:srgbClr val="087E8B"/>
                </a:solidFill>
                <a:latin typeface="Arial"/>
              </a:rPr>
              <a:t>Cortisolo, adrenalina, noradrenalina</a:t>
            </a:r>
          </a:p>
          <a:p>
            <a:pPr>
              <a:lnSpc>
                <a:spcPts val="1900"/>
              </a:lnSpc>
            </a:pPr>
            <a:r>
              <a:rPr lang="it-IT" sz="1600" b="0">
                <a:solidFill>
                  <a:srgbClr val="087E8B"/>
                </a:solidFill>
                <a:latin typeface="Arial"/>
              </a:rPr>
              <a:t>e aldosterone</a:t>
            </a:r>
          </a:p>
        </p:txBody>
      </p:sp>
      <p:sp>
        <p:nvSpPr>
          <p:cNvPr id="69" name="TextBox 68"/>
          <p:cNvSpPr txBox="1"/>
          <p:nvPr/>
        </p:nvSpPr>
        <p:spPr>
          <a:xfrm>
            <a:off x="7726679" y="4864608"/>
            <a:ext cx="3831336" cy="487313"/>
          </a:xfrm>
          <a:prstGeom prst="rect">
            <a:avLst/>
          </a:prstGeom>
          <a:noFill/>
        </p:spPr>
        <p:txBody>
          <a:bodyPr wrap="square" lIns="0" tIns="0" rIns="0" bIns="0">
            <a:spAutoFit/>
          </a:bodyPr>
          <a:lstStyle/>
          <a:p>
            <a:pPr>
              <a:lnSpc>
                <a:spcPts val="1900"/>
              </a:lnSpc>
            </a:pPr>
            <a:r>
              <a:rPr lang="it-IT" sz="1600" b="0">
                <a:solidFill>
                  <a:srgbClr val="193248"/>
                </a:solidFill>
                <a:latin typeface="Arial"/>
              </a:rPr>
              <a:t>Risposta allo stress ed equilibrio</a:t>
            </a:r>
          </a:p>
          <a:p>
            <a:pPr>
              <a:lnSpc>
                <a:spcPts val="1900"/>
              </a:lnSpc>
            </a:pPr>
            <a:r>
              <a:rPr lang="it-IT" sz="1600" b="0">
                <a:solidFill>
                  <a:srgbClr val="193248"/>
                </a:solidFill>
                <a:latin typeface="Arial"/>
              </a:rPr>
              <a:t>idro-elettrolitico</a:t>
            </a:r>
          </a:p>
        </p:txBody>
      </p:sp>
      <p:sp>
        <p:nvSpPr>
          <p:cNvPr id="70" name="TextBox 69"/>
          <p:cNvSpPr txBox="1"/>
          <p:nvPr/>
        </p:nvSpPr>
        <p:spPr>
          <a:xfrm>
            <a:off x="704088" y="5522976"/>
            <a:ext cx="2679192" cy="548640"/>
          </a:xfrm>
          <a:prstGeom prst="rect">
            <a:avLst/>
          </a:prstGeom>
          <a:noFill/>
        </p:spPr>
        <p:txBody>
          <a:bodyPr wrap="square" lIns="0" tIns="0" rIns="0" bIns="0">
            <a:spAutoFit/>
          </a:bodyPr>
          <a:lstStyle/>
          <a:p>
            <a:pPr>
              <a:lnSpc>
                <a:spcPts val="2000"/>
              </a:lnSpc>
            </a:pPr>
            <a:r>
              <a:rPr sz="1800" b="1">
                <a:solidFill>
                  <a:srgbClr val="123F67"/>
                </a:solidFill>
                <a:latin typeface="Arial"/>
              </a:rPr>
              <a:t>Pancreas</a:t>
            </a:r>
          </a:p>
        </p:txBody>
      </p:sp>
      <p:sp>
        <p:nvSpPr>
          <p:cNvPr id="71" name="TextBox 70"/>
          <p:cNvSpPr txBox="1"/>
          <p:nvPr/>
        </p:nvSpPr>
        <p:spPr>
          <a:xfrm>
            <a:off x="3429000" y="5522976"/>
            <a:ext cx="3703320" cy="243656"/>
          </a:xfrm>
          <a:prstGeom prst="rect">
            <a:avLst/>
          </a:prstGeom>
          <a:noFill/>
        </p:spPr>
        <p:txBody>
          <a:bodyPr wrap="square" lIns="0" tIns="0" rIns="0" bIns="0">
            <a:spAutoFit/>
          </a:bodyPr>
          <a:lstStyle/>
          <a:p>
            <a:pPr>
              <a:lnSpc>
                <a:spcPts val="1900"/>
              </a:lnSpc>
            </a:pPr>
            <a:r>
              <a:rPr lang="it-IT" sz="1600" b="0">
                <a:solidFill>
                  <a:srgbClr val="087E8B"/>
                </a:solidFill>
                <a:latin typeface="Arial"/>
              </a:rPr>
              <a:t>Insulina e glucagone</a:t>
            </a:r>
          </a:p>
        </p:txBody>
      </p:sp>
      <p:sp>
        <p:nvSpPr>
          <p:cNvPr id="72" name="TextBox 71"/>
          <p:cNvSpPr txBox="1"/>
          <p:nvPr/>
        </p:nvSpPr>
        <p:spPr>
          <a:xfrm>
            <a:off x="7726679" y="5522976"/>
            <a:ext cx="3831336" cy="243656"/>
          </a:xfrm>
          <a:prstGeom prst="rect">
            <a:avLst/>
          </a:prstGeom>
          <a:noFill/>
        </p:spPr>
        <p:txBody>
          <a:bodyPr wrap="square" lIns="0" tIns="0" rIns="0" bIns="0">
            <a:spAutoFit/>
          </a:bodyPr>
          <a:lstStyle/>
          <a:p>
            <a:pPr>
              <a:lnSpc>
                <a:spcPts val="1900"/>
              </a:lnSpc>
            </a:pPr>
            <a:r>
              <a:rPr lang="it-IT" sz="1600" b="0">
                <a:solidFill>
                  <a:srgbClr val="193248"/>
                </a:solidFill>
                <a:latin typeface="Arial"/>
              </a:rPr>
              <a:t>Regolazione della glicemia</a:t>
            </a:r>
          </a:p>
        </p:txBody>
      </p:sp>
      <p:sp>
        <p:nvSpPr>
          <p:cNvPr id="73" name="TextBox 72"/>
          <p:cNvSpPr txBox="1"/>
          <p:nvPr/>
        </p:nvSpPr>
        <p:spPr>
          <a:xfrm>
            <a:off x="2130552" y="6053328"/>
            <a:ext cx="1188720" cy="256479"/>
          </a:xfrm>
          <a:prstGeom prst="rect">
            <a:avLst/>
          </a:prstGeom>
          <a:noFill/>
        </p:spPr>
        <p:txBody>
          <a:bodyPr wrap="square" lIns="0" tIns="0" rIns="0" bIns="0">
            <a:spAutoFit/>
          </a:bodyPr>
          <a:lstStyle/>
          <a:p>
            <a:pPr>
              <a:lnSpc>
                <a:spcPts val="2000"/>
              </a:lnSpc>
            </a:pPr>
            <a:r>
              <a:rPr lang="it-IT" sz="1800" b="1">
                <a:solidFill>
                  <a:srgbClr val="123F67"/>
                </a:solidFill>
                <a:latin typeface="Arial"/>
              </a:rPr>
              <a:t>Ovaie</a:t>
            </a:r>
            <a:endParaRPr sz="1800" b="1">
              <a:solidFill>
                <a:srgbClr val="123F67"/>
              </a:solidFill>
              <a:latin typeface="Arial"/>
            </a:endParaRPr>
          </a:p>
        </p:txBody>
      </p:sp>
      <p:sp>
        <p:nvSpPr>
          <p:cNvPr id="74" name="TextBox 73"/>
          <p:cNvSpPr txBox="1"/>
          <p:nvPr/>
        </p:nvSpPr>
        <p:spPr>
          <a:xfrm>
            <a:off x="3429000" y="6053328"/>
            <a:ext cx="3703320" cy="243656"/>
          </a:xfrm>
          <a:prstGeom prst="rect">
            <a:avLst/>
          </a:prstGeom>
          <a:noFill/>
        </p:spPr>
        <p:txBody>
          <a:bodyPr wrap="square" lIns="0" tIns="0" rIns="0" bIns="0">
            <a:spAutoFit/>
          </a:bodyPr>
          <a:lstStyle/>
          <a:p>
            <a:pPr>
              <a:lnSpc>
                <a:spcPts val="1900"/>
              </a:lnSpc>
            </a:pPr>
            <a:r>
              <a:rPr lang="it-IT" sz="1600" b="0">
                <a:solidFill>
                  <a:srgbClr val="087E8B"/>
                </a:solidFill>
                <a:latin typeface="Arial"/>
              </a:rPr>
              <a:t>Estrogeni e progesterone</a:t>
            </a:r>
          </a:p>
        </p:txBody>
      </p:sp>
      <p:sp>
        <p:nvSpPr>
          <p:cNvPr id="75" name="TextBox 74"/>
          <p:cNvSpPr txBox="1"/>
          <p:nvPr/>
        </p:nvSpPr>
        <p:spPr>
          <a:xfrm>
            <a:off x="7726679" y="6053328"/>
            <a:ext cx="3831336" cy="243656"/>
          </a:xfrm>
          <a:prstGeom prst="rect">
            <a:avLst/>
          </a:prstGeom>
          <a:noFill/>
        </p:spPr>
        <p:txBody>
          <a:bodyPr wrap="square" lIns="0" tIns="0" rIns="0" bIns="0">
            <a:spAutoFit/>
          </a:bodyPr>
          <a:lstStyle/>
          <a:p>
            <a:pPr>
              <a:lnSpc>
                <a:spcPts val="1900"/>
              </a:lnSpc>
            </a:pPr>
            <a:r>
              <a:rPr lang="it-IT" sz="1600" b="0">
                <a:solidFill>
                  <a:srgbClr val="193248"/>
                </a:solidFill>
                <a:latin typeface="Arial"/>
              </a:rPr>
              <a:t>Ciclo e gravidanza</a:t>
            </a:r>
          </a:p>
        </p:txBody>
      </p:sp>
      <p:sp>
        <p:nvSpPr>
          <p:cNvPr id="76" name="TextBox 75"/>
          <p:cNvSpPr txBox="1"/>
          <p:nvPr/>
        </p:nvSpPr>
        <p:spPr>
          <a:xfrm>
            <a:off x="2130552" y="6373368"/>
            <a:ext cx="1188720" cy="256479"/>
          </a:xfrm>
          <a:prstGeom prst="rect">
            <a:avLst/>
          </a:prstGeom>
          <a:noFill/>
        </p:spPr>
        <p:txBody>
          <a:bodyPr wrap="square" lIns="0" tIns="0" rIns="0" bIns="0">
            <a:spAutoFit/>
          </a:bodyPr>
          <a:lstStyle/>
          <a:p>
            <a:pPr>
              <a:lnSpc>
                <a:spcPts val="2000"/>
              </a:lnSpc>
            </a:pPr>
            <a:r>
              <a:rPr lang="it-IT" sz="1800" b="1">
                <a:solidFill>
                  <a:srgbClr val="123F67"/>
                </a:solidFill>
                <a:latin typeface="Arial"/>
              </a:rPr>
              <a:t>Testicoli</a:t>
            </a:r>
            <a:endParaRPr sz="1800" b="1">
              <a:solidFill>
                <a:srgbClr val="123F67"/>
              </a:solidFill>
              <a:latin typeface="Arial"/>
            </a:endParaRPr>
          </a:p>
        </p:txBody>
      </p:sp>
      <p:sp>
        <p:nvSpPr>
          <p:cNvPr id="77" name="TextBox 76"/>
          <p:cNvSpPr txBox="1"/>
          <p:nvPr/>
        </p:nvSpPr>
        <p:spPr>
          <a:xfrm>
            <a:off x="3429000" y="6373368"/>
            <a:ext cx="3703320" cy="243656"/>
          </a:xfrm>
          <a:prstGeom prst="rect">
            <a:avLst/>
          </a:prstGeom>
          <a:noFill/>
        </p:spPr>
        <p:txBody>
          <a:bodyPr wrap="square" lIns="0" tIns="0" rIns="0" bIns="0">
            <a:spAutoFit/>
          </a:bodyPr>
          <a:lstStyle/>
          <a:p>
            <a:pPr>
              <a:lnSpc>
                <a:spcPts val="1900"/>
              </a:lnSpc>
            </a:pPr>
            <a:r>
              <a:rPr lang="it-IT" sz="1600" b="0">
                <a:solidFill>
                  <a:srgbClr val="087E8B"/>
                </a:solidFill>
                <a:latin typeface="Arial"/>
              </a:rPr>
              <a:t>Testosterone</a:t>
            </a:r>
          </a:p>
        </p:txBody>
      </p:sp>
      <p:sp>
        <p:nvSpPr>
          <p:cNvPr id="78" name="TextBox 77"/>
          <p:cNvSpPr txBox="1"/>
          <p:nvPr/>
        </p:nvSpPr>
        <p:spPr>
          <a:xfrm>
            <a:off x="7726679" y="6373368"/>
            <a:ext cx="3831336" cy="243656"/>
          </a:xfrm>
          <a:prstGeom prst="rect">
            <a:avLst/>
          </a:prstGeom>
          <a:noFill/>
        </p:spPr>
        <p:txBody>
          <a:bodyPr wrap="square" lIns="0" tIns="0" rIns="0" bIns="0">
            <a:spAutoFit/>
          </a:bodyPr>
          <a:lstStyle/>
          <a:p>
            <a:pPr>
              <a:lnSpc>
                <a:spcPts val="1900"/>
              </a:lnSpc>
            </a:pPr>
            <a:r>
              <a:rPr lang="it-IT" sz="1600" b="0">
                <a:solidFill>
                  <a:srgbClr val="193248"/>
                </a:solidFill>
                <a:latin typeface="Arial"/>
              </a:rPr>
              <a:t>Funzione riproduttiva</a:t>
            </a:r>
          </a:p>
        </p:txBody>
      </p:sp>
      <p:sp>
        <p:nvSpPr>
          <p:cNvPr id="79" name="TextBox 78"/>
          <p:cNvSpPr txBox="1"/>
          <p:nvPr/>
        </p:nvSpPr>
        <p:spPr>
          <a:xfrm>
            <a:off x="704088" y="5779008"/>
            <a:ext cx="2679192" cy="192024"/>
          </a:xfrm>
          <a:prstGeom prst="rect">
            <a:avLst/>
          </a:prstGeom>
          <a:noFill/>
        </p:spPr>
        <p:txBody>
          <a:bodyPr wrap="square" lIns="0" tIns="0" rIns="0" bIns="0">
            <a:spAutoFit/>
          </a:bodyPr>
          <a:lstStyle/>
          <a:p>
            <a:pPr>
              <a:lnSpc>
                <a:spcPts val="1450"/>
              </a:lnSpc>
            </a:pPr>
            <a:r>
              <a:rPr sz="1250" b="0" dirty="0">
                <a:solidFill>
                  <a:srgbClr val="193248"/>
                </a:solidFill>
                <a:latin typeface="Arial"/>
              </a:rPr>
              <a:t>(</a:t>
            </a:r>
            <a:r>
              <a:rPr sz="1250" b="0" dirty="0" err="1">
                <a:solidFill>
                  <a:srgbClr val="193248"/>
                </a:solidFill>
                <a:latin typeface="Arial"/>
              </a:rPr>
              <a:t>vedi</a:t>
            </a:r>
            <a:r>
              <a:rPr sz="1250" b="0" dirty="0">
                <a:solidFill>
                  <a:srgbClr val="193248"/>
                </a:solidFill>
                <a:latin typeface="Arial"/>
              </a:rPr>
              <a:t> slide </a:t>
            </a:r>
            <a:r>
              <a:rPr lang="it-IT" sz="1250" b="0">
                <a:solidFill>
                  <a:srgbClr val="193248"/>
                </a:solidFill>
                <a:latin typeface="Arial"/>
              </a:rPr>
              <a:t>42</a:t>
            </a:r>
            <a:r>
              <a:rPr sz="1250" b="0" dirty="0">
                <a:solidFill>
                  <a:srgbClr val="193248"/>
                </a:solidFill>
                <a:latin typeface="Arial"/>
              </a:rPr>
              <a:t>)</a:t>
            </a:r>
          </a:p>
        </p:txBody>
      </p:sp>
      <p:sp>
        <p:nvSpPr>
          <p:cNvPr id="80" name="Gonadi"/>
          <p:cNvSpPr txBox="1"/>
          <p:nvPr/>
        </p:nvSpPr>
        <p:spPr>
          <a:xfrm>
            <a:off x="704088" y="6213348"/>
            <a:ext cx="987552" cy="274320"/>
          </a:xfrm>
          <a:prstGeom prst="rect">
            <a:avLst/>
          </a:prstGeom>
          <a:noFill/>
        </p:spPr>
        <p:txBody>
          <a:bodyPr wrap="square" lIns="0" tIns="0" rIns="0" bIns="0">
            <a:spAutoFit/>
          </a:bodyPr>
          <a:lstStyle/>
          <a:p>
            <a:pPr>
              <a:lnSpc>
                <a:spcPts val="2000"/>
              </a:lnSpc>
            </a:pPr>
            <a:r>
              <a:rPr sz="1800" b="1">
                <a:solidFill>
                  <a:srgbClr val="123F67"/>
                </a:solidFill>
                <a:latin typeface="Arial"/>
              </a:rPr>
              <a:t>Gonadi</a:t>
            </a:r>
          </a:p>
        </p:txBody>
      </p:sp>
      <p:cxnSp>
        <p:nvCxnSpPr>
          <p:cNvPr id="81" name="Connector 80"/>
          <p:cNvCxnSpPr/>
          <p:nvPr/>
        </p:nvCxnSpPr>
        <p:spPr>
          <a:xfrm>
            <a:off x="1682496" y="6350508"/>
            <a:ext cx="182880" cy="0"/>
          </a:xfrm>
          <a:prstGeom prst="line">
            <a:avLst/>
          </a:prstGeom>
          <a:ln w="127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865376" y="6185916"/>
            <a:ext cx="0" cy="329184"/>
          </a:xfrm>
          <a:prstGeom prst="line">
            <a:avLst/>
          </a:prstGeom>
          <a:ln w="12700">
            <a:solidFill>
              <a:srgbClr val="087E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865376" y="6185916"/>
            <a:ext cx="192024" cy="0"/>
          </a:xfrm>
          <a:prstGeom prst="line">
            <a:avLst/>
          </a:prstGeom>
          <a:ln w="12700">
            <a:solidFill>
              <a:srgbClr val="087E8B"/>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865376" y="6515100"/>
            <a:ext cx="192024" cy="0"/>
          </a:xfrm>
          <a:prstGeom prst="line">
            <a:avLst/>
          </a:prstGeom>
          <a:ln w="12700">
            <a:solidFill>
              <a:srgbClr val="087E8B"/>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04088" y="3657600"/>
            <a:ext cx="10853928" cy="0"/>
          </a:xfrm>
          <a:prstGeom prst="line">
            <a:avLst/>
          </a:prstGeom>
          <a:ln w="6350">
            <a:solidFill>
              <a:srgbClr val="DEE8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04088" y="4297680"/>
            <a:ext cx="10853928" cy="0"/>
          </a:xfrm>
          <a:prstGeom prst="line">
            <a:avLst/>
          </a:prstGeom>
          <a:ln w="6350">
            <a:solidFill>
              <a:srgbClr val="DEE8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04088" y="4773168"/>
            <a:ext cx="10853928" cy="0"/>
          </a:xfrm>
          <a:prstGeom prst="line">
            <a:avLst/>
          </a:prstGeom>
          <a:ln w="6350">
            <a:solidFill>
              <a:srgbClr val="DEE8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04088" y="5431536"/>
            <a:ext cx="10853928" cy="0"/>
          </a:xfrm>
          <a:prstGeom prst="line">
            <a:avLst/>
          </a:prstGeom>
          <a:ln w="6350">
            <a:solidFill>
              <a:srgbClr val="DEE8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04088" y="5980176"/>
            <a:ext cx="10853928" cy="0"/>
          </a:xfrm>
          <a:prstGeom prst="line">
            <a:avLst/>
          </a:prstGeom>
          <a:ln w="6350">
            <a:solidFill>
              <a:srgbClr val="DEE8E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0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SISTEMA ENDOCRINO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lang="it-IT" sz="3000" b="1" dirty="0">
                <a:solidFill>
                  <a:srgbClr val="123F67"/>
                </a:solidFill>
                <a:latin typeface="Arial"/>
                <a:ea typeface="Arial"/>
                <a:cs typeface="Arial"/>
              </a:rPr>
              <a:t>Le Ghiandole: </a:t>
            </a:r>
            <a:r>
              <a:rPr sz="3000" b="1" dirty="0" err="1">
                <a:solidFill>
                  <a:srgbClr val="123F67"/>
                </a:solidFill>
                <a:latin typeface="Arial"/>
                <a:ea typeface="Arial"/>
                <a:cs typeface="Arial"/>
              </a:rPr>
              <a:t>Ipofisi</a:t>
            </a:r>
            <a:r>
              <a:rPr sz="3000" b="1" dirty="0">
                <a:solidFill>
                  <a:srgbClr val="123F67"/>
                </a:solidFill>
                <a:latin typeface="Arial"/>
                <a:ea typeface="Arial"/>
                <a:cs typeface="Arial"/>
              </a:rPr>
              <a:t>, </a:t>
            </a:r>
            <a:r>
              <a:rPr lang="it-IT" sz="3000" b="1" dirty="0">
                <a:solidFill>
                  <a:srgbClr val="123F67"/>
                </a:solidFill>
                <a:latin typeface="Arial"/>
                <a:ea typeface="Arial"/>
                <a:cs typeface="Arial"/>
              </a:rPr>
              <a:t>T</a:t>
            </a:r>
            <a:r>
              <a:rPr sz="3000" b="1" dirty="0" err="1">
                <a:solidFill>
                  <a:srgbClr val="123F67"/>
                </a:solidFill>
                <a:latin typeface="Arial"/>
                <a:ea typeface="Arial"/>
                <a:cs typeface="Arial"/>
              </a:rPr>
              <a:t>iroide</a:t>
            </a:r>
            <a:r>
              <a:rPr sz="3000" b="1" dirty="0">
                <a:solidFill>
                  <a:srgbClr val="123F67"/>
                </a:solidFill>
                <a:latin typeface="Arial"/>
                <a:ea typeface="Arial"/>
                <a:cs typeface="Arial"/>
              </a:rPr>
              <a:t>, </a:t>
            </a:r>
            <a:r>
              <a:rPr lang="it-IT" sz="3000" b="1" dirty="0">
                <a:solidFill>
                  <a:srgbClr val="123F67"/>
                </a:solidFill>
                <a:latin typeface="Arial"/>
                <a:ea typeface="Arial"/>
                <a:cs typeface="Arial"/>
              </a:rPr>
              <a:t>P</a:t>
            </a:r>
            <a:r>
              <a:rPr sz="3000" b="1" dirty="0" err="1">
                <a:solidFill>
                  <a:srgbClr val="123F67"/>
                </a:solidFill>
                <a:latin typeface="Arial"/>
                <a:ea typeface="Arial"/>
                <a:cs typeface="Arial"/>
              </a:rPr>
              <a:t>aratiroidi</a:t>
            </a:r>
            <a:r>
              <a:rPr sz="3000" b="1" dirty="0">
                <a:solidFill>
                  <a:srgbClr val="123F67"/>
                </a:solidFill>
                <a:latin typeface="Arial"/>
                <a:ea typeface="Arial"/>
                <a:cs typeface="Arial"/>
              </a:rPr>
              <a:t> e </a:t>
            </a:r>
            <a:r>
              <a:rPr lang="it-IT" sz="3000" b="1" dirty="0">
                <a:solidFill>
                  <a:srgbClr val="123F67"/>
                </a:solidFill>
                <a:latin typeface="Arial"/>
                <a:ea typeface="Arial"/>
                <a:cs typeface="Arial"/>
              </a:rPr>
              <a:t>S</a:t>
            </a:r>
            <a:r>
              <a:rPr sz="3000" b="1" dirty="0" err="1">
                <a:solidFill>
                  <a:srgbClr val="123F67"/>
                </a:solidFill>
                <a:latin typeface="Arial"/>
                <a:ea typeface="Arial"/>
                <a:cs typeface="Arial"/>
              </a:rPr>
              <a:t>urreni</a:t>
            </a:r>
            <a:endParaRPr sz="3225" b="1" dirty="0">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27</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Sedi e funzioni delle principali ghiandole endocrine</a:t>
            </a:r>
            <a:endParaRPr sz="1900" b="0">
              <a:solidFill>
                <a:srgbClr val="087E8B"/>
              </a:solidFill>
              <a:latin typeface="Arial"/>
            </a:endParaRPr>
          </a:p>
        </p:txBody>
      </p:sp>
      <p:pic>
        <p:nvPicPr>
          <p:cNvPr id="8" name="Picture 7" descr="Illustrazione anatomica schematica generata con IA: Ipofisi, tiroide, paratiroidi e surreni"/>
          <p:cNvPicPr>
            <a:picLocks noChangeAspect="1"/>
          </p:cNvPicPr>
          <p:nvPr/>
        </p:nvPicPr>
        <p:blipFill>
          <a:blip r:embed="rId3"/>
          <a:stretch>
            <a:fillRect/>
          </a:stretch>
        </p:blipFill>
        <p:spPr>
          <a:xfrm>
            <a:off x="802635" y="1920240"/>
            <a:ext cx="3886156" cy="3951732"/>
          </a:xfrm>
          <a:prstGeom prst="rect">
            <a:avLst/>
          </a:prstGeom>
        </p:spPr>
      </p:pic>
      <p:sp>
        <p:nvSpPr>
          <p:cNvPr id="10" name="Organ profile 10"/>
          <p:cNvSpPr txBox="1"/>
          <p:nvPr/>
        </p:nvSpPr>
        <p:spPr>
          <a:xfrm>
            <a:off x="5212080" y="1938528"/>
            <a:ext cx="633679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Ipofisi: alla base del cervello</a:t>
            </a:r>
          </a:p>
        </p:txBody>
      </p:sp>
      <p:sp>
        <p:nvSpPr>
          <p:cNvPr id="11" name="Organ profile 11"/>
          <p:cNvSpPr txBox="1"/>
          <p:nvPr/>
        </p:nvSpPr>
        <p:spPr>
          <a:xfrm>
            <a:off x="5212080" y="2331720"/>
            <a:ext cx="6336792" cy="585216"/>
          </a:xfrm>
          <a:prstGeom prst="rect">
            <a:avLst/>
          </a:prstGeom>
          <a:noFill/>
        </p:spPr>
        <p:txBody>
          <a:bodyPr wrap="square" lIns="0" tIns="0" rIns="0" bIns="0" anchor="t">
            <a:noAutofit/>
          </a:bodyPr>
          <a:lstStyle/>
          <a:p>
            <a:pPr algn="l">
              <a:lnSpc>
                <a:spcPct val="110000"/>
              </a:lnSpc>
              <a:spcBef>
                <a:spcPts val="0"/>
              </a:spcBef>
              <a:spcAft>
                <a:spcPts val="0"/>
              </a:spcAft>
            </a:pPr>
            <a:r>
              <a:rPr lang="it-IT" sz="1750" b="0">
                <a:solidFill>
                  <a:srgbClr val="193248"/>
                </a:solidFill>
                <a:latin typeface="Arial"/>
              </a:rPr>
              <a:t>Sotto il controllo dell’ipotalamo, regola crescita e altre ghiandole. </a:t>
            </a:r>
          </a:p>
        </p:txBody>
      </p:sp>
      <p:sp>
        <p:nvSpPr>
          <p:cNvPr id="12" name="Organ profile 12"/>
          <p:cNvSpPr txBox="1"/>
          <p:nvPr/>
        </p:nvSpPr>
        <p:spPr>
          <a:xfrm>
            <a:off x="5212080" y="2971800"/>
            <a:ext cx="633679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Tiroide: davanti alla trachea</a:t>
            </a:r>
            <a:endParaRPr lang="it-IT" sz="2000" b="1" dirty="0">
              <a:solidFill>
                <a:srgbClr val="123F67"/>
              </a:solidFill>
              <a:latin typeface="Arial"/>
            </a:endParaRPr>
          </a:p>
        </p:txBody>
      </p:sp>
      <p:sp>
        <p:nvSpPr>
          <p:cNvPr id="13" name="Organ profile 13"/>
          <p:cNvSpPr txBox="1"/>
          <p:nvPr/>
        </p:nvSpPr>
        <p:spPr>
          <a:xfrm>
            <a:off x="5212080" y="3364992"/>
            <a:ext cx="6336792" cy="585216"/>
          </a:xfrm>
          <a:prstGeom prst="rect">
            <a:avLst/>
          </a:prstGeom>
          <a:noFill/>
        </p:spPr>
        <p:txBody>
          <a:bodyPr wrap="square" lIns="0" tIns="0" rIns="0" bIns="0" anchor="t">
            <a:noAutofit/>
          </a:bodyPr>
          <a:lstStyle/>
          <a:p>
            <a:pPr algn="l">
              <a:lnSpc>
                <a:spcPct val="110000"/>
              </a:lnSpc>
              <a:spcBef>
                <a:spcPts val="0"/>
              </a:spcBef>
              <a:spcAft>
                <a:spcPts val="0"/>
              </a:spcAft>
            </a:pPr>
            <a:r>
              <a:rPr lang="it-IT" sz="1750" b="0">
                <a:solidFill>
                  <a:srgbClr val="193248"/>
                </a:solidFill>
                <a:latin typeface="Arial"/>
              </a:rPr>
              <a:t>Nel collo, ha due lobi uniti da un istmo. </a:t>
            </a:r>
          </a:p>
        </p:txBody>
      </p:sp>
      <p:sp>
        <p:nvSpPr>
          <p:cNvPr id="14" name="Organ profile 14"/>
          <p:cNvSpPr txBox="1"/>
          <p:nvPr/>
        </p:nvSpPr>
        <p:spPr>
          <a:xfrm>
            <a:off x="5212080" y="4005072"/>
            <a:ext cx="633679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dirty="0" err="1">
                <a:solidFill>
                  <a:srgbClr val="123F67"/>
                </a:solidFill>
                <a:latin typeface="Arial"/>
              </a:rPr>
              <a:t>Paratiroidi</a:t>
            </a:r>
            <a:r>
              <a:rPr sz="2000" b="1" dirty="0">
                <a:solidFill>
                  <a:srgbClr val="123F67"/>
                </a:solidFill>
                <a:latin typeface="Arial"/>
              </a:rPr>
              <a:t>: </a:t>
            </a:r>
            <a:r>
              <a:rPr sz="2000" b="1" dirty="0" err="1">
                <a:solidFill>
                  <a:srgbClr val="123F67"/>
                </a:solidFill>
                <a:latin typeface="Arial"/>
              </a:rPr>
              <a:t>dietro</a:t>
            </a:r>
            <a:r>
              <a:rPr sz="2000" b="1" dirty="0">
                <a:solidFill>
                  <a:srgbClr val="123F67"/>
                </a:solidFill>
                <a:latin typeface="Arial"/>
              </a:rPr>
              <a:t> la </a:t>
            </a:r>
            <a:r>
              <a:rPr lang="it-IT" sz="2000" b="1" dirty="0">
                <a:solidFill>
                  <a:srgbClr val="123F67"/>
                </a:solidFill>
                <a:latin typeface="Arial"/>
              </a:rPr>
              <a:t>t</a:t>
            </a:r>
            <a:r>
              <a:rPr sz="2000" b="1" dirty="0" err="1">
                <a:solidFill>
                  <a:srgbClr val="123F67"/>
                </a:solidFill>
                <a:latin typeface="Arial"/>
              </a:rPr>
              <a:t>iroide</a:t>
            </a:r>
            <a:endParaRPr sz="2000" b="1" dirty="0">
              <a:solidFill>
                <a:srgbClr val="123F67"/>
              </a:solidFill>
              <a:latin typeface="Arial"/>
            </a:endParaRPr>
          </a:p>
        </p:txBody>
      </p:sp>
      <p:sp>
        <p:nvSpPr>
          <p:cNvPr id="15" name="Organ profile 15"/>
          <p:cNvSpPr txBox="1"/>
          <p:nvPr/>
        </p:nvSpPr>
        <p:spPr>
          <a:xfrm>
            <a:off x="5212080" y="4398264"/>
            <a:ext cx="6336792" cy="585216"/>
          </a:xfrm>
          <a:prstGeom prst="rect">
            <a:avLst/>
          </a:prstGeom>
          <a:noFill/>
        </p:spPr>
        <p:txBody>
          <a:bodyPr wrap="square" lIns="0" tIns="0" rIns="0" bIns="0" anchor="t">
            <a:noAutofit/>
          </a:bodyPr>
          <a:lstStyle/>
          <a:p>
            <a:pPr algn="l">
              <a:lnSpc>
                <a:spcPct val="110000"/>
              </a:lnSpc>
              <a:spcBef>
                <a:spcPts val="0"/>
              </a:spcBef>
              <a:spcAft>
                <a:spcPts val="0"/>
              </a:spcAft>
            </a:pPr>
            <a:r>
              <a:rPr lang="it-IT" sz="1750" b="0">
                <a:solidFill>
                  <a:srgbClr val="193248"/>
                </a:solidFill>
                <a:latin typeface="Arial"/>
              </a:rPr>
              <a:t>Di solito sono quattro piccole ghiandole.</a:t>
            </a:r>
          </a:p>
        </p:txBody>
      </p:sp>
      <p:sp>
        <p:nvSpPr>
          <p:cNvPr id="16" name="Organ profile 16"/>
          <p:cNvSpPr txBox="1"/>
          <p:nvPr/>
        </p:nvSpPr>
        <p:spPr>
          <a:xfrm>
            <a:off x="5212080" y="5038344"/>
            <a:ext cx="633679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dirty="0" err="1">
                <a:solidFill>
                  <a:srgbClr val="123F67"/>
                </a:solidFill>
                <a:latin typeface="Arial"/>
              </a:rPr>
              <a:t>Surreni</a:t>
            </a:r>
            <a:r>
              <a:rPr sz="2000" b="1" dirty="0">
                <a:solidFill>
                  <a:srgbClr val="123F67"/>
                </a:solidFill>
                <a:latin typeface="Arial"/>
              </a:rPr>
              <a:t>: sopra </a:t>
            </a:r>
            <a:r>
              <a:rPr sz="2000" b="1" dirty="0" err="1">
                <a:solidFill>
                  <a:srgbClr val="123F67"/>
                </a:solidFill>
                <a:latin typeface="Arial"/>
              </a:rPr>
              <a:t>i</a:t>
            </a:r>
            <a:r>
              <a:rPr sz="2000" b="1" dirty="0">
                <a:solidFill>
                  <a:srgbClr val="123F67"/>
                </a:solidFill>
                <a:latin typeface="Arial"/>
              </a:rPr>
              <a:t> </a:t>
            </a:r>
            <a:r>
              <a:rPr lang="it-IT" sz="2000" b="1" dirty="0">
                <a:solidFill>
                  <a:srgbClr val="123F67"/>
                </a:solidFill>
                <a:latin typeface="Arial"/>
              </a:rPr>
              <a:t>r</a:t>
            </a:r>
            <a:r>
              <a:rPr sz="2000" b="1" dirty="0" err="1">
                <a:solidFill>
                  <a:srgbClr val="123F67"/>
                </a:solidFill>
                <a:latin typeface="Arial"/>
              </a:rPr>
              <a:t>eni</a:t>
            </a:r>
            <a:endParaRPr sz="2000" b="1" dirty="0">
              <a:solidFill>
                <a:srgbClr val="123F67"/>
              </a:solidFill>
              <a:latin typeface="Arial"/>
            </a:endParaRPr>
          </a:p>
        </p:txBody>
      </p:sp>
      <p:sp>
        <p:nvSpPr>
          <p:cNvPr id="17" name="Organ profile 17"/>
          <p:cNvSpPr txBox="1"/>
          <p:nvPr/>
        </p:nvSpPr>
        <p:spPr>
          <a:xfrm>
            <a:off x="5212080" y="5431536"/>
            <a:ext cx="6336792" cy="841248"/>
          </a:xfrm>
          <a:prstGeom prst="rect">
            <a:avLst/>
          </a:prstGeom>
          <a:noFill/>
        </p:spPr>
        <p:txBody>
          <a:bodyPr wrap="square" lIns="0" tIns="0" rIns="0" bIns="0" anchor="t">
            <a:noAutofit/>
          </a:bodyPr>
          <a:lstStyle/>
          <a:p>
            <a:pPr marL="50800">
              <a:lnSpc>
                <a:spcPct val="110000"/>
              </a:lnSpc>
              <a:spcBef>
                <a:spcPts val="0"/>
              </a:spcBef>
              <a:spcAft>
                <a:spcPts val="0"/>
              </a:spcAft>
            </a:pPr>
            <a:r>
              <a:rPr lang="it-IT" sz="1750" b="0">
                <a:solidFill>
                  <a:srgbClr val="193248"/>
                </a:solidFill>
                <a:latin typeface="Arial"/>
              </a:rPr>
              <a:t>sono divisi anatomicamente e funzionalmente in due porzioni principali: la </a:t>
            </a:r>
            <a:r>
              <a:rPr lang="it-IT" sz="1750" b="1">
                <a:solidFill>
                  <a:srgbClr val="193248"/>
                </a:solidFill>
                <a:latin typeface="Arial"/>
              </a:rPr>
              <a:t>corticale</a:t>
            </a:r>
            <a:r>
              <a:rPr lang="it-IT" sz="1750" b="0">
                <a:solidFill>
                  <a:srgbClr val="193248"/>
                </a:solidFill>
                <a:latin typeface="Arial"/>
              </a:rPr>
              <a:t> (esterna) e la </a:t>
            </a:r>
            <a:r>
              <a:rPr lang="it-IT" sz="1750" b="1">
                <a:solidFill>
                  <a:srgbClr val="193248"/>
                </a:solidFill>
                <a:latin typeface="Arial"/>
              </a:rPr>
              <a:t>midollare</a:t>
            </a:r>
            <a:r>
              <a:rPr lang="it-IT" sz="1750" b="0">
                <a:solidFill>
                  <a:srgbClr val="193248"/>
                </a:solidFill>
                <a:latin typeface="Arial"/>
              </a:rPr>
              <a:t> (interna)</a:t>
            </a:r>
          </a:p>
        </p:txBody>
      </p:sp>
      <p:sp>
        <p:nvSpPr>
          <p:cNvPr id="18" name="Organ profile 18"/>
          <p:cNvSpPr txBox="1"/>
          <p:nvPr/>
        </p:nvSpPr>
        <p:spPr>
          <a:xfrm>
            <a:off x="976371" y="2662038"/>
            <a:ext cx="310896" cy="310896"/>
          </a:xfrm>
          <a:prstGeom prst="ellipse">
            <a:avLst/>
          </a:prstGeom>
          <a:solidFill>
            <a:srgbClr val="123F67"/>
          </a:solidFill>
          <a:ln>
            <a:noFill/>
          </a:ln>
        </p:spPr>
        <p:txBody>
          <a:bodyPr wrap="square" lIns="0" tIns="0" rIns="0" bIns="0" anchor="ctr">
            <a:noAutofit/>
          </a:bodyPr>
          <a:lstStyle/>
          <a:p>
            <a:pPr algn="ctr">
              <a:lnSpc>
                <a:spcPct val="100000"/>
              </a:lnSpc>
              <a:spcBef>
                <a:spcPts val="0"/>
              </a:spcBef>
              <a:spcAft>
                <a:spcPts val="0"/>
              </a:spcAft>
            </a:pPr>
            <a:r>
              <a:rPr lang="it-IT" sz="1600" b="1" dirty="0">
                <a:solidFill>
                  <a:srgbClr val="FFFFFF"/>
                </a:solidFill>
                <a:latin typeface="Arial"/>
              </a:rPr>
              <a:t>1</a:t>
            </a:r>
          </a:p>
        </p:txBody>
      </p:sp>
      <p:sp>
        <p:nvSpPr>
          <p:cNvPr id="19" name="Organ profile 19"/>
          <p:cNvSpPr txBox="1"/>
          <p:nvPr/>
        </p:nvSpPr>
        <p:spPr>
          <a:xfrm>
            <a:off x="2649646" y="1938528"/>
            <a:ext cx="310896" cy="310896"/>
          </a:xfrm>
          <a:prstGeom prst="ellipse">
            <a:avLst/>
          </a:prstGeom>
          <a:solidFill>
            <a:srgbClr val="123F67"/>
          </a:solidFill>
          <a:ln>
            <a:noFill/>
          </a:ln>
        </p:spPr>
        <p:txBody>
          <a:bodyPr wrap="square" lIns="0" tIns="0" rIns="0" bIns="0" anchor="ctr">
            <a:noAutofit/>
          </a:bodyPr>
          <a:lstStyle/>
          <a:p>
            <a:pPr algn="ctr">
              <a:lnSpc>
                <a:spcPct val="100000"/>
              </a:lnSpc>
              <a:spcBef>
                <a:spcPts val="0"/>
              </a:spcBef>
              <a:spcAft>
                <a:spcPts val="0"/>
              </a:spcAft>
            </a:pPr>
            <a:r>
              <a:rPr lang="it-IT" sz="1600" b="1">
                <a:solidFill>
                  <a:srgbClr val="FFFFFF"/>
                </a:solidFill>
                <a:latin typeface="Arial"/>
              </a:rPr>
              <a:t>2</a:t>
            </a:r>
          </a:p>
        </p:txBody>
      </p:sp>
      <p:sp>
        <p:nvSpPr>
          <p:cNvPr id="20" name="Organ profile 20"/>
          <p:cNvSpPr txBox="1"/>
          <p:nvPr/>
        </p:nvSpPr>
        <p:spPr>
          <a:xfrm>
            <a:off x="1287267" y="3798417"/>
            <a:ext cx="310896" cy="310896"/>
          </a:xfrm>
          <a:prstGeom prst="ellipse">
            <a:avLst/>
          </a:prstGeom>
          <a:solidFill>
            <a:srgbClr val="123F67"/>
          </a:solidFill>
          <a:ln>
            <a:noFill/>
          </a:ln>
        </p:spPr>
        <p:txBody>
          <a:bodyPr wrap="square" lIns="0" tIns="0" rIns="0" bIns="0" anchor="ctr">
            <a:noAutofit/>
          </a:bodyPr>
          <a:lstStyle/>
          <a:p>
            <a:pPr algn="ctr">
              <a:lnSpc>
                <a:spcPct val="100000"/>
              </a:lnSpc>
              <a:spcBef>
                <a:spcPts val="0"/>
              </a:spcBef>
              <a:spcAft>
                <a:spcPts val="0"/>
              </a:spcAft>
            </a:pPr>
            <a:r>
              <a:rPr lang="it-IT" sz="1600" b="1" dirty="0">
                <a:solidFill>
                  <a:srgbClr val="FFFFFF"/>
                </a:solidFill>
                <a:latin typeface="Arial"/>
              </a:rPr>
              <a:t>3</a:t>
            </a:r>
          </a:p>
        </p:txBody>
      </p:sp>
      <p:sp>
        <p:nvSpPr>
          <p:cNvPr id="21" name="Organ profile 21"/>
          <p:cNvSpPr txBox="1"/>
          <p:nvPr/>
        </p:nvSpPr>
        <p:spPr>
          <a:xfrm>
            <a:off x="3485988" y="4079562"/>
            <a:ext cx="310896" cy="310896"/>
          </a:xfrm>
          <a:prstGeom prst="ellipse">
            <a:avLst/>
          </a:prstGeom>
          <a:solidFill>
            <a:srgbClr val="123F67"/>
          </a:solidFill>
          <a:ln>
            <a:noFill/>
          </a:ln>
        </p:spPr>
        <p:txBody>
          <a:bodyPr wrap="square" lIns="0" tIns="0" rIns="0" bIns="0" anchor="ctr">
            <a:noAutofit/>
          </a:bodyPr>
          <a:lstStyle/>
          <a:p>
            <a:pPr algn="ctr">
              <a:lnSpc>
                <a:spcPct val="100000"/>
              </a:lnSpc>
              <a:spcBef>
                <a:spcPts val="0"/>
              </a:spcBef>
              <a:spcAft>
                <a:spcPts val="0"/>
              </a:spcAft>
            </a:pPr>
            <a:r>
              <a:rPr lang="it-IT" sz="1600" b="1" dirty="0">
                <a:solidFill>
                  <a:srgbClr val="FFFFFF"/>
                </a:solidFill>
                <a:latin typeface="Arial"/>
              </a:rPr>
              <a:t>4</a:t>
            </a:r>
          </a:p>
        </p:txBody>
      </p:sp>
      <p:sp>
        <p:nvSpPr>
          <p:cNvPr id="23" name="Oval 22"/>
          <p:cNvSpPr/>
          <p:nvPr/>
        </p:nvSpPr>
        <p:spPr>
          <a:xfrm>
            <a:off x="4800600" y="1938528"/>
            <a:ext cx="310896" cy="31089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600" b="1">
                <a:solidFill>
                  <a:srgbClr val="FFFFFF"/>
                </a:solidFill>
                <a:latin typeface="Arial"/>
              </a:rPr>
              <a:t>1</a:t>
            </a:r>
          </a:p>
        </p:txBody>
      </p:sp>
      <p:sp>
        <p:nvSpPr>
          <p:cNvPr id="24" name="Oval 23"/>
          <p:cNvSpPr/>
          <p:nvPr/>
        </p:nvSpPr>
        <p:spPr>
          <a:xfrm>
            <a:off x="4800600" y="2971800"/>
            <a:ext cx="310896" cy="31089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600" b="1">
                <a:solidFill>
                  <a:srgbClr val="FFFFFF"/>
                </a:solidFill>
                <a:latin typeface="Arial"/>
              </a:rPr>
              <a:t>2</a:t>
            </a:r>
          </a:p>
        </p:txBody>
      </p:sp>
      <p:sp>
        <p:nvSpPr>
          <p:cNvPr id="25" name="Oval 24"/>
          <p:cNvSpPr/>
          <p:nvPr/>
        </p:nvSpPr>
        <p:spPr>
          <a:xfrm>
            <a:off x="4800600" y="4005072"/>
            <a:ext cx="310896" cy="31089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600" b="1">
                <a:solidFill>
                  <a:srgbClr val="FFFFFF"/>
                </a:solidFill>
                <a:latin typeface="Arial"/>
              </a:rPr>
              <a:t>3</a:t>
            </a:r>
          </a:p>
        </p:txBody>
      </p:sp>
      <p:sp>
        <p:nvSpPr>
          <p:cNvPr id="26" name="Oval 25"/>
          <p:cNvSpPr/>
          <p:nvPr/>
        </p:nvSpPr>
        <p:spPr>
          <a:xfrm>
            <a:off x="4800600" y="5038344"/>
            <a:ext cx="310896" cy="310896"/>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600" b="1">
                <a:solidFill>
                  <a:srgbClr val="FFFFFF"/>
                </a:solidFill>
                <a:latin typeface="Arial"/>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 sistema endocrino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28</a:t>
            </a:r>
            <a:endParaRPr sz="1350" b="1">
              <a:solidFill>
                <a:srgbClr val="123F67"/>
              </a:solidFill>
              <a:latin typeface="Arial"/>
              <a:ea typeface="Arial"/>
              <a:cs typeface="Arial"/>
            </a:endParaRPr>
          </a:p>
        </p:txBody>
      </p:sp>
      <p:sp>
        <p:nvSpPr>
          <p:cNvPr id="25" name="TextBox 24"/>
          <p:cNvSpPr txBox="1"/>
          <p:nvPr/>
        </p:nvSpPr>
        <p:spPr>
          <a:xfrm>
            <a:off x="704850" y="1508760"/>
            <a:ext cx="5181600" cy="246888"/>
          </a:xfrm>
          <a:prstGeom prst="rect">
            <a:avLst/>
          </a:prstGeom>
          <a:noFill/>
        </p:spPr>
        <p:txBody>
          <a:bodyPr wrap="square" lIns="0" tIns="0" rIns="0" bIns="0">
            <a:noAutofit/>
          </a:bodyPr>
          <a:lstStyle/>
          <a:p>
            <a:pPr>
              <a:lnSpc>
                <a:spcPts val="1600"/>
              </a:lnSpc>
            </a:pPr>
            <a:r>
              <a:rPr sz="1300" b="1">
                <a:solidFill>
                  <a:srgbClr val="087E8B"/>
                </a:solidFill>
                <a:latin typeface="Arial"/>
              </a:rPr>
              <a:t>PANCREAS</a:t>
            </a:r>
          </a:p>
        </p:txBody>
      </p:sp>
      <p:sp>
        <p:nvSpPr>
          <p:cNvPr id="26" name="TextBox 25"/>
          <p:cNvSpPr txBox="1"/>
          <p:nvPr/>
        </p:nvSpPr>
        <p:spPr>
          <a:xfrm>
            <a:off x="704850" y="1783080"/>
            <a:ext cx="5181600" cy="603504"/>
          </a:xfrm>
          <a:prstGeom prst="rect">
            <a:avLst/>
          </a:prstGeom>
          <a:noFill/>
        </p:spPr>
        <p:txBody>
          <a:bodyPr wrap="square" lIns="0" tIns="0" rIns="0" bIns="0">
            <a:noAutofit/>
          </a:bodyPr>
          <a:lstStyle/>
          <a:p>
            <a:pPr>
              <a:lnSpc>
                <a:spcPct val="100000"/>
              </a:lnSpc>
              <a:spcAft>
                <a:spcPts val="300"/>
              </a:spcAft>
            </a:pPr>
            <a:r>
              <a:rPr lang="it-IT" sz="2200" b="1">
                <a:solidFill>
                  <a:srgbClr val="123F67"/>
                </a:solidFill>
                <a:latin typeface="Arial"/>
              </a:rPr>
              <a:t>Diabete di tipo 1</a:t>
            </a:r>
          </a:p>
          <a:p>
            <a:pPr>
              <a:lnSpc>
                <a:spcPct val="100000"/>
              </a:lnSpc>
              <a:spcAft>
                <a:spcPts val="0"/>
              </a:spcAft>
            </a:pPr>
            <a:r>
              <a:rPr lang="it-IT" sz="1750" b="0">
                <a:solidFill>
                  <a:srgbClr val="087E8B"/>
                </a:solidFill>
                <a:latin typeface="Arial"/>
              </a:rPr>
              <a:t>(insulina)</a:t>
            </a:r>
          </a:p>
        </p:txBody>
      </p:sp>
      <p:sp>
        <p:nvSpPr>
          <p:cNvPr id="27" name="TextBox 26"/>
          <p:cNvSpPr txBox="1"/>
          <p:nvPr/>
        </p:nvSpPr>
        <p:spPr>
          <a:xfrm>
            <a:off x="704850" y="2441448"/>
            <a:ext cx="5181600" cy="896112"/>
          </a:xfrm>
          <a:prstGeom prst="rect">
            <a:avLst/>
          </a:prstGeom>
          <a:noFill/>
        </p:spPr>
        <p:txBody>
          <a:bodyPr wrap="square" lIns="0" tIns="0" rIns="0" bIns="0">
            <a:noAutofit/>
          </a:bodyPr>
          <a:lstStyle/>
          <a:p>
            <a:pPr>
              <a:lnSpc>
                <a:spcPts val="2100"/>
              </a:lnSpc>
            </a:pPr>
            <a:r>
              <a:rPr lang="it-IT" sz="1800" b="0">
                <a:solidFill>
                  <a:srgbClr val="193248"/>
                </a:solidFill>
                <a:latin typeface="Arial"/>
              </a:rPr>
              <a:t>Distruzione autoimmune delle cellule pancreatiche: insulina scarsa o assente. Predisposizione genetica e possibili fattori ambientali.</a:t>
            </a:r>
          </a:p>
        </p:txBody>
      </p:sp>
      <p:sp>
        <p:nvSpPr>
          <p:cNvPr id="28" name="TextBox 27"/>
          <p:cNvSpPr txBox="1"/>
          <p:nvPr/>
        </p:nvSpPr>
        <p:spPr>
          <a:xfrm>
            <a:off x="6362700" y="1508760"/>
            <a:ext cx="5181600" cy="246888"/>
          </a:xfrm>
          <a:prstGeom prst="rect">
            <a:avLst/>
          </a:prstGeom>
          <a:noFill/>
        </p:spPr>
        <p:txBody>
          <a:bodyPr wrap="square" lIns="0" tIns="0" rIns="0" bIns="0">
            <a:noAutofit/>
          </a:bodyPr>
          <a:lstStyle/>
          <a:p>
            <a:pPr>
              <a:lnSpc>
                <a:spcPts val="1600"/>
              </a:lnSpc>
            </a:pPr>
            <a:r>
              <a:rPr sz="1300" b="1">
                <a:solidFill>
                  <a:srgbClr val="087E8B"/>
                </a:solidFill>
                <a:latin typeface="Arial"/>
              </a:rPr>
              <a:t>PANCREAS</a:t>
            </a:r>
          </a:p>
        </p:txBody>
      </p:sp>
      <p:sp>
        <p:nvSpPr>
          <p:cNvPr id="29" name="TextBox 28"/>
          <p:cNvSpPr txBox="1"/>
          <p:nvPr/>
        </p:nvSpPr>
        <p:spPr>
          <a:xfrm>
            <a:off x="6362700" y="1783080"/>
            <a:ext cx="5181600" cy="603504"/>
          </a:xfrm>
          <a:prstGeom prst="rect">
            <a:avLst/>
          </a:prstGeom>
          <a:noFill/>
        </p:spPr>
        <p:txBody>
          <a:bodyPr wrap="square" lIns="0" tIns="0" rIns="0" bIns="0">
            <a:noAutofit/>
          </a:bodyPr>
          <a:lstStyle/>
          <a:p>
            <a:pPr>
              <a:lnSpc>
                <a:spcPct val="100000"/>
              </a:lnSpc>
              <a:spcAft>
                <a:spcPts val="300"/>
              </a:spcAft>
            </a:pPr>
            <a:r>
              <a:rPr lang="it-IT" sz="2200" b="1" dirty="0">
                <a:solidFill>
                  <a:srgbClr val="123F67"/>
                </a:solidFill>
                <a:latin typeface="Arial"/>
              </a:rPr>
              <a:t>Diabete di tipo 2</a:t>
            </a:r>
          </a:p>
          <a:p>
            <a:pPr>
              <a:lnSpc>
                <a:spcPct val="100000"/>
              </a:lnSpc>
              <a:spcAft>
                <a:spcPts val="0"/>
              </a:spcAft>
            </a:pPr>
            <a:r>
              <a:rPr lang="it-IT" sz="1750" b="0" dirty="0">
                <a:solidFill>
                  <a:srgbClr val="087E8B"/>
                </a:solidFill>
                <a:latin typeface="Arial"/>
              </a:rPr>
              <a:t>(metformina)</a:t>
            </a:r>
          </a:p>
        </p:txBody>
      </p:sp>
      <p:sp>
        <p:nvSpPr>
          <p:cNvPr id="30" name="TextBox 29"/>
          <p:cNvSpPr txBox="1"/>
          <p:nvPr/>
        </p:nvSpPr>
        <p:spPr>
          <a:xfrm>
            <a:off x="6362700" y="2441448"/>
            <a:ext cx="5181600" cy="896112"/>
          </a:xfrm>
          <a:prstGeom prst="rect">
            <a:avLst/>
          </a:prstGeom>
          <a:noFill/>
        </p:spPr>
        <p:txBody>
          <a:bodyPr wrap="square" lIns="0" tIns="0" rIns="0" bIns="0">
            <a:noAutofit/>
          </a:bodyPr>
          <a:lstStyle/>
          <a:p>
            <a:pPr>
              <a:lnSpc>
                <a:spcPts val="2100"/>
              </a:lnSpc>
            </a:pPr>
            <a:r>
              <a:rPr lang="it-IT" sz="1800" b="0">
                <a:solidFill>
                  <a:srgbClr val="193248"/>
                </a:solidFill>
                <a:latin typeface="Arial"/>
              </a:rPr>
              <a:t>Resistenza all’insulina e produzione insufficiente a compensarla. Favorito da predisposizione genetica, sovrappeso e sedentarietà.</a:t>
            </a:r>
          </a:p>
        </p:txBody>
      </p:sp>
      <p:sp>
        <p:nvSpPr>
          <p:cNvPr id="31" name="TextBox 30"/>
          <p:cNvSpPr txBox="1"/>
          <p:nvPr/>
        </p:nvSpPr>
        <p:spPr>
          <a:xfrm>
            <a:off x="704850" y="3337560"/>
            <a:ext cx="5181600" cy="246888"/>
          </a:xfrm>
          <a:prstGeom prst="rect">
            <a:avLst/>
          </a:prstGeom>
          <a:noFill/>
        </p:spPr>
        <p:txBody>
          <a:bodyPr wrap="square" lIns="0" tIns="0" rIns="0" bIns="0">
            <a:noAutofit/>
          </a:bodyPr>
          <a:lstStyle/>
          <a:p>
            <a:pPr>
              <a:lnSpc>
                <a:spcPts val="1600"/>
              </a:lnSpc>
            </a:pPr>
            <a:r>
              <a:rPr sz="1300" b="1" dirty="0">
                <a:solidFill>
                  <a:srgbClr val="087E8B"/>
                </a:solidFill>
                <a:latin typeface="Arial"/>
              </a:rPr>
              <a:t>TIROIDE</a:t>
            </a:r>
          </a:p>
        </p:txBody>
      </p:sp>
      <p:sp>
        <p:nvSpPr>
          <p:cNvPr id="32" name="TextBox 31"/>
          <p:cNvSpPr txBox="1"/>
          <p:nvPr/>
        </p:nvSpPr>
        <p:spPr>
          <a:xfrm>
            <a:off x="704850" y="3611880"/>
            <a:ext cx="5181600" cy="603504"/>
          </a:xfrm>
          <a:prstGeom prst="rect">
            <a:avLst/>
          </a:prstGeom>
          <a:noFill/>
        </p:spPr>
        <p:txBody>
          <a:bodyPr wrap="square" lIns="0" tIns="0" rIns="0" bIns="0">
            <a:noAutofit/>
          </a:bodyPr>
          <a:lstStyle/>
          <a:p>
            <a:pPr>
              <a:lnSpc>
                <a:spcPct val="100000"/>
              </a:lnSpc>
              <a:spcAft>
                <a:spcPts val="300"/>
              </a:spcAft>
            </a:pPr>
            <a:r>
              <a:rPr lang="it-IT" sz="2200" b="1" dirty="0">
                <a:solidFill>
                  <a:srgbClr val="123F67"/>
                </a:solidFill>
                <a:latin typeface="Arial"/>
              </a:rPr>
              <a:t>Ipotiroidismo</a:t>
            </a:r>
          </a:p>
          <a:p>
            <a:pPr>
              <a:lnSpc>
                <a:spcPct val="100000"/>
              </a:lnSpc>
              <a:spcAft>
                <a:spcPts val="0"/>
              </a:spcAft>
            </a:pPr>
            <a:r>
              <a:rPr lang="it-IT" sz="1750" b="0" dirty="0">
                <a:solidFill>
                  <a:srgbClr val="087E8B"/>
                </a:solidFill>
                <a:latin typeface="Arial"/>
              </a:rPr>
              <a:t>(</a:t>
            </a:r>
            <a:r>
              <a:rPr lang="it-IT" sz="1750" b="0" dirty="0" err="1">
                <a:solidFill>
                  <a:srgbClr val="087E8B"/>
                </a:solidFill>
                <a:latin typeface="Arial"/>
              </a:rPr>
              <a:t>levotiroxina</a:t>
            </a:r>
            <a:r>
              <a:rPr lang="it-IT" sz="1750" b="0" dirty="0">
                <a:solidFill>
                  <a:srgbClr val="087E8B"/>
                </a:solidFill>
                <a:latin typeface="Arial"/>
              </a:rPr>
              <a:t>)</a:t>
            </a:r>
          </a:p>
        </p:txBody>
      </p:sp>
      <p:sp>
        <p:nvSpPr>
          <p:cNvPr id="33" name="TextBox 32"/>
          <p:cNvSpPr txBox="1"/>
          <p:nvPr/>
        </p:nvSpPr>
        <p:spPr>
          <a:xfrm>
            <a:off x="704850" y="4270248"/>
            <a:ext cx="5181600" cy="585216"/>
          </a:xfrm>
          <a:prstGeom prst="rect">
            <a:avLst/>
          </a:prstGeom>
          <a:noFill/>
        </p:spPr>
        <p:txBody>
          <a:bodyPr wrap="square" lIns="0" tIns="0" rIns="0" bIns="0">
            <a:noAutofit/>
          </a:bodyPr>
          <a:lstStyle/>
          <a:p>
            <a:pPr>
              <a:lnSpc>
                <a:spcPts val="2100"/>
              </a:lnSpc>
            </a:pPr>
            <a:r>
              <a:rPr lang="it-IT" sz="1800" b="0" dirty="0">
                <a:solidFill>
                  <a:srgbClr val="193248"/>
                </a:solidFill>
                <a:latin typeface="Arial"/>
              </a:rPr>
              <a:t>Carenza di ormoni tiroidei, con rallentamento dei processi metabolici.</a:t>
            </a:r>
          </a:p>
        </p:txBody>
      </p:sp>
      <p:sp>
        <p:nvSpPr>
          <p:cNvPr id="34" name="TextBox 33"/>
          <p:cNvSpPr txBox="1"/>
          <p:nvPr/>
        </p:nvSpPr>
        <p:spPr>
          <a:xfrm>
            <a:off x="6362700" y="3337560"/>
            <a:ext cx="5181600" cy="246888"/>
          </a:xfrm>
          <a:prstGeom prst="rect">
            <a:avLst/>
          </a:prstGeom>
          <a:noFill/>
        </p:spPr>
        <p:txBody>
          <a:bodyPr wrap="square" lIns="0" tIns="0" rIns="0" bIns="0">
            <a:noAutofit/>
          </a:bodyPr>
          <a:lstStyle/>
          <a:p>
            <a:pPr>
              <a:lnSpc>
                <a:spcPts val="1600"/>
              </a:lnSpc>
            </a:pPr>
            <a:r>
              <a:rPr sz="1300" b="1">
                <a:solidFill>
                  <a:srgbClr val="087E8B"/>
                </a:solidFill>
                <a:latin typeface="Arial"/>
              </a:rPr>
              <a:t>TIROIDE</a:t>
            </a:r>
          </a:p>
        </p:txBody>
      </p:sp>
      <p:sp>
        <p:nvSpPr>
          <p:cNvPr id="35" name="TextBox 34"/>
          <p:cNvSpPr txBox="1"/>
          <p:nvPr/>
        </p:nvSpPr>
        <p:spPr>
          <a:xfrm>
            <a:off x="6362700" y="3611880"/>
            <a:ext cx="5181600" cy="603504"/>
          </a:xfrm>
          <a:prstGeom prst="rect">
            <a:avLst/>
          </a:prstGeom>
          <a:noFill/>
        </p:spPr>
        <p:txBody>
          <a:bodyPr wrap="square" lIns="0" tIns="0" rIns="0" bIns="0">
            <a:noAutofit/>
          </a:bodyPr>
          <a:lstStyle/>
          <a:p>
            <a:pPr>
              <a:lnSpc>
                <a:spcPct val="100000"/>
              </a:lnSpc>
              <a:spcAft>
                <a:spcPts val="300"/>
              </a:spcAft>
            </a:pPr>
            <a:r>
              <a:rPr lang="it-IT" sz="2200" b="1" dirty="0">
                <a:solidFill>
                  <a:srgbClr val="123F67"/>
                </a:solidFill>
                <a:latin typeface="Arial"/>
              </a:rPr>
              <a:t>Ipertiroidismo</a:t>
            </a:r>
          </a:p>
          <a:p>
            <a:pPr>
              <a:lnSpc>
                <a:spcPct val="100000"/>
              </a:lnSpc>
              <a:spcAft>
                <a:spcPts val="0"/>
              </a:spcAft>
            </a:pPr>
            <a:r>
              <a:rPr lang="it-IT" sz="1750" b="0" dirty="0">
                <a:solidFill>
                  <a:srgbClr val="087E8B"/>
                </a:solidFill>
                <a:latin typeface="Arial"/>
              </a:rPr>
              <a:t>(</a:t>
            </a:r>
            <a:r>
              <a:rPr lang="it-IT" sz="1750" b="0" dirty="0" err="1">
                <a:solidFill>
                  <a:srgbClr val="087E8B"/>
                </a:solidFill>
                <a:latin typeface="Arial"/>
              </a:rPr>
              <a:t>metimazolo</a:t>
            </a:r>
            <a:r>
              <a:rPr lang="it-IT" sz="1750" b="0" dirty="0">
                <a:solidFill>
                  <a:srgbClr val="087E8B"/>
                </a:solidFill>
                <a:latin typeface="Arial"/>
              </a:rPr>
              <a:t>)</a:t>
            </a:r>
          </a:p>
        </p:txBody>
      </p:sp>
      <p:sp>
        <p:nvSpPr>
          <p:cNvPr id="36" name="TextBox 35"/>
          <p:cNvSpPr txBox="1"/>
          <p:nvPr/>
        </p:nvSpPr>
        <p:spPr>
          <a:xfrm>
            <a:off x="6362700" y="4270248"/>
            <a:ext cx="5181600" cy="585216"/>
          </a:xfrm>
          <a:prstGeom prst="rect">
            <a:avLst/>
          </a:prstGeom>
          <a:noFill/>
        </p:spPr>
        <p:txBody>
          <a:bodyPr wrap="square" lIns="0" tIns="0" rIns="0" bIns="0">
            <a:noAutofit/>
          </a:bodyPr>
          <a:lstStyle/>
          <a:p>
            <a:pPr>
              <a:lnSpc>
                <a:spcPts val="2100"/>
              </a:lnSpc>
            </a:pPr>
            <a:r>
              <a:rPr lang="it-IT" sz="1800" b="0">
                <a:solidFill>
                  <a:srgbClr val="193248"/>
                </a:solidFill>
                <a:latin typeface="Arial"/>
              </a:rPr>
              <a:t>La tiroide produce troppi ormoni, con aumento dell’attività metabolica.</a:t>
            </a:r>
          </a:p>
        </p:txBody>
      </p:sp>
      <p:sp>
        <p:nvSpPr>
          <p:cNvPr id="37" name="Diabete insipido heading"/>
          <p:cNvSpPr txBox="1"/>
          <p:nvPr/>
        </p:nvSpPr>
        <p:spPr>
          <a:xfrm>
            <a:off x="705002" y="5449824"/>
            <a:ext cx="2834640" cy="356616"/>
          </a:xfrm>
          <a:prstGeom prst="rect">
            <a:avLst/>
          </a:prstGeom>
          <a:noFill/>
        </p:spPr>
        <p:txBody>
          <a:bodyPr wrap="square" lIns="0" tIns="0" rIns="0" bIns="0">
            <a:noAutofit/>
          </a:bodyPr>
          <a:lstStyle/>
          <a:p>
            <a:pPr>
              <a:lnSpc>
                <a:spcPct val="100000"/>
              </a:lnSpc>
              <a:spcAft>
                <a:spcPts val="300"/>
              </a:spcAft>
            </a:pPr>
            <a:r>
              <a:rPr lang="it-IT" sz="2200" b="1" dirty="0">
                <a:solidFill>
                  <a:srgbClr val="123F67"/>
                </a:solidFill>
                <a:latin typeface="Arial"/>
              </a:rPr>
              <a:t>Diabete insipido</a:t>
            </a:r>
          </a:p>
        </p:txBody>
      </p:sp>
      <p:sp>
        <p:nvSpPr>
          <p:cNvPr id="38" name="Diabete insipido explanation"/>
          <p:cNvSpPr txBox="1"/>
          <p:nvPr/>
        </p:nvSpPr>
        <p:spPr>
          <a:xfrm>
            <a:off x="3822192" y="5470467"/>
            <a:ext cx="4709160" cy="1261872"/>
          </a:xfrm>
          <a:prstGeom prst="rect">
            <a:avLst/>
          </a:prstGeom>
          <a:noFill/>
        </p:spPr>
        <p:txBody>
          <a:bodyPr wrap="square" lIns="0" tIns="0" rIns="0" bIns="0">
            <a:noAutofit/>
          </a:bodyPr>
          <a:lstStyle/>
          <a:p>
            <a:pPr marL="177800" indent="-139700">
              <a:lnSpc>
                <a:spcPts val="2100"/>
              </a:lnSpc>
              <a:spcBef>
                <a:spcPts val="0"/>
              </a:spcBef>
              <a:spcAft>
                <a:spcPts val="800"/>
              </a:spcAft>
              <a:buChar char="•"/>
            </a:pPr>
            <a:r>
              <a:rPr lang="it-IT" sz="1800" b="1" dirty="0">
                <a:solidFill>
                  <a:srgbClr val="193248"/>
                </a:solidFill>
                <a:latin typeface="Arial"/>
              </a:rPr>
              <a:t>Forma centrale:</a:t>
            </a:r>
            <a:r>
              <a:rPr lang="it-IT" sz="1800" b="0" dirty="0">
                <a:solidFill>
                  <a:srgbClr val="193248"/>
                </a:solidFill>
                <a:latin typeface="Arial"/>
              </a:rPr>
              <a:t> carenza di ADH (vasopressina) legata a ipotalamo o ipofisi.</a:t>
            </a:r>
          </a:p>
          <a:p>
            <a:pPr marL="177800" indent="-139700">
              <a:lnSpc>
                <a:spcPts val="2100"/>
              </a:lnSpc>
              <a:spcBef>
                <a:spcPts val="0"/>
              </a:spcBef>
              <a:spcAft>
                <a:spcPts val="0"/>
              </a:spcAft>
              <a:buChar char="•"/>
            </a:pPr>
            <a:r>
              <a:rPr lang="it-IT" sz="1800" b="1" dirty="0">
                <a:solidFill>
                  <a:srgbClr val="193248"/>
                </a:solidFill>
                <a:latin typeface="Arial"/>
              </a:rPr>
              <a:t>Forma renale:</a:t>
            </a:r>
            <a:r>
              <a:rPr lang="it-IT" sz="1800" b="0" dirty="0">
                <a:solidFill>
                  <a:srgbClr val="193248"/>
                </a:solidFill>
                <a:latin typeface="Arial"/>
              </a:rPr>
              <a:t> scarsa risposta all’ADH.</a:t>
            </a:r>
          </a:p>
        </p:txBody>
      </p:sp>
      <p:sp>
        <p:nvSpPr>
          <p:cNvPr id="50" name="Ghiandola interessata - ipofisi"/>
          <p:cNvSpPr txBox="1"/>
          <p:nvPr/>
        </p:nvSpPr>
        <p:spPr>
          <a:xfrm>
            <a:off x="705002" y="5138928"/>
            <a:ext cx="2743200" cy="246888"/>
          </a:xfrm>
          <a:prstGeom prst="rect">
            <a:avLst/>
          </a:prstGeom>
          <a:noFill/>
        </p:spPr>
        <p:txBody>
          <a:bodyPr wrap="square" lIns="0" tIns="0" rIns="0" bIns="0">
            <a:noAutofit/>
          </a:bodyPr>
          <a:lstStyle/>
          <a:p>
            <a:pPr>
              <a:lnSpc>
                <a:spcPts val="1600"/>
              </a:lnSpc>
            </a:pPr>
            <a:r>
              <a:rPr sz="1300" b="1" dirty="0">
                <a:solidFill>
                  <a:srgbClr val="087E8B"/>
                </a:solidFill>
                <a:latin typeface="Arial"/>
              </a:rPr>
              <a:t>IPOFISI </a:t>
            </a:r>
            <a:r>
              <a:rPr lang="it-IT" sz="1300" b="1" dirty="0">
                <a:solidFill>
                  <a:srgbClr val="087E8B"/>
                </a:solidFill>
                <a:latin typeface="Arial"/>
              </a:rPr>
              <a:t>- RENI</a:t>
            </a:r>
            <a:endParaRPr sz="1300" b="1" dirty="0">
              <a:solidFill>
                <a:srgbClr val="087E8B"/>
              </a:solidFill>
              <a:latin typeface="Arial"/>
            </a:endParaRPr>
          </a:p>
        </p:txBody>
      </p:sp>
      <p:sp>
        <p:nvSpPr>
          <p:cNvPr id="51" name="Sintomi comuni a entrambe le forme"/>
          <p:cNvSpPr txBox="1"/>
          <p:nvPr/>
        </p:nvSpPr>
        <p:spPr>
          <a:xfrm>
            <a:off x="9116568" y="5431536"/>
            <a:ext cx="2468880" cy="950976"/>
          </a:xfrm>
          <a:prstGeom prst="rect">
            <a:avLst/>
          </a:prstGeom>
          <a:noFill/>
        </p:spPr>
        <p:txBody>
          <a:bodyPr wrap="square" lIns="0" tIns="0" rIns="0" bIns="0">
            <a:noAutofit/>
          </a:bodyPr>
          <a:lstStyle/>
          <a:p>
            <a:pPr marL="0" indent="0">
              <a:lnSpc>
                <a:spcPts val="2100"/>
              </a:lnSpc>
              <a:spcBef>
                <a:spcPts val="0"/>
              </a:spcBef>
              <a:spcAft>
                <a:spcPts val="0"/>
              </a:spcAft>
              <a:buNone/>
            </a:pPr>
            <a:r>
              <a:rPr lang="it-IT" sz="1800" b="0">
                <a:solidFill>
                  <a:srgbClr val="193248"/>
                </a:solidFill>
                <a:latin typeface="Arial"/>
              </a:rPr>
              <a:t>Entrambe causano perdita di molta acqua nelle urine e sete intensa.</a:t>
            </a:r>
          </a:p>
        </p:txBody>
      </p:sp>
      <p:sp>
        <p:nvSpPr>
          <p:cNvPr id="52" name="Parentesi graffa - sintomi comuni"/>
          <p:cNvSpPr/>
          <p:nvPr/>
        </p:nvSpPr>
        <p:spPr>
          <a:xfrm>
            <a:off x="8608481" y="5440438"/>
            <a:ext cx="228600" cy="1078992"/>
          </a:xfrm>
          <a:prstGeom prst="rightBrace">
            <a:avLst/>
          </a:prstGeom>
          <a:noFill/>
          <a:ln w="19050">
            <a:solidFill>
              <a:srgbClr val="08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Desmopressina - forma centrale"/>
          <p:cNvSpPr txBox="1"/>
          <p:nvPr/>
        </p:nvSpPr>
        <p:spPr>
          <a:xfrm>
            <a:off x="705002" y="5824728"/>
            <a:ext cx="2834640" cy="603504"/>
          </a:xfrm>
          <a:prstGeom prst="rect">
            <a:avLst/>
          </a:prstGeom>
          <a:noFill/>
        </p:spPr>
        <p:txBody>
          <a:bodyPr wrap="square" lIns="0" tIns="0" rIns="0" bIns="0">
            <a:noAutofit/>
          </a:bodyPr>
          <a:lstStyle/>
          <a:p>
            <a:pPr>
              <a:lnSpc>
                <a:spcPct val="100000"/>
              </a:lnSpc>
              <a:spcAft>
                <a:spcPts val="0"/>
              </a:spcAft>
            </a:pPr>
            <a:r>
              <a:rPr lang="it-IT" sz="1750" b="0" dirty="0">
                <a:solidFill>
                  <a:srgbClr val="087E8B"/>
                </a:solidFill>
                <a:latin typeface="Arial"/>
              </a:rPr>
              <a:t>(desmopressina nella forma centrale)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0000000A-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A-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1 DI 7</a:t>
            </a:r>
          </a:p>
        </p:txBody>
      </p:sp>
      <p:sp>
        <p:nvSpPr>
          <p:cNvPr id="3" name="Rettangolo 2">
            <a:extLst>
              <a:ext uri="{FF2B5EF4-FFF2-40B4-BE49-F238E27FC236}">
                <a16:creationId xmlns:a16="http://schemas.microsoft.com/office/drawing/2014/main" id="{0000000A-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Apparato tegumentario</a:t>
            </a:r>
          </a:p>
        </p:txBody>
      </p:sp>
      <p:sp>
        <p:nvSpPr>
          <p:cNvPr id="4" name="Rettangolo 3">
            <a:extLst>
              <a:ext uri="{FF2B5EF4-FFF2-40B4-BE49-F238E27FC236}">
                <a16:creationId xmlns:a16="http://schemas.microsoft.com/office/drawing/2014/main" id="{0000000A-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A-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A-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29</a:t>
            </a:r>
            <a:endParaRPr sz="1350" b="1">
              <a:solidFill>
                <a:srgbClr val="123F67"/>
              </a:solidFill>
              <a:latin typeface="Arial"/>
              <a:ea typeface="Arial"/>
              <a:cs typeface="Arial"/>
            </a:endParaRPr>
          </a:p>
        </p:txBody>
      </p:sp>
      <p:pic>
        <p:nvPicPr>
          <p:cNvPr id="7" name="Immagine 6"/>
          <p:cNvPicPr>
            <a:picLocks noChangeAspect="1"/>
          </p:cNvPicPr>
          <p:nvPr/>
        </p:nvPicPr>
        <p:blipFill>
          <a:blip r:embed="rId3"/>
          <a:stretch/>
        </p:blipFill>
        <p:spPr>
          <a:xfrm>
            <a:off x="609600" y="2038350"/>
            <a:ext cx="4343400" cy="3622357"/>
          </a:xfrm>
          <a:prstGeom prst="rect">
            <a:avLst/>
          </a:prstGeom>
        </p:spPr>
      </p:pic>
      <p:sp>
        <p:nvSpPr>
          <p:cNvPr id="8" name="Rettangolo 7">
            <a:extLst>
              <a:ext uri="{FF2B5EF4-FFF2-40B4-BE49-F238E27FC236}">
                <a16:creationId xmlns:a16="http://schemas.microsoft.com/office/drawing/2014/main" id="{0000000A-0007-4000-8000-000000000000}"/>
              </a:ext>
            </a:extLst>
          </p:cNvPr>
          <p:cNvSpPr>
            <a:spLocks noGrp="1"/>
          </p:cNvSpPr>
          <p:nvPr/>
        </p:nvSpPr>
        <p:spPr>
          <a:xfrm>
            <a:off x="5334000" y="1790700"/>
            <a:ext cx="6172200" cy="3429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Epidermide</a:t>
            </a:r>
            <a:r>
              <a:rPr lang="it-IT" sz="2025" b="1">
                <a:solidFill>
                  <a:srgbClr val="123F67"/>
                </a:solidFill>
                <a:latin typeface="Arial"/>
                <a:ea typeface="Arial"/>
                <a:cs typeface="Arial"/>
              </a:rPr>
              <a:t> (strato protettivo più esterno)</a:t>
            </a:r>
            <a:endParaRPr sz="2025" b="1">
              <a:solidFill>
                <a:srgbClr val="123F67"/>
              </a:solidFill>
              <a:latin typeface="Arial"/>
              <a:ea typeface="Arial"/>
              <a:cs typeface="Arial"/>
            </a:endParaRPr>
          </a:p>
        </p:txBody>
      </p:sp>
      <p:sp>
        <p:nvSpPr>
          <p:cNvPr id="9" name="Rettangolo 8">
            <a:extLst>
              <a:ext uri="{FF2B5EF4-FFF2-40B4-BE49-F238E27FC236}">
                <a16:creationId xmlns:a16="http://schemas.microsoft.com/office/drawing/2014/main" id="{0000000A-0008-4000-8000-000000000000}"/>
              </a:ext>
            </a:extLst>
          </p:cNvPr>
          <p:cNvSpPr>
            <a:spLocks noGrp="1"/>
          </p:cNvSpPr>
          <p:nvPr/>
        </p:nvSpPr>
        <p:spPr>
          <a:xfrm>
            <a:off x="5334000" y="2200275"/>
            <a:ext cx="6172200" cy="1123950"/>
          </a:xfrm>
          <a:prstGeom prst="rect">
            <a:avLst/>
          </a:prstGeom>
          <a:noFill/>
          <a:ln w="0">
            <a:noFill/>
          </a:ln>
        </p:spPr>
        <p:txBody>
          <a:bodyPr wrap="square">
            <a:noAutofit/>
          </a:bodyPr>
          <a:lstStyle/>
          <a:p>
            <a:pPr>
              <a:defRPr sz="1875" b="0">
                <a:solidFill>
                  <a:srgbClr val="193248"/>
                </a:solidFill>
                <a:latin typeface="Arial"/>
                <a:ea typeface="Arial"/>
                <a:cs typeface="Arial"/>
              </a:defRPr>
            </a:pPr>
            <a:r>
              <a:rPr lang="it-IT" sz="1800" b="0">
                <a:solidFill>
                  <a:srgbClr val="193248"/>
                </a:solidFill>
                <a:latin typeface="Arial"/>
                <a:ea typeface="Arial"/>
                <a:cs typeface="Arial"/>
              </a:rPr>
              <a:t>Epitelio stratificato cheratinizzato, privo di vasi. Si rinnova e riceve nutrimento dal derma. Lo strato corneo limita la perdita di acqua e ostacola l’ingresso di microrganismi.</a:t>
            </a:r>
          </a:p>
        </p:txBody>
      </p:sp>
      <p:sp>
        <p:nvSpPr>
          <p:cNvPr id="10" name="Rettangolo 9">
            <a:extLst>
              <a:ext uri="{FF2B5EF4-FFF2-40B4-BE49-F238E27FC236}">
                <a16:creationId xmlns:a16="http://schemas.microsoft.com/office/drawing/2014/main" id="{0000000A-0009-4000-8000-000000000000}"/>
              </a:ext>
            </a:extLst>
          </p:cNvPr>
          <p:cNvSpPr>
            <a:spLocks noGrp="1"/>
          </p:cNvSpPr>
          <p:nvPr/>
        </p:nvSpPr>
        <p:spPr>
          <a:xfrm>
            <a:off x="5334000" y="3343275"/>
            <a:ext cx="6172200" cy="3429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Derma e annessi</a:t>
            </a:r>
          </a:p>
        </p:txBody>
      </p:sp>
      <p:sp>
        <p:nvSpPr>
          <p:cNvPr id="11" name="Rettangolo 10">
            <a:extLst>
              <a:ext uri="{FF2B5EF4-FFF2-40B4-BE49-F238E27FC236}">
                <a16:creationId xmlns:a16="http://schemas.microsoft.com/office/drawing/2014/main" id="{0000000A-000A-4000-8000-000000000000}"/>
              </a:ext>
            </a:extLst>
          </p:cNvPr>
          <p:cNvSpPr>
            <a:spLocks noGrp="1"/>
          </p:cNvSpPr>
          <p:nvPr/>
        </p:nvSpPr>
        <p:spPr>
          <a:xfrm>
            <a:off x="5334000" y="3752850"/>
            <a:ext cx="6172200" cy="1200150"/>
          </a:xfrm>
          <a:prstGeom prst="rect">
            <a:avLst/>
          </a:prstGeom>
          <a:noFill/>
          <a:ln w="0">
            <a:noFill/>
          </a:ln>
        </p:spPr>
        <p:txBody>
          <a:bodyPr wrap="square">
            <a:noAutofit/>
          </a:bodyPr>
          <a:lstStyle/>
          <a:p>
            <a:pPr>
              <a:defRPr sz="1875" b="0">
                <a:solidFill>
                  <a:srgbClr val="193248"/>
                </a:solidFill>
                <a:latin typeface="Arial"/>
                <a:ea typeface="Arial"/>
                <a:cs typeface="Arial"/>
              </a:defRPr>
            </a:pPr>
            <a:r>
              <a:rPr lang="it-IT" sz="1800" b="0" dirty="0">
                <a:solidFill>
                  <a:srgbClr val="193248"/>
                </a:solidFill>
                <a:latin typeface="Arial"/>
                <a:ea typeface="Arial"/>
                <a:cs typeface="Arial"/>
              </a:rPr>
              <a:t>Connettivo ricco di collagene ed elastina: dà resistenza ed elasticità. Vasi e terminazioni nervose sostengono nutrizione, sensibilità e termoregolazione. Contiene ghiandole e follicoli piliferi.</a:t>
            </a:r>
          </a:p>
        </p:txBody>
      </p:sp>
      <p:sp>
        <p:nvSpPr>
          <p:cNvPr id="12" name="Rettangolo 11">
            <a:extLst>
              <a:ext uri="{FF2B5EF4-FFF2-40B4-BE49-F238E27FC236}">
                <a16:creationId xmlns:a16="http://schemas.microsoft.com/office/drawing/2014/main" id="{0000000A-000B-4000-8000-000000000000}"/>
              </a:ext>
            </a:extLst>
          </p:cNvPr>
          <p:cNvSpPr>
            <a:spLocks noGrp="1"/>
          </p:cNvSpPr>
          <p:nvPr/>
        </p:nvSpPr>
        <p:spPr>
          <a:xfrm>
            <a:off x="5334000" y="5391150"/>
            <a:ext cx="6172200" cy="819150"/>
          </a:xfrm>
          <a:prstGeom prst="rect">
            <a:avLst/>
          </a:prstGeom>
          <a:noFill/>
          <a:ln w="0">
            <a:noFill/>
          </a:ln>
        </p:spPr>
        <p:txBody>
          <a:bodyPr wrap="square">
            <a:noAutofit/>
          </a:bodyPr>
          <a:lstStyle/>
          <a:p>
            <a:pPr>
              <a:defRPr sz="1725" b="1">
                <a:solidFill>
                  <a:srgbClr val="087E8B"/>
                </a:solidFill>
                <a:latin typeface="Arial"/>
                <a:ea typeface="Arial"/>
                <a:cs typeface="Arial"/>
              </a:defRPr>
            </a:pPr>
            <a:r>
              <a:rPr lang="it-IT" b="0">
                <a:solidFill>
                  <a:srgbClr val="193248"/>
                </a:solidFill>
                <a:latin typeface="Arial"/>
                <a:ea typeface="Arial"/>
                <a:cs typeface="Arial"/>
              </a:rPr>
              <a:t>T</a:t>
            </a:r>
            <a:r>
              <a:rPr lang="it-IT" sz="1800" b="0" dirty="0">
                <a:solidFill>
                  <a:srgbClr val="193248"/>
                </a:solidFill>
                <a:latin typeface="Arial"/>
                <a:ea typeface="Arial"/>
                <a:cs typeface="Arial"/>
              </a:rPr>
              <a:t>essuto adiposo e connettivo collegano i tessuti profondi, attutiscono gli urti, isolano dal freddo e costituiscono una riserva energetica.</a:t>
            </a:r>
          </a:p>
        </p:txBody>
      </p:sp>
      <p:sp>
        <p:nvSpPr>
          <p:cNvPr id="30" name="Skin detail 30">
            <a:extLst>
              <a:ext uri="{FF2B5EF4-FFF2-40B4-BE49-F238E27FC236}">
                <a16:creationId xmlns:a16="http://schemas.microsoft.com/office/drawing/2014/main" id="{0000000A-0007-4000-8000-000000000000}"/>
              </a:ext>
            </a:extLst>
          </p:cNvPr>
          <p:cNvSpPr>
            <a:spLocks noGrp="1"/>
          </p:cNvSpPr>
          <p:nvPr/>
        </p:nvSpPr>
        <p:spPr>
          <a:xfrm>
            <a:off x="5334000" y="5010150"/>
            <a:ext cx="6172200" cy="342900"/>
          </a:xfrm>
          <a:prstGeom prst="rect">
            <a:avLst/>
          </a:prstGeom>
          <a:noFill/>
          <a:ln w="0">
            <a:noFill/>
          </a:ln>
        </p:spPr>
        <p:txBody>
          <a:bodyPr wrap="square">
            <a:noAutofit/>
          </a:bodyPr>
          <a:lstStyle/>
          <a:p>
            <a:pPr>
              <a:defRPr sz="2025" b="1">
                <a:solidFill>
                  <a:srgbClr val="123F67"/>
                </a:solidFill>
                <a:latin typeface="Arial"/>
                <a:ea typeface="Arial"/>
                <a:cs typeface="Arial"/>
              </a:defRPr>
            </a:pPr>
            <a:r>
              <a:rPr sz="2025" b="1">
                <a:solidFill>
                  <a:srgbClr val="123F67"/>
                </a:solidFill>
                <a:latin typeface="Arial"/>
                <a:ea typeface="Arial"/>
                <a:cs typeface="Arial"/>
              </a:rPr>
              <a:t>Ipoderma (tessuto sottocutaneo)</a:t>
            </a:r>
          </a:p>
        </p:txBody>
      </p:sp>
      <p:sp>
        <p:nvSpPr>
          <p:cNvPr id="31" name="Skin detail 31">
            <a:extLst>
              <a:ext uri="{FF2B5EF4-FFF2-40B4-BE49-F238E27FC236}">
                <a16:creationId xmlns:a16="http://schemas.microsoft.com/office/drawing/2014/main" id="{0000000A-0007-4000-8000-000000000000}"/>
              </a:ext>
            </a:extLst>
          </p:cNvPr>
          <p:cNvSpPr>
            <a:spLocks noGrp="1"/>
          </p:cNvSpPr>
          <p:nvPr/>
        </p:nvSpPr>
        <p:spPr>
          <a:xfrm>
            <a:off x="609600" y="5762625"/>
            <a:ext cx="4343400" cy="542925"/>
          </a:xfrm>
          <a:prstGeom prst="rect">
            <a:avLst/>
          </a:prstGeom>
          <a:noFill/>
          <a:ln w="0">
            <a:noFill/>
          </a:ln>
        </p:spPr>
        <p:txBody>
          <a:bodyPr wrap="square">
            <a:noAutofit/>
          </a:bodyPr>
          <a:lstStyle/>
          <a:p>
            <a:pPr>
              <a:defRPr sz="2025" b="1">
                <a:solidFill>
                  <a:srgbClr val="123F67"/>
                </a:solidFill>
                <a:latin typeface="Arial"/>
                <a:ea typeface="Arial"/>
                <a:cs typeface="Arial"/>
              </a:defRPr>
            </a:pPr>
            <a:r>
              <a:rPr sz="1800" b="1">
                <a:solidFill>
                  <a:srgbClr val="123F67"/>
                </a:solidFill>
                <a:latin typeface="Arial"/>
                <a:ea typeface="Arial"/>
                <a:cs typeface="Arial"/>
              </a:rPr>
              <a:t>Protezione, sensibilità
e termoregolazione</a:t>
            </a:r>
          </a:p>
        </p:txBody>
      </p:sp>
    </p:spTree>
    <p:extLst>
      <p:ext uri="{BB962C8B-B14F-4D97-AF65-F5344CB8AC3E}">
        <p14:creationId xmlns:p14="http://schemas.microsoft.com/office/powerpoint/2010/main" val="1000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tegumentario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30</a:t>
            </a:r>
            <a:endParaRPr sz="1350" b="1">
              <a:solidFill>
                <a:srgbClr val="123F67"/>
              </a:solidFill>
              <a:latin typeface="Arial"/>
              <a:ea typeface="Arial"/>
              <a:cs typeface="Arial"/>
            </a:endParaRPr>
          </a:p>
        </p:txBody>
      </p:sp>
      <p:sp>
        <p:nvSpPr>
          <p:cNvPr id="26" name="TextBox 25"/>
          <p:cNvSpPr txBox="1"/>
          <p:nvPr/>
        </p:nvSpPr>
        <p:spPr>
          <a:xfrm>
            <a:off x="704088" y="3145536"/>
            <a:ext cx="548640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Dermatite atopica (Eczema)</a:t>
            </a:r>
          </a:p>
        </p:txBody>
      </p:sp>
      <p:sp>
        <p:nvSpPr>
          <p:cNvPr id="27" name="TextBox 26"/>
          <p:cNvSpPr txBox="1"/>
          <p:nvPr/>
        </p:nvSpPr>
        <p:spPr>
          <a:xfrm>
            <a:off x="704088" y="3456432"/>
            <a:ext cx="5486400" cy="768096"/>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Un’infiammazione cronica della pelle caratterizzata da intensa secchezza, prurito severo ed eritemi, molto comune nei bambini ma presente anche negli adulti.</a:t>
            </a:r>
          </a:p>
        </p:txBody>
      </p:sp>
      <p:sp>
        <p:nvSpPr>
          <p:cNvPr id="29" name="TextBox 28"/>
          <p:cNvSpPr txBox="1"/>
          <p:nvPr/>
        </p:nvSpPr>
        <p:spPr>
          <a:xfrm>
            <a:off x="704088" y="1783080"/>
            <a:ext cx="548640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Psoriasi</a:t>
            </a:r>
          </a:p>
        </p:txBody>
      </p:sp>
      <p:sp>
        <p:nvSpPr>
          <p:cNvPr id="30" name="TextBox 29"/>
          <p:cNvSpPr txBox="1"/>
          <p:nvPr/>
        </p:nvSpPr>
        <p:spPr>
          <a:xfrm>
            <a:off x="704088" y="2093976"/>
            <a:ext cx="5486400" cy="1005840"/>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Una patologia cronica immunomediata che accelera il ciclo di vita delle cellule cutanee. Si manifesta con chiazze rosse e ispessite, coperte da squame argentee, localizzate spesso su gomiti, ginocchia e cuoio capelluto.</a:t>
            </a:r>
          </a:p>
        </p:txBody>
      </p:sp>
      <p:sp>
        <p:nvSpPr>
          <p:cNvPr id="34" name="TextBox 25"/>
          <p:cNvSpPr txBox="1"/>
          <p:nvPr/>
        </p:nvSpPr>
        <p:spPr>
          <a:xfrm>
            <a:off x="704088" y="5394960"/>
            <a:ext cx="548640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Orticaria</a:t>
            </a:r>
          </a:p>
        </p:txBody>
      </p:sp>
      <p:sp>
        <p:nvSpPr>
          <p:cNvPr id="35" name="TextBox 26"/>
          <p:cNvSpPr txBox="1"/>
          <p:nvPr/>
        </p:nvSpPr>
        <p:spPr>
          <a:xfrm>
            <a:off x="704088" y="5705856"/>
            <a:ext cx="5486400" cy="768096"/>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Pomfi cutanei transitori e pruriginosi, talvolta con gonfiore profondo (angioedema). Può avere cause allergiche o non allergiche.</a:t>
            </a:r>
            <a:endParaRPr lang="it-IT" sz="1800" b="0">
              <a:solidFill>
                <a:srgbClr val="193248"/>
              </a:solidFill>
              <a:latin typeface="Arial"/>
            </a:endParaRPr>
          </a:p>
        </p:txBody>
      </p:sp>
      <p:sp>
        <p:nvSpPr>
          <p:cNvPr id="37" name="TextBox 25"/>
          <p:cNvSpPr txBox="1"/>
          <p:nvPr/>
        </p:nvSpPr>
        <p:spPr>
          <a:xfrm>
            <a:off x="9208008" y="1810512"/>
            <a:ext cx="237744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Herpes zoster</a:t>
            </a:r>
          </a:p>
        </p:txBody>
      </p:sp>
      <p:sp>
        <p:nvSpPr>
          <p:cNvPr id="38" name="TextBox 26"/>
          <p:cNvSpPr txBox="1"/>
          <p:nvPr/>
        </p:nvSpPr>
        <p:spPr>
          <a:xfrm>
            <a:off x="9208008" y="2157984"/>
            <a:ext cx="2377440" cy="1966976"/>
          </a:xfrm>
          <a:prstGeom prst="rect">
            <a:avLst/>
          </a:prstGeom>
          <a:noFill/>
        </p:spPr>
        <p:txBody>
          <a:bodyPr wrap="square" lIns="0" tIns="0" rIns="0" bIns="0">
            <a:noAutofit/>
          </a:bodyPr>
          <a:lstStyle/>
          <a:p>
            <a:pPr>
              <a:lnSpc>
                <a:spcPts val="1900"/>
              </a:lnSpc>
              <a:spcAft>
                <a:spcPts val="0"/>
              </a:spcAft>
            </a:pPr>
            <a:r>
              <a:rPr lang="it-IT" sz="1650" b="0" err="1">
                <a:solidFill>
                  <a:srgbClr val="193248"/>
                </a:solidFill>
                <a:latin typeface="Arial"/>
              </a:rPr>
              <a:t>Riattivazione del virus varicella-zoster nei nervi. Causa vescicole dolorose, di solito su un solo lato del corpo. Il dolore può persistere anche dopo la guarigione.</a:t>
            </a:r>
          </a:p>
        </p:txBody>
      </p:sp>
      <p:sp>
        <p:nvSpPr>
          <p:cNvPr id="39" name="TextBox 25"/>
          <p:cNvSpPr txBox="1"/>
          <p:nvPr/>
        </p:nvSpPr>
        <p:spPr>
          <a:xfrm>
            <a:off x="704088" y="4270248"/>
            <a:ext cx="548640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Dermatite da contatto</a:t>
            </a:r>
          </a:p>
        </p:txBody>
      </p:sp>
      <p:sp>
        <p:nvSpPr>
          <p:cNvPr id="40" name="TextBox 26"/>
          <p:cNvSpPr txBox="1"/>
          <p:nvPr/>
        </p:nvSpPr>
        <p:spPr>
          <a:xfrm>
            <a:off x="704088" y="4581144"/>
            <a:ext cx="5486400" cy="768096"/>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Una reazione infiammatoria scatenata dal contatto diretto con sostanze irritanti o allergeni (es. nichel, profumi, tessuti sintetici).</a:t>
            </a:r>
          </a:p>
        </p:txBody>
      </p:sp>
      <p:sp>
        <p:nvSpPr>
          <p:cNvPr id="41" name="TextBox 28"/>
          <p:cNvSpPr txBox="1"/>
          <p:nvPr/>
        </p:nvSpPr>
        <p:spPr>
          <a:xfrm>
            <a:off x="6556248" y="1810512"/>
            <a:ext cx="228600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Acne vulgaris</a:t>
            </a:r>
          </a:p>
        </p:txBody>
      </p:sp>
      <p:sp>
        <p:nvSpPr>
          <p:cNvPr id="42" name="TextBox 29"/>
          <p:cNvSpPr txBox="1"/>
          <p:nvPr/>
        </p:nvSpPr>
        <p:spPr>
          <a:xfrm>
            <a:off x="6556248" y="2157984"/>
            <a:ext cx="2286000" cy="1725676"/>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Comedoni (punti neri e bianchi), papule e pustole, soprattutto su viso, torace e dorso. Le forme più gravi possono lasciare cicatrici.</a:t>
            </a:r>
          </a:p>
        </p:txBody>
      </p:sp>
      <p:sp>
        <p:nvSpPr>
          <p:cNvPr id="43" name="TextBox 28"/>
          <p:cNvSpPr txBox="1"/>
          <p:nvPr/>
        </p:nvSpPr>
        <p:spPr>
          <a:xfrm>
            <a:off x="6556248" y="4002532"/>
            <a:ext cx="228600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Alopecia</a:t>
            </a:r>
          </a:p>
        </p:txBody>
      </p:sp>
      <p:sp>
        <p:nvSpPr>
          <p:cNvPr id="44" name="TextBox 29"/>
          <p:cNvSpPr txBox="1"/>
          <p:nvPr/>
        </p:nvSpPr>
        <p:spPr>
          <a:xfrm>
            <a:off x="6556248" y="4350004"/>
            <a:ext cx="2286000" cy="1725676"/>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Perdita parziale o completa di capelli o peli, localizzata o diffusa. Può essere temporanea o permanente e avere cause diverse.</a:t>
            </a:r>
          </a:p>
        </p:txBody>
      </p:sp>
      <p:sp>
        <p:nvSpPr>
          <p:cNvPr id="45" name="TextBox 28"/>
          <p:cNvSpPr txBox="1"/>
          <p:nvPr/>
        </p:nvSpPr>
        <p:spPr>
          <a:xfrm>
            <a:off x="9208008" y="4243832"/>
            <a:ext cx="2377440" cy="301752"/>
          </a:xfrm>
          <a:prstGeom prst="rect">
            <a:avLst/>
          </a:prstGeom>
          <a:noFill/>
        </p:spPr>
        <p:txBody>
          <a:bodyPr wrap="square" lIns="0" tIns="0" rIns="0" bIns="0">
            <a:noAutofit/>
          </a:bodyPr>
          <a:lstStyle/>
          <a:p>
            <a:pPr>
              <a:lnSpc>
                <a:spcPts val="2100"/>
              </a:lnSpc>
              <a:spcAft>
                <a:spcPts val="300"/>
              </a:spcAft>
            </a:pPr>
            <a:r>
              <a:rPr lang="it-IT" sz="1900" b="1">
                <a:solidFill>
                  <a:srgbClr val="123F67"/>
                </a:solidFill>
                <a:latin typeface="Arial"/>
              </a:rPr>
              <a:t>Tumori della pelle</a:t>
            </a:r>
          </a:p>
        </p:txBody>
      </p:sp>
      <p:sp>
        <p:nvSpPr>
          <p:cNvPr id="46" name="TextBox 29"/>
          <p:cNvSpPr txBox="1"/>
          <p:nvPr/>
        </p:nvSpPr>
        <p:spPr>
          <a:xfrm>
            <a:off x="9208008" y="4591304"/>
            <a:ext cx="2377440" cy="1966976"/>
          </a:xfrm>
          <a:prstGeom prst="rect">
            <a:avLst/>
          </a:prstGeom>
          <a:noFill/>
        </p:spPr>
        <p:txBody>
          <a:bodyPr wrap="square" lIns="0" tIns="0" rIns="0" bIns="0">
            <a:noAutofit/>
          </a:bodyPr>
          <a:lstStyle/>
          <a:p>
            <a:pPr>
              <a:lnSpc>
                <a:spcPts val="1900"/>
              </a:lnSpc>
              <a:spcAft>
                <a:spcPts val="0"/>
              </a:spcAft>
            </a:pPr>
            <a:r>
              <a:rPr lang="it-IT" sz="1650" b="0">
                <a:solidFill>
                  <a:srgbClr val="193248"/>
                </a:solidFill>
                <a:latin typeface="Arial"/>
              </a:rPr>
              <a:t>Carcinomi basocellulare e squamocellulare e melanoma. Nei che cambiano o lesioni che non guariscono richiedono valutazione medica.</a:t>
            </a:r>
          </a:p>
        </p:txBody>
      </p:sp>
      <p:cxnSp>
        <p:nvCxnSpPr>
          <p:cNvPr id="47" name="Connector 46"/>
          <p:cNvCxnSpPr/>
          <p:nvPr/>
        </p:nvCxnSpPr>
        <p:spPr>
          <a:xfrm>
            <a:off x="6281928" y="1435608"/>
            <a:ext cx="0" cy="5010912"/>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933688" y="1435608"/>
            <a:ext cx="0" cy="5010912"/>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04088" y="1435608"/>
            <a:ext cx="5486400" cy="274320"/>
          </a:xfrm>
          <a:prstGeom prst="rect">
            <a:avLst/>
          </a:prstGeom>
          <a:noFill/>
        </p:spPr>
        <p:txBody>
          <a:bodyPr wrap="square" lIns="0" tIns="0" rIns="0" bIns="0">
            <a:spAutoFit/>
          </a:bodyPr>
          <a:lstStyle/>
          <a:p>
            <a:r>
              <a:rPr sz="1250" b="1">
                <a:solidFill>
                  <a:srgbClr val="087E8B"/>
                </a:solidFill>
                <a:latin typeface="Arial"/>
              </a:rPr>
              <a:t>INFIAMMATORIE E IMMUNOMEDIATE</a:t>
            </a:r>
          </a:p>
        </p:txBody>
      </p:sp>
      <p:sp>
        <p:nvSpPr>
          <p:cNvPr id="50" name="TextBox 49"/>
          <p:cNvSpPr txBox="1"/>
          <p:nvPr/>
        </p:nvSpPr>
        <p:spPr>
          <a:xfrm>
            <a:off x="6556248" y="1435608"/>
            <a:ext cx="2286000" cy="274320"/>
          </a:xfrm>
          <a:prstGeom prst="rect">
            <a:avLst/>
          </a:prstGeom>
          <a:noFill/>
        </p:spPr>
        <p:txBody>
          <a:bodyPr wrap="square" lIns="0" tIns="0" rIns="0" bIns="0">
            <a:spAutoFit/>
          </a:bodyPr>
          <a:lstStyle/>
          <a:p>
            <a:r>
              <a:rPr sz="1250" b="1">
                <a:solidFill>
                  <a:srgbClr val="087E8B"/>
                </a:solidFill>
                <a:latin typeface="Arial"/>
              </a:rPr>
              <a:t>ANNESSI CUTANEI</a:t>
            </a:r>
          </a:p>
        </p:txBody>
      </p:sp>
      <p:sp>
        <p:nvSpPr>
          <p:cNvPr id="51" name="TextBox 50"/>
          <p:cNvSpPr txBox="1"/>
          <p:nvPr/>
        </p:nvSpPr>
        <p:spPr>
          <a:xfrm>
            <a:off x="9208008" y="1435608"/>
            <a:ext cx="2377440" cy="274320"/>
          </a:xfrm>
          <a:prstGeom prst="rect">
            <a:avLst/>
          </a:prstGeom>
          <a:noFill/>
        </p:spPr>
        <p:txBody>
          <a:bodyPr wrap="square" lIns="0" tIns="0" rIns="0" bIns="0">
            <a:spAutoFit/>
          </a:bodyPr>
          <a:lstStyle/>
          <a:p>
            <a:r>
              <a:rPr sz="1250" b="1">
                <a:solidFill>
                  <a:srgbClr val="087E8B"/>
                </a:solidFill>
                <a:latin typeface="Arial"/>
              </a:rPr>
              <a:t>INFEZIONI E TUMORI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0000000B-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B-0002-4000-8000-000000000000}"/>
              </a:ext>
            </a:extLst>
          </p:cNvPr>
          <p:cNvSpPr>
            <a:spLocks noGrp="1"/>
          </p:cNvSpPr>
          <p:nvPr/>
        </p:nvSpPr>
        <p:spPr>
          <a:xfrm>
            <a:off x="609600" y="22860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2 DI 7</a:t>
            </a:r>
          </a:p>
        </p:txBody>
      </p:sp>
      <p:sp>
        <p:nvSpPr>
          <p:cNvPr id="3" name="Rettangolo 2">
            <a:extLst>
              <a:ext uri="{FF2B5EF4-FFF2-40B4-BE49-F238E27FC236}">
                <a16:creationId xmlns:a16="http://schemas.microsoft.com/office/drawing/2014/main" id="{0000000B-0003-4000-8000-000000000000}"/>
              </a:ext>
            </a:extLst>
          </p:cNvPr>
          <p:cNvSpPr>
            <a:spLocks noGrp="1"/>
          </p:cNvSpPr>
          <p:nvPr/>
        </p:nvSpPr>
        <p:spPr>
          <a:xfrm>
            <a:off x="609600" y="561975"/>
            <a:ext cx="10972800" cy="495300"/>
          </a:xfrm>
          <a:prstGeom prst="rect">
            <a:avLst/>
          </a:prstGeom>
          <a:noFill/>
          <a:ln w="0">
            <a:noFill/>
          </a:ln>
        </p:spPr>
        <p:txBody>
          <a:bodyPr>
            <a:noAutofit/>
          </a:bodyPr>
          <a:lstStyle/>
          <a:p>
            <a:pPr>
              <a:defRPr sz="3225" b="1">
                <a:solidFill>
                  <a:srgbClr val="123F67"/>
                </a:solidFill>
                <a:latin typeface="Arial"/>
                <a:ea typeface="Arial"/>
                <a:cs typeface="Arial"/>
              </a:defRPr>
            </a:pPr>
            <a:r>
              <a:rPr lang="it-IT" sz="3225" b="1">
                <a:solidFill>
                  <a:srgbClr val="123F67"/>
                </a:solidFill>
                <a:latin typeface="Arial"/>
                <a:ea typeface="Arial"/>
                <a:cs typeface="Arial"/>
              </a:rPr>
              <a:t>Apparato cardiocircolatorio: il cuore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B-0004-4000-8000-000000000000}"/>
              </a:ext>
            </a:extLst>
          </p:cNvPr>
          <p:cNvSpPr>
            <a:spLocks noGrp="1"/>
          </p:cNvSpPr>
          <p:nvPr/>
        </p:nvSpPr>
        <p:spPr>
          <a:xfrm>
            <a:off x="609600" y="116205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B-0005-4000-8000-000000000000}"/>
              </a:ext>
            </a:extLst>
          </p:cNvPr>
          <p:cNvSpPr>
            <a:spLocks noGrp="1"/>
          </p:cNvSpPr>
          <p:nvPr/>
        </p:nvSpPr>
        <p:spPr>
          <a:xfrm>
            <a:off x="704088" y="6601968"/>
            <a:ext cx="9906000" cy="190500"/>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B-0006-4000-8000-000000000000}"/>
              </a:ext>
            </a:extLst>
          </p:cNvPr>
          <p:cNvSpPr>
            <a:spLocks noGrp="1"/>
          </p:cNvSpPr>
          <p:nvPr/>
        </p:nvSpPr>
        <p:spPr>
          <a:xfrm>
            <a:off x="11049000" y="6583680"/>
            <a:ext cx="523875" cy="209550"/>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31</a:t>
            </a:r>
            <a:endParaRPr sz="1350" b="1">
              <a:solidFill>
                <a:srgbClr val="123F67"/>
              </a:solidFill>
              <a:latin typeface="Arial"/>
              <a:ea typeface="Arial"/>
              <a:cs typeface="Arial"/>
            </a:endParaRPr>
          </a:p>
        </p:txBody>
      </p:sp>
      <p:pic>
        <p:nvPicPr>
          <p:cNvPr id="40" name="Picture 39" descr="Schema del cuore fornito dall’utente, con quattro cavità, valvole, grandi vasi e frecce del flusso sanguigno."/>
          <p:cNvPicPr>
            <a:picLocks noChangeAspect="1"/>
          </p:cNvPicPr>
          <p:nvPr/>
        </p:nvPicPr>
        <p:blipFill>
          <a:blip r:embed="rId3"/>
          <a:stretch>
            <a:fillRect/>
          </a:stretch>
        </p:blipFill>
        <p:spPr>
          <a:xfrm>
            <a:off x="621792" y="1554480"/>
            <a:ext cx="4892040" cy="4794199"/>
          </a:xfrm>
          <a:prstGeom prst="rect">
            <a:avLst/>
          </a:prstGeom>
        </p:spPr>
      </p:pic>
      <p:sp>
        <p:nvSpPr>
          <p:cNvPr id="36" name="TextBox 35"/>
          <p:cNvSpPr txBox="1"/>
          <p:nvPr/>
        </p:nvSpPr>
        <p:spPr>
          <a:xfrm>
            <a:off x="5879592" y="5294376"/>
            <a:ext cx="5669280" cy="307777"/>
          </a:xfrm>
          <a:prstGeom prst="rect">
            <a:avLst/>
          </a:prstGeom>
          <a:noFill/>
        </p:spPr>
        <p:txBody>
          <a:bodyPr wrap="square" lIns="0" tIns="0" rIns="0" bIns="0">
            <a:spAutoFit/>
          </a:bodyPr>
          <a:lstStyle/>
          <a:p>
            <a:pPr marL="365760" indent="-265176">
              <a:lnSpc>
                <a:spcPct val="100000"/>
              </a:lnSpc>
              <a:spcAft>
                <a:spcPts val="0"/>
              </a:spcAft>
              <a:buChar char="•"/>
              <a:defRPr sz="1700" b="1">
                <a:solidFill>
                  <a:srgbClr val="1687A8"/>
                </a:solidFill>
                <a:latin typeface="Arial"/>
              </a:defRPr>
            </a:pPr>
            <a:r>
              <a:rPr lang="it-IT" sz="2000" b="1">
                <a:solidFill>
                  <a:srgbClr val="1698BB"/>
                </a:solidFill>
                <a:latin typeface="Arial"/>
              </a:rPr>
              <a:t>Atrio destro (in alto)</a:t>
            </a:r>
          </a:p>
        </p:txBody>
      </p:sp>
      <p:sp>
        <p:nvSpPr>
          <p:cNvPr id="37" name="TextBox 36"/>
          <p:cNvSpPr txBox="1"/>
          <p:nvPr/>
        </p:nvSpPr>
        <p:spPr>
          <a:xfrm>
            <a:off x="5879592" y="1371600"/>
            <a:ext cx="5669280" cy="307777"/>
          </a:xfrm>
          <a:prstGeom prst="rect">
            <a:avLst/>
          </a:prstGeom>
          <a:noFill/>
        </p:spPr>
        <p:txBody>
          <a:bodyPr wrap="square" lIns="0" tIns="0" rIns="0" bIns="0">
            <a:spAutoFit/>
          </a:bodyPr>
          <a:lstStyle/>
          <a:p>
            <a:pPr marL="365760" indent="-265176">
              <a:lnSpc>
                <a:spcPct val="100000"/>
              </a:lnSpc>
              <a:spcAft>
                <a:spcPts val="0"/>
              </a:spcAft>
              <a:buChar char="•"/>
              <a:defRPr sz="1700" b="1">
                <a:solidFill>
                  <a:srgbClr val="1687A8"/>
                </a:solidFill>
                <a:latin typeface="Arial"/>
              </a:defRPr>
            </a:pPr>
            <a:r>
              <a:rPr lang="it-IT" sz="2000" b="1">
                <a:solidFill>
                  <a:srgbClr val="1698BB"/>
                </a:solidFill>
                <a:latin typeface="Arial"/>
              </a:rPr>
              <a:t>Ventricolo destro (in basso)</a:t>
            </a:r>
          </a:p>
        </p:txBody>
      </p:sp>
      <p:sp>
        <p:nvSpPr>
          <p:cNvPr id="38" name="TextBox 37"/>
          <p:cNvSpPr txBox="1"/>
          <p:nvPr/>
        </p:nvSpPr>
        <p:spPr>
          <a:xfrm>
            <a:off x="5879592" y="2852928"/>
            <a:ext cx="5669280" cy="307777"/>
          </a:xfrm>
          <a:prstGeom prst="rect">
            <a:avLst/>
          </a:prstGeom>
          <a:noFill/>
        </p:spPr>
        <p:txBody>
          <a:bodyPr wrap="square" lIns="0" tIns="0" rIns="0" bIns="0">
            <a:spAutoFit/>
          </a:bodyPr>
          <a:lstStyle/>
          <a:p>
            <a:pPr marL="365760" indent="-265176">
              <a:lnSpc>
                <a:spcPct val="100000"/>
              </a:lnSpc>
              <a:spcAft>
                <a:spcPts val="0"/>
              </a:spcAft>
              <a:buChar char="•"/>
              <a:defRPr sz="1700" b="1">
                <a:solidFill>
                  <a:srgbClr val="C52B83"/>
                </a:solidFill>
                <a:latin typeface="Arial"/>
              </a:defRPr>
            </a:pPr>
            <a:r>
              <a:rPr lang="it-IT" sz="2000" b="1">
                <a:solidFill>
                  <a:srgbClr val="E7218C"/>
                </a:solidFill>
                <a:latin typeface="Arial"/>
              </a:rPr>
              <a:t>Atrio sinistro (in alto)</a:t>
            </a:r>
          </a:p>
        </p:txBody>
      </p:sp>
      <p:sp>
        <p:nvSpPr>
          <p:cNvPr id="39" name="TextBox 38"/>
          <p:cNvSpPr txBox="1"/>
          <p:nvPr/>
        </p:nvSpPr>
        <p:spPr>
          <a:xfrm>
            <a:off x="5879592" y="4078224"/>
            <a:ext cx="5669280" cy="307777"/>
          </a:xfrm>
          <a:prstGeom prst="rect">
            <a:avLst/>
          </a:prstGeom>
          <a:noFill/>
        </p:spPr>
        <p:txBody>
          <a:bodyPr wrap="square" lIns="0" tIns="0" rIns="0" bIns="0">
            <a:spAutoFit/>
          </a:bodyPr>
          <a:lstStyle/>
          <a:p>
            <a:pPr marL="365760" indent="-265176">
              <a:lnSpc>
                <a:spcPct val="100000"/>
              </a:lnSpc>
              <a:spcAft>
                <a:spcPts val="0"/>
              </a:spcAft>
              <a:buChar char="•"/>
              <a:defRPr sz="1700" b="1">
                <a:solidFill>
                  <a:srgbClr val="C52B83"/>
                </a:solidFill>
                <a:latin typeface="Arial"/>
              </a:defRPr>
            </a:pPr>
            <a:r>
              <a:rPr lang="it-IT" sz="2000" b="1">
                <a:solidFill>
                  <a:srgbClr val="E7218C"/>
                </a:solidFill>
                <a:latin typeface="Arial"/>
              </a:rPr>
              <a:t>Ventricolo sinistro (in basso)</a:t>
            </a:r>
          </a:p>
        </p:txBody>
      </p:sp>
      <p:sp>
        <p:nvSpPr>
          <p:cNvPr id="43" name="Valvola 1 riferimento"/>
          <p:cNvSpPr/>
          <p:nvPr/>
        </p:nvSpPr>
        <p:spPr>
          <a:xfrm>
            <a:off x="5879592" y="2025396"/>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44" name="Valvola 2 riferimento"/>
          <p:cNvSpPr/>
          <p:nvPr/>
        </p:nvSpPr>
        <p:spPr>
          <a:xfrm>
            <a:off x="5879592" y="3506724"/>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45" name="Valvola 3 riferimento"/>
          <p:cNvSpPr/>
          <p:nvPr/>
        </p:nvSpPr>
        <p:spPr>
          <a:xfrm>
            <a:off x="5879592" y="4732020"/>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46" name="Valvola 4 riferimento"/>
          <p:cNvSpPr/>
          <p:nvPr/>
        </p:nvSpPr>
        <p:spPr>
          <a:xfrm>
            <a:off x="5879592" y="6185916"/>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47" name="Valvola 1 riferimento"/>
          <p:cNvSpPr/>
          <p:nvPr/>
        </p:nvSpPr>
        <p:spPr>
          <a:xfrm>
            <a:off x="310896" y="5120640"/>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it-IT" sz="1100" b="1">
                <a:solidFill>
                  <a:srgbClr val="FFFFFF"/>
                </a:solidFill>
                <a:latin typeface="Arial"/>
              </a:rPr>
              <a:t>4</a:t>
            </a:r>
            <a:endParaRPr sz="1100" b="1">
              <a:solidFill>
                <a:srgbClr val="FFFFFF"/>
              </a:solidFill>
              <a:latin typeface="Arial"/>
            </a:endParaRPr>
          </a:p>
        </p:txBody>
      </p:sp>
      <p:sp>
        <p:nvSpPr>
          <p:cNvPr id="48" name="Valvola 2 riferimento"/>
          <p:cNvSpPr/>
          <p:nvPr/>
        </p:nvSpPr>
        <p:spPr>
          <a:xfrm>
            <a:off x="5504688" y="4050791"/>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49" name="Valvola 3 riferimento"/>
          <p:cNvSpPr/>
          <p:nvPr/>
        </p:nvSpPr>
        <p:spPr>
          <a:xfrm>
            <a:off x="310896" y="4681728"/>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it-IT" sz="1100" b="1">
                <a:solidFill>
                  <a:srgbClr val="FFFFFF"/>
                </a:solidFill>
                <a:latin typeface="Arial"/>
              </a:rPr>
              <a:t>1</a:t>
            </a:r>
            <a:endParaRPr sz="1100" b="1">
              <a:solidFill>
                <a:srgbClr val="FFFFFF"/>
              </a:solidFill>
              <a:latin typeface="Arial"/>
            </a:endParaRPr>
          </a:p>
        </p:txBody>
      </p:sp>
      <p:sp>
        <p:nvSpPr>
          <p:cNvPr id="50" name="Valvola 4 riferimento"/>
          <p:cNvSpPr/>
          <p:nvPr/>
        </p:nvSpPr>
        <p:spPr>
          <a:xfrm>
            <a:off x="5504688" y="4535424"/>
            <a:ext cx="228600" cy="228600"/>
          </a:xfrm>
          <a:prstGeom prst="ellipse">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it-IT" sz="1100" b="1">
                <a:solidFill>
                  <a:srgbClr val="FFFFFF"/>
                </a:solidFill>
                <a:latin typeface="Arial"/>
              </a:rPr>
              <a:t>3</a:t>
            </a:r>
            <a:endParaRPr sz="1100" b="1">
              <a:solidFill>
                <a:srgbClr val="FFFFFF"/>
              </a:solidFill>
              <a:latin typeface="Arial"/>
            </a:endParaRPr>
          </a:p>
        </p:txBody>
      </p:sp>
      <p:sp>
        <p:nvSpPr>
          <p:cNvPr id="51" name="TextBox 50"/>
          <p:cNvSpPr txBox="1"/>
          <p:nvPr/>
        </p:nvSpPr>
        <p:spPr>
          <a:xfrm>
            <a:off x="6245352" y="2002536"/>
            <a:ext cx="5440680" cy="749808"/>
          </a:xfrm>
          <a:prstGeom prst="rect">
            <a:avLst/>
          </a:prstGeom>
          <a:noFill/>
        </p:spPr>
        <p:txBody>
          <a:bodyPr wrap="square" lIns="0" tIns="0" rIns="0" bIns="0">
            <a:noAutofit/>
          </a:bodyPr>
          <a:lstStyle/>
          <a:p>
            <a:pPr>
              <a:lnSpc>
                <a:spcPts val="2000"/>
              </a:lnSpc>
              <a:spcBef>
                <a:spcPts val="0"/>
              </a:spcBef>
              <a:spcAft>
                <a:spcPts val="300"/>
              </a:spcAft>
            </a:pPr>
            <a:r>
              <a:rPr sz="1800" b="1" dirty="0" err="1">
                <a:solidFill>
                  <a:srgbClr val="123F67"/>
                </a:solidFill>
                <a:latin typeface="Arial"/>
              </a:rPr>
              <a:t>Valvola</a:t>
            </a:r>
            <a:r>
              <a:rPr sz="1800" b="1" dirty="0">
                <a:solidFill>
                  <a:srgbClr val="123F67"/>
                </a:solidFill>
                <a:latin typeface="Arial"/>
              </a:rPr>
              <a:t> </a:t>
            </a:r>
            <a:r>
              <a:rPr sz="1800" b="1" dirty="0" err="1">
                <a:solidFill>
                  <a:srgbClr val="123F67"/>
                </a:solidFill>
                <a:latin typeface="Arial"/>
              </a:rPr>
              <a:t>polmonare</a:t>
            </a:r>
            <a:endParaRPr lang="it-IT" sz="1800" b="1">
              <a:solidFill>
                <a:srgbClr val="123F67"/>
              </a:solidFill>
              <a:latin typeface="Arial"/>
            </a:endParaRPr>
          </a:p>
          <a:p>
            <a:pPr>
              <a:lnSpc>
                <a:spcPts val="2000"/>
              </a:lnSpc>
              <a:spcBef>
                <a:spcPts val="0"/>
              </a:spcBef>
              <a:spcAft>
                <a:spcPts val="0"/>
              </a:spcAft>
            </a:pPr>
            <a:r>
              <a:rPr sz="1700" b="0" dirty="0">
                <a:solidFill>
                  <a:srgbClr val="193248"/>
                </a:solidFill>
                <a:latin typeface="Arial"/>
              </a:rPr>
              <a:t>Il </a:t>
            </a:r>
            <a:r>
              <a:rPr sz="1700" b="0" dirty="0" err="1">
                <a:solidFill>
                  <a:srgbClr val="193248"/>
                </a:solidFill>
                <a:latin typeface="Arial"/>
              </a:rPr>
              <a:t>sangue</a:t>
            </a:r>
            <a:r>
              <a:rPr sz="1700" b="0" dirty="0">
                <a:solidFill>
                  <a:srgbClr val="193248"/>
                </a:solidFill>
                <a:latin typeface="Arial"/>
              </a:rPr>
              <a:t> </a:t>
            </a:r>
            <a:r>
              <a:rPr lang="it-IT" sz="1700" b="0" dirty="0">
                <a:solidFill>
                  <a:srgbClr val="193248"/>
                </a:solidFill>
                <a:latin typeface="Arial"/>
              </a:rPr>
              <a:t>povero di O₂ entra nell’</a:t>
            </a:r>
            <a:r>
              <a:rPr lang="it-IT" sz="1700" b="0" u="sng" dirty="0">
                <a:solidFill>
                  <a:srgbClr val="193248"/>
                </a:solidFill>
                <a:latin typeface="Arial"/>
              </a:rPr>
              <a:t>arteria polmonare</a:t>
            </a:r>
            <a:r>
              <a:rPr lang="it-IT" sz="1700" b="0" dirty="0">
                <a:solidFill>
                  <a:srgbClr val="193248"/>
                </a:solidFill>
                <a:latin typeface="Arial"/>
              </a:rPr>
              <a:t> </a:t>
            </a:r>
            <a:r>
              <a:rPr sz="1700" b="0" dirty="0">
                <a:solidFill>
                  <a:srgbClr val="193248"/>
                </a:solidFill>
                <a:latin typeface="Arial"/>
              </a:rPr>
              <a:t>e </a:t>
            </a:r>
            <a:r>
              <a:rPr lang="it-IT" sz="1700" b="0" dirty="0">
                <a:solidFill>
                  <a:srgbClr val="193248"/>
                </a:solidFill>
                <a:latin typeface="Arial"/>
              </a:rPr>
              <a:t>raggiunge i polmoni</a:t>
            </a:r>
            <a:r>
              <a:rPr sz="1700" b="0" dirty="0">
                <a:solidFill>
                  <a:srgbClr val="193248"/>
                </a:solidFill>
                <a:latin typeface="Arial"/>
              </a:rPr>
              <a:t>.</a:t>
            </a:r>
            <a:endParaRPr lang="it-IT" sz="1700" b="0">
              <a:solidFill>
                <a:srgbClr val="193248"/>
              </a:solidFill>
              <a:latin typeface="Arial"/>
            </a:endParaRPr>
          </a:p>
        </p:txBody>
      </p:sp>
      <p:sp>
        <p:nvSpPr>
          <p:cNvPr id="52" name="TextBox 51"/>
          <p:cNvSpPr txBox="1"/>
          <p:nvPr/>
        </p:nvSpPr>
        <p:spPr>
          <a:xfrm>
            <a:off x="6245352" y="3483864"/>
            <a:ext cx="5440680" cy="521207"/>
          </a:xfrm>
          <a:prstGeom prst="rect">
            <a:avLst/>
          </a:prstGeom>
          <a:noFill/>
        </p:spPr>
        <p:txBody>
          <a:bodyPr wrap="square" lIns="0" tIns="0" rIns="0" bIns="0">
            <a:noAutofit/>
          </a:bodyPr>
          <a:lstStyle/>
          <a:p>
            <a:pPr>
              <a:lnSpc>
                <a:spcPts val="2000"/>
              </a:lnSpc>
              <a:spcBef>
                <a:spcPts val="0"/>
              </a:spcBef>
              <a:spcAft>
                <a:spcPts val="300"/>
              </a:spcAft>
            </a:pPr>
            <a:r>
              <a:rPr sz="1800" b="1" dirty="0" err="1">
                <a:solidFill>
                  <a:srgbClr val="123F67"/>
                </a:solidFill>
                <a:latin typeface="Arial"/>
              </a:rPr>
              <a:t>Valvola</a:t>
            </a:r>
            <a:r>
              <a:rPr sz="1800" b="1" dirty="0">
                <a:solidFill>
                  <a:srgbClr val="123F67"/>
                </a:solidFill>
                <a:latin typeface="Arial"/>
              </a:rPr>
              <a:t> </a:t>
            </a:r>
            <a:r>
              <a:rPr sz="1800" b="1" dirty="0" err="1">
                <a:solidFill>
                  <a:srgbClr val="123F67"/>
                </a:solidFill>
                <a:latin typeface="Arial"/>
              </a:rPr>
              <a:t>mitrale</a:t>
            </a:r>
            <a:endParaRPr lang="it-IT" sz="1800" b="1">
              <a:solidFill>
                <a:srgbClr val="123F67"/>
              </a:solidFill>
              <a:latin typeface="Arial"/>
            </a:endParaRPr>
          </a:p>
          <a:p>
            <a:pPr>
              <a:lnSpc>
                <a:spcPts val="2000"/>
              </a:lnSpc>
              <a:spcBef>
                <a:spcPts val="0"/>
              </a:spcBef>
              <a:spcAft>
                <a:spcPts val="0"/>
              </a:spcAft>
            </a:pPr>
            <a:r>
              <a:rPr lang="it-IT" sz="1700" b="0" u="none">
                <a:solidFill>
                  <a:srgbClr val="193248"/>
                </a:solidFill>
                <a:latin typeface="Arial"/>
              </a:rPr>
              <a:t>Passaggio dall’atrio sinistro al </a:t>
            </a:r>
            <a:r>
              <a:rPr lang="it-IT" sz="1700" b="0" u="none" dirty="0">
                <a:solidFill>
                  <a:srgbClr val="193248"/>
                </a:solidFill>
                <a:latin typeface="Arial"/>
              </a:rPr>
              <a:t>ventricolo </a:t>
            </a:r>
            <a:r>
              <a:rPr lang="it-IT" sz="1700" b="0" u="none">
                <a:solidFill>
                  <a:srgbClr val="193248"/>
                </a:solidFill>
                <a:latin typeface="Arial"/>
              </a:rPr>
              <a:t>sinistro.</a:t>
            </a:r>
          </a:p>
        </p:txBody>
      </p:sp>
      <p:sp>
        <p:nvSpPr>
          <p:cNvPr id="53" name="TextBox 52"/>
          <p:cNvSpPr txBox="1"/>
          <p:nvPr/>
        </p:nvSpPr>
        <p:spPr>
          <a:xfrm>
            <a:off x="6245352" y="4709160"/>
            <a:ext cx="5440680" cy="521207"/>
          </a:xfrm>
          <a:prstGeom prst="rect">
            <a:avLst/>
          </a:prstGeom>
          <a:noFill/>
        </p:spPr>
        <p:txBody>
          <a:bodyPr wrap="square" lIns="0" tIns="0" rIns="0" bIns="0">
            <a:noAutofit/>
          </a:bodyPr>
          <a:lstStyle/>
          <a:p>
            <a:pPr>
              <a:lnSpc>
                <a:spcPts val="2000"/>
              </a:lnSpc>
              <a:spcBef>
                <a:spcPts val="0"/>
              </a:spcBef>
              <a:spcAft>
                <a:spcPts val="300"/>
              </a:spcAft>
            </a:pPr>
            <a:r>
              <a:rPr sz="1800" b="1">
                <a:solidFill>
                  <a:srgbClr val="123F67"/>
                </a:solidFill>
                <a:latin typeface="Arial"/>
              </a:rPr>
              <a:t>Valvola aortica</a:t>
            </a:r>
            <a:endParaRPr lang="it-IT" sz="1800" b="1">
              <a:solidFill>
                <a:srgbClr val="123F67"/>
              </a:solidFill>
              <a:latin typeface="Arial"/>
            </a:endParaRPr>
          </a:p>
          <a:p>
            <a:pPr>
              <a:lnSpc>
                <a:spcPts val="2000"/>
              </a:lnSpc>
              <a:spcBef>
                <a:spcPts val="0"/>
              </a:spcBef>
              <a:spcAft>
                <a:spcPts val="0"/>
              </a:spcAft>
            </a:pPr>
            <a:r>
              <a:rPr sz="1700" b="0">
                <a:solidFill>
                  <a:srgbClr val="193248"/>
                </a:solidFill>
                <a:latin typeface="Arial"/>
              </a:rPr>
              <a:t>Il sangue </a:t>
            </a:r>
            <a:r>
              <a:rPr lang="it-IT" sz="1700" b="0">
                <a:solidFill>
                  <a:srgbClr val="193248"/>
                </a:solidFill>
                <a:latin typeface="Arial"/>
              </a:rPr>
              <a:t>ricco di O₂ </a:t>
            </a:r>
            <a:r>
              <a:rPr sz="1700" b="0">
                <a:solidFill>
                  <a:srgbClr val="193248"/>
                </a:solidFill>
                <a:latin typeface="Arial"/>
              </a:rPr>
              <a:t>entra nell’</a:t>
            </a:r>
            <a:r>
              <a:rPr lang="it-IT" sz="1700" b="0" u="sng">
                <a:solidFill>
                  <a:srgbClr val="193248"/>
                </a:solidFill>
                <a:latin typeface="Arial"/>
              </a:rPr>
              <a:t>aorta</a:t>
            </a:r>
            <a:r>
              <a:rPr sz="1700" b="0">
                <a:solidFill>
                  <a:srgbClr val="193248"/>
                </a:solidFill>
                <a:latin typeface="Arial"/>
              </a:rPr>
              <a:t> e </a:t>
            </a:r>
            <a:r>
              <a:rPr lang="it-IT" sz="1700" b="0">
                <a:solidFill>
                  <a:srgbClr val="193248"/>
                </a:solidFill>
                <a:latin typeface="Arial"/>
              </a:rPr>
              <a:t>va al corpo</a:t>
            </a:r>
            <a:r>
              <a:rPr sz="1700" b="0">
                <a:solidFill>
                  <a:srgbClr val="193248"/>
                </a:solidFill>
                <a:latin typeface="Arial"/>
              </a:rPr>
              <a:t>.</a:t>
            </a:r>
            <a:endParaRPr lang="it-IT" sz="1700" b="0">
              <a:solidFill>
                <a:srgbClr val="193248"/>
              </a:solidFill>
              <a:latin typeface="Arial"/>
            </a:endParaRPr>
          </a:p>
        </p:txBody>
      </p:sp>
      <p:sp>
        <p:nvSpPr>
          <p:cNvPr id="54" name="TextBox 53"/>
          <p:cNvSpPr txBox="1"/>
          <p:nvPr/>
        </p:nvSpPr>
        <p:spPr>
          <a:xfrm>
            <a:off x="6245352" y="6163056"/>
            <a:ext cx="5440680" cy="521207"/>
          </a:xfrm>
          <a:prstGeom prst="rect">
            <a:avLst/>
          </a:prstGeom>
          <a:noFill/>
        </p:spPr>
        <p:txBody>
          <a:bodyPr wrap="square" lIns="0" tIns="0" rIns="0" bIns="0">
            <a:noAutofit/>
          </a:bodyPr>
          <a:lstStyle/>
          <a:p>
            <a:pPr>
              <a:lnSpc>
                <a:spcPts val="2000"/>
              </a:lnSpc>
              <a:spcBef>
                <a:spcPts val="0"/>
              </a:spcBef>
              <a:spcAft>
                <a:spcPts val="300"/>
              </a:spcAft>
            </a:pPr>
            <a:r>
              <a:rPr sz="1800" b="1">
                <a:solidFill>
                  <a:srgbClr val="123F67"/>
                </a:solidFill>
                <a:latin typeface="Arial"/>
              </a:rPr>
              <a:t>Valvola tricuspide</a:t>
            </a:r>
            <a:endParaRPr lang="it-IT" sz="1800" b="1">
              <a:solidFill>
                <a:srgbClr val="123F67"/>
              </a:solidFill>
              <a:latin typeface="Arial"/>
            </a:endParaRPr>
          </a:p>
          <a:p>
            <a:pPr>
              <a:lnSpc>
                <a:spcPts val="2000"/>
              </a:lnSpc>
              <a:spcBef>
                <a:spcPts val="0"/>
              </a:spcBef>
              <a:spcAft>
                <a:spcPts val="0"/>
              </a:spcAft>
            </a:pPr>
            <a:r>
              <a:rPr lang="it-IT" sz="1700" b="0" u="none">
                <a:solidFill>
                  <a:srgbClr val="193248"/>
                </a:solidFill>
                <a:latin typeface="Arial"/>
              </a:rPr>
              <a:t>Passaggio dall’atrio destro al ventricolo destro.</a:t>
            </a:r>
          </a:p>
        </p:txBody>
      </p:sp>
      <p:sp>
        <p:nvSpPr>
          <p:cNvPr id="55" name="TextBox 54"/>
          <p:cNvSpPr txBox="1"/>
          <p:nvPr/>
        </p:nvSpPr>
        <p:spPr>
          <a:xfrm>
            <a:off x="6245352" y="1682496"/>
            <a:ext cx="5440680" cy="274320"/>
          </a:xfrm>
          <a:prstGeom prst="rect">
            <a:avLst/>
          </a:prstGeom>
          <a:noFill/>
        </p:spPr>
        <p:txBody>
          <a:bodyPr wrap="square" lIns="0" tIns="0" rIns="0" bIns="0">
            <a:noAutofit/>
          </a:bodyPr>
          <a:lstStyle/>
          <a:p>
            <a:pPr>
              <a:lnSpc>
                <a:spcPts val="2000"/>
              </a:lnSpc>
              <a:spcBef>
                <a:spcPts val="0"/>
              </a:spcBef>
              <a:spcAft>
                <a:spcPts val="0"/>
              </a:spcAft>
            </a:pPr>
            <a:r>
              <a:rPr lang="it-IT" sz="1700" dirty="0">
                <a:solidFill>
                  <a:srgbClr val="193248"/>
                </a:solidFill>
                <a:latin typeface="Arial"/>
              </a:rPr>
              <a:t>Contiene il sangue povero di O₂.</a:t>
            </a:r>
          </a:p>
        </p:txBody>
      </p:sp>
      <p:sp>
        <p:nvSpPr>
          <p:cNvPr id="56" name="TextBox 55"/>
          <p:cNvSpPr txBox="1"/>
          <p:nvPr/>
        </p:nvSpPr>
        <p:spPr>
          <a:xfrm>
            <a:off x="6245352" y="3163824"/>
            <a:ext cx="5440680" cy="274320"/>
          </a:xfrm>
          <a:prstGeom prst="rect">
            <a:avLst/>
          </a:prstGeom>
          <a:noFill/>
        </p:spPr>
        <p:txBody>
          <a:bodyPr wrap="square" lIns="0" tIns="0" rIns="0" bIns="0">
            <a:noAutofit/>
          </a:bodyPr>
          <a:lstStyle/>
          <a:p>
            <a:pPr>
              <a:lnSpc>
                <a:spcPts val="2000"/>
              </a:lnSpc>
              <a:spcBef>
                <a:spcPts val="0"/>
              </a:spcBef>
              <a:spcAft>
                <a:spcPts val="0"/>
              </a:spcAft>
            </a:pPr>
            <a:r>
              <a:rPr sz="1700" b="0" u="none" dirty="0" err="1">
                <a:solidFill>
                  <a:srgbClr val="193248"/>
                </a:solidFill>
                <a:latin typeface="Arial"/>
              </a:rPr>
              <a:t>Riceve</a:t>
            </a:r>
            <a:r>
              <a:rPr lang="it-IT" sz="1700" b="0" u="none" err="1">
                <a:solidFill>
                  <a:srgbClr val="193248"/>
                </a:solidFill>
                <a:latin typeface="Arial"/>
              </a:rPr>
              <a:t> il </a:t>
            </a:r>
            <a:r>
              <a:rPr sz="1700" b="0" u="none" dirty="0" err="1">
                <a:solidFill>
                  <a:srgbClr val="193248"/>
                </a:solidFill>
                <a:latin typeface="Arial"/>
              </a:rPr>
              <a:t>sangue</a:t>
            </a:r>
            <a:r>
              <a:rPr lang="it-IT" sz="1700" b="0" u="none" err="1">
                <a:solidFill>
                  <a:srgbClr val="193248"/>
                </a:solidFill>
                <a:latin typeface="Arial"/>
              </a:rPr>
              <a:t> </a:t>
            </a:r>
            <a:r>
              <a:rPr sz="1700" b="0" u="none" dirty="0" err="1">
                <a:solidFill>
                  <a:srgbClr val="193248"/>
                </a:solidFill>
                <a:latin typeface="Arial"/>
              </a:rPr>
              <a:t>ricco</a:t>
            </a:r>
            <a:r>
              <a:rPr lang="it-IT" sz="1700" b="0" u="none" err="1">
                <a:solidFill>
                  <a:srgbClr val="193248"/>
                </a:solidFill>
                <a:latin typeface="Arial"/>
              </a:rPr>
              <a:t> di O₂ dalle </a:t>
            </a:r>
            <a:r>
              <a:rPr lang="it-IT" sz="1700" b="0" u="sng" err="1">
                <a:solidFill>
                  <a:srgbClr val="193248"/>
                </a:solidFill>
                <a:latin typeface="Arial"/>
              </a:rPr>
              <a:t>vene polmonari</a:t>
            </a:r>
            <a:r>
              <a:rPr lang="it-IT" sz="1700" b="0" u="none" err="1">
                <a:solidFill>
                  <a:srgbClr val="193248"/>
                </a:solidFill>
                <a:latin typeface="Arial"/>
              </a:rPr>
              <a:t>.</a:t>
            </a:r>
          </a:p>
        </p:txBody>
      </p:sp>
      <p:sp>
        <p:nvSpPr>
          <p:cNvPr id="57" name="Descrizione ventricolo sinistro"/>
          <p:cNvSpPr txBox="1"/>
          <p:nvPr/>
        </p:nvSpPr>
        <p:spPr>
          <a:xfrm>
            <a:off x="6245352" y="4389120"/>
            <a:ext cx="5440680" cy="274320"/>
          </a:xfrm>
          <a:prstGeom prst="rect">
            <a:avLst/>
          </a:prstGeom>
          <a:noFill/>
        </p:spPr>
        <p:txBody>
          <a:bodyPr wrap="square" lIns="0" tIns="0" rIns="0" bIns="0">
            <a:noAutofit/>
          </a:bodyPr>
          <a:lstStyle/>
          <a:p>
            <a:pPr>
              <a:lnSpc>
                <a:spcPts val="2000"/>
              </a:lnSpc>
              <a:spcBef>
                <a:spcPts val="0"/>
              </a:spcBef>
              <a:spcAft>
                <a:spcPts val="0"/>
              </a:spcAft>
            </a:pPr>
            <a:r>
              <a:rPr lang="it-IT" sz="1700" b="0" u="none" err="1">
                <a:solidFill>
                  <a:srgbClr val="193248"/>
                </a:solidFill>
                <a:latin typeface="Arial"/>
              </a:rPr>
              <a:t>Contiene </a:t>
            </a:r>
            <a:r>
              <a:rPr sz="1700" b="0" u="none" dirty="0" err="1">
                <a:solidFill>
                  <a:srgbClr val="193248"/>
                </a:solidFill>
                <a:latin typeface="Arial"/>
              </a:rPr>
              <a:t>sangue</a:t>
            </a:r>
            <a:r>
              <a:rPr lang="it-IT" sz="1700" b="0" u="none" err="1">
                <a:solidFill>
                  <a:srgbClr val="193248"/>
                </a:solidFill>
                <a:latin typeface="Arial"/>
              </a:rPr>
              <a:t> </a:t>
            </a:r>
            <a:r>
              <a:rPr sz="1700" b="0" u="none" dirty="0" err="1">
                <a:solidFill>
                  <a:srgbClr val="193248"/>
                </a:solidFill>
                <a:latin typeface="Arial"/>
              </a:rPr>
              <a:t>ricco</a:t>
            </a:r>
            <a:r>
              <a:rPr lang="it-IT" sz="1700" b="0" u="none" err="1">
                <a:solidFill>
                  <a:srgbClr val="193248"/>
                </a:solidFill>
                <a:latin typeface="Arial"/>
              </a:rPr>
              <a:t> di O₂.</a:t>
            </a:r>
            <a:endParaRPr lang="it-IT" sz="1700" b="0" u="none">
              <a:solidFill>
                <a:srgbClr val="193248"/>
              </a:solidFill>
              <a:latin typeface="Arial"/>
            </a:endParaRPr>
          </a:p>
        </p:txBody>
      </p:sp>
      <p:sp>
        <p:nvSpPr>
          <p:cNvPr id="58" name="TextBox 57"/>
          <p:cNvSpPr txBox="1"/>
          <p:nvPr/>
        </p:nvSpPr>
        <p:spPr>
          <a:xfrm>
            <a:off x="6245352" y="5605272"/>
            <a:ext cx="5440680" cy="521207"/>
          </a:xfrm>
          <a:prstGeom prst="rect">
            <a:avLst/>
          </a:prstGeom>
          <a:noFill/>
        </p:spPr>
        <p:txBody>
          <a:bodyPr wrap="square" lIns="0" tIns="0" rIns="0" bIns="0">
            <a:noAutofit/>
          </a:bodyPr>
          <a:lstStyle/>
          <a:p>
            <a:pPr>
              <a:lnSpc>
                <a:spcPts val="2000"/>
              </a:lnSpc>
              <a:spcBef>
                <a:spcPts val="0"/>
              </a:spcBef>
              <a:spcAft>
                <a:spcPts val="0"/>
              </a:spcAft>
            </a:pPr>
            <a:r>
              <a:rPr sz="1700" b="0" u="none">
                <a:solidFill>
                  <a:srgbClr val="193248"/>
                </a:solidFill>
                <a:latin typeface="Arial"/>
              </a:rPr>
              <a:t>Riceve sangue povero di O₂ dalla periferia attraverso le </a:t>
            </a:r>
            <a:r>
              <a:rPr sz="1700" b="0" u="sng">
                <a:solidFill>
                  <a:srgbClr val="193248"/>
                </a:solidFill>
                <a:latin typeface="Arial"/>
              </a:rPr>
              <a:t>vene cave inferiore e superiore</a:t>
            </a:r>
            <a:r>
              <a:rPr sz="1700" b="0" u="none">
                <a:solidFill>
                  <a:srgbClr val="193248"/>
                </a:solidFill>
                <a:latin typeface="Arial"/>
              </a:rPr>
              <a:t>.</a:t>
            </a:r>
            <a:endParaRPr lang="it-IT" sz="1700" b="0" u="none">
              <a:solidFill>
                <a:srgbClr val="193248"/>
              </a:solidFill>
              <a:latin typeface="Arial"/>
            </a:endParaRPr>
          </a:p>
        </p:txBody>
      </p:sp>
    </p:spTree>
    <p:extLst>
      <p:ext uri="{BB962C8B-B14F-4D97-AF65-F5344CB8AC3E}">
        <p14:creationId xmlns:p14="http://schemas.microsoft.com/office/powerpoint/2010/main" val="1100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0000000B-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B-0002-4000-8000-000000000000}"/>
              </a:ext>
            </a:extLst>
          </p:cNvPr>
          <p:cNvSpPr>
            <a:spLocks noGrp="1"/>
          </p:cNvSpPr>
          <p:nvPr/>
        </p:nvSpPr>
        <p:spPr>
          <a:xfrm>
            <a:off x="609600" y="22860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2 DI 7</a:t>
            </a:r>
          </a:p>
        </p:txBody>
      </p:sp>
      <p:sp>
        <p:nvSpPr>
          <p:cNvPr id="3" name="Rettangolo 2">
            <a:extLst>
              <a:ext uri="{FF2B5EF4-FFF2-40B4-BE49-F238E27FC236}">
                <a16:creationId xmlns:a16="http://schemas.microsoft.com/office/drawing/2014/main" id="{0000000B-0003-4000-8000-000000000000}"/>
              </a:ext>
            </a:extLst>
          </p:cNvPr>
          <p:cNvSpPr>
            <a:spLocks noGrp="1"/>
          </p:cNvSpPr>
          <p:nvPr/>
        </p:nvSpPr>
        <p:spPr>
          <a:xfrm>
            <a:off x="609600" y="561975"/>
            <a:ext cx="10972800" cy="495300"/>
          </a:xfrm>
          <a:prstGeom prst="rect">
            <a:avLst/>
          </a:prstGeom>
          <a:noFill/>
          <a:ln w="0">
            <a:noFill/>
          </a:ln>
        </p:spPr>
        <p:txBody>
          <a:bodyPr>
            <a:noAutofit/>
          </a:bodyPr>
          <a:lstStyle/>
          <a:p>
            <a:pPr>
              <a:defRPr sz="3225" b="1">
                <a:solidFill>
                  <a:srgbClr val="123F67"/>
                </a:solidFill>
                <a:latin typeface="Arial"/>
                <a:ea typeface="Arial"/>
                <a:cs typeface="Arial"/>
              </a:defRPr>
            </a:pPr>
            <a:r>
              <a:rPr lang="it-IT" sz="3225" b="1">
                <a:solidFill>
                  <a:srgbClr val="123F67"/>
                </a:solidFill>
                <a:latin typeface="Arial"/>
                <a:ea typeface="Arial"/>
                <a:cs typeface="Arial"/>
              </a:rPr>
              <a:t>Apparato cardiocircolatorio: la circolazione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B-0004-4000-8000-000000000000}"/>
              </a:ext>
            </a:extLst>
          </p:cNvPr>
          <p:cNvSpPr>
            <a:spLocks noGrp="1"/>
          </p:cNvSpPr>
          <p:nvPr/>
        </p:nvSpPr>
        <p:spPr>
          <a:xfrm>
            <a:off x="609600" y="116205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B-0005-4000-8000-000000000000}"/>
              </a:ext>
            </a:extLst>
          </p:cNvPr>
          <p:cNvSpPr>
            <a:spLocks noGrp="1"/>
          </p:cNvSpPr>
          <p:nvPr/>
        </p:nvSpPr>
        <p:spPr>
          <a:xfrm>
            <a:off x="704088" y="6601968"/>
            <a:ext cx="9906000" cy="190500"/>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B-0006-4000-8000-000000000000}"/>
              </a:ext>
            </a:extLst>
          </p:cNvPr>
          <p:cNvSpPr>
            <a:spLocks noGrp="1"/>
          </p:cNvSpPr>
          <p:nvPr/>
        </p:nvSpPr>
        <p:spPr>
          <a:xfrm>
            <a:off x="11049000" y="6583680"/>
            <a:ext cx="523875" cy="209550"/>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32</a:t>
            </a:r>
            <a:endParaRPr sz="1350" b="1">
              <a:solidFill>
                <a:srgbClr val="123F67"/>
              </a:solidFill>
              <a:latin typeface="Arial"/>
              <a:ea typeface="Arial"/>
              <a:cs typeface="Arial"/>
            </a:endParaRPr>
          </a:p>
        </p:txBody>
      </p:sp>
      <p:pic>
        <p:nvPicPr>
          <p:cNvPr id="41" name="Picture 40" descr="Schema della piccola e grande circolazione fornito dall’utente, con polmoni, cuore, aorta, vene cave e direzione del flusso."/>
          <p:cNvPicPr>
            <a:picLocks noChangeAspect="1"/>
          </p:cNvPicPr>
          <p:nvPr/>
        </p:nvPicPr>
        <p:blipFill>
          <a:blip r:embed="rId3"/>
          <a:srcRect t="6510" b="4688"/>
          <a:stretch>
            <a:fillRect/>
          </a:stretch>
        </p:blipFill>
        <p:spPr>
          <a:xfrm>
            <a:off x="287493" y="1200150"/>
            <a:ext cx="4343951" cy="5372100"/>
          </a:xfrm>
          <a:prstGeom prst="rect">
            <a:avLst/>
          </a:prstGeom>
        </p:spPr>
      </p:pic>
      <p:sp>
        <p:nvSpPr>
          <p:cNvPr id="26" name="TextBox 25"/>
          <p:cNvSpPr txBox="1"/>
          <p:nvPr/>
        </p:nvSpPr>
        <p:spPr>
          <a:xfrm>
            <a:off x="5383188" y="5739511"/>
            <a:ext cx="3505497" cy="281179"/>
          </a:xfrm>
          <a:prstGeom prst="rect">
            <a:avLst/>
          </a:prstGeom>
          <a:noFill/>
        </p:spPr>
        <p:txBody>
          <a:bodyPr wrap="square" lIns="0" tIns="0" rIns="0" bIns="0" anchor="t">
            <a:noAutofit/>
          </a:bodyPr>
          <a:lstStyle/>
          <a:p>
            <a:pPr>
              <a:defRPr sz="1800" b="1">
                <a:solidFill>
                  <a:srgbClr val="123F67"/>
                </a:solidFill>
                <a:latin typeface="Arial"/>
              </a:defRPr>
            </a:pPr>
            <a:r>
              <a:rPr lang="it-IT" sz="1700" dirty="0"/>
              <a:t>Vasi sanguigni:</a:t>
            </a:r>
          </a:p>
        </p:txBody>
      </p:sp>
      <p:sp>
        <p:nvSpPr>
          <p:cNvPr id="27" name="TextBox 26"/>
          <p:cNvSpPr txBox="1"/>
          <p:nvPr/>
        </p:nvSpPr>
        <p:spPr>
          <a:xfrm>
            <a:off x="5392788" y="6009900"/>
            <a:ext cx="3617010" cy="594360"/>
          </a:xfrm>
          <a:prstGeom prst="rect">
            <a:avLst/>
          </a:prstGeom>
          <a:noFill/>
        </p:spPr>
        <p:txBody>
          <a:bodyPr wrap="square" lIns="0" tIns="0" rIns="0" bIns="0" anchor="t">
            <a:noAutofit/>
          </a:bodyPr>
          <a:lstStyle/>
          <a:p>
            <a:pPr marL="171450" indent="-142875">
              <a:lnSpc>
                <a:spcPct val="100000"/>
              </a:lnSpc>
              <a:spcBef>
                <a:spcPts val="0"/>
              </a:spcBef>
              <a:spcAft>
                <a:spcPts val="0"/>
              </a:spcAft>
              <a:buChar char="•"/>
              <a:defRPr sz="1600" b="0">
                <a:solidFill>
                  <a:srgbClr val="193248"/>
                </a:solidFill>
                <a:latin typeface="Arial"/>
              </a:defRPr>
            </a:pPr>
            <a:r>
              <a:rPr lang="it-IT" sz="1500" b="1"/>
              <a:t>Arterie:</a:t>
            </a:r>
            <a:r>
              <a:rPr lang="it-IT" sz="1500" dirty="0"/>
              <a:t> partono dal cuore.</a:t>
            </a:r>
          </a:p>
          <a:p>
            <a:pPr marL="171450" indent="-142875">
              <a:lnSpc>
                <a:spcPct val="100000"/>
              </a:lnSpc>
              <a:spcBef>
                <a:spcPts val="0"/>
              </a:spcBef>
              <a:spcAft>
                <a:spcPts val="0"/>
              </a:spcAft>
              <a:buChar char="•"/>
              <a:defRPr sz="1600" b="0">
                <a:solidFill>
                  <a:srgbClr val="193248"/>
                </a:solidFill>
                <a:latin typeface="Arial"/>
              </a:defRPr>
            </a:pPr>
            <a:r>
              <a:rPr lang="it-IT" sz="1500" b="1"/>
              <a:t>Vene:</a:t>
            </a:r>
            <a:r>
              <a:rPr lang="it-IT" sz="1500" dirty="0"/>
              <a:t> </a:t>
            </a:r>
            <a:r>
              <a:rPr lang="it-IT" sz="1500"/>
              <a:t>riportano </a:t>
            </a:r>
            <a:r>
              <a:rPr lang="it-IT" sz="1500" dirty="0"/>
              <a:t>il</a:t>
            </a:r>
            <a:r>
              <a:rPr lang="it-IT" sz="1500"/>
              <a:t> sangue al</a:t>
            </a:r>
            <a:r>
              <a:rPr lang="it-IT" sz="1500" dirty="0"/>
              <a:t> cuore.</a:t>
            </a:r>
          </a:p>
          <a:p>
            <a:pPr marL="171450" indent="-142875">
              <a:lnSpc>
                <a:spcPct val="100000"/>
              </a:lnSpc>
              <a:spcBef>
                <a:spcPts val="0"/>
              </a:spcBef>
              <a:spcAft>
                <a:spcPts val="0"/>
              </a:spcAft>
              <a:buChar char="•"/>
              <a:defRPr sz="1600" b="0">
                <a:solidFill>
                  <a:srgbClr val="193248"/>
                </a:solidFill>
                <a:latin typeface="Arial"/>
              </a:defRPr>
            </a:pPr>
            <a:r>
              <a:rPr lang="it-IT" sz="1500" b="1"/>
              <a:t>Capillari:</a:t>
            </a:r>
            <a:r>
              <a:rPr lang="it-IT" sz="1500" dirty="0"/>
              <a:t> scambi gassosi per diffusione.</a:t>
            </a:r>
          </a:p>
        </p:txBody>
      </p:sp>
      <p:sp>
        <p:nvSpPr>
          <p:cNvPr id="29" name="TextBox 28"/>
          <p:cNvSpPr txBox="1"/>
          <p:nvPr/>
        </p:nvSpPr>
        <p:spPr>
          <a:xfrm>
            <a:off x="2857342" y="6039740"/>
            <a:ext cx="3262104" cy="184666"/>
          </a:xfrm>
          <a:prstGeom prst="rect">
            <a:avLst/>
          </a:prstGeom>
          <a:noFill/>
        </p:spPr>
        <p:txBody>
          <a:bodyPr wrap="square" tIns="0" bIns="0">
            <a:spAutoFit/>
          </a:bodyPr>
          <a:lstStyle/>
          <a:p>
            <a:pPr>
              <a:defRPr sz="1600">
                <a:solidFill>
                  <a:srgbClr val="C72C4B"/>
                </a:solidFill>
                <a:latin typeface="Arial"/>
              </a:defRPr>
            </a:pPr>
            <a:r>
              <a:rPr lang="it-IT" sz="1200" dirty="0">
                <a:solidFill>
                  <a:srgbClr val="C72C4B"/>
                </a:solidFill>
              </a:rPr>
              <a:t>Rosso: ricco di ossigeno</a:t>
            </a:r>
          </a:p>
        </p:txBody>
      </p:sp>
      <p:sp>
        <p:nvSpPr>
          <p:cNvPr id="30" name="TextBox 29"/>
          <p:cNvSpPr txBox="1"/>
          <p:nvPr/>
        </p:nvSpPr>
        <p:spPr>
          <a:xfrm>
            <a:off x="287493" y="6034691"/>
            <a:ext cx="3262104" cy="184666"/>
          </a:xfrm>
          <a:prstGeom prst="rect">
            <a:avLst/>
          </a:prstGeom>
          <a:noFill/>
        </p:spPr>
        <p:txBody>
          <a:bodyPr wrap="square" tIns="0" bIns="0">
            <a:spAutoFit/>
          </a:bodyPr>
          <a:lstStyle/>
          <a:p>
            <a:pPr>
              <a:defRPr sz="1600">
                <a:solidFill>
                  <a:srgbClr val="287EAB"/>
                </a:solidFill>
                <a:latin typeface="Arial"/>
              </a:defRPr>
            </a:pPr>
            <a:r>
              <a:rPr lang="it-IT" sz="1200" dirty="0">
                <a:solidFill>
                  <a:srgbClr val="287EAB"/>
                </a:solidFill>
              </a:rPr>
              <a:t>Blu: povero di ossigeno</a:t>
            </a:r>
          </a:p>
        </p:txBody>
      </p:sp>
      <p:sp>
        <p:nvSpPr>
          <p:cNvPr id="43" name="TextBox 42"/>
          <p:cNvSpPr txBox="1"/>
          <p:nvPr/>
        </p:nvSpPr>
        <p:spPr>
          <a:xfrm>
            <a:off x="4800600" y="1444752"/>
            <a:ext cx="6611112" cy="365760"/>
          </a:xfrm>
          <a:prstGeom prst="rect">
            <a:avLst/>
          </a:prstGeom>
          <a:noFill/>
        </p:spPr>
        <p:txBody>
          <a:bodyPr wrap="square" lIns="0" tIns="0" rIns="0" bIns="0" anchor="ctr">
            <a:noAutofit/>
          </a:bodyPr>
          <a:lstStyle/>
          <a:p>
            <a:pPr algn="l"/>
            <a:r>
              <a:rPr lang="it-IT" sz="1850" b="1">
                <a:solidFill>
                  <a:srgbClr val="123F67"/>
                </a:solidFill>
                <a:latin typeface="Arial"/>
              </a:rPr>
              <a:t>Circolo polmonare (piccola circolazione)</a:t>
            </a:r>
          </a:p>
        </p:txBody>
      </p:sp>
      <p:sp>
        <p:nvSpPr>
          <p:cNvPr id="44" name="TextBox 43"/>
          <p:cNvSpPr txBox="1"/>
          <p:nvPr/>
        </p:nvSpPr>
        <p:spPr>
          <a:xfrm>
            <a:off x="4800600" y="1956816"/>
            <a:ext cx="1165177" cy="548640"/>
          </a:xfrm>
          <a:prstGeom prst="rect">
            <a:avLst/>
          </a:prstGeom>
          <a:noFill/>
        </p:spPr>
        <p:txBody>
          <a:bodyPr wrap="square" lIns="0" tIns="0" rIns="0" bIns="0" anchor="ctr">
            <a:noAutofit/>
          </a:bodyPr>
          <a:lstStyle/>
          <a:p>
            <a:pPr algn="ctr">
              <a:lnSpc>
                <a:spcPct val="100000"/>
              </a:lnSpc>
            </a:pPr>
            <a:r>
              <a:rPr lang="it-IT" sz="1600" b="1">
                <a:solidFill>
                  <a:srgbClr val="287EAB"/>
                </a:solidFill>
                <a:latin typeface="Arial"/>
              </a:rPr>
              <a:t>Ventricolo
destro</a:t>
            </a:r>
          </a:p>
        </p:txBody>
      </p:sp>
      <p:sp>
        <p:nvSpPr>
          <p:cNvPr id="45" name="Rectangle 44"/>
          <p:cNvSpPr>
            <a:spLocks/>
          </p:cNvSpPr>
          <p:nvPr/>
        </p:nvSpPr>
        <p:spPr>
          <a:xfrm>
            <a:off x="4800600" y="2953512"/>
            <a:ext cx="1165177" cy="28575"/>
          </a:xfrm>
          <a:prstGeom prst="rect">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46" name="Chevron 45"/>
          <p:cNvSpPr>
            <a:spLocks/>
          </p:cNvSpPr>
          <p:nvPr/>
        </p:nvSpPr>
        <p:spPr>
          <a:xfrm>
            <a:off x="6012215" y="2153412"/>
            <a:ext cx="143536" cy="160020"/>
          </a:xfrm>
          <a:prstGeom prst="chevron">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47" name="TextBox 46"/>
          <p:cNvSpPr txBox="1"/>
          <p:nvPr/>
        </p:nvSpPr>
        <p:spPr>
          <a:xfrm>
            <a:off x="6092426" y="1956816"/>
            <a:ext cx="1300270" cy="548640"/>
          </a:xfrm>
          <a:prstGeom prst="rect">
            <a:avLst/>
          </a:prstGeom>
          <a:noFill/>
        </p:spPr>
        <p:txBody>
          <a:bodyPr wrap="square" lIns="0" tIns="0" rIns="0" bIns="0" anchor="ctr">
            <a:noAutofit/>
          </a:bodyPr>
          <a:lstStyle/>
          <a:p>
            <a:pPr algn="ctr">
              <a:lnSpc>
                <a:spcPct val="100000"/>
              </a:lnSpc>
            </a:pPr>
            <a:r>
              <a:rPr lang="it-IT" sz="1600" b="0">
                <a:solidFill>
                  <a:srgbClr val="287EAB"/>
                </a:solidFill>
                <a:latin typeface="Arial"/>
              </a:rPr>
              <a:t>Arterie
polmonari</a:t>
            </a:r>
          </a:p>
        </p:txBody>
      </p:sp>
      <p:sp>
        <p:nvSpPr>
          <p:cNvPr id="48" name="Rectangle 47"/>
          <p:cNvSpPr/>
          <p:nvPr/>
        </p:nvSpPr>
        <p:spPr>
          <a:xfrm>
            <a:off x="6159973" y="2953512"/>
            <a:ext cx="1165177" cy="28575"/>
          </a:xfrm>
          <a:prstGeom prst="rect">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Chevron 48"/>
          <p:cNvSpPr/>
          <p:nvPr/>
        </p:nvSpPr>
        <p:spPr>
          <a:xfrm>
            <a:off x="7371588" y="2153412"/>
            <a:ext cx="143536" cy="160020"/>
          </a:xfrm>
          <a:prstGeom prst="chevron">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527789" y="1956816"/>
            <a:ext cx="1165177" cy="548640"/>
          </a:xfrm>
          <a:prstGeom prst="rect">
            <a:avLst/>
          </a:prstGeom>
          <a:noFill/>
        </p:spPr>
        <p:txBody>
          <a:bodyPr wrap="square" lIns="0" tIns="0" rIns="0" bIns="0" anchor="ctr">
            <a:noAutofit/>
          </a:bodyPr>
          <a:lstStyle/>
          <a:p>
            <a:pPr algn="ctr">
              <a:lnSpc>
                <a:spcPct val="100000"/>
              </a:lnSpc>
            </a:pPr>
            <a:r>
              <a:rPr lang="it-IT" sz="1600" b="1">
                <a:solidFill>
                  <a:srgbClr val="123F67"/>
                </a:solidFill>
                <a:latin typeface="Arial"/>
              </a:rPr>
              <a:t>Capillari
dei polmoni</a:t>
            </a:r>
          </a:p>
        </p:txBody>
      </p:sp>
      <p:sp>
        <p:nvSpPr>
          <p:cNvPr id="51" name="Rectangle 50"/>
          <p:cNvSpPr/>
          <p:nvPr/>
        </p:nvSpPr>
        <p:spPr>
          <a:xfrm>
            <a:off x="7527789" y="2953512"/>
            <a:ext cx="1165177" cy="28575"/>
          </a:xfrm>
          <a:prstGeom prst="rect">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hevron 51"/>
          <p:cNvSpPr/>
          <p:nvPr/>
        </p:nvSpPr>
        <p:spPr>
          <a:xfrm>
            <a:off x="8739404" y="2153412"/>
            <a:ext cx="143536" cy="160020"/>
          </a:xfrm>
          <a:prstGeom prst="chevron">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887162" y="1956816"/>
            <a:ext cx="1165177" cy="548640"/>
          </a:xfrm>
          <a:prstGeom prst="rect">
            <a:avLst/>
          </a:prstGeom>
          <a:noFill/>
        </p:spPr>
        <p:txBody>
          <a:bodyPr wrap="square" lIns="0" tIns="0" rIns="0" bIns="0" anchor="ctr">
            <a:noAutofit/>
          </a:bodyPr>
          <a:lstStyle/>
          <a:p>
            <a:pPr algn="ctr">
              <a:lnSpc>
                <a:spcPct val="100000"/>
              </a:lnSpc>
            </a:pPr>
            <a:r>
              <a:rPr lang="it-IT" sz="1600" b="0">
                <a:solidFill>
                  <a:srgbClr val="C72C4B"/>
                </a:solidFill>
                <a:latin typeface="Arial"/>
              </a:rPr>
              <a:t>Vene
polmonari</a:t>
            </a:r>
          </a:p>
        </p:txBody>
      </p:sp>
      <p:sp>
        <p:nvSpPr>
          <p:cNvPr id="54" name="Rectangle 53"/>
          <p:cNvSpPr/>
          <p:nvPr/>
        </p:nvSpPr>
        <p:spPr>
          <a:xfrm>
            <a:off x="8887162" y="2953512"/>
            <a:ext cx="1165177" cy="28575"/>
          </a:xfrm>
          <a:prstGeom prst="rect">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Chevron 54"/>
          <p:cNvSpPr/>
          <p:nvPr/>
        </p:nvSpPr>
        <p:spPr>
          <a:xfrm>
            <a:off x="10098777" y="2153412"/>
            <a:ext cx="143536" cy="160020"/>
          </a:xfrm>
          <a:prstGeom prst="chevron">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246535" y="1956816"/>
            <a:ext cx="1165177" cy="548640"/>
          </a:xfrm>
          <a:prstGeom prst="rect">
            <a:avLst/>
          </a:prstGeom>
          <a:noFill/>
        </p:spPr>
        <p:txBody>
          <a:bodyPr wrap="square" lIns="0" tIns="0" rIns="0" bIns="0" anchor="ctr">
            <a:noAutofit/>
          </a:bodyPr>
          <a:lstStyle/>
          <a:p>
            <a:pPr algn="ctr">
              <a:lnSpc>
                <a:spcPct val="100000"/>
              </a:lnSpc>
            </a:pPr>
            <a:r>
              <a:rPr lang="it-IT" sz="1600" b="1">
                <a:solidFill>
                  <a:srgbClr val="C72C4B"/>
                </a:solidFill>
                <a:latin typeface="Arial"/>
              </a:rPr>
              <a:t>Atrio
sinistro</a:t>
            </a:r>
          </a:p>
        </p:txBody>
      </p:sp>
      <p:sp>
        <p:nvSpPr>
          <p:cNvPr id="57" name="Rectangle 56"/>
          <p:cNvSpPr/>
          <p:nvPr/>
        </p:nvSpPr>
        <p:spPr>
          <a:xfrm>
            <a:off x="10246535" y="2953512"/>
            <a:ext cx="1165177" cy="28575"/>
          </a:xfrm>
          <a:prstGeom prst="rect">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800600" y="3044952"/>
            <a:ext cx="6611112" cy="310896"/>
          </a:xfrm>
          <a:prstGeom prst="rect">
            <a:avLst/>
          </a:prstGeom>
          <a:noFill/>
        </p:spPr>
        <p:txBody>
          <a:bodyPr wrap="square" lIns="0" tIns="0" rIns="0" bIns="0" anchor="ctr">
            <a:noAutofit/>
          </a:bodyPr>
          <a:lstStyle/>
          <a:p>
            <a:pPr algn="ctr"/>
            <a:r>
              <a:rPr lang="it-IT" sz="1500" b="0">
                <a:solidFill>
                  <a:srgbClr val="193248"/>
                </a:solidFill>
                <a:latin typeface="Arial"/>
              </a:rPr>
              <a:t>Negli alveoli: il sangue acquista O₂ e cede CO₂.</a:t>
            </a:r>
          </a:p>
        </p:txBody>
      </p:sp>
      <p:sp>
        <p:nvSpPr>
          <p:cNvPr id="59" name="TextBox 58"/>
          <p:cNvSpPr txBox="1"/>
          <p:nvPr/>
        </p:nvSpPr>
        <p:spPr>
          <a:xfrm>
            <a:off x="4800600" y="3520440"/>
            <a:ext cx="6611112" cy="365760"/>
          </a:xfrm>
          <a:prstGeom prst="rect">
            <a:avLst/>
          </a:prstGeom>
          <a:noFill/>
        </p:spPr>
        <p:txBody>
          <a:bodyPr wrap="square" lIns="0" tIns="0" rIns="0" bIns="0" anchor="ctr">
            <a:noAutofit/>
          </a:bodyPr>
          <a:lstStyle/>
          <a:p>
            <a:pPr algn="l"/>
            <a:r>
              <a:rPr lang="it-IT" sz="1850" b="1">
                <a:solidFill>
                  <a:srgbClr val="123F67"/>
                </a:solidFill>
                <a:latin typeface="Arial"/>
              </a:rPr>
              <a:t>Circolo sistemico (grande circolazione)</a:t>
            </a:r>
          </a:p>
        </p:txBody>
      </p:sp>
      <p:sp>
        <p:nvSpPr>
          <p:cNvPr id="60" name="TextBox 59"/>
          <p:cNvSpPr txBox="1"/>
          <p:nvPr/>
        </p:nvSpPr>
        <p:spPr>
          <a:xfrm>
            <a:off x="4800600" y="4023360"/>
            <a:ext cx="1165177" cy="548640"/>
          </a:xfrm>
          <a:prstGeom prst="rect">
            <a:avLst/>
          </a:prstGeom>
          <a:noFill/>
        </p:spPr>
        <p:txBody>
          <a:bodyPr wrap="square" lIns="0" tIns="0" rIns="0" bIns="0" anchor="ctr">
            <a:noAutofit/>
          </a:bodyPr>
          <a:lstStyle/>
          <a:p>
            <a:pPr algn="ctr">
              <a:lnSpc>
                <a:spcPct val="100000"/>
              </a:lnSpc>
            </a:pPr>
            <a:r>
              <a:rPr lang="it-IT" sz="1600" b="1">
                <a:solidFill>
                  <a:srgbClr val="C72C4B"/>
                </a:solidFill>
                <a:latin typeface="Arial"/>
              </a:rPr>
              <a:t>Ventricolo
sinistro</a:t>
            </a:r>
          </a:p>
        </p:txBody>
      </p:sp>
      <p:sp>
        <p:nvSpPr>
          <p:cNvPr id="61" name="Rectangle 60"/>
          <p:cNvSpPr/>
          <p:nvPr/>
        </p:nvSpPr>
        <p:spPr>
          <a:xfrm>
            <a:off x="4800600" y="5020056"/>
            <a:ext cx="1165177" cy="28575"/>
          </a:xfrm>
          <a:prstGeom prst="rect">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Chevron 61"/>
          <p:cNvSpPr/>
          <p:nvPr/>
        </p:nvSpPr>
        <p:spPr>
          <a:xfrm>
            <a:off x="6012215" y="4219956"/>
            <a:ext cx="143536" cy="160020"/>
          </a:xfrm>
          <a:prstGeom prst="chevron">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092426" y="4023360"/>
            <a:ext cx="1300270" cy="548640"/>
          </a:xfrm>
          <a:prstGeom prst="rect">
            <a:avLst/>
          </a:prstGeom>
          <a:noFill/>
        </p:spPr>
        <p:txBody>
          <a:bodyPr wrap="square" lIns="0" tIns="0" rIns="0" bIns="0" anchor="ctr">
            <a:noAutofit/>
          </a:bodyPr>
          <a:lstStyle/>
          <a:p>
            <a:pPr algn="ctr">
              <a:lnSpc>
                <a:spcPct val="100000"/>
              </a:lnSpc>
            </a:pPr>
            <a:r>
              <a:rPr lang="it-IT" sz="1600" b="0">
                <a:solidFill>
                  <a:srgbClr val="C72C4B"/>
                </a:solidFill>
                <a:latin typeface="Arial"/>
              </a:rPr>
              <a:t>Aorta e
arterie</a:t>
            </a:r>
          </a:p>
        </p:txBody>
      </p:sp>
      <p:sp>
        <p:nvSpPr>
          <p:cNvPr id="64" name="Rectangle 63"/>
          <p:cNvSpPr/>
          <p:nvPr/>
        </p:nvSpPr>
        <p:spPr>
          <a:xfrm>
            <a:off x="6159973" y="5020056"/>
            <a:ext cx="1165177" cy="28575"/>
          </a:xfrm>
          <a:prstGeom prst="rect">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Chevron 64"/>
          <p:cNvSpPr/>
          <p:nvPr/>
        </p:nvSpPr>
        <p:spPr>
          <a:xfrm>
            <a:off x="7371588" y="4219956"/>
            <a:ext cx="143536" cy="160020"/>
          </a:xfrm>
          <a:prstGeom prst="chevron">
            <a:avLst/>
          </a:prstGeom>
          <a:solidFill>
            <a:srgbClr val="C72C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527789" y="4023360"/>
            <a:ext cx="1165177" cy="548640"/>
          </a:xfrm>
          <a:prstGeom prst="rect">
            <a:avLst/>
          </a:prstGeom>
          <a:noFill/>
        </p:spPr>
        <p:txBody>
          <a:bodyPr wrap="square" lIns="0" tIns="0" rIns="0" bIns="0" anchor="ctr">
            <a:noAutofit/>
          </a:bodyPr>
          <a:lstStyle/>
          <a:p>
            <a:pPr algn="ctr">
              <a:lnSpc>
                <a:spcPct val="100000"/>
              </a:lnSpc>
            </a:pPr>
            <a:r>
              <a:rPr lang="it-IT" sz="1600" b="1">
                <a:solidFill>
                  <a:srgbClr val="123F67"/>
                </a:solidFill>
                <a:latin typeface="Arial"/>
              </a:rPr>
              <a:t>Capillari
dei tessuti</a:t>
            </a:r>
          </a:p>
        </p:txBody>
      </p:sp>
      <p:sp>
        <p:nvSpPr>
          <p:cNvPr id="67" name="Rectangle 66"/>
          <p:cNvSpPr/>
          <p:nvPr/>
        </p:nvSpPr>
        <p:spPr>
          <a:xfrm>
            <a:off x="7527789" y="5020056"/>
            <a:ext cx="1165177" cy="28575"/>
          </a:xfrm>
          <a:prstGeom prst="rect">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Chevron 67"/>
          <p:cNvSpPr/>
          <p:nvPr/>
        </p:nvSpPr>
        <p:spPr>
          <a:xfrm>
            <a:off x="8739404" y="4219956"/>
            <a:ext cx="143536" cy="160020"/>
          </a:xfrm>
          <a:prstGeom prst="chevron">
            <a:avLst/>
          </a:prstGeom>
          <a:solidFill>
            <a:srgbClr val="123F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887162" y="4023360"/>
            <a:ext cx="1165177" cy="548640"/>
          </a:xfrm>
          <a:prstGeom prst="rect">
            <a:avLst/>
          </a:prstGeom>
          <a:noFill/>
        </p:spPr>
        <p:txBody>
          <a:bodyPr wrap="square" lIns="0" tIns="0" rIns="0" bIns="0" anchor="ctr">
            <a:noAutofit/>
          </a:bodyPr>
          <a:lstStyle/>
          <a:p>
            <a:pPr algn="ctr">
              <a:lnSpc>
                <a:spcPct val="100000"/>
              </a:lnSpc>
            </a:pPr>
            <a:r>
              <a:rPr lang="it-IT" sz="1600" b="0">
                <a:solidFill>
                  <a:srgbClr val="287EAB"/>
                </a:solidFill>
                <a:latin typeface="Arial"/>
              </a:rPr>
              <a:t>Vene cave
e periferiche</a:t>
            </a:r>
            <a:endParaRPr lang="it-IT" sz="1500" b="0">
              <a:solidFill>
                <a:srgbClr val="287EAB"/>
              </a:solidFill>
              <a:latin typeface="Arial"/>
            </a:endParaRPr>
          </a:p>
        </p:txBody>
      </p:sp>
      <p:sp>
        <p:nvSpPr>
          <p:cNvPr id="70" name="Rectangle 69"/>
          <p:cNvSpPr/>
          <p:nvPr/>
        </p:nvSpPr>
        <p:spPr>
          <a:xfrm>
            <a:off x="8887162" y="5020056"/>
            <a:ext cx="1165177" cy="28575"/>
          </a:xfrm>
          <a:prstGeom prst="rect">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Chevron 70"/>
          <p:cNvSpPr/>
          <p:nvPr/>
        </p:nvSpPr>
        <p:spPr>
          <a:xfrm>
            <a:off x="10098777" y="4219956"/>
            <a:ext cx="143536" cy="160020"/>
          </a:xfrm>
          <a:prstGeom prst="chevron">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246535" y="4023360"/>
            <a:ext cx="1165177" cy="548640"/>
          </a:xfrm>
          <a:prstGeom prst="rect">
            <a:avLst/>
          </a:prstGeom>
          <a:noFill/>
        </p:spPr>
        <p:txBody>
          <a:bodyPr wrap="square" lIns="0" tIns="0" rIns="0" bIns="0" anchor="ctr">
            <a:noAutofit/>
          </a:bodyPr>
          <a:lstStyle/>
          <a:p>
            <a:pPr algn="ctr">
              <a:lnSpc>
                <a:spcPct val="100000"/>
              </a:lnSpc>
            </a:pPr>
            <a:r>
              <a:rPr lang="it-IT" sz="1600" b="1">
                <a:solidFill>
                  <a:srgbClr val="287EAB"/>
                </a:solidFill>
                <a:latin typeface="Arial"/>
              </a:rPr>
              <a:t>Atrio
destro</a:t>
            </a:r>
          </a:p>
        </p:txBody>
      </p:sp>
      <p:sp>
        <p:nvSpPr>
          <p:cNvPr id="73" name="Rectangle 72"/>
          <p:cNvSpPr/>
          <p:nvPr/>
        </p:nvSpPr>
        <p:spPr>
          <a:xfrm>
            <a:off x="10246535" y="5020056"/>
            <a:ext cx="1165177" cy="28575"/>
          </a:xfrm>
          <a:prstGeom prst="rect">
            <a:avLst/>
          </a:prstGeom>
          <a:solidFill>
            <a:srgbClr val="287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Scambio gassoso nei tessuti"/>
          <p:cNvSpPr txBox="1"/>
          <p:nvPr/>
        </p:nvSpPr>
        <p:spPr>
          <a:xfrm>
            <a:off x="4800600" y="5111496"/>
            <a:ext cx="6611112" cy="310896"/>
          </a:xfrm>
          <a:prstGeom prst="rect">
            <a:avLst/>
          </a:prstGeom>
          <a:noFill/>
        </p:spPr>
        <p:txBody>
          <a:bodyPr wrap="square" lIns="0" tIns="0" rIns="0" bIns="0" anchor="ctr">
            <a:noAutofit/>
          </a:bodyPr>
          <a:lstStyle/>
          <a:p>
            <a:pPr algn="ctr"/>
            <a:r>
              <a:rPr lang="it-IT" sz="1500" b="0">
                <a:solidFill>
                  <a:srgbClr val="193248"/>
                </a:solidFill>
                <a:latin typeface="Arial"/>
              </a:rPr>
              <a:t>Nei tessuti: il sangue cede O₂ e acquista CO₂.</a:t>
            </a:r>
          </a:p>
        </p:txBody>
      </p:sp>
      <p:sp>
        <p:nvSpPr>
          <p:cNvPr id="75" name="Nota valvola 47"/>
          <p:cNvSpPr txBox="1"/>
          <p:nvPr/>
        </p:nvSpPr>
        <p:spPr>
          <a:xfrm>
            <a:off x="6092426" y="2523744"/>
            <a:ext cx="1300270" cy="384048"/>
          </a:xfrm>
          <a:prstGeom prst="rect">
            <a:avLst/>
          </a:prstGeom>
          <a:noFill/>
        </p:spPr>
        <p:txBody>
          <a:bodyPr wrap="square" lIns="0" tIns="0" rIns="0" bIns="0" anchor="ctr">
            <a:noAutofit/>
          </a:bodyPr>
          <a:lstStyle/>
          <a:p>
            <a:pPr algn="ctr">
              <a:lnSpc>
                <a:spcPct val="100000"/>
              </a:lnSpc>
            </a:pPr>
            <a:r>
              <a:rPr lang="it-IT" sz="1200" b="0">
                <a:solidFill>
                  <a:srgbClr val="287EAB"/>
                </a:solidFill>
                <a:latin typeface="Arial"/>
              </a:rPr>
              <a:t>(attraverso la
valvola polmonare)</a:t>
            </a:r>
          </a:p>
        </p:txBody>
      </p:sp>
      <p:sp>
        <p:nvSpPr>
          <p:cNvPr id="76" name="Nota valvola 63"/>
          <p:cNvSpPr txBox="1"/>
          <p:nvPr/>
        </p:nvSpPr>
        <p:spPr>
          <a:xfrm>
            <a:off x="6092426" y="4590288"/>
            <a:ext cx="1300270" cy="384048"/>
          </a:xfrm>
          <a:prstGeom prst="rect">
            <a:avLst/>
          </a:prstGeom>
          <a:noFill/>
        </p:spPr>
        <p:txBody>
          <a:bodyPr wrap="square" lIns="0" tIns="0" rIns="0" bIns="0" anchor="ctr">
            <a:noAutofit/>
          </a:bodyPr>
          <a:lstStyle/>
          <a:p>
            <a:pPr algn="ctr">
              <a:lnSpc>
                <a:spcPct val="100000"/>
              </a:lnSpc>
            </a:pPr>
            <a:r>
              <a:rPr lang="it-IT" sz="1200" b="0">
                <a:solidFill>
                  <a:srgbClr val="C72C4B"/>
                </a:solidFill>
                <a:latin typeface="Arial"/>
              </a:rPr>
              <a:t>(attraverso
valvola aortica)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600" y="210312"/>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CARDIOVASCOLARE · FUNZIONAMENTO</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600" y="566928"/>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Ciclo cardiaco, ritmo e pressione arteriosa</a:t>
            </a: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609600" y="1298448"/>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33</a:t>
            </a:r>
            <a:endParaRPr sz="1350" b="1">
              <a:solidFill>
                <a:srgbClr val="123F67"/>
              </a:solidFill>
              <a:latin typeface="Arial"/>
              <a:ea typeface="Arial"/>
              <a:cs typeface="Arial"/>
            </a:endParaRPr>
          </a:p>
        </p:txBody>
      </p:sp>
      <p:sp>
        <p:nvSpPr>
          <p:cNvPr id="16" name="TextBox 15"/>
          <p:cNvSpPr txBox="1"/>
          <p:nvPr/>
        </p:nvSpPr>
        <p:spPr>
          <a:xfrm>
            <a:off x="704088" y="1572768"/>
            <a:ext cx="3337560" cy="365760"/>
          </a:xfrm>
          <a:prstGeom prst="rect">
            <a:avLst/>
          </a:prstGeom>
          <a:noFill/>
        </p:spPr>
        <p:txBody>
          <a:bodyPr wrap="square" lIns="0" tIns="0" rIns="0" bIns="0" anchor="t">
            <a:noAutofit/>
          </a:bodyPr>
          <a:lstStyle/>
          <a:p>
            <a:pPr>
              <a:lnSpc>
                <a:spcPct val="100000"/>
              </a:lnSpc>
              <a:spcBef>
                <a:spcPts val="0"/>
              </a:spcBef>
              <a:spcAft>
                <a:spcPts val="0"/>
              </a:spcAft>
              <a:defRPr sz="2100" b="1">
                <a:solidFill>
                  <a:srgbClr val="087E8B"/>
                </a:solidFill>
                <a:latin typeface="Arial"/>
              </a:defRPr>
            </a:pPr>
            <a:r>
              <a:t>Ciclo cardiaco</a:t>
            </a:r>
            <a:endParaRPr lang="it-IT"/>
          </a:p>
        </p:txBody>
      </p:sp>
      <p:sp>
        <p:nvSpPr>
          <p:cNvPr id="17" name="TextBox 16"/>
          <p:cNvSpPr txBox="1"/>
          <p:nvPr/>
        </p:nvSpPr>
        <p:spPr>
          <a:xfrm>
            <a:off x="704088" y="342900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2. Diastole</a:t>
            </a:r>
            <a:r>
              <a:rPr lang="it-IT" sz="1500" b="0">
                <a:solidFill>
                  <a:srgbClr val="087E8B"/>
                </a:solidFill>
                <a:latin typeface="Arial"/>
              </a:rPr>
              <a:t>  (pressione minima)</a:t>
            </a:r>
            <a:endParaRPr lang="it-IT"/>
          </a:p>
        </p:txBody>
      </p:sp>
      <p:sp>
        <p:nvSpPr>
          <p:cNvPr id="18" name="TextBox 17"/>
          <p:cNvSpPr txBox="1"/>
          <p:nvPr/>
        </p:nvSpPr>
        <p:spPr>
          <a:xfrm>
            <a:off x="704088" y="382219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dirty="0"/>
              <a:t>I </a:t>
            </a:r>
            <a:r>
              <a:rPr dirty="0" err="1"/>
              <a:t>ventricoli</a:t>
            </a:r>
            <a:r>
              <a:rPr dirty="0"/>
              <a:t> </a:t>
            </a:r>
            <a:r>
              <a:rPr dirty="0" err="1"/>
              <a:t>si</a:t>
            </a:r>
            <a:r>
              <a:rPr dirty="0"/>
              <a:t> </a:t>
            </a:r>
            <a:r>
              <a:rPr dirty="0" err="1"/>
              <a:t>rilassano</a:t>
            </a:r>
            <a:r>
              <a:rPr dirty="0"/>
              <a:t> e </a:t>
            </a:r>
            <a:r>
              <a:rPr dirty="0" err="1"/>
              <a:t>si</a:t>
            </a:r>
            <a:r>
              <a:rPr dirty="0"/>
              <a:t> </a:t>
            </a:r>
            <a:r>
              <a:rPr dirty="0" err="1"/>
              <a:t>riempiono</a:t>
            </a:r>
            <a:r>
              <a:rPr lang="it-IT" dirty="0"/>
              <a:t>, aiutati dalla </a:t>
            </a:r>
            <a:r>
              <a:rPr dirty="0" err="1"/>
              <a:t>contrazione</a:t>
            </a:r>
            <a:r>
              <a:rPr dirty="0"/>
              <a:t> </a:t>
            </a:r>
            <a:r>
              <a:rPr lang="it-IT" dirty="0"/>
              <a:t>degli atri</a:t>
            </a:r>
            <a:r>
              <a:rPr dirty="0"/>
              <a:t>.</a:t>
            </a:r>
            <a:endParaRPr lang="it-IT"/>
          </a:p>
        </p:txBody>
      </p:sp>
      <p:sp>
        <p:nvSpPr>
          <p:cNvPr id="19" name="TextBox 18"/>
          <p:cNvSpPr txBox="1"/>
          <p:nvPr/>
        </p:nvSpPr>
        <p:spPr>
          <a:xfrm>
            <a:off x="704088" y="214884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1. Sistole</a:t>
            </a:r>
            <a:r>
              <a:rPr lang="it-IT" sz="1500" b="0">
                <a:solidFill>
                  <a:srgbClr val="087E8B"/>
                </a:solidFill>
                <a:latin typeface="Arial"/>
              </a:rPr>
              <a:t>  (pressione massima)</a:t>
            </a:r>
            <a:endParaRPr lang="it-IT"/>
          </a:p>
        </p:txBody>
      </p:sp>
      <p:sp>
        <p:nvSpPr>
          <p:cNvPr id="20" name="TextBox 19"/>
          <p:cNvSpPr txBox="1"/>
          <p:nvPr/>
        </p:nvSpPr>
        <p:spPr>
          <a:xfrm>
            <a:off x="704088" y="254203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dirty="0"/>
              <a:t>I ventricoli si contraggono e spingono il sangue nelle arterie.</a:t>
            </a:r>
            <a:endParaRPr lang="it-IT"/>
          </a:p>
        </p:txBody>
      </p:sp>
      <p:sp>
        <p:nvSpPr>
          <p:cNvPr id="21" name="TextBox 20"/>
          <p:cNvSpPr txBox="1"/>
          <p:nvPr/>
        </p:nvSpPr>
        <p:spPr>
          <a:xfrm>
            <a:off x="704088" y="507492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Le valvole evitano il ritorno</a:t>
            </a:r>
          </a:p>
        </p:txBody>
      </p:sp>
      <p:sp>
        <p:nvSpPr>
          <p:cNvPr id="22" name="TextBox 21"/>
          <p:cNvSpPr txBox="1"/>
          <p:nvPr/>
        </p:nvSpPr>
        <p:spPr>
          <a:xfrm>
            <a:off x="704088" y="546811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a:t>Si </a:t>
            </a:r>
            <a:r>
              <a:t>aprono e </a:t>
            </a:r>
            <a:r>
              <a:rPr lang="it-IT"/>
              <a:t>si </a:t>
            </a:r>
            <a:r>
              <a:t>chiudono </a:t>
            </a:r>
            <a:r>
              <a:rPr lang="it-IT"/>
              <a:t>in base alla pressione</a:t>
            </a:r>
            <a:r>
              <a:t>, </a:t>
            </a:r>
            <a:r>
              <a:rPr lang="it-IT"/>
              <a:t>facendo scorrere </a:t>
            </a:r>
            <a:r>
              <a:t>il sangue</a:t>
            </a:r>
            <a:r>
              <a:rPr lang="it-IT"/>
              <a:t> in una sola direzione</a:t>
            </a:r>
            <a:r>
              <a:t>.</a:t>
            </a:r>
            <a:endParaRPr lang="it-IT"/>
          </a:p>
        </p:txBody>
      </p:sp>
      <p:sp>
        <p:nvSpPr>
          <p:cNvPr id="23" name="TextBox 22"/>
          <p:cNvSpPr txBox="1"/>
          <p:nvPr/>
        </p:nvSpPr>
        <p:spPr>
          <a:xfrm>
            <a:off x="4462272" y="1572768"/>
            <a:ext cx="3337560" cy="365760"/>
          </a:xfrm>
          <a:prstGeom prst="rect">
            <a:avLst/>
          </a:prstGeom>
          <a:noFill/>
        </p:spPr>
        <p:txBody>
          <a:bodyPr wrap="square" lIns="0" tIns="0" rIns="0" bIns="0" anchor="t">
            <a:noAutofit/>
          </a:bodyPr>
          <a:lstStyle/>
          <a:p>
            <a:pPr>
              <a:lnSpc>
                <a:spcPct val="100000"/>
              </a:lnSpc>
              <a:spcBef>
                <a:spcPts val="0"/>
              </a:spcBef>
              <a:spcAft>
                <a:spcPts val="0"/>
              </a:spcAft>
              <a:defRPr sz="2100" b="1">
                <a:solidFill>
                  <a:srgbClr val="087E8B"/>
                </a:solidFill>
                <a:latin typeface="Arial"/>
              </a:defRPr>
            </a:pPr>
            <a:r>
              <a:t>Conduzione elettrica</a:t>
            </a:r>
            <a:endParaRPr lang="it-IT"/>
          </a:p>
        </p:txBody>
      </p:sp>
      <p:sp>
        <p:nvSpPr>
          <p:cNvPr id="24" name="TextBox 23"/>
          <p:cNvSpPr txBox="1"/>
          <p:nvPr/>
        </p:nvSpPr>
        <p:spPr>
          <a:xfrm>
            <a:off x="4462272" y="214884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1. Si contraggono gli atri</a:t>
            </a:r>
          </a:p>
        </p:txBody>
      </p:sp>
      <p:sp>
        <p:nvSpPr>
          <p:cNvPr id="25" name="TextBox 24"/>
          <p:cNvSpPr txBox="1"/>
          <p:nvPr/>
        </p:nvSpPr>
        <p:spPr>
          <a:xfrm>
            <a:off x="4462272" y="254203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a:t>Il nodo senoatriale, nell’atrio </a:t>
            </a:r>
            <a:r>
              <a:t>destro</a:t>
            </a:r>
            <a:r>
              <a:rPr lang="it-IT"/>
              <a:t>,</a:t>
            </a:r>
            <a:r>
              <a:t> genera </a:t>
            </a:r>
            <a:r>
              <a:rPr lang="it-IT"/>
              <a:t>il segnale elettrico </a:t>
            </a:r>
            <a:r>
              <a:t>che </a:t>
            </a:r>
            <a:r>
              <a:rPr lang="it-IT"/>
              <a:t>attiva gli</a:t>
            </a:r>
            <a:r>
              <a:t> atri.</a:t>
            </a:r>
            <a:endParaRPr lang="it-IT"/>
          </a:p>
        </p:txBody>
      </p:sp>
      <p:sp>
        <p:nvSpPr>
          <p:cNvPr id="26" name="TextBox 25"/>
          <p:cNvSpPr txBox="1"/>
          <p:nvPr/>
        </p:nvSpPr>
        <p:spPr>
          <a:xfrm>
            <a:off x="4462272" y="342900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2. Una breve pausa</a:t>
            </a:r>
          </a:p>
        </p:txBody>
      </p:sp>
      <p:sp>
        <p:nvSpPr>
          <p:cNvPr id="27" name="TextBox 26"/>
          <p:cNvSpPr txBox="1"/>
          <p:nvPr/>
        </p:nvSpPr>
        <p:spPr>
          <a:xfrm>
            <a:off x="4462272" y="382219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a:t>Il nodo atrioventricolare rallenta il segnale: </a:t>
            </a:r>
            <a:r>
              <a:t>i ventricoli</a:t>
            </a:r>
            <a:r>
              <a:rPr lang="it-IT"/>
              <a:t> hanno tempo di riempirsi</a:t>
            </a:r>
            <a:r>
              <a:t>.</a:t>
            </a:r>
            <a:endParaRPr lang="it-IT"/>
          </a:p>
        </p:txBody>
      </p:sp>
      <p:sp>
        <p:nvSpPr>
          <p:cNvPr id="28" name="TextBox 27"/>
          <p:cNvSpPr txBox="1"/>
          <p:nvPr/>
        </p:nvSpPr>
        <p:spPr>
          <a:xfrm>
            <a:off x="4462272" y="4785211"/>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dirty="0"/>
              <a:t>3. Si contraggono i ventricoli</a:t>
            </a:r>
          </a:p>
        </p:txBody>
      </p:sp>
      <p:sp>
        <p:nvSpPr>
          <p:cNvPr id="29" name="TextBox 28"/>
          <p:cNvSpPr txBox="1"/>
          <p:nvPr/>
        </p:nvSpPr>
        <p:spPr>
          <a:xfrm>
            <a:off x="4462272" y="5178403"/>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dirty="0"/>
              <a:t>Il fascio </a:t>
            </a:r>
            <a:r>
              <a:rPr dirty="0"/>
              <a:t>di His e </a:t>
            </a:r>
            <a:r>
              <a:rPr lang="it-IT" dirty="0"/>
              <a:t>le </a:t>
            </a:r>
            <a:r>
              <a:rPr dirty="0" err="1"/>
              <a:t>fibre</a:t>
            </a:r>
            <a:r>
              <a:rPr dirty="0"/>
              <a:t> di Purkinje </a:t>
            </a:r>
            <a:r>
              <a:rPr lang="it-IT" dirty="0"/>
              <a:t>portano il segnale </a:t>
            </a:r>
            <a:r>
              <a:rPr dirty="0"/>
              <a:t>ai </a:t>
            </a:r>
            <a:r>
              <a:rPr dirty="0" err="1"/>
              <a:t>ventricoli</a:t>
            </a:r>
            <a:r>
              <a:rPr lang="it-IT" dirty="0"/>
              <a:t>, che spingono fuori il sangue</a:t>
            </a:r>
            <a:r>
              <a:rPr dirty="0"/>
              <a:t>.</a:t>
            </a:r>
            <a:endParaRPr lang="it-IT" dirty="0"/>
          </a:p>
        </p:txBody>
      </p:sp>
      <p:sp>
        <p:nvSpPr>
          <p:cNvPr id="30" name="TextBox 29"/>
          <p:cNvSpPr txBox="1"/>
          <p:nvPr/>
        </p:nvSpPr>
        <p:spPr>
          <a:xfrm>
            <a:off x="8211312" y="1572768"/>
            <a:ext cx="3337560" cy="365760"/>
          </a:xfrm>
          <a:prstGeom prst="rect">
            <a:avLst/>
          </a:prstGeom>
          <a:noFill/>
        </p:spPr>
        <p:txBody>
          <a:bodyPr wrap="square" lIns="0" tIns="0" rIns="0" bIns="0" anchor="t">
            <a:noAutofit/>
          </a:bodyPr>
          <a:lstStyle/>
          <a:p>
            <a:pPr>
              <a:lnSpc>
                <a:spcPct val="100000"/>
              </a:lnSpc>
              <a:spcBef>
                <a:spcPts val="0"/>
              </a:spcBef>
              <a:spcAft>
                <a:spcPts val="0"/>
              </a:spcAft>
              <a:defRPr sz="2100" b="1">
                <a:solidFill>
                  <a:srgbClr val="087E8B"/>
                </a:solidFill>
                <a:latin typeface="Arial"/>
              </a:defRPr>
            </a:pPr>
            <a:r>
              <a:t>Pressione arteriosa</a:t>
            </a:r>
            <a:endParaRPr lang="it-IT"/>
          </a:p>
        </p:txBody>
      </p:sp>
      <p:sp>
        <p:nvSpPr>
          <p:cNvPr id="31" name="TextBox 30"/>
          <p:cNvSpPr txBox="1"/>
          <p:nvPr/>
        </p:nvSpPr>
        <p:spPr>
          <a:xfrm>
            <a:off x="8211312" y="214884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1. Che cos’è</a:t>
            </a:r>
          </a:p>
        </p:txBody>
      </p:sp>
      <p:sp>
        <p:nvSpPr>
          <p:cNvPr id="32" name="TextBox 31"/>
          <p:cNvSpPr txBox="1"/>
          <p:nvPr/>
        </p:nvSpPr>
        <p:spPr>
          <a:xfrm>
            <a:off x="8211312" y="254203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rPr lang="it-IT"/>
              <a:t>È la spinta del sangue sulle pareti delle arterie, prodotta dal cuore che pompa.</a:t>
            </a:r>
          </a:p>
        </p:txBody>
      </p:sp>
      <p:sp>
        <p:nvSpPr>
          <p:cNvPr id="33" name="TextBox 32"/>
          <p:cNvSpPr txBox="1"/>
          <p:nvPr/>
        </p:nvSpPr>
        <p:spPr>
          <a:xfrm>
            <a:off x="8211312" y="342900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dirty="0"/>
              <a:t>2. Massima </a:t>
            </a:r>
            <a:r>
              <a:rPr dirty="0"/>
              <a:t>e </a:t>
            </a:r>
            <a:r>
              <a:rPr lang="it-IT" dirty="0"/>
              <a:t>Minima</a:t>
            </a:r>
            <a:endParaRPr lang="it-IT"/>
          </a:p>
        </p:txBody>
      </p:sp>
      <p:sp>
        <p:nvSpPr>
          <p:cNvPr id="34" name="TextBox 33"/>
          <p:cNvSpPr txBox="1"/>
          <p:nvPr/>
        </p:nvSpPr>
        <p:spPr>
          <a:xfrm>
            <a:off x="8211312" y="3822192"/>
            <a:ext cx="3337560" cy="1060704"/>
          </a:xfrm>
          <a:prstGeom prst="rect">
            <a:avLst/>
          </a:prstGeom>
          <a:noFill/>
        </p:spPr>
        <p:txBody>
          <a:bodyPr wrap="square" lIns="0" tIns="0" rIns="0" bIns="0" anchor="t">
            <a:noAutofit/>
          </a:bodyPr>
          <a:lstStyle/>
          <a:p>
            <a:pPr marL="165100" indent="-127000">
              <a:lnSpc>
                <a:spcPts val="2050"/>
              </a:lnSpc>
              <a:spcBef>
                <a:spcPts val="0"/>
              </a:spcBef>
              <a:spcAft>
                <a:spcPts val="300"/>
              </a:spcAft>
              <a:buChar char="•"/>
              <a:defRPr sz="1750" b="0">
                <a:solidFill>
                  <a:srgbClr val="193248"/>
                </a:solidFill>
                <a:latin typeface="Arial"/>
              </a:defRPr>
            </a:pPr>
            <a:r>
              <a:rPr lang="it-IT" dirty="0"/>
              <a:t>Massima (</a:t>
            </a:r>
            <a:r>
              <a:rPr dirty="0" err="1"/>
              <a:t>sistolica</a:t>
            </a:r>
            <a:r>
              <a:rPr lang="it-IT" dirty="0"/>
              <a:t>):</a:t>
            </a:r>
            <a:r>
              <a:rPr dirty="0"/>
              <a:t> </a:t>
            </a:r>
            <a:r>
              <a:rPr lang="it-IT" dirty="0"/>
              <a:t>mentre </a:t>
            </a:r>
            <a:r>
              <a:rPr dirty="0"/>
              <a:t>il </a:t>
            </a:r>
            <a:r>
              <a:rPr lang="it-IT" dirty="0"/>
              <a:t>cuore si contrae</a:t>
            </a:r>
            <a:r>
              <a:rPr dirty="0"/>
              <a:t>.</a:t>
            </a:r>
            <a:endParaRPr lang="it-IT"/>
          </a:p>
          <a:p>
            <a:pPr marL="165100" indent="-127000">
              <a:lnSpc>
                <a:spcPts val="2050"/>
              </a:lnSpc>
              <a:spcBef>
                <a:spcPts val="0"/>
              </a:spcBef>
              <a:spcAft>
                <a:spcPts val="0"/>
              </a:spcAft>
              <a:buChar char="•"/>
              <a:defRPr sz="1750" b="0">
                <a:solidFill>
                  <a:srgbClr val="193248"/>
                </a:solidFill>
                <a:latin typeface="Arial"/>
              </a:defRPr>
            </a:pPr>
            <a:r>
              <a:rPr lang="it-IT" dirty="0"/>
              <a:t>Minima (</a:t>
            </a:r>
            <a:r>
              <a:rPr dirty="0" err="1"/>
              <a:t>diastolica</a:t>
            </a:r>
            <a:r>
              <a:rPr lang="it-IT" dirty="0"/>
              <a:t>):</a:t>
            </a:r>
            <a:r>
              <a:rPr dirty="0"/>
              <a:t> </a:t>
            </a:r>
            <a:r>
              <a:rPr lang="it-IT" dirty="0"/>
              <a:t>mentre </a:t>
            </a:r>
            <a:r>
              <a:rPr dirty="0"/>
              <a:t>il </a:t>
            </a:r>
            <a:r>
              <a:rPr lang="it-IT" dirty="0"/>
              <a:t>cuore si rilassa</a:t>
            </a:r>
            <a:r>
              <a:rPr dirty="0"/>
              <a:t>.</a:t>
            </a:r>
            <a:endParaRPr lang="it-IT"/>
          </a:p>
        </p:txBody>
      </p:sp>
      <p:sp>
        <p:nvSpPr>
          <p:cNvPr id="35" name="TextBox 34"/>
          <p:cNvSpPr txBox="1"/>
          <p:nvPr/>
        </p:nvSpPr>
        <p:spPr>
          <a:xfrm>
            <a:off x="8211312" y="5074920"/>
            <a:ext cx="3337560" cy="320040"/>
          </a:xfrm>
          <a:prstGeom prst="rect">
            <a:avLst/>
          </a:prstGeom>
          <a:noFill/>
        </p:spPr>
        <p:txBody>
          <a:bodyPr wrap="square" lIns="0" tIns="0" rIns="0" bIns="0" anchor="t">
            <a:noAutofit/>
          </a:bodyPr>
          <a:lstStyle/>
          <a:p>
            <a:pPr>
              <a:lnSpc>
                <a:spcPct val="100000"/>
              </a:lnSpc>
              <a:spcBef>
                <a:spcPts val="0"/>
              </a:spcBef>
              <a:spcAft>
                <a:spcPts val="0"/>
              </a:spcAft>
              <a:defRPr sz="1800" b="1">
                <a:solidFill>
                  <a:srgbClr val="123F67"/>
                </a:solidFill>
                <a:latin typeface="Arial"/>
              </a:defRPr>
            </a:pPr>
            <a:r>
              <a:rPr lang="it-IT"/>
              <a:t>3. Come viene regolata</a:t>
            </a:r>
          </a:p>
        </p:txBody>
      </p:sp>
      <p:sp>
        <p:nvSpPr>
          <p:cNvPr id="36" name="TextBox 35"/>
          <p:cNvSpPr txBox="1"/>
          <p:nvPr/>
        </p:nvSpPr>
        <p:spPr>
          <a:xfrm>
            <a:off x="8211312" y="5468112"/>
            <a:ext cx="3337560" cy="1060704"/>
          </a:xfrm>
          <a:prstGeom prst="rect">
            <a:avLst/>
          </a:prstGeom>
          <a:noFill/>
        </p:spPr>
        <p:txBody>
          <a:bodyPr wrap="square" lIns="0" tIns="0" rIns="0" bIns="0" anchor="t">
            <a:noAutofit/>
          </a:bodyPr>
          <a:lstStyle/>
          <a:p>
            <a:pPr>
              <a:lnSpc>
                <a:spcPts val="2050"/>
              </a:lnSpc>
              <a:spcBef>
                <a:spcPts val="0"/>
              </a:spcBef>
              <a:spcAft>
                <a:spcPts val="0"/>
              </a:spcAft>
              <a:defRPr sz="1750" b="0">
                <a:solidFill>
                  <a:srgbClr val="193248"/>
                </a:solidFill>
                <a:latin typeface="Arial"/>
              </a:defRPr>
            </a:pPr>
            <a:r>
              <a:t>Nervi e </a:t>
            </a:r>
            <a:r>
              <a:rPr lang="it-IT"/>
              <a:t>ormoni adattano i battiti </a:t>
            </a:r>
            <a:r>
              <a:t>e </a:t>
            </a:r>
            <a:r>
              <a:rPr lang="it-IT"/>
              <a:t>dilatano o restringono i vasi. I reni regolano i liquidi nel</a:t>
            </a:r>
            <a:r>
              <a:t> sangue.</a:t>
            </a:r>
            <a:endParaRPr lang="it-IT"/>
          </a:p>
        </p:txBody>
      </p:sp>
      <p:sp>
        <p:nvSpPr>
          <p:cNvPr id="37" name="Contorno verde chiaro - valvole"/>
          <p:cNvSpPr/>
          <p:nvPr/>
        </p:nvSpPr>
        <p:spPr>
          <a:xfrm>
            <a:off x="566928" y="4937760"/>
            <a:ext cx="3611880" cy="1517904"/>
          </a:xfrm>
          <a:prstGeom prst="rect">
            <a:avLst/>
          </a:prstGeom>
          <a:noFill/>
          <a:ln w="19050">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cardiovascolare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34</a:t>
            </a:r>
            <a:endParaRPr sz="1350" b="1">
              <a:solidFill>
                <a:srgbClr val="123F67"/>
              </a:solidFill>
              <a:latin typeface="Arial"/>
              <a:ea typeface="Arial"/>
              <a:cs typeface="Arial"/>
            </a:endParaRPr>
          </a:p>
        </p:txBody>
      </p:sp>
      <p:sp>
        <p:nvSpPr>
          <p:cNvPr id="25" name="TextBox 24"/>
          <p:cNvSpPr txBox="1"/>
          <p:nvPr/>
        </p:nvSpPr>
        <p:spPr>
          <a:xfrm>
            <a:off x="704088" y="1581912"/>
            <a:ext cx="5029200" cy="228600"/>
          </a:xfrm>
          <a:prstGeom prst="rect">
            <a:avLst/>
          </a:prstGeom>
          <a:noFill/>
        </p:spPr>
        <p:txBody>
          <a:bodyPr wrap="square" lIns="0" tIns="0" rIns="0" bIns="0" anchor="t">
            <a:noAutofit/>
          </a:bodyPr>
          <a:lstStyle/>
          <a:p>
            <a:pPr>
              <a:lnSpc>
                <a:spcPct val="100000"/>
              </a:lnSpc>
              <a:spcBef>
                <a:spcPts val="0"/>
              </a:spcBef>
              <a:spcAft>
                <a:spcPts val="0"/>
              </a:spcAft>
              <a:defRPr sz="1200" b="1"/>
            </a:pPr>
            <a:r>
              <a:rPr sz="1200" b="1">
                <a:solidFill>
                  <a:srgbClr val="087E8B"/>
                </a:solidFill>
                <a:latin typeface="Arial"/>
              </a:rPr>
              <a:t>PARETE ARTERIOSA</a:t>
            </a:r>
            <a:endParaRPr lang="it-IT" sz="1200" b="1">
              <a:solidFill>
                <a:srgbClr val="087E8B"/>
              </a:solidFill>
              <a:latin typeface="Arial"/>
            </a:endParaRPr>
          </a:p>
        </p:txBody>
      </p:sp>
      <p:sp>
        <p:nvSpPr>
          <p:cNvPr id="26" name="TextBox 25"/>
          <p:cNvSpPr txBox="1"/>
          <p:nvPr/>
        </p:nvSpPr>
        <p:spPr>
          <a:xfrm>
            <a:off x="704088" y="1920240"/>
            <a:ext cx="5029200" cy="356616"/>
          </a:xfrm>
          <a:prstGeom prst="rect">
            <a:avLst/>
          </a:prstGeom>
          <a:noFill/>
        </p:spPr>
        <p:txBody>
          <a:bodyPr wrap="square" lIns="0" tIns="0" rIns="0" bIns="0" anchor="t">
            <a:noAutofit/>
          </a:bodyPr>
          <a:lstStyle/>
          <a:p>
            <a:pPr>
              <a:lnSpc>
                <a:spcPct val="100000"/>
              </a:lnSpc>
              <a:spcBef>
                <a:spcPts val="0"/>
              </a:spcBef>
              <a:spcAft>
                <a:spcPts val="0"/>
              </a:spcAft>
            </a:pPr>
            <a:r>
              <a:rPr lang="it-IT" sz="2200" b="1">
                <a:solidFill>
                  <a:srgbClr val="123F67"/>
                </a:solidFill>
                <a:latin typeface="Arial"/>
              </a:rPr>
              <a:t>Arteriosclerosi</a:t>
            </a:r>
          </a:p>
        </p:txBody>
      </p:sp>
      <p:sp>
        <p:nvSpPr>
          <p:cNvPr id="27" name="TextBox 26"/>
          <p:cNvSpPr txBox="1"/>
          <p:nvPr/>
        </p:nvSpPr>
        <p:spPr>
          <a:xfrm>
            <a:off x="704088" y="2368296"/>
            <a:ext cx="5029200" cy="594360"/>
          </a:xfrm>
          <a:prstGeom prst="rect">
            <a:avLst/>
          </a:prstGeom>
          <a:noFill/>
        </p:spPr>
        <p:txBody>
          <a:bodyPr wrap="square" lIns="0" tIns="0" rIns="0" bIns="0" anchor="t">
            <a:noAutofit/>
          </a:bodyPr>
          <a:lstStyle/>
          <a:p>
            <a:pPr>
              <a:lnSpc>
                <a:spcPts val="2100"/>
              </a:lnSpc>
              <a:spcBef>
                <a:spcPts val="0"/>
              </a:spcBef>
              <a:spcAft>
                <a:spcPts val="0"/>
              </a:spcAft>
              <a:defRPr sz="1800"/>
            </a:pPr>
            <a:r>
              <a:rPr lang="it-IT" sz="1800">
                <a:solidFill>
                  <a:srgbClr val="193248"/>
                </a:solidFill>
                <a:latin typeface="Arial"/>
              </a:rPr>
              <a:t>Pareti arteriose ispessite e rigide, con perdita di elasticità.</a:t>
            </a:r>
          </a:p>
        </p:txBody>
      </p:sp>
      <p:sp>
        <p:nvSpPr>
          <p:cNvPr id="29" name="TextBox 28"/>
          <p:cNvSpPr txBox="1"/>
          <p:nvPr/>
        </p:nvSpPr>
        <p:spPr>
          <a:xfrm>
            <a:off x="704088" y="3108960"/>
            <a:ext cx="5029200" cy="621792"/>
          </a:xfrm>
          <a:prstGeom prst="rect">
            <a:avLst/>
          </a:prstGeom>
          <a:noFill/>
        </p:spPr>
        <p:txBody>
          <a:bodyPr wrap="square" lIns="0" tIns="0" rIns="0" bIns="0" anchor="t">
            <a:noAutofit/>
          </a:bodyPr>
          <a:lstStyle/>
          <a:p>
            <a:pPr>
              <a:lnSpc>
                <a:spcPct val="100000"/>
              </a:lnSpc>
              <a:spcBef>
                <a:spcPts val="0"/>
              </a:spcBef>
              <a:spcAft>
                <a:spcPts val="200"/>
              </a:spcAft>
            </a:pPr>
            <a:r>
              <a:rPr lang="it-IT" sz="2200" b="1">
                <a:solidFill>
                  <a:srgbClr val="123F67"/>
                </a:solidFill>
                <a:latin typeface="Arial"/>
              </a:rPr>
              <a:t>Aterosclerosi</a:t>
            </a:r>
          </a:p>
          <a:p>
            <a:pPr>
              <a:lnSpc>
                <a:spcPct val="100000"/>
              </a:lnSpc>
              <a:spcBef>
                <a:spcPts val="0"/>
              </a:spcBef>
              <a:spcAft>
                <a:spcPts val="0"/>
              </a:spcAft>
            </a:pPr>
            <a:r>
              <a:rPr lang="it-IT" sz="1650" b="0" dirty="0">
                <a:solidFill>
                  <a:srgbClr val="087E8B"/>
                </a:solidFill>
                <a:latin typeface="Arial"/>
              </a:rPr>
              <a:t>(</a:t>
            </a:r>
            <a:r>
              <a:rPr lang="it-IT" sz="1650" b="0" dirty="0" err="1">
                <a:solidFill>
                  <a:srgbClr val="087E8B"/>
                </a:solidFill>
                <a:latin typeface="Arial"/>
              </a:rPr>
              <a:t>atorvastatina</a:t>
            </a:r>
            <a:r>
              <a:rPr lang="it-IT" sz="1650" b="0" dirty="0">
                <a:solidFill>
                  <a:srgbClr val="087E8B"/>
                </a:solidFill>
                <a:latin typeface="Arial"/>
              </a:rPr>
              <a:t>)</a:t>
            </a:r>
            <a:endParaRPr lang="it-IT" sz="1650" b="0">
              <a:solidFill>
                <a:srgbClr val="087E8B"/>
              </a:solidFill>
              <a:latin typeface="Arial"/>
            </a:endParaRPr>
          </a:p>
        </p:txBody>
      </p:sp>
      <p:sp>
        <p:nvSpPr>
          <p:cNvPr id="30" name="TextBox 29"/>
          <p:cNvSpPr txBox="1"/>
          <p:nvPr/>
        </p:nvSpPr>
        <p:spPr>
          <a:xfrm>
            <a:off x="704088" y="3813048"/>
            <a:ext cx="5029200" cy="594360"/>
          </a:xfrm>
          <a:prstGeom prst="rect">
            <a:avLst/>
          </a:prstGeom>
          <a:noFill/>
        </p:spPr>
        <p:txBody>
          <a:bodyPr wrap="square" lIns="0" tIns="0" rIns="0" bIns="0" anchor="t">
            <a:noAutofit/>
          </a:bodyPr>
          <a:lstStyle/>
          <a:p>
            <a:pPr>
              <a:lnSpc>
                <a:spcPts val="2100"/>
              </a:lnSpc>
              <a:spcBef>
                <a:spcPts val="0"/>
              </a:spcBef>
              <a:spcAft>
                <a:spcPts val="0"/>
              </a:spcAft>
              <a:defRPr sz="1800"/>
            </a:pPr>
            <a:r>
              <a:rPr lang="it-IT" sz="1800" b="0">
                <a:solidFill>
                  <a:srgbClr val="193248"/>
                </a:solidFill>
                <a:latin typeface="Arial"/>
              </a:rPr>
              <a:t>Accumulo di placche di grassi e colesterolo nelle pareti delle arterie.</a:t>
            </a:r>
          </a:p>
        </p:txBody>
      </p:sp>
      <p:sp>
        <p:nvSpPr>
          <p:cNvPr id="32" name="TextBox 31"/>
          <p:cNvSpPr txBox="1"/>
          <p:nvPr/>
        </p:nvSpPr>
        <p:spPr>
          <a:xfrm>
            <a:off x="704088" y="5394960"/>
            <a:ext cx="5029200" cy="356616"/>
          </a:xfrm>
          <a:prstGeom prst="rect">
            <a:avLst/>
          </a:prstGeom>
          <a:noFill/>
        </p:spPr>
        <p:txBody>
          <a:bodyPr wrap="square" lIns="0" tIns="0" rIns="0" bIns="0" anchor="t">
            <a:noAutofit/>
          </a:bodyPr>
          <a:lstStyle/>
          <a:p>
            <a:pPr>
              <a:lnSpc>
                <a:spcPct val="100000"/>
              </a:lnSpc>
              <a:spcBef>
                <a:spcPts val="0"/>
              </a:spcBef>
              <a:spcAft>
                <a:spcPts val="0"/>
              </a:spcAft>
            </a:pPr>
            <a:r>
              <a:rPr lang="it-IT" sz="2200" b="1">
                <a:solidFill>
                  <a:srgbClr val="123F67"/>
                </a:solidFill>
                <a:latin typeface="Arial"/>
              </a:rPr>
              <a:t>Aneurisma</a:t>
            </a:r>
          </a:p>
        </p:txBody>
      </p:sp>
      <p:sp>
        <p:nvSpPr>
          <p:cNvPr id="33" name="TextBox 32"/>
          <p:cNvSpPr txBox="1"/>
          <p:nvPr/>
        </p:nvSpPr>
        <p:spPr>
          <a:xfrm>
            <a:off x="704088" y="5843016"/>
            <a:ext cx="5029200" cy="594360"/>
          </a:xfrm>
          <a:prstGeom prst="rect">
            <a:avLst/>
          </a:prstGeom>
          <a:noFill/>
        </p:spPr>
        <p:txBody>
          <a:bodyPr wrap="square" lIns="0" tIns="0" rIns="0" bIns="0" anchor="t">
            <a:noAutofit/>
          </a:bodyPr>
          <a:lstStyle/>
          <a:p>
            <a:pPr>
              <a:lnSpc>
                <a:spcPts val="2100"/>
              </a:lnSpc>
              <a:spcBef>
                <a:spcPts val="0"/>
              </a:spcBef>
              <a:spcAft>
                <a:spcPts val="0"/>
              </a:spcAft>
              <a:defRPr sz="1800"/>
            </a:pPr>
            <a:r>
              <a:rPr lang="it-IT" sz="1800" b="0">
                <a:solidFill>
                  <a:srgbClr val="193248"/>
                </a:solidFill>
                <a:latin typeface="Arial"/>
              </a:rPr>
              <a:t>Dilatazione localizzata di un’arteria con indebolimento della sua parete.</a:t>
            </a:r>
          </a:p>
        </p:txBody>
      </p:sp>
      <p:sp>
        <p:nvSpPr>
          <p:cNvPr id="34" name="TextBox 33"/>
          <p:cNvSpPr txBox="1"/>
          <p:nvPr/>
        </p:nvSpPr>
        <p:spPr>
          <a:xfrm>
            <a:off x="6400800" y="1581912"/>
            <a:ext cx="5157216" cy="228600"/>
          </a:xfrm>
          <a:prstGeom prst="rect">
            <a:avLst/>
          </a:prstGeom>
          <a:noFill/>
        </p:spPr>
        <p:txBody>
          <a:bodyPr wrap="square" lIns="0" tIns="0" rIns="0" bIns="0" anchor="t">
            <a:noAutofit/>
          </a:bodyPr>
          <a:lstStyle/>
          <a:p>
            <a:pPr>
              <a:lnSpc>
                <a:spcPct val="100000"/>
              </a:lnSpc>
              <a:spcBef>
                <a:spcPts val="0"/>
              </a:spcBef>
              <a:spcAft>
                <a:spcPts val="0"/>
              </a:spcAft>
              <a:defRPr sz="1200" b="1"/>
            </a:pPr>
            <a:r>
              <a:rPr sz="1200" b="1">
                <a:solidFill>
                  <a:srgbClr val="087E8B"/>
                </a:solidFill>
                <a:latin typeface="Arial"/>
              </a:rPr>
              <a:t>FLUSSO SANGUIGNO</a:t>
            </a:r>
            <a:endParaRPr lang="it-IT" sz="1200" b="1">
              <a:solidFill>
                <a:srgbClr val="087E8B"/>
              </a:solidFill>
              <a:latin typeface="Arial"/>
            </a:endParaRPr>
          </a:p>
        </p:txBody>
      </p:sp>
      <p:sp>
        <p:nvSpPr>
          <p:cNvPr id="35" name="TextBox 34"/>
          <p:cNvSpPr txBox="1"/>
          <p:nvPr/>
        </p:nvSpPr>
        <p:spPr>
          <a:xfrm>
            <a:off x="6400800" y="1920240"/>
            <a:ext cx="5157216" cy="612648"/>
          </a:xfrm>
          <a:prstGeom prst="rect">
            <a:avLst/>
          </a:prstGeom>
          <a:noFill/>
        </p:spPr>
        <p:txBody>
          <a:bodyPr wrap="square" lIns="0" tIns="0" rIns="0" bIns="0" anchor="t">
            <a:noAutofit/>
          </a:bodyPr>
          <a:lstStyle/>
          <a:p>
            <a:pPr>
              <a:lnSpc>
                <a:spcPct val="100000"/>
              </a:lnSpc>
              <a:spcBef>
                <a:spcPts val="0"/>
              </a:spcBef>
              <a:spcAft>
                <a:spcPts val="200"/>
              </a:spcAft>
            </a:pPr>
            <a:r>
              <a:rPr lang="it-IT" sz="2200" b="1">
                <a:solidFill>
                  <a:srgbClr val="123F67"/>
                </a:solidFill>
                <a:latin typeface="Arial"/>
              </a:rPr>
              <a:t>Trombosi</a:t>
            </a:r>
          </a:p>
          <a:p>
            <a:pPr>
              <a:lnSpc>
                <a:spcPct val="100000"/>
              </a:lnSpc>
              <a:spcBef>
                <a:spcPts val="0"/>
              </a:spcBef>
              <a:spcAft>
                <a:spcPts val="0"/>
              </a:spcAft>
            </a:pPr>
            <a:r>
              <a:rPr lang="it-IT" sz="1650" b="0">
                <a:solidFill>
                  <a:srgbClr val="087E8B"/>
                </a:solidFill>
                <a:latin typeface="Arial"/>
              </a:rPr>
              <a:t>(enoxaparina, nella trombosi venosa)</a:t>
            </a:r>
          </a:p>
        </p:txBody>
      </p:sp>
      <p:sp>
        <p:nvSpPr>
          <p:cNvPr id="36" name="TextBox 35"/>
          <p:cNvSpPr txBox="1"/>
          <p:nvPr/>
        </p:nvSpPr>
        <p:spPr>
          <a:xfrm>
            <a:off x="6400800" y="2624328"/>
            <a:ext cx="5157216" cy="777240"/>
          </a:xfrm>
          <a:prstGeom prst="rect">
            <a:avLst/>
          </a:prstGeom>
          <a:noFill/>
        </p:spPr>
        <p:txBody>
          <a:bodyPr wrap="square" lIns="0" tIns="0" rIns="0" bIns="0" anchor="t">
            <a:noAutofit/>
          </a:bodyPr>
          <a:lstStyle/>
          <a:p>
            <a:pPr>
              <a:lnSpc>
                <a:spcPts val="2100"/>
              </a:lnSpc>
              <a:spcBef>
                <a:spcPts val="0"/>
              </a:spcBef>
              <a:spcAft>
                <a:spcPts val="0"/>
              </a:spcAft>
              <a:defRPr sz="1800"/>
            </a:pPr>
            <a:r>
              <a:rPr lang="it-IT" dirty="0">
                <a:solidFill>
                  <a:srgbClr val="193248"/>
                </a:solidFill>
                <a:latin typeface="Arial"/>
              </a:rPr>
              <a:t>Un</a:t>
            </a:r>
            <a:r>
              <a:rPr lang="it-IT" sz="1800" b="0" dirty="0">
                <a:solidFill>
                  <a:srgbClr val="193248"/>
                </a:solidFill>
                <a:latin typeface="Arial"/>
              </a:rPr>
              <a:t> coagulo  di sangue (trombo) si forma in un vaso e resta nel punto in cui nasce, dove può bloccare il flusso.</a:t>
            </a:r>
            <a:endParaRPr lang="it-IT">
              <a:solidFill>
                <a:srgbClr val="193248"/>
              </a:solidFill>
              <a:latin typeface="Arial"/>
            </a:endParaRPr>
          </a:p>
        </p:txBody>
      </p:sp>
      <p:sp>
        <p:nvSpPr>
          <p:cNvPr id="38" name="TextBox 37"/>
          <p:cNvSpPr txBox="1"/>
          <p:nvPr/>
        </p:nvSpPr>
        <p:spPr>
          <a:xfrm>
            <a:off x="6400800" y="3474720"/>
            <a:ext cx="5157216" cy="612648"/>
          </a:xfrm>
          <a:prstGeom prst="rect">
            <a:avLst/>
          </a:prstGeom>
          <a:noFill/>
        </p:spPr>
        <p:txBody>
          <a:bodyPr wrap="square" lIns="0" tIns="0" rIns="0" bIns="0" anchor="t">
            <a:noAutofit/>
          </a:bodyPr>
          <a:lstStyle/>
          <a:p>
            <a:pPr>
              <a:lnSpc>
                <a:spcPct val="100000"/>
              </a:lnSpc>
              <a:spcBef>
                <a:spcPts val="0"/>
              </a:spcBef>
              <a:spcAft>
                <a:spcPts val="200"/>
              </a:spcAft>
            </a:pPr>
            <a:r>
              <a:rPr lang="it-IT" sz="2200" b="1">
                <a:solidFill>
                  <a:srgbClr val="123F67"/>
                </a:solidFill>
                <a:latin typeface="Arial"/>
              </a:rPr>
              <a:t>Embolia</a:t>
            </a:r>
          </a:p>
          <a:p>
            <a:pPr>
              <a:lnSpc>
                <a:spcPct val="100000"/>
              </a:lnSpc>
              <a:spcBef>
                <a:spcPts val="0"/>
              </a:spcBef>
              <a:spcAft>
                <a:spcPts val="0"/>
              </a:spcAft>
            </a:pPr>
            <a:r>
              <a:rPr lang="it-IT" sz="1650" b="0">
                <a:solidFill>
                  <a:srgbClr val="087E8B"/>
                </a:solidFill>
                <a:latin typeface="Arial"/>
              </a:rPr>
              <a:t>(enoxaparina, nell’embolia polmonare)</a:t>
            </a:r>
          </a:p>
        </p:txBody>
      </p:sp>
      <p:sp>
        <p:nvSpPr>
          <p:cNvPr id="39" name="TextBox 38"/>
          <p:cNvSpPr txBox="1"/>
          <p:nvPr/>
        </p:nvSpPr>
        <p:spPr>
          <a:xfrm>
            <a:off x="6400800" y="4133087"/>
            <a:ext cx="5157216" cy="603504"/>
          </a:xfrm>
          <a:prstGeom prst="rect">
            <a:avLst/>
          </a:prstGeom>
          <a:noFill/>
        </p:spPr>
        <p:txBody>
          <a:bodyPr wrap="square" lIns="0" tIns="0" rIns="0" bIns="0" anchor="t">
            <a:noAutofit/>
          </a:bodyPr>
          <a:lstStyle/>
          <a:p>
            <a:pPr>
              <a:lnSpc>
                <a:spcPts val="2100"/>
              </a:lnSpc>
              <a:spcBef>
                <a:spcPts val="0"/>
              </a:spcBef>
              <a:spcAft>
                <a:spcPts val="0"/>
              </a:spcAft>
              <a:defRPr sz="1800"/>
            </a:pPr>
            <a:r>
              <a:rPr lang="it-IT" sz="1800" b="0" dirty="0">
                <a:solidFill>
                  <a:srgbClr val="193248"/>
                </a:solidFill>
                <a:latin typeface="Arial"/>
              </a:rPr>
              <a:t>Un embolo</a:t>
            </a:r>
            <a:r>
              <a:rPr lang="it-IT" dirty="0">
                <a:solidFill>
                  <a:srgbClr val="193248"/>
                </a:solidFill>
                <a:latin typeface="Arial"/>
              </a:rPr>
              <a:t> (</a:t>
            </a:r>
            <a:r>
              <a:rPr lang="it-IT" sz="1800" b="0" dirty="0">
                <a:solidFill>
                  <a:srgbClr val="193248"/>
                </a:solidFill>
                <a:latin typeface="Arial"/>
              </a:rPr>
              <a:t>un frammento di trombo che si stacca) viaggia nel sangue e blocca un vaso altrove.</a:t>
            </a:r>
            <a:endParaRPr lang="it-IT" sz="1800" b="0">
              <a:solidFill>
                <a:srgbClr val="193248"/>
              </a:solidFill>
              <a:latin typeface="Arial"/>
            </a:endParaRPr>
          </a:p>
        </p:txBody>
      </p:sp>
      <p:sp>
        <p:nvSpPr>
          <p:cNvPr id="40" name="TextBox 39"/>
          <p:cNvSpPr txBox="1"/>
          <p:nvPr/>
        </p:nvSpPr>
        <p:spPr>
          <a:xfrm>
            <a:off x="6400800" y="5056632"/>
            <a:ext cx="5157216" cy="228600"/>
          </a:xfrm>
          <a:prstGeom prst="rect">
            <a:avLst/>
          </a:prstGeom>
          <a:noFill/>
        </p:spPr>
        <p:txBody>
          <a:bodyPr wrap="square" lIns="0" tIns="0" rIns="0" bIns="0" anchor="t">
            <a:noAutofit/>
          </a:bodyPr>
          <a:lstStyle/>
          <a:p>
            <a:pPr>
              <a:lnSpc>
                <a:spcPct val="100000"/>
              </a:lnSpc>
              <a:spcBef>
                <a:spcPts val="0"/>
              </a:spcBef>
              <a:spcAft>
                <a:spcPts val="0"/>
              </a:spcAft>
              <a:defRPr sz="1200" b="1"/>
            </a:pPr>
            <a:r>
              <a:rPr sz="1200" b="1">
                <a:solidFill>
                  <a:srgbClr val="087E8B"/>
                </a:solidFill>
                <a:latin typeface="Arial"/>
              </a:rPr>
              <a:t>MUSCOLO CARDIACO</a:t>
            </a:r>
            <a:endParaRPr lang="it-IT" sz="1200" b="1">
              <a:solidFill>
                <a:srgbClr val="087E8B"/>
              </a:solidFill>
              <a:latin typeface="Arial"/>
            </a:endParaRPr>
          </a:p>
        </p:txBody>
      </p:sp>
      <p:sp>
        <p:nvSpPr>
          <p:cNvPr id="41" name="TextBox 40"/>
          <p:cNvSpPr txBox="1"/>
          <p:nvPr/>
        </p:nvSpPr>
        <p:spPr>
          <a:xfrm>
            <a:off x="6400800" y="5394960"/>
            <a:ext cx="5157216" cy="576072"/>
          </a:xfrm>
          <a:prstGeom prst="rect">
            <a:avLst/>
          </a:prstGeom>
          <a:noFill/>
        </p:spPr>
        <p:txBody>
          <a:bodyPr wrap="square" lIns="0" tIns="0" rIns="0" bIns="0" anchor="t">
            <a:noAutofit/>
          </a:bodyPr>
          <a:lstStyle/>
          <a:p>
            <a:pPr>
              <a:lnSpc>
                <a:spcPct val="100000"/>
              </a:lnSpc>
              <a:spcBef>
                <a:spcPts val="0"/>
              </a:spcBef>
              <a:spcAft>
                <a:spcPts val="200"/>
              </a:spcAft>
            </a:pPr>
            <a:r>
              <a:rPr lang="it-IT" sz="2200" b="1">
                <a:solidFill>
                  <a:srgbClr val="123F67"/>
                </a:solidFill>
                <a:latin typeface="Arial"/>
              </a:rPr>
              <a:t>Infarto miocardico</a:t>
            </a:r>
          </a:p>
          <a:p>
            <a:pPr>
              <a:lnSpc>
                <a:spcPct val="100000"/>
              </a:lnSpc>
              <a:spcBef>
                <a:spcPts val="0"/>
              </a:spcBef>
              <a:spcAft>
                <a:spcPts val="0"/>
              </a:spcAft>
            </a:pPr>
            <a:r>
              <a:rPr lang="it-IT" sz="1650" b="0" dirty="0">
                <a:solidFill>
                  <a:srgbClr val="087E8B"/>
                </a:solidFill>
                <a:latin typeface="Arial"/>
              </a:rPr>
              <a:t>(acido acetilsalicilico </a:t>
            </a:r>
            <a:r>
              <a:rPr lang="it-IT" sz="1650" dirty="0">
                <a:solidFill>
                  <a:srgbClr val="087E8B"/>
                </a:solidFill>
                <a:latin typeface="Arial"/>
              </a:rPr>
              <a:t>- </a:t>
            </a:r>
            <a:r>
              <a:rPr lang="it-IT" sz="1650" b="0" dirty="0">
                <a:solidFill>
                  <a:srgbClr val="087E8B"/>
                </a:solidFill>
                <a:latin typeface="Arial"/>
              </a:rPr>
              <a:t>ASA)</a:t>
            </a:r>
            <a:endParaRPr lang="it-IT" sz="1650" b="0">
              <a:solidFill>
                <a:srgbClr val="087E8B"/>
              </a:solidFill>
              <a:latin typeface="Arial"/>
            </a:endParaRPr>
          </a:p>
        </p:txBody>
      </p:sp>
      <p:sp>
        <p:nvSpPr>
          <p:cNvPr id="42" name="TextBox 41"/>
          <p:cNvSpPr txBox="1"/>
          <p:nvPr/>
        </p:nvSpPr>
        <p:spPr>
          <a:xfrm>
            <a:off x="6400800" y="5971032"/>
            <a:ext cx="5157216" cy="548640"/>
          </a:xfrm>
          <a:prstGeom prst="rect">
            <a:avLst/>
          </a:prstGeom>
          <a:noFill/>
        </p:spPr>
        <p:txBody>
          <a:bodyPr wrap="square" lIns="0" tIns="0" rIns="0" bIns="0" anchor="t">
            <a:noAutofit/>
          </a:bodyPr>
          <a:lstStyle/>
          <a:p>
            <a:pPr>
              <a:lnSpc>
                <a:spcPts val="2100"/>
              </a:lnSpc>
              <a:spcBef>
                <a:spcPts val="0"/>
              </a:spcBef>
              <a:spcAft>
                <a:spcPts val="0"/>
              </a:spcAft>
              <a:defRPr sz="1800"/>
            </a:pPr>
            <a:r>
              <a:rPr lang="it-IT" sz="1800" b="0">
                <a:solidFill>
                  <a:srgbClr val="193248"/>
                </a:solidFill>
                <a:latin typeface="Arial"/>
              </a:rPr>
              <a:t>Danno con morte di tessuto cardiaco per interruzione prolungata dell’apporto di sangue.</a:t>
            </a:r>
          </a:p>
        </p:txBody>
      </p:sp>
      <p:sp>
        <p:nvSpPr>
          <p:cNvPr id="43" name="TextBox 42"/>
          <p:cNvSpPr txBox="1"/>
          <p:nvPr/>
        </p:nvSpPr>
        <p:spPr>
          <a:xfrm>
            <a:off x="704088" y="4507992"/>
            <a:ext cx="5029200" cy="603504"/>
          </a:xfrm>
          <a:prstGeom prst="rect">
            <a:avLst/>
          </a:prstGeom>
          <a:noFill/>
        </p:spPr>
        <p:txBody>
          <a:bodyPr wrap="square" lIns="0" tIns="0" rIns="0" bIns="0" anchor="t">
            <a:noAutofit/>
          </a:bodyPr>
          <a:lstStyle/>
          <a:p>
            <a:pPr marL="190500" indent="-152400">
              <a:lnSpc>
                <a:spcPts val="2100"/>
              </a:lnSpc>
              <a:spcBef>
                <a:spcPts val="0"/>
              </a:spcBef>
              <a:spcAft>
                <a:spcPts val="0"/>
              </a:spcAft>
              <a:buChar char="•"/>
            </a:pPr>
            <a:r>
              <a:rPr lang="it-IT" sz="1800" b="0" u="sng">
                <a:solidFill>
                  <a:srgbClr val="193248"/>
                </a:solidFill>
                <a:latin typeface="Arial"/>
              </a:rPr>
              <a:t>Angioplastica con stent</a:t>
            </a:r>
          </a:p>
          <a:p>
            <a:pPr marL="190500" indent="-152400">
              <a:lnSpc>
                <a:spcPts val="2100"/>
              </a:lnSpc>
              <a:spcBef>
                <a:spcPts val="0"/>
              </a:spcBef>
              <a:spcAft>
                <a:spcPts val="0"/>
              </a:spcAft>
              <a:buChar char="•"/>
            </a:pPr>
            <a:r>
              <a:rPr lang="it-IT" sz="1800" b="0" u="sng">
                <a:solidFill>
                  <a:srgbClr val="193248"/>
                </a:solidFill>
                <a:latin typeface="Arial"/>
              </a:rPr>
              <a:t>Bypass aorto-coronarico</a:t>
            </a:r>
          </a:p>
        </p:txBody>
      </p:sp>
      <p:cxnSp>
        <p:nvCxnSpPr>
          <p:cNvPr id="44" name="Separatore colonne"/>
          <p:cNvCxnSpPr/>
          <p:nvPr/>
        </p:nvCxnSpPr>
        <p:spPr>
          <a:xfrm>
            <a:off x="6062472" y="1581912"/>
            <a:ext cx="0" cy="4892040"/>
          </a:xfrm>
          <a:prstGeom prst="line">
            <a:avLst/>
          </a:prstGeom>
          <a:ln w="12700">
            <a:solidFill>
              <a:srgbClr val="B8D6D9"/>
            </a:solidFill>
          </a:ln>
        </p:spPr>
        <p:style>
          <a:lnRef idx="2">
            <a:schemeClr val="accent1"/>
          </a:lnRef>
          <a:fillRef idx="0">
            <a:schemeClr val="accent1"/>
          </a:fillRef>
          <a:effectRef idx="1">
            <a:schemeClr val="accent1"/>
          </a:effectRef>
          <a:fontRef idx="minor">
            <a:schemeClr val="tx1"/>
          </a:fontRef>
        </p:style>
      </p:cxnSp>
      <p:cxnSp>
        <p:nvCxnSpPr>
          <p:cNvPr id="45" name="Separatore flusso e muscolo cardiaco"/>
          <p:cNvCxnSpPr/>
          <p:nvPr/>
        </p:nvCxnSpPr>
        <p:spPr>
          <a:xfrm>
            <a:off x="6281928" y="4864608"/>
            <a:ext cx="5276088" cy="0"/>
          </a:xfrm>
          <a:prstGeom prst="line">
            <a:avLst/>
          </a:prstGeom>
          <a:ln w="12700">
            <a:solidFill>
              <a:srgbClr val="B8D6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lang="it-IT" sz="3000" b="1">
                <a:solidFill>
                  <a:srgbClr val="123F67"/>
                </a:solidFill>
                <a:latin typeface="Arial"/>
                <a:ea typeface="Arial"/>
                <a:cs typeface="Arial"/>
              </a:rPr>
              <a:t>Patologie dell’apparato cardiovascolare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35</a:t>
            </a:r>
            <a:endParaRPr sz="1350" b="1">
              <a:solidFill>
                <a:srgbClr val="123F67"/>
              </a:solidFill>
              <a:latin typeface="Arial"/>
              <a:ea typeface="Arial"/>
              <a:cs typeface="Arial"/>
            </a:endParaRPr>
          </a:p>
        </p:txBody>
      </p:sp>
      <p:sp>
        <p:nvSpPr>
          <p:cNvPr id="24" name="TextBox 23"/>
          <p:cNvSpPr txBox="1"/>
          <p:nvPr/>
        </p:nvSpPr>
        <p:spPr>
          <a:xfrm>
            <a:off x="704850" y="1476756"/>
            <a:ext cx="10877550" cy="411480"/>
          </a:xfrm>
          <a:prstGeom prst="rect">
            <a:avLst/>
          </a:prstGeom>
          <a:noFill/>
        </p:spPr>
        <p:txBody>
          <a:bodyPr wrap="square" lIns="0" tIns="0" rIns="0" bIns="0">
            <a:noAutofit/>
          </a:bodyPr>
          <a:lstStyle/>
          <a:p>
            <a:pPr>
              <a:lnSpc>
                <a:spcPts val="2200"/>
              </a:lnSpc>
            </a:pPr>
            <a:r>
              <a:rPr lang="it-IT" sz="1900" dirty="0">
                <a:solidFill>
                  <a:srgbClr val="087E8B"/>
                </a:solidFill>
                <a:latin typeface="Arial"/>
              </a:rPr>
              <a:t>R</a:t>
            </a:r>
            <a:r>
              <a:rPr lang="it-IT" sz="1900">
                <a:solidFill>
                  <a:srgbClr val="087E8B"/>
                </a:solidFill>
                <a:latin typeface="Arial"/>
              </a:rPr>
              <a:t>itmo e conduzione cardiaca, pressione arteriosa e valvole</a:t>
            </a:r>
            <a:endParaRPr sz="1900" b="0" dirty="0">
              <a:solidFill>
                <a:srgbClr val="087E8B"/>
              </a:solidFill>
              <a:latin typeface="Arial"/>
            </a:endParaRPr>
          </a:p>
        </p:txBody>
      </p:sp>
      <p:sp>
        <p:nvSpPr>
          <p:cNvPr id="26" name="TextBox 25"/>
          <p:cNvSpPr txBox="1"/>
          <p:nvPr/>
        </p:nvSpPr>
        <p:spPr>
          <a:xfrm>
            <a:off x="704850" y="2103120"/>
            <a:ext cx="5181600" cy="338328"/>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Ritmo cardiaco</a:t>
            </a:r>
          </a:p>
        </p:txBody>
      </p:sp>
      <p:sp>
        <p:nvSpPr>
          <p:cNvPr id="27" name="TextBox 26"/>
          <p:cNvSpPr txBox="1"/>
          <p:nvPr/>
        </p:nvSpPr>
        <p:spPr>
          <a:xfrm>
            <a:off x="704850" y="2578608"/>
            <a:ext cx="5181600" cy="2011680"/>
          </a:xfrm>
          <a:prstGeom prst="rect">
            <a:avLst/>
          </a:prstGeom>
          <a:noFill/>
        </p:spPr>
        <p:txBody>
          <a:bodyPr wrap="square" lIns="0" tIns="0" rIns="0" bIns="0">
            <a:noAutofit/>
          </a:bodyPr>
          <a:lstStyle/>
          <a:p>
            <a:pPr marL="190500" indent="-139700">
              <a:lnSpc>
                <a:spcPts val="1800"/>
              </a:lnSpc>
              <a:spcBef>
                <a:spcPts val="0"/>
              </a:spcBef>
              <a:spcAft>
                <a:spcPts val="300"/>
              </a:spcAft>
              <a:buChar char="•"/>
            </a:pPr>
            <a:r>
              <a:rPr lang="it-IT" sz="1700" b="1">
                <a:solidFill>
                  <a:srgbClr val="193248"/>
                </a:solidFill>
                <a:latin typeface="Arial"/>
              </a:rPr>
              <a:t>Aritmia</a:t>
            </a:r>
            <a:r>
              <a:rPr lang="it-IT" sz="1700" dirty="0">
                <a:solidFill>
                  <a:srgbClr val="193248"/>
                </a:solidFill>
                <a:latin typeface="Arial"/>
              </a:rPr>
              <a:t>: battito irregolare.</a:t>
            </a:r>
          </a:p>
          <a:p>
            <a:pPr marL="190500" indent="0">
              <a:lnSpc>
                <a:spcPct val="100000"/>
              </a:lnSpc>
              <a:spcBef>
                <a:spcPts val="0"/>
              </a:spcBef>
              <a:spcAft>
                <a:spcPts val="600"/>
              </a:spcAft>
            </a:pPr>
            <a:r>
              <a:rPr lang="it-IT" sz="1650" b="0" dirty="0">
                <a:solidFill>
                  <a:srgbClr val="087E8B"/>
                </a:solidFill>
                <a:latin typeface="Arial"/>
              </a:rPr>
              <a:t>(farmaci antiaritmici)</a:t>
            </a:r>
          </a:p>
          <a:p>
            <a:pPr marL="190500" indent="-139700">
              <a:lnSpc>
                <a:spcPts val="1800"/>
              </a:lnSpc>
              <a:spcBef>
                <a:spcPts val="0"/>
              </a:spcBef>
              <a:spcAft>
                <a:spcPts val="300"/>
              </a:spcAft>
              <a:buChar char="•"/>
            </a:pPr>
            <a:r>
              <a:rPr lang="it-IT" sz="1700" b="1">
                <a:solidFill>
                  <a:srgbClr val="193248"/>
                </a:solidFill>
                <a:latin typeface="Arial"/>
              </a:rPr>
              <a:t>Tachicardia</a:t>
            </a:r>
            <a:r>
              <a:rPr lang="it-IT" sz="1700" dirty="0">
                <a:solidFill>
                  <a:srgbClr val="193248"/>
                </a:solidFill>
                <a:latin typeface="Arial"/>
              </a:rPr>
              <a:t>: battito troppo rapido.</a:t>
            </a:r>
          </a:p>
          <a:p>
            <a:pPr marL="190500" indent="0">
              <a:lnSpc>
                <a:spcPct val="100000"/>
              </a:lnSpc>
              <a:spcBef>
                <a:spcPts val="0"/>
              </a:spcBef>
              <a:spcAft>
                <a:spcPts val="600"/>
              </a:spcAft>
            </a:pPr>
            <a:r>
              <a:rPr lang="it-IT" sz="1650" b="0" dirty="0">
                <a:solidFill>
                  <a:srgbClr val="087E8B"/>
                </a:solidFill>
                <a:latin typeface="Arial"/>
              </a:rPr>
              <a:t>(beta-bloccanti: </a:t>
            </a:r>
            <a:r>
              <a:rPr lang="it-IT" sz="1650" b="0" dirty="0" err="1">
                <a:solidFill>
                  <a:srgbClr val="087E8B"/>
                </a:solidFill>
                <a:latin typeface="Arial"/>
              </a:rPr>
              <a:t>bisoprololo</a:t>
            </a:r>
            <a:r>
              <a:rPr lang="it-IT" sz="1650" b="0" dirty="0">
                <a:solidFill>
                  <a:srgbClr val="087E8B"/>
                </a:solidFill>
                <a:latin typeface="Arial"/>
              </a:rPr>
              <a:t>, </a:t>
            </a:r>
            <a:r>
              <a:rPr lang="it-IT" sz="1650" b="0" dirty="0" err="1">
                <a:solidFill>
                  <a:srgbClr val="087E8B"/>
                </a:solidFill>
                <a:latin typeface="Arial"/>
              </a:rPr>
              <a:t>metoprololo</a:t>
            </a:r>
            <a:r>
              <a:rPr lang="it-IT" sz="1650" b="0" dirty="0">
                <a:solidFill>
                  <a:srgbClr val="087E8B"/>
                </a:solidFill>
                <a:latin typeface="Arial"/>
              </a:rPr>
              <a:t>, </a:t>
            </a:r>
            <a:r>
              <a:rPr lang="it-IT" sz="1650" b="0" dirty="0" err="1">
                <a:solidFill>
                  <a:srgbClr val="087E8B"/>
                </a:solidFill>
                <a:latin typeface="Arial"/>
              </a:rPr>
              <a:t>atenololo</a:t>
            </a:r>
            <a:r>
              <a:rPr lang="it-IT" sz="1650" b="0" dirty="0">
                <a:solidFill>
                  <a:srgbClr val="087E8B"/>
                </a:solidFill>
                <a:latin typeface="Arial"/>
              </a:rPr>
              <a:t>)</a:t>
            </a:r>
            <a:endParaRPr lang="it-IT" sz="1650" dirty="0">
              <a:solidFill>
                <a:srgbClr val="087E8B"/>
              </a:solidFill>
              <a:latin typeface="Arial"/>
            </a:endParaRPr>
          </a:p>
          <a:p>
            <a:pPr marL="0" marR="0" indent="0" algn="ctr">
              <a:lnSpc>
                <a:spcPct val="100000"/>
              </a:lnSpc>
              <a:spcBef>
                <a:spcPts val="0"/>
              </a:spcBef>
              <a:spcAft>
                <a:spcPts val="600"/>
              </a:spcAft>
            </a:pPr>
            <a:r>
              <a:rPr lang="it-IT" sz="1600" dirty="0">
                <a:solidFill>
                  <a:srgbClr val="193248"/>
                </a:solidFill>
                <a:latin typeface="Arial"/>
              </a:rPr>
              <a:t>NB= La terapia dipende dal tipo e dalla causa.</a:t>
            </a:r>
          </a:p>
          <a:p>
            <a:pPr marL="190500" indent="-139700">
              <a:lnSpc>
                <a:spcPts val="1800"/>
              </a:lnSpc>
              <a:spcBef>
                <a:spcPts val="0"/>
              </a:spcBef>
              <a:spcAft>
                <a:spcPts val="800"/>
              </a:spcAft>
              <a:buChar char="•"/>
            </a:pPr>
            <a:r>
              <a:rPr lang="it-IT" sz="1700" b="1">
                <a:solidFill>
                  <a:srgbClr val="193248"/>
                </a:solidFill>
                <a:latin typeface="Arial"/>
              </a:rPr>
              <a:t>Bradicardia</a:t>
            </a:r>
            <a:r>
              <a:rPr lang="it-IT" sz="2000" dirty="0">
                <a:solidFill>
                  <a:srgbClr val="193248"/>
                </a:solidFill>
                <a:latin typeface="Arial"/>
              </a:rPr>
              <a:t>*</a:t>
            </a:r>
            <a:r>
              <a:rPr lang="it-IT" sz="1700" dirty="0">
                <a:solidFill>
                  <a:srgbClr val="193248"/>
                </a:solidFill>
                <a:latin typeface="Arial"/>
              </a:rPr>
              <a:t>: battito troppo lento.</a:t>
            </a:r>
          </a:p>
        </p:txBody>
      </p:sp>
      <p:sp>
        <p:nvSpPr>
          <p:cNvPr id="46" name="TextBox 28"/>
          <p:cNvSpPr txBox="1"/>
          <p:nvPr/>
        </p:nvSpPr>
        <p:spPr>
          <a:xfrm>
            <a:off x="6362700" y="2103120"/>
            <a:ext cx="5181600" cy="1097280"/>
          </a:xfrm>
          <a:prstGeom prst="rect">
            <a:avLst/>
          </a:prstGeom>
          <a:noFill/>
        </p:spPr>
        <p:txBody>
          <a:bodyPr wrap="square" lIns="0" tIns="0" rIns="0" bIns="0">
            <a:noAutofit/>
          </a:bodyPr>
          <a:lstStyle/>
          <a:p>
            <a:pPr>
              <a:lnSpc>
                <a:spcPct val="100000"/>
              </a:lnSpc>
              <a:spcAft>
                <a:spcPts val="300"/>
              </a:spcAft>
            </a:pPr>
            <a:r>
              <a:rPr lang="it-IT" sz="2000" b="1" dirty="0">
                <a:solidFill>
                  <a:srgbClr val="123F67"/>
                </a:solidFill>
                <a:latin typeface="Arial"/>
              </a:rPr>
              <a:t>Ipertensione arteriosa</a:t>
            </a:r>
          </a:p>
          <a:p>
            <a:pPr>
              <a:lnSpc>
                <a:spcPct val="100000"/>
              </a:lnSpc>
              <a:spcAft>
                <a:spcPts val="0"/>
              </a:spcAft>
            </a:pPr>
            <a:r>
              <a:rPr lang="it-IT" sz="1650" b="0" dirty="0">
                <a:solidFill>
                  <a:srgbClr val="087E8B"/>
                </a:solidFill>
                <a:latin typeface="Arial"/>
              </a:rPr>
              <a:t>- </a:t>
            </a:r>
            <a:r>
              <a:rPr lang="it-IT" sz="1650" dirty="0">
                <a:solidFill>
                  <a:srgbClr val="087E8B"/>
                </a:solidFill>
                <a:latin typeface="Arial"/>
              </a:rPr>
              <a:t>A</a:t>
            </a:r>
            <a:r>
              <a:rPr lang="it-IT" sz="1650" b="0" dirty="0">
                <a:solidFill>
                  <a:srgbClr val="087E8B"/>
                </a:solidFill>
                <a:latin typeface="Arial"/>
              </a:rPr>
              <a:t>mlodipina (Calcio-Antagonista)</a:t>
            </a:r>
          </a:p>
          <a:p>
            <a:pPr>
              <a:lnSpc>
                <a:spcPct val="100000"/>
              </a:lnSpc>
              <a:spcAft>
                <a:spcPts val="0"/>
              </a:spcAft>
            </a:pPr>
            <a:r>
              <a:rPr lang="it-IT" sz="1650" b="0" dirty="0">
                <a:solidFill>
                  <a:srgbClr val="087E8B"/>
                </a:solidFill>
                <a:latin typeface="Arial"/>
              </a:rPr>
              <a:t>- </a:t>
            </a:r>
            <a:r>
              <a:rPr lang="it-IT" sz="1650" dirty="0" err="1">
                <a:solidFill>
                  <a:srgbClr val="087E8B"/>
                </a:solidFill>
                <a:latin typeface="Arial"/>
              </a:rPr>
              <a:t>R</a:t>
            </a:r>
            <a:r>
              <a:rPr lang="it-IT" sz="1650" b="0" dirty="0" err="1">
                <a:solidFill>
                  <a:srgbClr val="087E8B"/>
                </a:solidFill>
                <a:latin typeface="Arial"/>
              </a:rPr>
              <a:t>amipril</a:t>
            </a:r>
            <a:r>
              <a:rPr lang="it-IT" sz="1650" b="0" dirty="0">
                <a:solidFill>
                  <a:srgbClr val="087E8B"/>
                </a:solidFill>
                <a:latin typeface="Arial"/>
              </a:rPr>
              <a:t> (ACE-inibitore)</a:t>
            </a:r>
          </a:p>
          <a:p>
            <a:pPr>
              <a:lnSpc>
                <a:spcPct val="100000"/>
              </a:lnSpc>
              <a:spcAft>
                <a:spcPts val="0"/>
              </a:spcAft>
            </a:pPr>
            <a:r>
              <a:rPr lang="it-IT" sz="1650" b="0" dirty="0">
                <a:solidFill>
                  <a:srgbClr val="087E8B"/>
                </a:solidFill>
                <a:latin typeface="Arial"/>
              </a:rPr>
              <a:t>- </a:t>
            </a:r>
            <a:r>
              <a:rPr lang="it-IT" sz="1650" b="0" dirty="0" err="1">
                <a:solidFill>
                  <a:srgbClr val="087E8B"/>
                </a:solidFill>
                <a:latin typeface="Arial"/>
              </a:rPr>
              <a:t>Losartan</a:t>
            </a:r>
            <a:r>
              <a:rPr lang="it-IT" sz="1650" b="0" dirty="0">
                <a:solidFill>
                  <a:srgbClr val="087E8B"/>
                </a:solidFill>
                <a:latin typeface="Arial"/>
              </a:rPr>
              <a:t> e </a:t>
            </a:r>
            <a:r>
              <a:rPr lang="it-IT" sz="1650" b="0" dirty="0" err="1">
                <a:solidFill>
                  <a:srgbClr val="087E8B"/>
                </a:solidFill>
                <a:latin typeface="Arial"/>
              </a:rPr>
              <a:t>Olmesartan</a:t>
            </a:r>
            <a:r>
              <a:rPr lang="it-IT" sz="1650" b="0" dirty="0">
                <a:solidFill>
                  <a:srgbClr val="087E8B"/>
                </a:solidFill>
                <a:latin typeface="Arial"/>
              </a:rPr>
              <a:t> (Sartani o ARB)</a:t>
            </a:r>
          </a:p>
        </p:txBody>
      </p:sp>
      <p:sp>
        <p:nvSpPr>
          <p:cNvPr id="47" name="TextBox 29"/>
          <p:cNvSpPr txBox="1"/>
          <p:nvPr/>
        </p:nvSpPr>
        <p:spPr>
          <a:xfrm>
            <a:off x="6362700" y="3337560"/>
            <a:ext cx="5181600" cy="1188720"/>
          </a:xfrm>
          <a:prstGeom prst="rect">
            <a:avLst/>
          </a:prstGeom>
          <a:noFill/>
        </p:spPr>
        <p:txBody>
          <a:bodyPr wrap="square" lIns="0" tIns="0" rIns="0" bIns="0">
            <a:noAutofit/>
          </a:bodyPr>
          <a:lstStyle/>
          <a:p>
            <a:pPr>
              <a:lnSpc>
                <a:spcPts val="1800"/>
              </a:lnSpc>
            </a:pPr>
            <a:r>
              <a:rPr lang="it-IT" sz="1700">
                <a:solidFill>
                  <a:srgbClr val="193248"/>
                </a:solidFill>
                <a:latin typeface="Arial"/>
              </a:rPr>
              <a:t>Aumento persistente della pressione nelle arterie, spesso senza sintomi. Accresce il rischio di infarto e ictus. L’amlodipina dilata i vasi e abbassa la pressione.</a:t>
            </a:r>
          </a:p>
        </p:txBody>
      </p:sp>
      <p:sp>
        <p:nvSpPr>
          <p:cNvPr id="48" name="Blocco atrioventricolare 46"/>
          <p:cNvSpPr txBox="1"/>
          <p:nvPr/>
        </p:nvSpPr>
        <p:spPr>
          <a:xfrm>
            <a:off x="6362700" y="4709160"/>
            <a:ext cx="5181600" cy="338328"/>
          </a:xfrm>
          <a:prstGeom prst="rect">
            <a:avLst/>
          </a:prstGeom>
          <a:noFill/>
        </p:spPr>
        <p:txBody>
          <a:bodyPr wrap="square" lIns="0" tIns="0" rIns="0" bIns="0">
            <a:noAutofit/>
          </a:bodyPr>
          <a:lstStyle/>
          <a:p>
            <a:pPr>
              <a:lnSpc>
                <a:spcPct val="100000"/>
              </a:lnSpc>
              <a:spcAft>
                <a:spcPts val="0"/>
              </a:spcAft>
            </a:pPr>
            <a:r>
              <a:rPr lang="it-IT" sz="2000" b="1" dirty="0">
                <a:solidFill>
                  <a:srgbClr val="123F67"/>
                </a:solidFill>
                <a:latin typeface="Arial"/>
              </a:rPr>
              <a:t>Blocco atrioventricolare</a:t>
            </a:r>
          </a:p>
        </p:txBody>
      </p:sp>
      <p:sp>
        <p:nvSpPr>
          <p:cNvPr id="49" name="Blocco atrioventricolare 47"/>
          <p:cNvSpPr txBox="1"/>
          <p:nvPr/>
        </p:nvSpPr>
        <p:spPr>
          <a:xfrm>
            <a:off x="6362700" y="5184648"/>
            <a:ext cx="5181600" cy="1143000"/>
          </a:xfrm>
          <a:prstGeom prst="rect">
            <a:avLst/>
          </a:prstGeom>
          <a:noFill/>
        </p:spPr>
        <p:txBody>
          <a:bodyPr wrap="square" lIns="0" tIns="0" rIns="0" bIns="0">
            <a:noAutofit/>
          </a:bodyPr>
          <a:lstStyle/>
          <a:p>
            <a:pPr>
              <a:lnSpc>
                <a:spcPct val="100000"/>
              </a:lnSpc>
              <a:spcAft>
                <a:spcPts val="0"/>
              </a:spcAft>
            </a:pPr>
            <a:r>
              <a:rPr lang="it-IT" sz="1700" dirty="0">
                <a:solidFill>
                  <a:srgbClr val="193248"/>
                </a:solidFill>
                <a:latin typeface="Arial"/>
              </a:rPr>
              <a:t>Il segnale elettrico dagli atri ai ventricoli rallenta (causando una bradicardia</a:t>
            </a:r>
            <a:r>
              <a:rPr lang="it-IT" sz="2000" dirty="0">
                <a:solidFill>
                  <a:srgbClr val="193248"/>
                </a:solidFill>
                <a:latin typeface="Arial"/>
              </a:rPr>
              <a:t>*</a:t>
            </a:r>
            <a:r>
              <a:rPr lang="it-IT" sz="1700" dirty="0">
                <a:solidFill>
                  <a:srgbClr val="193248"/>
                </a:solidFill>
                <a:latin typeface="Arial"/>
              </a:rPr>
              <a:t>) o si interrompe. Nei casi gravi può servire un </a:t>
            </a:r>
            <a:r>
              <a:rPr lang="it-IT" u="sng" dirty="0">
                <a:solidFill>
                  <a:srgbClr val="193248"/>
                </a:solidFill>
                <a:latin typeface="Arial"/>
              </a:rPr>
              <a:t>pacemaker</a:t>
            </a:r>
            <a:r>
              <a:rPr lang="it-IT" sz="1700" dirty="0">
                <a:solidFill>
                  <a:srgbClr val="193248"/>
                </a:solidFill>
                <a:latin typeface="Arial"/>
              </a:rPr>
              <a:t>, che invia impulsi per evitare battiti troppo lenti.</a:t>
            </a:r>
          </a:p>
        </p:txBody>
      </p:sp>
      <p:sp>
        <p:nvSpPr>
          <p:cNvPr id="50" name="Valvulopatie 48"/>
          <p:cNvSpPr txBox="1"/>
          <p:nvPr/>
        </p:nvSpPr>
        <p:spPr>
          <a:xfrm>
            <a:off x="704850" y="4709160"/>
            <a:ext cx="5181600" cy="338328"/>
          </a:xfrm>
          <a:prstGeom prst="rect">
            <a:avLst/>
          </a:prstGeom>
          <a:noFill/>
        </p:spPr>
        <p:txBody>
          <a:bodyPr wrap="square" lIns="0" tIns="0" rIns="0" bIns="0">
            <a:noAutofit/>
          </a:bodyPr>
          <a:lstStyle/>
          <a:p>
            <a:pPr>
              <a:lnSpc>
                <a:spcPct val="100000"/>
              </a:lnSpc>
              <a:spcAft>
                <a:spcPts val="0"/>
              </a:spcAft>
            </a:pPr>
            <a:r>
              <a:rPr lang="it-IT" sz="2000" b="1">
                <a:solidFill>
                  <a:srgbClr val="123F67"/>
                </a:solidFill>
                <a:latin typeface="Arial"/>
              </a:rPr>
              <a:t>Patologie delle valvole</a:t>
            </a:r>
          </a:p>
        </p:txBody>
      </p:sp>
      <p:sp>
        <p:nvSpPr>
          <p:cNvPr id="51" name="Valvulopatie 27"/>
          <p:cNvSpPr txBox="1"/>
          <p:nvPr/>
        </p:nvSpPr>
        <p:spPr>
          <a:xfrm>
            <a:off x="704850" y="5184648"/>
            <a:ext cx="5181600" cy="960120"/>
          </a:xfrm>
          <a:prstGeom prst="rect">
            <a:avLst/>
          </a:prstGeom>
          <a:noFill/>
        </p:spPr>
        <p:txBody>
          <a:bodyPr wrap="square" lIns="0" tIns="0" rIns="0" bIns="0">
            <a:noAutofit/>
          </a:bodyPr>
          <a:lstStyle/>
          <a:p>
            <a:pPr marL="190500" indent="-139700">
              <a:lnSpc>
                <a:spcPct val="100000"/>
              </a:lnSpc>
              <a:spcAft>
                <a:spcPts val="600"/>
              </a:spcAft>
              <a:buChar char="•"/>
            </a:pPr>
            <a:r>
              <a:rPr lang="it-IT" sz="1700" b="1">
                <a:solidFill>
                  <a:srgbClr val="193248"/>
                </a:solidFill>
                <a:latin typeface="Arial"/>
              </a:rPr>
              <a:t>Stenosi</a:t>
            </a:r>
            <a:r>
              <a:rPr lang="it-IT" sz="1700">
                <a:solidFill>
                  <a:srgbClr val="193248"/>
                </a:solidFill>
                <a:latin typeface="Arial"/>
              </a:rPr>
              <a:t>: la valvola si apre poco e ostacola il flusso.</a:t>
            </a:r>
          </a:p>
          <a:p>
            <a:pPr marL="190500" indent="-139700">
              <a:lnSpc>
                <a:spcPct val="100000"/>
              </a:lnSpc>
              <a:spcAft>
                <a:spcPts val="600"/>
              </a:spcAft>
              <a:buChar char="•"/>
            </a:pPr>
            <a:r>
              <a:rPr lang="it-IT" sz="1700" b="1">
                <a:solidFill>
                  <a:srgbClr val="193248"/>
                </a:solidFill>
                <a:latin typeface="Arial"/>
              </a:rPr>
              <a:t>Insufficienza</a:t>
            </a:r>
            <a:r>
              <a:rPr lang="it-IT" sz="1700">
                <a:solidFill>
                  <a:srgbClr val="193248"/>
                </a:solidFill>
                <a:latin typeface="Arial"/>
              </a:rPr>
              <a:t>: non si chiude bene e il sangue torna indietro.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10312"/>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APPROFONDIMENTO · APPARATO CARDIOVASCOLARE</a:t>
            </a: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66928"/>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dirty="0">
                <a:solidFill>
                  <a:srgbClr val="123F67"/>
                </a:solidFill>
                <a:latin typeface="Arial"/>
                <a:ea typeface="Arial"/>
                <a:cs typeface="Arial"/>
              </a:rPr>
              <a:t>Il </a:t>
            </a:r>
            <a:r>
              <a:rPr sz="3225" b="1" dirty="0" err="1">
                <a:solidFill>
                  <a:srgbClr val="123F67"/>
                </a:solidFill>
                <a:latin typeface="Arial"/>
                <a:ea typeface="Arial"/>
                <a:cs typeface="Arial"/>
              </a:rPr>
              <a:t>sangue</a:t>
            </a:r>
            <a:r>
              <a:rPr sz="3225" b="1" dirty="0">
                <a:solidFill>
                  <a:srgbClr val="123F67"/>
                </a:solidFill>
                <a:latin typeface="Arial"/>
                <a:ea typeface="Arial"/>
                <a:cs typeface="Arial"/>
              </a:rPr>
              <a:t>: </a:t>
            </a:r>
            <a:r>
              <a:rPr sz="3225" b="1" dirty="0" err="1">
                <a:solidFill>
                  <a:srgbClr val="123F67"/>
                </a:solidFill>
                <a:latin typeface="Arial"/>
                <a:ea typeface="Arial"/>
                <a:cs typeface="Arial"/>
              </a:rPr>
              <a:t>composizione</a:t>
            </a:r>
            <a:r>
              <a:rPr sz="3225" b="1" dirty="0">
                <a:solidFill>
                  <a:srgbClr val="123F67"/>
                </a:solidFill>
                <a:latin typeface="Arial"/>
                <a:ea typeface="Arial"/>
                <a:cs typeface="Arial"/>
              </a:rPr>
              <a:t> </a:t>
            </a:r>
            <a:r>
              <a:rPr lang="it-IT" sz="3225" b="1" dirty="0">
                <a:solidFill>
                  <a:srgbClr val="123F67"/>
                </a:solidFill>
                <a:latin typeface="Arial"/>
                <a:ea typeface="Arial"/>
                <a:cs typeface="Arial"/>
              </a:rPr>
              <a:t>generale </a:t>
            </a:r>
            <a:r>
              <a:rPr sz="3225" b="1" dirty="0">
                <a:solidFill>
                  <a:srgbClr val="123F67"/>
                </a:solidFill>
                <a:latin typeface="Arial"/>
                <a:ea typeface="Arial"/>
                <a:cs typeface="Arial"/>
              </a:rPr>
              <a:t>e </a:t>
            </a:r>
            <a:r>
              <a:rPr lang="it-IT" sz="3225" b="1" dirty="0">
                <a:solidFill>
                  <a:srgbClr val="123F67"/>
                </a:solidFill>
                <a:latin typeface="Arial"/>
                <a:ea typeface="Arial"/>
                <a:cs typeface="Arial"/>
              </a:rPr>
              <a:t>plasma</a:t>
            </a:r>
            <a:endParaRPr sz="3225" b="1" dirty="0">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8016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19456"/>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37744"/>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36</a:t>
            </a:r>
            <a:endParaRPr sz="1350" b="1">
              <a:solidFill>
                <a:srgbClr val="123F67"/>
              </a:solidFill>
              <a:latin typeface="Arial"/>
              <a:ea typeface="Arial"/>
              <a:cs typeface="Arial"/>
            </a:endParaRPr>
          </a:p>
        </p:txBody>
      </p:sp>
      <p:sp>
        <p:nvSpPr>
          <p:cNvPr id="24" name="TextBox 23"/>
          <p:cNvSpPr txBox="1"/>
          <p:nvPr/>
        </p:nvSpPr>
        <p:spPr>
          <a:xfrm>
            <a:off x="704088" y="1435608"/>
            <a:ext cx="10835640" cy="685800"/>
          </a:xfrm>
          <a:prstGeom prst="rect">
            <a:avLst/>
          </a:prstGeom>
          <a:noFill/>
        </p:spPr>
        <p:txBody>
          <a:bodyPr wrap="square" lIns="0" tIns="0" rIns="0" bIns="0">
            <a:noAutofit/>
          </a:bodyPr>
          <a:lstStyle/>
          <a:p>
            <a:pPr>
              <a:lnSpc>
                <a:spcPts val="2300"/>
              </a:lnSpc>
            </a:pPr>
            <a:r>
              <a:rPr sz="2100" b="1" dirty="0">
                <a:solidFill>
                  <a:srgbClr val="087E8B"/>
                </a:solidFill>
                <a:latin typeface="Arial"/>
              </a:rPr>
              <a:t>Un </a:t>
            </a:r>
            <a:r>
              <a:rPr sz="2100" b="1" dirty="0" err="1">
                <a:solidFill>
                  <a:srgbClr val="087E8B"/>
                </a:solidFill>
                <a:latin typeface="Arial"/>
              </a:rPr>
              <a:t>tessuto</a:t>
            </a:r>
            <a:r>
              <a:rPr sz="2100" b="1" dirty="0">
                <a:solidFill>
                  <a:srgbClr val="087E8B"/>
                </a:solidFill>
                <a:latin typeface="Arial"/>
              </a:rPr>
              <a:t> </a:t>
            </a:r>
            <a:r>
              <a:rPr sz="2100" b="1" dirty="0" err="1">
                <a:solidFill>
                  <a:srgbClr val="087E8B"/>
                </a:solidFill>
                <a:latin typeface="Arial"/>
              </a:rPr>
              <a:t>connettivo</a:t>
            </a:r>
            <a:r>
              <a:rPr sz="2100" b="1" dirty="0">
                <a:solidFill>
                  <a:srgbClr val="087E8B"/>
                </a:solidFill>
                <a:latin typeface="Arial"/>
              </a:rPr>
              <a:t> </a:t>
            </a:r>
            <a:r>
              <a:rPr sz="2100" b="1" dirty="0" err="1">
                <a:solidFill>
                  <a:srgbClr val="087E8B"/>
                </a:solidFill>
                <a:latin typeface="Arial"/>
              </a:rPr>
              <a:t>fluido</a:t>
            </a:r>
            <a:r>
              <a:rPr lang="it-IT" sz="2100" b="1" dirty="0">
                <a:solidFill>
                  <a:srgbClr val="087E8B"/>
                </a:solidFill>
                <a:latin typeface="Arial"/>
              </a:rPr>
              <a:t>: parte liquida ed elementi corpuscolati</a:t>
            </a:r>
          </a:p>
          <a:p>
            <a:pPr>
              <a:lnSpc>
                <a:spcPts val="1900"/>
              </a:lnSpc>
              <a:spcBef>
                <a:spcPts val="0"/>
              </a:spcBef>
              <a:spcAft>
                <a:spcPts val="0"/>
              </a:spcAft>
            </a:pPr>
            <a:r>
              <a:rPr lang="it-IT" sz="1700" b="0">
                <a:solidFill>
                  <a:srgbClr val="193248"/>
                </a:solidFill>
                <a:latin typeface="Arial"/>
              </a:rPr>
              <a:t>Il sangue rappresenta circa il 7,7% del peso corporeo: circa 5 litri nell’adulto.</a:t>
            </a:r>
          </a:p>
        </p:txBody>
      </p:sp>
      <p:pic>
        <p:nvPicPr>
          <p:cNvPr id="25" name="Picture 24" descr="provette.png"/>
          <p:cNvPicPr>
            <a:picLocks noChangeAspect="1"/>
          </p:cNvPicPr>
          <p:nvPr/>
        </p:nvPicPr>
        <p:blipFill>
          <a:blip r:embed="rId3"/>
          <a:stretch>
            <a:fillRect/>
          </a:stretch>
        </p:blipFill>
        <p:spPr>
          <a:xfrm>
            <a:off x="804672" y="2724912"/>
            <a:ext cx="1389888" cy="3419856"/>
          </a:xfrm>
          <a:prstGeom prst="rect">
            <a:avLst/>
          </a:prstGeom>
        </p:spPr>
      </p:pic>
      <p:sp>
        <p:nvSpPr>
          <p:cNvPr id="26" name="TextBox 25"/>
          <p:cNvSpPr txBox="1"/>
          <p:nvPr/>
        </p:nvSpPr>
        <p:spPr>
          <a:xfrm>
            <a:off x="704088" y="2340864"/>
            <a:ext cx="1554480" cy="274320"/>
          </a:xfrm>
          <a:prstGeom prst="rect">
            <a:avLst/>
          </a:prstGeom>
          <a:noFill/>
        </p:spPr>
        <p:txBody>
          <a:bodyPr wrap="square" lIns="0" tIns="0" rIns="0" bIns="0">
            <a:noAutofit/>
          </a:bodyPr>
          <a:lstStyle/>
          <a:p>
            <a:pPr algn="ctr">
              <a:lnSpc>
                <a:spcPts val="1300"/>
              </a:lnSpc>
            </a:pPr>
            <a:r>
              <a:rPr lang="it-IT" sz="1100" b="1" dirty="0">
                <a:solidFill>
                  <a:srgbClr val="087E8B"/>
                </a:solidFill>
                <a:latin typeface="Arial"/>
              </a:rPr>
              <a:t>INTERO / SEPARATO</a:t>
            </a:r>
          </a:p>
        </p:txBody>
      </p:sp>
      <p:sp>
        <p:nvSpPr>
          <p:cNvPr id="27" name="TextBox 26"/>
          <p:cNvSpPr txBox="1"/>
          <p:nvPr/>
        </p:nvSpPr>
        <p:spPr>
          <a:xfrm>
            <a:off x="2542032" y="2139696"/>
            <a:ext cx="9006840" cy="347472"/>
          </a:xfrm>
          <a:prstGeom prst="rect">
            <a:avLst/>
          </a:prstGeom>
          <a:noFill/>
        </p:spPr>
        <p:txBody>
          <a:bodyPr wrap="square" lIns="0" tIns="0" rIns="0" bIns="0">
            <a:noAutofit/>
          </a:bodyPr>
          <a:lstStyle/>
          <a:p>
            <a:pPr marL="0" indent="0">
              <a:lnSpc>
                <a:spcPts val="2400"/>
              </a:lnSpc>
              <a:spcAft>
                <a:spcPts val="0"/>
              </a:spcAft>
              <a:buNone/>
            </a:pPr>
            <a:r>
              <a:rPr lang="it-IT" sz="2100" b="1" dirty="0">
                <a:solidFill>
                  <a:srgbClr val="087E8B"/>
                </a:solidFill>
                <a:latin typeface="Arial"/>
              </a:rPr>
              <a:t>Parte liquida: PLASMA (≈55%)</a:t>
            </a:r>
          </a:p>
        </p:txBody>
      </p:sp>
      <p:sp>
        <p:nvSpPr>
          <p:cNvPr id="28" name="TextBox 27"/>
          <p:cNvSpPr txBox="1"/>
          <p:nvPr/>
        </p:nvSpPr>
        <p:spPr>
          <a:xfrm>
            <a:off x="2542032" y="2834640"/>
            <a:ext cx="9006840" cy="530352"/>
          </a:xfrm>
          <a:prstGeom prst="rect">
            <a:avLst/>
          </a:prstGeom>
          <a:noFill/>
        </p:spPr>
        <p:txBody>
          <a:bodyPr wrap="square" lIns="0" tIns="0" rIns="0" bIns="0">
            <a:noAutofit/>
          </a:bodyPr>
          <a:lstStyle/>
          <a:p>
            <a:pPr marL="0" indent="0">
              <a:lnSpc>
                <a:spcPts val="2100"/>
              </a:lnSpc>
              <a:spcAft>
                <a:spcPts val="0"/>
              </a:spcAft>
              <a:buNone/>
            </a:pPr>
            <a:r>
              <a:rPr lang="it-IT" sz="1800" b="0" dirty="0">
                <a:solidFill>
                  <a:srgbClr val="193248"/>
                </a:solidFill>
                <a:latin typeface="Arial"/>
              </a:rPr>
              <a:t>Contiene acqua, lipidi, glucosio</a:t>
            </a:r>
            <a:r>
              <a:rPr lang="it-IT" sz="2000" b="0" dirty="0">
                <a:solidFill>
                  <a:srgbClr val="193248"/>
                </a:solidFill>
                <a:latin typeface="Arial"/>
              </a:rPr>
              <a:t>*</a:t>
            </a:r>
            <a:r>
              <a:rPr lang="it-IT" sz="1800" b="0" dirty="0">
                <a:solidFill>
                  <a:srgbClr val="193248"/>
                </a:solidFill>
                <a:latin typeface="Arial"/>
              </a:rPr>
              <a:t>, aminoacidi, proteine,</a:t>
            </a:r>
          </a:p>
          <a:p>
            <a:pPr marL="0" indent="0">
              <a:lnSpc>
                <a:spcPts val="2100"/>
              </a:lnSpc>
              <a:spcAft>
                <a:spcPts val="0"/>
              </a:spcAft>
              <a:buNone/>
            </a:pPr>
            <a:r>
              <a:rPr lang="it-IT" sz="1800" b="0" dirty="0">
                <a:solidFill>
                  <a:srgbClr val="193248"/>
                </a:solidFill>
                <a:latin typeface="Arial"/>
              </a:rPr>
              <a:t>ioni (sali minerali) e vitamine.</a:t>
            </a:r>
          </a:p>
        </p:txBody>
      </p:sp>
      <p:sp>
        <p:nvSpPr>
          <p:cNvPr id="30" name="TextBox 29"/>
          <p:cNvSpPr txBox="1"/>
          <p:nvPr/>
        </p:nvSpPr>
        <p:spPr>
          <a:xfrm>
            <a:off x="2542032" y="3849624"/>
            <a:ext cx="3959352" cy="640080"/>
          </a:xfrm>
          <a:prstGeom prst="rect">
            <a:avLst/>
          </a:prstGeom>
          <a:noFill/>
        </p:spPr>
        <p:txBody>
          <a:bodyPr wrap="square" lIns="0" tIns="0" rIns="0" bIns="0">
            <a:noAutofit/>
          </a:bodyPr>
          <a:lstStyle/>
          <a:p>
            <a:pPr marL="0" indent="0">
              <a:lnSpc>
                <a:spcPts val="2000"/>
              </a:lnSpc>
              <a:spcBef>
                <a:spcPts val="0"/>
              </a:spcBef>
              <a:spcAft>
                <a:spcPts val="0"/>
              </a:spcAft>
              <a:buNone/>
            </a:pPr>
            <a:r>
              <a:rPr lang="it-IT" sz="1650" b="1">
                <a:solidFill>
                  <a:srgbClr val="193248"/>
                </a:solidFill>
                <a:latin typeface="Arial"/>
              </a:rPr>
              <a:t>Albumina</a:t>
            </a:r>
            <a:r>
              <a:rPr lang="it-IT" sz="1650" b="0">
                <a:solidFill>
                  <a:srgbClr val="193248"/>
                </a:solidFill>
                <a:latin typeface="Arial"/>
              </a:rPr>
              <a:t>: trattiene acqua nei vasi e trasporta diverse sostanze.</a:t>
            </a:r>
          </a:p>
        </p:txBody>
      </p:sp>
      <p:sp>
        <p:nvSpPr>
          <p:cNvPr id="31" name="TextBox 30"/>
          <p:cNvSpPr txBox="1"/>
          <p:nvPr/>
        </p:nvSpPr>
        <p:spPr>
          <a:xfrm>
            <a:off x="2542032" y="4608576"/>
            <a:ext cx="3959352" cy="795528"/>
          </a:xfrm>
          <a:prstGeom prst="rect">
            <a:avLst/>
          </a:prstGeom>
          <a:noFill/>
        </p:spPr>
        <p:txBody>
          <a:bodyPr wrap="square" lIns="0" tIns="0" rIns="0" bIns="0">
            <a:noAutofit/>
          </a:bodyPr>
          <a:lstStyle/>
          <a:p>
            <a:pPr marL="0" indent="0">
              <a:lnSpc>
                <a:spcPts val="2000"/>
              </a:lnSpc>
              <a:spcBef>
                <a:spcPts val="0"/>
              </a:spcBef>
              <a:spcAft>
                <a:spcPts val="0"/>
              </a:spcAft>
              <a:buNone/>
            </a:pPr>
            <a:r>
              <a:rPr lang="it-IT" sz="1650" b="1">
                <a:solidFill>
                  <a:srgbClr val="193248"/>
                </a:solidFill>
                <a:latin typeface="Arial"/>
              </a:rPr>
              <a:t>Globuline:</a:t>
            </a:r>
            <a:r>
              <a:rPr lang="it-IT" sz="1650" b="0">
                <a:solidFill>
                  <a:srgbClr val="193248"/>
                </a:solidFill>
                <a:latin typeface="Arial"/>
              </a:rPr>
              <a:t> trasporto e difesa, comprese le immunoglobuline (anticorpi).</a:t>
            </a:r>
          </a:p>
        </p:txBody>
      </p:sp>
      <p:sp>
        <p:nvSpPr>
          <p:cNvPr id="32" name="TextBox 31"/>
          <p:cNvSpPr txBox="1"/>
          <p:nvPr/>
        </p:nvSpPr>
        <p:spPr>
          <a:xfrm>
            <a:off x="2542032" y="5458968"/>
            <a:ext cx="3959352" cy="777240"/>
          </a:xfrm>
          <a:prstGeom prst="rect">
            <a:avLst/>
          </a:prstGeom>
          <a:noFill/>
        </p:spPr>
        <p:txBody>
          <a:bodyPr wrap="square" lIns="0" tIns="0" rIns="0" bIns="0">
            <a:noAutofit/>
          </a:bodyPr>
          <a:lstStyle/>
          <a:p>
            <a:pPr marL="0" indent="0">
              <a:lnSpc>
                <a:spcPts val="2000"/>
              </a:lnSpc>
              <a:spcBef>
                <a:spcPts val="0"/>
              </a:spcBef>
              <a:spcAft>
                <a:spcPts val="0"/>
              </a:spcAft>
              <a:buNone/>
            </a:pPr>
            <a:r>
              <a:rPr lang="it-IT" sz="1650" b="1">
                <a:solidFill>
                  <a:srgbClr val="193248"/>
                </a:solidFill>
                <a:latin typeface="Arial"/>
              </a:rPr>
              <a:t>Fibrinogeno:</a:t>
            </a:r>
            <a:r>
              <a:rPr lang="it-IT" sz="1650" b="0">
                <a:solidFill>
                  <a:srgbClr val="193248"/>
                </a:solidFill>
                <a:latin typeface="Arial"/>
              </a:rPr>
              <a:t> partecipa alla formazione del coagulo che limita il sanguinamento.</a:t>
            </a:r>
          </a:p>
        </p:txBody>
      </p:sp>
      <p:sp>
        <p:nvSpPr>
          <p:cNvPr id="43" name="Funzione del plasma"/>
          <p:cNvSpPr txBox="1"/>
          <p:nvPr/>
        </p:nvSpPr>
        <p:spPr>
          <a:xfrm>
            <a:off x="2542032" y="2532888"/>
            <a:ext cx="9006840" cy="301752"/>
          </a:xfrm>
          <a:prstGeom prst="rect">
            <a:avLst/>
          </a:prstGeom>
          <a:noFill/>
        </p:spPr>
        <p:txBody>
          <a:bodyPr wrap="square" lIns="0" tIns="0" rIns="0" bIns="0">
            <a:noAutofit/>
          </a:bodyPr>
          <a:lstStyle/>
          <a:p>
            <a:pPr marL="0" indent="0" algn="l">
              <a:lnSpc>
                <a:spcPts val="2100"/>
              </a:lnSpc>
              <a:spcAft>
                <a:spcPts val="0"/>
              </a:spcAft>
              <a:buNone/>
            </a:pPr>
            <a:r>
              <a:rPr lang="it-IT" sz="1800" b="0" dirty="0">
                <a:solidFill>
                  <a:srgbClr val="193248"/>
                </a:solidFill>
                <a:latin typeface="Arial"/>
              </a:rPr>
              <a:t>Trasporta nutrienti, ormoni e scarti.</a:t>
            </a:r>
          </a:p>
        </p:txBody>
      </p:sp>
      <p:sp>
        <p:nvSpPr>
          <p:cNvPr id="44" name="TextBox 43"/>
          <p:cNvSpPr txBox="1"/>
          <p:nvPr/>
        </p:nvSpPr>
        <p:spPr>
          <a:xfrm>
            <a:off x="2542032" y="3419856"/>
            <a:ext cx="3959352" cy="276679"/>
          </a:xfrm>
          <a:prstGeom prst="rect">
            <a:avLst/>
          </a:prstGeom>
          <a:noFill/>
        </p:spPr>
        <p:txBody>
          <a:bodyPr wrap="square" lIns="0" tIns="0" rIns="0" bIns="0">
            <a:spAutoFit/>
          </a:bodyPr>
          <a:lstStyle/>
          <a:p>
            <a:pPr marL="0" indent="0">
              <a:lnSpc>
                <a:spcPts val="2300"/>
              </a:lnSpc>
              <a:spcBef>
                <a:spcPts val="0"/>
              </a:spcBef>
              <a:spcAft>
                <a:spcPts val="0"/>
              </a:spcAft>
              <a:buNone/>
            </a:pPr>
            <a:r>
              <a:rPr lang="it-IT" sz="1900" b="1" dirty="0">
                <a:solidFill>
                  <a:srgbClr val="087E8B"/>
                </a:solidFill>
                <a:latin typeface="Arial"/>
              </a:rPr>
              <a:t>Proteine nel plasma</a:t>
            </a:r>
          </a:p>
        </p:txBody>
      </p:sp>
      <p:sp>
        <p:nvSpPr>
          <p:cNvPr id="45" name="TextBox 44"/>
          <p:cNvSpPr txBox="1"/>
          <p:nvPr/>
        </p:nvSpPr>
        <p:spPr>
          <a:xfrm>
            <a:off x="6949440" y="5696712"/>
            <a:ext cx="4599432" cy="294953"/>
          </a:xfrm>
          <a:prstGeom prst="rect">
            <a:avLst/>
          </a:prstGeom>
          <a:noFill/>
        </p:spPr>
        <p:txBody>
          <a:bodyPr wrap="square" lIns="0" tIns="0" rIns="0" bIns="0">
            <a:spAutoFit/>
          </a:bodyPr>
          <a:lstStyle/>
          <a:p>
            <a:pPr marL="0" indent="0">
              <a:lnSpc>
                <a:spcPts val="2300"/>
              </a:lnSpc>
              <a:spcBef>
                <a:spcPts val="0"/>
              </a:spcBef>
              <a:spcAft>
                <a:spcPts val="0"/>
              </a:spcAft>
              <a:buNone/>
            </a:pPr>
            <a:r>
              <a:rPr sz="2000" b="1" dirty="0" err="1">
                <a:solidFill>
                  <a:srgbClr val="087E8B"/>
                </a:solidFill>
                <a:latin typeface="Arial"/>
              </a:rPr>
              <a:t>Glicemia</a:t>
            </a:r>
            <a:r>
              <a:rPr lang="it-IT" sz="2000" b="1" dirty="0">
                <a:solidFill>
                  <a:srgbClr val="087E8B"/>
                </a:solidFill>
                <a:latin typeface="Arial"/>
              </a:rPr>
              <a:t>*</a:t>
            </a:r>
          </a:p>
        </p:txBody>
      </p:sp>
      <p:sp>
        <p:nvSpPr>
          <p:cNvPr id="46" name="TextBox 45"/>
          <p:cNvSpPr txBox="1"/>
          <p:nvPr/>
        </p:nvSpPr>
        <p:spPr>
          <a:xfrm>
            <a:off x="6949440" y="6080760"/>
            <a:ext cx="4599432" cy="512961"/>
          </a:xfrm>
          <a:prstGeom prst="rect">
            <a:avLst/>
          </a:prstGeom>
          <a:noFill/>
        </p:spPr>
        <p:txBody>
          <a:bodyPr wrap="square" lIns="0" tIns="0" rIns="0" bIns="0">
            <a:spAutoFit/>
          </a:bodyPr>
          <a:lstStyle/>
          <a:p>
            <a:pPr marL="0" indent="0">
              <a:lnSpc>
                <a:spcPts val="2000"/>
              </a:lnSpc>
              <a:spcBef>
                <a:spcPts val="0"/>
              </a:spcBef>
              <a:spcAft>
                <a:spcPts val="0"/>
              </a:spcAft>
              <a:buNone/>
            </a:pPr>
            <a:r>
              <a:rPr lang="it-IT" sz="1750" b="0">
                <a:solidFill>
                  <a:srgbClr val="193248"/>
                </a:solidFill>
                <a:latin typeface="Arial"/>
              </a:rPr>
              <a:t>Concentrazione di glucosio nel sangue.</a:t>
            </a:r>
          </a:p>
          <a:p>
            <a:pPr marL="0" indent="0">
              <a:lnSpc>
                <a:spcPts val="2000"/>
              </a:lnSpc>
              <a:spcBef>
                <a:spcPts val="0"/>
              </a:spcBef>
              <a:spcAft>
                <a:spcPts val="0"/>
              </a:spcAft>
              <a:buNone/>
            </a:pPr>
            <a:r>
              <a:rPr lang="it-IT" sz="1750" b="0">
                <a:solidFill>
                  <a:srgbClr val="193248"/>
                </a:solidFill>
                <a:latin typeface="Arial"/>
              </a:rPr>
              <a:t>A digiuno: 70–99 mg/dL come riferimento.</a:t>
            </a:r>
          </a:p>
        </p:txBody>
      </p:sp>
      <p:sp>
        <p:nvSpPr>
          <p:cNvPr id="47" name="TextBox 46"/>
          <p:cNvSpPr txBox="1"/>
          <p:nvPr/>
        </p:nvSpPr>
        <p:spPr>
          <a:xfrm>
            <a:off x="6949440" y="3419856"/>
            <a:ext cx="4599432" cy="282129"/>
          </a:xfrm>
          <a:prstGeom prst="rect">
            <a:avLst/>
          </a:prstGeom>
          <a:noFill/>
        </p:spPr>
        <p:txBody>
          <a:bodyPr wrap="square" lIns="0" tIns="0" rIns="0" bIns="0">
            <a:spAutoFit/>
          </a:bodyPr>
          <a:lstStyle/>
          <a:p>
            <a:pPr marL="0" indent="0">
              <a:lnSpc>
                <a:spcPts val="2200"/>
              </a:lnSpc>
              <a:spcBef>
                <a:spcPts val="0"/>
              </a:spcBef>
              <a:spcAft>
                <a:spcPts val="0"/>
              </a:spcAft>
              <a:buNone/>
            </a:pPr>
            <a:r>
              <a:rPr lang="it-IT" sz="1900" b="1">
                <a:solidFill>
                  <a:srgbClr val="087E8B"/>
                </a:solidFill>
                <a:latin typeface="Arial"/>
              </a:rPr>
              <a:t>Sali minerali (elettroliti)</a:t>
            </a:r>
          </a:p>
        </p:txBody>
      </p:sp>
      <p:sp>
        <p:nvSpPr>
          <p:cNvPr id="48" name="TextBox 47"/>
          <p:cNvSpPr txBox="1"/>
          <p:nvPr/>
        </p:nvSpPr>
        <p:spPr>
          <a:xfrm>
            <a:off x="6949440" y="3785615"/>
            <a:ext cx="4599432" cy="769441"/>
          </a:xfrm>
          <a:prstGeom prst="rect">
            <a:avLst/>
          </a:prstGeom>
          <a:noFill/>
        </p:spPr>
        <p:txBody>
          <a:bodyPr wrap="square" lIns="0" tIns="0" rIns="0" bIns="0">
            <a:spAutoFit/>
          </a:bodyPr>
          <a:lstStyle/>
          <a:p>
            <a:pPr marL="0" indent="0">
              <a:lnSpc>
                <a:spcPts val="2000"/>
              </a:lnSpc>
              <a:spcBef>
                <a:spcPts val="0"/>
              </a:spcBef>
              <a:spcAft>
                <a:spcPts val="0"/>
              </a:spcAft>
              <a:buNone/>
            </a:pPr>
            <a:r>
              <a:rPr lang="it-IT" sz="1650" b="0">
                <a:solidFill>
                  <a:srgbClr val="193248"/>
                </a:solidFill>
                <a:latin typeface="Arial"/>
              </a:rPr>
              <a:t>Sodio, potassio, cloro, calcio, magnesio, fosfati e bicarbonato: equilibrio dei liquidi e funzioni cellulari.</a:t>
            </a:r>
          </a:p>
        </p:txBody>
      </p:sp>
      <p:sp>
        <p:nvSpPr>
          <p:cNvPr id="49" name="TextBox 48"/>
          <p:cNvSpPr txBox="1"/>
          <p:nvPr/>
        </p:nvSpPr>
        <p:spPr>
          <a:xfrm>
            <a:off x="6949440" y="4709160"/>
            <a:ext cx="4599432" cy="282129"/>
          </a:xfrm>
          <a:prstGeom prst="rect">
            <a:avLst/>
          </a:prstGeom>
          <a:noFill/>
        </p:spPr>
        <p:txBody>
          <a:bodyPr wrap="square" lIns="0" tIns="0" rIns="0" bIns="0">
            <a:spAutoFit/>
          </a:bodyPr>
          <a:lstStyle/>
          <a:p>
            <a:pPr marL="0" indent="0">
              <a:lnSpc>
                <a:spcPts val="2200"/>
              </a:lnSpc>
              <a:spcBef>
                <a:spcPts val="0"/>
              </a:spcBef>
              <a:spcAft>
                <a:spcPts val="0"/>
              </a:spcAft>
              <a:buNone/>
            </a:pPr>
            <a:r>
              <a:rPr lang="it-IT" sz="1900" b="1">
                <a:solidFill>
                  <a:srgbClr val="087E8B"/>
                </a:solidFill>
                <a:latin typeface="Arial"/>
              </a:rPr>
              <a:t>Vitamine</a:t>
            </a:r>
          </a:p>
        </p:txBody>
      </p:sp>
      <p:sp>
        <p:nvSpPr>
          <p:cNvPr id="50" name="TextBox 49"/>
          <p:cNvSpPr txBox="1"/>
          <p:nvPr/>
        </p:nvSpPr>
        <p:spPr>
          <a:xfrm>
            <a:off x="6949440" y="5056632"/>
            <a:ext cx="4599432" cy="512961"/>
          </a:xfrm>
          <a:prstGeom prst="rect">
            <a:avLst/>
          </a:prstGeom>
          <a:noFill/>
        </p:spPr>
        <p:txBody>
          <a:bodyPr wrap="square" lIns="0" tIns="0" rIns="0" bIns="0">
            <a:spAutoFit/>
          </a:bodyPr>
          <a:lstStyle/>
          <a:p>
            <a:pPr marL="0" indent="0">
              <a:lnSpc>
                <a:spcPts val="2000"/>
              </a:lnSpc>
              <a:spcBef>
                <a:spcPts val="0"/>
              </a:spcBef>
              <a:spcAft>
                <a:spcPts val="0"/>
              </a:spcAft>
              <a:buNone/>
            </a:pPr>
            <a:r>
              <a:rPr lang="it-IT" sz="1650" b="0">
                <a:solidFill>
                  <a:srgbClr val="193248"/>
                </a:solidFill>
                <a:latin typeface="Arial"/>
              </a:rPr>
              <a:t>B1, B2, B3, B6, B9, B12 e C.</a:t>
            </a:r>
          </a:p>
          <a:p>
            <a:pPr marL="0" indent="0">
              <a:lnSpc>
                <a:spcPts val="2000"/>
              </a:lnSpc>
              <a:spcBef>
                <a:spcPts val="0"/>
              </a:spcBef>
              <a:spcAft>
                <a:spcPts val="0"/>
              </a:spcAft>
              <a:buNone/>
            </a:pPr>
            <a:r>
              <a:rPr lang="it-IT" sz="1650" b="0">
                <a:solidFill>
                  <a:srgbClr val="193248"/>
                </a:solidFill>
                <a:latin typeface="Arial"/>
              </a:rPr>
              <a:t>B9 e B12: globuli rossi. K: coagulazione.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904" y="210312"/>
            <a:ext cx="10858500" cy="267004"/>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APPROFONDIMENTO · APPARATO CARDIOVASCOLARE</a:t>
            </a: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904" y="571500"/>
            <a:ext cx="10972800" cy="649224"/>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Il sangue: elementi corpuscolati</a:t>
            </a: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904" y="1335024"/>
            <a:ext cx="10972800" cy="18288"/>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19456"/>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37744"/>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37</a:t>
            </a:r>
            <a:endParaRPr sz="1350" b="1">
              <a:solidFill>
                <a:srgbClr val="123F67"/>
              </a:solidFill>
              <a:latin typeface="Arial"/>
              <a:ea typeface="Arial"/>
              <a:cs typeface="Arial"/>
            </a:endParaRPr>
          </a:p>
        </p:txBody>
      </p:sp>
      <p:sp>
        <p:nvSpPr>
          <p:cNvPr id="33" name="TextBox 32"/>
          <p:cNvSpPr txBox="1"/>
          <p:nvPr/>
        </p:nvSpPr>
        <p:spPr>
          <a:xfrm>
            <a:off x="704088" y="1517904"/>
            <a:ext cx="10844784" cy="365760"/>
          </a:xfrm>
          <a:prstGeom prst="rect">
            <a:avLst/>
          </a:prstGeom>
          <a:noFill/>
        </p:spPr>
        <p:txBody>
          <a:bodyPr wrap="square" lIns="0" tIns="0" rIns="0" bIns="0">
            <a:noAutofit/>
          </a:bodyPr>
          <a:lstStyle/>
          <a:p>
            <a:pPr>
              <a:lnSpc>
                <a:spcPts val="2500"/>
              </a:lnSpc>
            </a:pPr>
            <a:r>
              <a:rPr lang="it-IT" sz="2100" b="1" dirty="0">
                <a:solidFill>
                  <a:srgbClr val="087E8B"/>
                </a:solidFill>
                <a:latin typeface="Arial"/>
              </a:rPr>
              <a:t>Parte corpuscolata (≈45% del sangue)</a:t>
            </a:r>
          </a:p>
        </p:txBody>
      </p:sp>
      <p:sp>
        <p:nvSpPr>
          <p:cNvPr id="34" name="TextBox 33"/>
          <p:cNvSpPr txBox="1"/>
          <p:nvPr/>
        </p:nvSpPr>
        <p:spPr>
          <a:xfrm>
            <a:off x="704088" y="2048256"/>
            <a:ext cx="3328416" cy="640080"/>
          </a:xfrm>
          <a:prstGeom prst="rect">
            <a:avLst/>
          </a:prstGeom>
          <a:noFill/>
        </p:spPr>
        <p:txBody>
          <a:bodyPr wrap="square" lIns="0" tIns="0" rIns="0" bIns="0">
            <a:noAutofit/>
          </a:bodyPr>
          <a:lstStyle/>
          <a:p>
            <a:pPr marL="0" indent="0">
              <a:lnSpc>
                <a:spcPts val="2500"/>
              </a:lnSpc>
              <a:buNone/>
            </a:pPr>
            <a:r>
              <a:rPr lang="it-IT" sz="2100" b="1">
                <a:solidFill>
                  <a:srgbClr val="123F67"/>
                </a:solidFill>
                <a:latin typeface="Arial"/>
              </a:rPr>
              <a:t>Globuli rossi</a:t>
            </a:r>
          </a:p>
          <a:p>
            <a:pPr>
              <a:lnSpc>
                <a:spcPts val="2200"/>
              </a:lnSpc>
            </a:pPr>
            <a:r>
              <a:rPr lang="it-IT" sz="1600" b="0">
                <a:solidFill>
                  <a:srgbClr val="123F67"/>
                </a:solidFill>
                <a:latin typeface="Arial"/>
              </a:rPr>
              <a:t>(eritrociti)</a:t>
            </a:r>
          </a:p>
        </p:txBody>
      </p:sp>
      <p:sp>
        <p:nvSpPr>
          <p:cNvPr id="35" name="TextBox 34"/>
          <p:cNvSpPr txBox="1"/>
          <p:nvPr/>
        </p:nvSpPr>
        <p:spPr>
          <a:xfrm>
            <a:off x="704088" y="2816352"/>
            <a:ext cx="3328416" cy="2514600"/>
          </a:xfrm>
          <a:prstGeom prst="rect">
            <a:avLst/>
          </a:prstGeom>
          <a:noFill/>
        </p:spPr>
        <p:txBody>
          <a:bodyPr wrap="square" lIns="0" tIns="0" rIns="0" bIns="0">
            <a:noAutofit/>
          </a:bodyPr>
          <a:lstStyle/>
          <a:p>
            <a:pPr>
              <a:lnSpc>
                <a:spcPts val="2000"/>
              </a:lnSpc>
              <a:spcBef>
                <a:spcPts val="0"/>
              </a:spcBef>
              <a:spcAft>
                <a:spcPts val="900"/>
              </a:spcAft>
            </a:pPr>
            <a:r>
              <a:rPr lang="it-IT" sz="1750" b="0">
                <a:solidFill>
                  <a:srgbClr val="193248"/>
                </a:solidFill>
                <a:latin typeface="Arial"/>
              </a:rPr>
              <a:t>Cellule senza nucleo, flessibili, a forma di disco biconcavo.</a:t>
            </a:r>
          </a:p>
          <a:p>
            <a:pPr>
              <a:lnSpc>
                <a:spcPts val="2000"/>
              </a:lnSpc>
              <a:spcBef>
                <a:spcPts val="0"/>
              </a:spcBef>
              <a:spcAft>
                <a:spcPts val="900"/>
              </a:spcAft>
            </a:pPr>
            <a:r>
              <a:rPr lang="it-IT" sz="1750" b="1">
                <a:solidFill>
                  <a:srgbClr val="193248"/>
                </a:solidFill>
                <a:latin typeface="Arial"/>
              </a:rPr>
              <a:t>Emoglobina (Hb): </a:t>
            </a:r>
            <a:r>
              <a:rPr lang="it-IT" sz="1750" b="0">
                <a:solidFill>
                  <a:srgbClr val="193248"/>
                </a:solidFill>
                <a:latin typeface="Arial"/>
              </a:rPr>
              <a:t>proteina che lega l’O₂ nei polmoni e lo rilascia ai tessuti. Trasporta anche parte della CO₂.</a:t>
            </a:r>
          </a:p>
        </p:txBody>
      </p:sp>
      <p:sp>
        <p:nvSpPr>
          <p:cNvPr id="36" name="TextBox 35"/>
          <p:cNvSpPr txBox="1"/>
          <p:nvPr/>
        </p:nvSpPr>
        <p:spPr>
          <a:xfrm>
            <a:off x="4462272" y="2048256"/>
            <a:ext cx="3328416" cy="640080"/>
          </a:xfrm>
          <a:prstGeom prst="rect">
            <a:avLst/>
          </a:prstGeom>
          <a:noFill/>
        </p:spPr>
        <p:txBody>
          <a:bodyPr wrap="square" lIns="0" tIns="0" rIns="0" bIns="0">
            <a:noAutofit/>
          </a:bodyPr>
          <a:lstStyle/>
          <a:p>
            <a:pPr marL="0" indent="0">
              <a:lnSpc>
                <a:spcPts val="2500"/>
              </a:lnSpc>
              <a:buNone/>
            </a:pPr>
            <a:r>
              <a:rPr lang="it-IT" sz="2100" b="1">
                <a:solidFill>
                  <a:srgbClr val="123F67"/>
                </a:solidFill>
                <a:latin typeface="Arial"/>
              </a:rPr>
              <a:t>Globuli bianchi</a:t>
            </a:r>
          </a:p>
          <a:p>
            <a:pPr>
              <a:lnSpc>
                <a:spcPts val="2200"/>
              </a:lnSpc>
            </a:pPr>
            <a:r>
              <a:rPr lang="it-IT" sz="1600" b="0">
                <a:solidFill>
                  <a:srgbClr val="123F67"/>
                </a:solidFill>
                <a:latin typeface="Arial"/>
              </a:rPr>
              <a:t>(leucociti)</a:t>
            </a:r>
          </a:p>
        </p:txBody>
      </p:sp>
      <p:sp>
        <p:nvSpPr>
          <p:cNvPr id="37" name="TextBox 36"/>
          <p:cNvSpPr txBox="1"/>
          <p:nvPr/>
        </p:nvSpPr>
        <p:spPr>
          <a:xfrm>
            <a:off x="4462272" y="2816352"/>
            <a:ext cx="3328416" cy="310896"/>
          </a:xfrm>
          <a:prstGeom prst="rect">
            <a:avLst/>
          </a:prstGeom>
          <a:noFill/>
        </p:spPr>
        <p:txBody>
          <a:bodyPr wrap="square" lIns="0" tIns="0" rIns="0" bIns="0">
            <a:noAutofit/>
          </a:bodyPr>
          <a:lstStyle/>
          <a:p>
            <a:pPr>
              <a:lnSpc>
                <a:spcPts val="2200"/>
              </a:lnSpc>
              <a:spcBef>
                <a:spcPts val="0"/>
              </a:spcBef>
              <a:spcAft>
                <a:spcPts val="800"/>
              </a:spcAft>
            </a:pPr>
            <a:r>
              <a:rPr lang="it-IT" sz="1750" b="1">
                <a:solidFill>
                  <a:srgbClr val="193248"/>
                </a:solidFill>
                <a:latin typeface="Arial"/>
              </a:rPr>
              <a:t>Difesa immunitaria:</a:t>
            </a:r>
            <a:endParaRPr lang="it-IT" sz="1800" b="0">
              <a:solidFill>
                <a:srgbClr val="193248"/>
              </a:solidFill>
              <a:latin typeface="Arial"/>
            </a:endParaRPr>
          </a:p>
        </p:txBody>
      </p:sp>
      <p:sp>
        <p:nvSpPr>
          <p:cNvPr id="38" name="TextBox 37"/>
          <p:cNvSpPr txBox="1"/>
          <p:nvPr/>
        </p:nvSpPr>
        <p:spPr>
          <a:xfrm>
            <a:off x="8220456" y="2048256"/>
            <a:ext cx="3328416" cy="640080"/>
          </a:xfrm>
          <a:prstGeom prst="rect">
            <a:avLst/>
          </a:prstGeom>
          <a:noFill/>
        </p:spPr>
        <p:txBody>
          <a:bodyPr wrap="square" lIns="0" tIns="0" rIns="0" bIns="0">
            <a:noAutofit/>
          </a:bodyPr>
          <a:lstStyle/>
          <a:p>
            <a:pPr marL="0" indent="0">
              <a:lnSpc>
                <a:spcPts val="2500"/>
              </a:lnSpc>
              <a:buNone/>
            </a:pPr>
            <a:r>
              <a:rPr lang="it-IT" sz="2100" b="1">
                <a:solidFill>
                  <a:srgbClr val="123F67"/>
                </a:solidFill>
                <a:latin typeface="Arial"/>
              </a:rPr>
              <a:t>Piastrine</a:t>
            </a:r>
            <a:endParaRPr lang="it-IT" sz="2200" b="1">
              <a:solidFill>
                <a:srgbClr val="123F67"/>
              </a:solidFill>
              <a:latin typeface="Arial"/>
            </a:endParaRPr>
          </a:p>
          <a:p>
            <a:pPr>
              <a:lnSpc>
                <a:spcPts val="2200"/>
              </a:lnSpc>
            </a:pPr>
            <a:r>
              <a:rPr lang="it-IT" sz="1600" b="0">
                <a:solidFill>
                  <a:srgbClr val="123F67"/>
                </a:solidFill>
                <a:latin typeface="Arial"/>
              </a:rPr>
              <a:t>(trombociti)</a:t>
            </a:r>
          </a:p>
        </p:txBody>
      </p:sp>
      <p:sp>
        <p:nvSpPr>
          <p:cNvPr id="39" name="TextBox 38"/>
          <p:cNvSpPr txBox="1"/>
          <p:nvPr/>
        </p:nvSpPr>
        <p:spPr>
          <a:xfrm>
            <a:off x="8220456" y="2816352"/>
            <a:ext cx="3328416" cy="2679192"/>
          </a:xfrm>
          <a:prstGeom prst="rect">
            <a:avLst/>
          </a:prstGeom>
          <a:noFill/>
        </p:spPr>
        <p:txBody>
          <a:bodyPr wrap="square" lIns="0" tIns="0" rIns="0" bIns="0">
            <a:noAutofit/>
          </a:bodyPr>
          <a:lstStyle/>
          <a:p>
            <a:pPr>
              <a:lnSpc>
                <a:spcPts val="2000"/>
              </a:lnSpc>
              <a:spcBef>
                <a:spcPts val="0"/>
              </a:spcBef>
              <a:spcAft>
                <a:spcPts val="900"/>
              </a:spcAft>
              <a:defRPr sz="1750"/>
            </a:pPr>
            <a:r>
              <a:rPr lang="it-IT" sz="1750" b="1">
                <a:solidFill>
                  <a:srgbClr val="193248"/>
                </a:solidFill>
                <a:latin typeface="Arial"/>
              </a:rPr>
              <a:t>Frammenti cellulari </a:t>
            </a:r>
            <a:r>
              <a:rPr lang="it-IT" sz="1750" b="0">
                <a:solidFill>
                  <a:srgbClr val="193248"/>
                </a:solidFill>
                <a:latin typeface="Arial"/>
              </a:rPr>
              <a:t>coinvolti nell’emostasi, l’arresto del sanguinamento.</a:t>
            </a:r>
            <a:endParaRPr lang="it-IT" sz="1800" b="0">
              <a:solidFill>
                <a:srgbClr val="193248"/>
              </a:solidFill>
              <a:latin typeface="Arial"/>
            </a:endParaRPr>
          </a:p>
          <a:p>
            <a:pPr>
              <a:lnSpc>
                <a:spcPts val="2000"/>
              </a:lnSpc>
              <a:spcBef>
                <a:spcPts val="0"/>
              </a:spcBef>
              <a:spcAft>
                <a:spcPts val="900"/>
              </a:spcAft>
            </a:pPr>
            <a:r>
              <a:rPr lang="it-IT" sz="1750" b="1">
                <a:solidFill>
                  <a:srgbClr val="193248"/>
                </a:solidFill>
                <a:latin typeface="Arial"/>
              </a:rPr>
              <a:t>Tappo piastrinico: </a:t>
            </a:r>
            <a:r>
              <a:rPr lang="it-IT" sz="1750" b="0">
                <a:solidFill>
                  <a:srgbClr val="193248"/>
                </a:solidFill>
                <a:latin typeface="Arial"/>
              </a:rPr>
              <a:t>aderiscono alla lesione e si aggregano.</a:t>
            </a:r>
          </a:p>
          <a:p>
            <a:pPr>
              <a:lnSpc>
                <a:spcPts val="2000"/>
              </a:lnSpc>
              <a:spcBef>
                <a:spcPts val="0"/>
              </a:spcBef>
              <a:spcAft>
                <a:spcPts val="900"/>
              </a:spcAft>
            </a:pPr>
            <a:r>
              <a:rPr lang="it-IT" sz="1750" b="1">
                <a:solidFill>
                  <a:srgbClr val="193248"/>
                </a:solidFill>
                <a:latin typeface="Arial"/>
              </a:rPr>
              <a:t>Coagulazione: </a:t>
            </a:r>
            <a:r>
              <a:rPr lang="it-IT" sz="1750" b="0">
                <a:solidFill>
                  <a:srgbClr val="193248"/>
                </a:solidFill>
                <a:latin typeface="Arial"/>
              </a:rPr>
              <a:t>i fattori si attivano in sequenza. La fibrina forma una rete che stabilizza il coagulo.</a:t>
            </a:r>
          </a:p>
        </p:txBody>
      </p:sp>
      <p:sp>
        <p:nvSpPr>
          <p:cNvPr id="41" name="Produzione delle cellule del sangue"/>
          <p:cNvSpPr txBox="1"/>
          <p:nvPr/>
        </p:nvSpPr>
        <p:spPr>
          <a:xfrm>
            <a:off x="704088" y="5632704"/>
            <a:ext cx="10844784" cy="877824"/>
          </a:xfrm>
          <a:prstGeom prst="rect">
            <a:avLst/>
          </a:prstGeom>
          <a:noFill/>
        </p:spPr>
        <p:txBody>
          <a:bodyPr wrap="square" lIns="0" tIns="0" rIns="0" bIns="0">
            <a:noAutofit/>
          </a:bodyPr>
          <a:lstStyle/>
          <a:p>
            <a:pPr>
              <a:lnSpc>
                <a:spcPts val="2100"/>
              </a:lnSpc>
              <a:spcBef>
                <a:spcPts val="0"/>
              </a:spcBef>
              <a:spcAft>
                <a:spcPts val="700"/>
              </a:spcAft>
              <a:defRPr sz="1700"/>
            </a:pPr>
            <a:r>
              <a:rPr lang="it-IT" sz="1850" b="1">
                <a:solidFill>
                  <a:srgbClr val="193248"/>
                </a:solidFill>
                <a:latin typeface="Arial"/>
              </a:rPr>
              <a:t>Emopoiesi: </a:t>
            </a:r>
            <a:r>
              <a:rPr lang="it-IT" sz="1850" b="0">
                <a:solidFill>
                  <a:srgbClr val="193248"/>
                </a:solidFill>
                <a:latin typeface="Arial"/>
              </a:rPr>
              <a:t>nel midollo osseo rosso, le cellule staminali producono gli elementi del sangue.</a:t>
            </a:r>
          </a:p>
          <a:p>
            <a:pPr>
              <a:lnSpc>
                <a:spcPts val="2100"/>
              </a:lnSpc>
              <a:spcBef>
                <a:spcPts val="0"/>
              </a:spcBef>
              <a:spcAft>
                <a:spcPts val="700"/>
              </a:spcAft>
            </a:pPr>
            <a:r>
              <a:rPr lang="it-IT" sz="1850" b="1">
                <a:solidFill>
                  <a:srgbClr val="193248"/>
                </a:solidFill>
                <a:latin typeface="Arial"/>
              </a:rPr>
              <a:t>Emocromo: </a:t>
            </a:r>
            <a:r>
              <a:rPr lang="it-IT" sz="1850" b="0">
                <a:solidFill>
                  <a:srgbClr val="193248"/>
                </a:solidFill>
                <a:latin typeface="Arial"/>
              </a:rPr>
              <a:t>conta globuli rossi, bianchi e piastrine e misura Hb ed ematocrito.</a:t>
            </a:r>
            <a:br>
              <a:rPr lang="it-IT"/>
            </a:br>
            <a:r>
              <a:rPr lang="it-IT" sz="1850" b="0">
                <a:solidFill>
                  <a:srgbClr val="193248"/>
                </a:solidFill>
                <a:latin typeface="Arial"/>
              </a:rPr>
              <a:t>La formula distingue i leucociti.</a:t>
            </a:r>
          </a:p>
        </p:txBody>
      </p:sp>
      <p:sp>
        <p:nvSpPr>
          <p:cNvPr id="44" name="Tipi di globuli bianchi"/>
          <p:cNvSpPr txBox="1"/>
          <p:nvPr/>
        </p:nvSpPr>
        <p:spPr>
          <a:xfrm>
            <a:off x="4462272" y="3227832"/>
            <a:ext cx="3328416" cy="2221992"/>
          </a:xfrm>
          <a:prstGeom prst="rect">
            <a:avLst/>
          </a:prstGeom>
          <a:noFill/>
        </p:spPr>
        <p:txBody>
          <a:bodyPr wrap="square" lIns="0" tIns="0" rIns="0" bIns="0">
            <a:noAutofit/>
          </a:bodyPr>
          <a:lstStyle/>
          <a:p>
            <a:pPr marL="0" indent="0">
              <a:lnSpc>
                <a:spcPts val="1900"/>
              </a:lnSpc>
              <a:spcBef>
                <a:spcPts val="0"/>
              </a:spcBef>
              <a:spcAft>
                <a:spcPts val="500"/>
              </a:spcAft>
              <a:buNone/>
            </a:pPr>
            <a:r>
              <a:rPr lang="it-IT" sz="1700" b="1">
                <a:solidFill>
                  <a:srgbClr val="193248"/>
                </a:solidFill>
                <a:latin typeface="Arial"/>
              </a:rPr>
              <a:t>Neutrofili: </a:t>
            </a:r>
            <a:r>
              <a:rPr lang="it-IT" sz="1700" b="0">
                <a:solidFill>
                  <a:srgbClr val="193248"/>
                </a:solidFill>
                <a:latin typeface="Arial"/>
              </a:rPr>
              <a:t>fagocitano soprattutto batteri.</a:t>
            </a:r>
          </a:p>
          <a:p>
            <a:pPr marL="0" indent="0">
              <a:lnSpc>
                <a:spcPts val="1900"/>
              </a:lnSpc>
              <a:spcBef>
                <a:spcPts val="0"/>
              </a:spcBef>
              <a:spcAft>
                <a:spcPts val="500"/>
              </a:spcAft>
              <a:buNone/>
            </a:pPr>
            <a:r>
              <a:rPr lang="it-IT" sz="1700" b="1">
                <a:solidFill>
                  <a:srgbClr val="193248"/>
                </a:solidFill>
                <a:latin typeface="Arial"/>
              </a:rPr>
              <a:t>Eosinofili: </a:t>
            </a:r>
            <a:r>
              <a:rPr lang="it-IT" sz="1700" b="0">
                <a:solidFill>
                  <a:srgbClr val="193248"/>
                </a:solidFill>
                <a:latin typeface="Arial"/>
              </a:rPr>
              <a:t>parassiti e allergie.</a:t>
            </a:r>
          </a:p>
          <a:p>
            <a:pPr marL="0" indent="0">
              <a:lnSpc>
                <a:spcPts val="1900"/>
              </a:lnSpc>
              <a:spcBef>
                <a:spcPts val="0"/>
              </a:spcBef>
              <a:spcAft>
                <a:spcPts val="500"/>
              </a:spcAft>
              <a:buNone/>
            </a:pPr>
            <a:r>
              <a:rPr lang="it-IT" sz="1700" b="1">
                <a:solidFill>
                  <a:srgbClr val="193248"/>
                </a:solidFill>
                <a:latin typeface="Arial"/>
              </a:rPr>
              <a:t>Basofili: </a:t>
            </a:r>
            <a:r>
              <a:rPr lang="it-IT" sz="1700" b="0">
                <a:solidFill>
                  <a:srgbClr val="193248"/>
                </a:solidFill>
                <a:latin typeface="Arial"/>
              </a:rPr>
              <a:t>istamina nelle allergie.</a:t>
            </a:r>
          </a:p>
          <a:p>
            <a:pPr marL="0" indent="0">
              <a:lnSpc>
                <a:spcPts val="1900"/>
              </a:lnSpc>
              <a:spcBef>
                <a:spcPts val="0"/>
              </a:spcBef>
              <a:spcAft>
                <a:spcPts val="500"/>
              </a:spcAft>
              <a:buNone/>
            </a:pPr>
            <a:r>
              <a:rPr lang="it-IT" sz="1700" b="1">
                <a:solidFill>
                  <a:srgbClr val="193248"/>
                </a:solidFill>
                <a:latin typeface="Arial"/>
              </a:rPr>
              <a:t>Monociti: </a:t>
            </a:r>
            <a:r>
              <a:rPr lang="it-IT" sz="1700" b="0">
                <a:solidFill>
                  <a:srgbClr val="193248"/>
                </a:solidFill>
                <a:latin typeface="Arial"/>
              </a:rPr>
              <a:t>fagocitosi di patogeni e detriti.</a:t>
            </a:r>
          </a:p>
          <a:p>
            <a:pPr marL="0" indent="0">
              <a:lnSpc>
                <a:spcPts val="1900"/>
              </a:lnSpc>
              <a:spcBef>
                <a:spcPts val="0"/>
              </a:spcBef>
              <a:spcAft>
                <a:spcPts val="500"/>
              </a:spcAft>
              <a:buNone/>
            </a:pPr>
            <a:r>
              <a:rPr lang="it-IT" sz="1700" b="1">
                <a:solidFill>
                  <a:srgbClr val="193248"/>
                </a:solidFill>
                <a:latin typeface="Arial"/>
              </a:rPr>
              <a:t>Linfociti: </a:t>
            </a:r>
            <a:r>
              <a:rPr lang="it-IT" sz="1700" b="0">
                <a:solidFill>
                  <a:srgbClr val="193248"/>
                </a:solidFill>
                <a:latin typeface="Arial"/>
              </a:rPr>
              <a:t>B, produzione di anticorpi; T, risposta cellulare.</a:t>
            </a:r>
          </a:p>
        </p:txBody>
      </p:sp>
      <p:cxnSp>
        <p:nvCxnSpPr>
          <p:cNvPr id="45" name="Connector 44"/>
          <p:cNvCxnSpPr/>
          <p:nvPr/>
        </p:nvCxnSpPr>
        <p:spPr>
          <a:xfrm>
            <a:off x="4247388" y="2048256"/>
            <a:ext cx="0" cy="3401568"/>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005572" y="2048256"/>
            <a:ext cx="0" cy="3401568"/>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904" y="210312"/>
            <a:ext cx="10858500" cy="267004"/>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APPROFONDIMENTO · APPARATO CARDIOVASCOLARE</a:t>
            </a: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904" y="571500"/>
            <a:ext cx="10972800" cy="649224"/>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I gruppi sanguigni</a:t>
            </a: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904" y="1335024"/>
            <a:ext cx="10972800" cy="19202"/>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38</a:t>
            </a:r>
            <a:endParaRPr sz="1350" b="1">
              <a:solidFill>
                <a:srgbClr val="123F67"/>
              </a:solidFill>
              <a:latin typeface="Arial"/>
              <a:ea typeface="Arial"/>
              <a:cs typeface="Arial"/>
            </a:endParaRPr>
          </a:p>
        </p:txBody>
      </p:sp>
      <p:sp>
        <p:nvSpPr>
          <p:cNvPr id="24" name="TextBox 23"/>
          <p:cNvSpPr txBox="1"/>
          <p:nvPr/>
        </p:nvSpPr>
        <p:spPr>
          <a:xfrm>
            <a:off x="704088" y="1645920"/>
            <a:ext cx="6355080" cy="365760"/>
          </a:xfrm>
          <a:prstGeom prst="rect">
            <a:avLst/>
          </a:prstGeom>
          <a:noFill/>
        </p:spPr>
        <p:txBody>
          <a:bodyPr wrap="square" lIns="0" tIns="0" rIns="0" bIns="0">
            <a:spAutoFit/>
          </a:bodyPr>
          <a:lstStyle/>
          <a:p>
            <a:pPr>
              <a:spcBef>
                <a:spcPts val="0"/>
              </a:spcBef>
              <a:spcAft>
                <a:spcPts val="300"/>
              </a:spcAft>
            </a:pPr>
            <a:r>
              <a:rPr sz="2300" b="1" dirty="0">
                <a:solidFill>
                  <a:srgbClr val="087E8B"/>
                </a:solidFill>
                <a:latin typeface="Arial"/>
              </a:rPr>
              <a:t>Sistema A</a:t>
            </a:r>
            <a:r>
              <a:rPr lang="it-IT" sz="2300" b="1" dirty="0">
                <a:solidFill>
                  <a:srgbClr val="087E8B"/>
                </a:solidFill>
                <a:latin typeface="Arial"/>
              </a:rPr>
              <a:t>-</a:t>
            </a:r>
            <a:r>
              <a:rPr sz="2300" b="1" dirty="0">
                <a:solidFill>
                  <a:srgbClr val="087E8B"/>
                </a:solidFill>
                <a:latin typeface="Arial"/>
              </a:rPr>
              <a:t>B</a:t>
            </a:r>
            <a:r>
              <a:rPr lang="it-IT" sz="2300" b="1" dirty="0">
                <a:solidFill>
                  <a:srgbClr val="087E8B"/>
                </a:solidFill>
                <a:latin typeface="Arial"/>
              </a:rPr>
              <a:t>-</a:t>
            </a:r>
            <a:r>
              <a:rPr sz="2300" b="1" dirty="0">
                <a:solidFill>
                  <a:srgbClr val="087E8B"/>
                </a:solidFill>
                <a:latin typeface="Arial"/>
              </a:rPr>
              <a:t>0</a:t>
            </a:r>
          </a:p>
        </p:txBody>
      </p:sp>
      <p:sp>
        <p:nvSpPr>
          <p:cNvPr id="25" name="TextBox 24"/>
          <p:cNvSpPr txBox="1"/>
          <p:nvPr/>
        </p:nvSpPr>
        <p:spPr>
          <a:xfrm>
            <a:off x="704088" y="2084831"/>
            <a:ext cx="6355080" cy="1615827"/>
          </a:xfrm>
          <a:prstGeom prst="rect">
            <a:avLst/>
          </a:prstGeom>
          <a:noFill/>
        </p:spPr>
        <p:txBody>
          <a:bodyPr wrap="square" lIns="0" tIns="0" rIns="0" bIns="0">
            <a:spAutoFit/>
          </a:bodyPr>
          <a:lstStyle/>
          <a:p>
            <a:pPr>
              <a:lnSpc>
                <a:spcPts val="1900"/>
              </a:lnSpc>
              <a:spcBef>
                <a:spcPts val="0"/>
              </a:spcBef>
              <a:spcAft>
                <a:spcPts val="300"/>
              </a:spcAft>
            </a:pPr>
            <a:r>
              <a:rPr lang="it-IT" sz="1800" b="0" dirty="0">
                <a:solidFill>
                  <a:srgbClr val="193248"/>
                </a:solidFill>
                <a:latin typeface="Arial"/>
              </a:rPr>
              <a:t>Gli </a:t>
            </a:r>
            <a:r>
              <a:rPr sz="1800" b="0" dirty="0" err="1">
                <a:solidFill>
                  <a:srgbClr val="193248"/>
                </a:solidFill>
                <a:latin typeface="Arial"/>
              </a:rPr>
              <a:t>antigeni</a:t>
            </a:r>
            <a:r>
              <a:rPr sz="1800" b="0" dirty="0">
                <a:solidFill>
                  <a:srgbClr val="193248"/>
                </a:solidFill>
                <a:latin typeface="Arial"/>
              </a:rPr>
              <a:t> A e B </a:t>
            </a:r>
            <a:r>
              <a:rPr lang="it-IT" sz="1800" b="0" dirty="0">
                <a:solidFill>
                  <a:srgbClr val="193248"/>
                </a:solidFill>
                <a:latin typeface="Arial"/>
              </a:rPr>
              <a:t>sono</a:t>
            </a:r>
            <a:r>
              <a:rPr lang="it-IT" sz="1800" b="0">
                <a:solidFill>
                  <a:srgbClr val="193248"/>
                </a:solidFill>
                <a:latin typeface="Arial"/>
              </a:rPr>
              <a:t> </a:t>
            </a:r>
            <a:r>
              <a:rPr lang="it-IT" sz="1800" b="0" dirty="0">
                <a:solidFill>
                  <a:srgbClr val="193248"/>
                </a:solidFill>
                <a:latin typeface="Arial"/>
              </a:rPr>
              <a:t>marcatori sulla superficie dei </a:t>
            </a:r>
            <a:r>
              <a:rPr sz="1800" b="0" dirty="0" err="1">
                <a:solidFill>
                  <a:srgbClr val="193248"/>
                </a:solidFill>
                <a:latin typeface="Arial"/>
              </a:rPr>
              <a:t>globuli</a:t>
            </a:r>
            <a:r>
              <a:rPr sz="1800" b="0" dirty="0">
                <a:solidFill>
                  <a:srgbClr val="193248"/>
                </a:solidFill>
                <a:latin typeface="Arial"/>
              </a:rPr>
              <a:t> rossi</a:t>
            </a:r>
            <a:r>
              <a:rPr lang="it-IT" sz="1800" b="0" dirty="0">
                <a:solidFill>
                  <a:srgbClr val="193248"/>
                </a:solidFill>
                <a:latin typeface="Arial"/>
              </a:rPr>
              <a:t>.</a:t>
            </a:r>
            <a:endParaRPr lang="it-IT" sz="1800" b="0">
              <a:solidFill>
                <a:srgbClr val="193248"/>
              </a:solidFill>
              <a:latin typeface="Arial"/>
            </a:endParaRPr>
          </a:p>
          <a:p>
            <a:pPr marL="190500" indent="-139700">
              <a:lnSpc>
                <a:spcPts val="1900"/>
              </a:lnSpc>
              <a:spcBef>
                <a:spcPts val="0"/>
              </a:spcBef>
              <a:spcAft>
                <a:spcPts val="300"/>
              </a:spcAft>
              <a:buChar char="•"/>
            </a:pPr>
            <a:r>
              <a:rPr lang="it-IT" sz="1800" b="1">
                <a:solidFill>
                  <a:srgbClr val="193248"/>
                </a:solidFill>
                <a:latin typeface="Arial"/>
              </a:rPr>
              <a:t>A</a:t>
            </a:r>
            <a:r>
              <a:rPr lang="it-IT" sz="1800" b="0" dirty="0">
                <a:solidFill>
                  <a:srgbClr val="193248"/>
                </a:solidFill>
                <a:latin typeface="Arial"/>
              </a:rPr>
              <a:t>: antigene</a:t>
            </a:r>
            <a:r>
              <a:rPr sz="1800" b="0" dirty="0">
                <a:solidFill>
                  <a:srgbClr val="193248"/>
                </a:solidFill>
                <a:latin typeface="Arial"/>
              </a:rPr>
              <a:t> A</a:t>
            </a:r>
            <a:r>
              <a:rPr lang="it-IT" sz="1800" b="0" dirty="0">
                <a:solidFill>
                  <a:srgbClr val="193248"/>
                </a:solidFill>
                <a:latin typeface="Arial"/>
              </a:rPr>
              <a:t> e anticorpi anti-B nel plasma.</a:t>
            </a:r>
            <a:endParaRPr lang="it-IT" sz="1800" b="0">
              <a:solidFill>
                <a:srgbClr val="193248"/>
              </a:solidFill>
              <a:latin typeface="Arial"/>
            </a:endParaRPr>
          </a:p>
          <a:p>
            <a:pPr marL="190500" indent="-139700">
              <a:lnSpc>
                <a:spcPts val="1900"/>
              </a:lnSpc>
              <a:spcBef>
                <a:spcPts val="0"/>
              </a:spcBef>
              <a:spcAft>
                <a:spcPts val="300"/>
              </a:spcAft>
              <a:buChar char="•"/>
            </a:pPr>
            <a:r>
              <a:rPr lang="it-IT" sz="1800" b="1">
                <a:solidFill>
                  <a:srgbClr val="193248"/>
                </a:solidFill>
                <a:latin typeface="Arial"/>
              </a:rPr>
              <a:t>B</a:t>
            </a:r>
            <a:r>
              <a:rPr lang="it-IT" sz="1800" b="0" dirty="0">
                <a:solidFill>
                  <a:srgbClr val="193248"/>
                </a:solidFill>
                <a:latin typeface="Arial"/>
              </a:rPr>
              <a:t>: antigene</a:t>
            </a:r>
            <a:r>
              <a:rPr sz="1800" b="0" dirty="0">
                <a:solidFill>
                  <a:srgbClr val="193248"/>
                </a:solidFill>
                <a:latin typeface="Arial"/>
              </a:rPr>
              <a:t> B</a:t>
            </a:r>
            <a:r>
              <a:rPr lang="it-IT" sz="1800" b="0" dirty="0">
                <a:solidFill>
                  <a:srgbClr val="193248"/>
                </a:solidFill>
                <a:latin typeface="Arial"/>
              </a:rPr>
              <a:t> e anticorpi anti-A nel plasma.</a:t>
            </a:r>
            <a:endParaRPr lang="it-IT" sz="1800" b="0">
              <a:solidFill>
                <a:srgbClr val="193248"/>
              </a:solidFill>
              <a:latin typeface="Arial"/>
            </a:endParaRPr>
          </a:p>
          <a:p>
            <a:pPr marL="190500" indent="-139700">
              <a:lnSpc>
                <a:spcPts val="1900"/>
              </a:lnSpc>
              <a:spcBef>
                <a:spcPts val="0"/>
              </a:spcBef>
              <a:spcAft>
                <a:spcPts val="300"/>
              </a:spcAft>
              <a:buChar char="•"/>
            </a:pPr>
            <a:r>
              <a:rPr lang="it-IT" sz="1800" b="1">
                <a:solidFill>
                  <a:srgbClr val="193248"/>
                </a:solidFill>
                <a:latin typeface="Arial"/>
              </a:rPr>
              <a:t>AB:</a:t>
            </a:r>
            <a:r>
              <a:rPr sz="1800" b="0" dirty="0">
                <a:solidFill>
                  <a:srgbClr val="193248"/>
                </a:solidFill>
                <a:latin typeface="Arial"/>
              </a:rPr>
              <a:t> </a:t>
            </a:r>
            <a:r>
              <a:rPr sz="1800" b="0" dirty="0" err="1">
                <a:solidFill>
                  <a:srgbClr val="193248"/>
                </a:solidFill>
                <a:latin typeface="Arial"/>
              </a:rPr>
              <a:t>entrambi</a:t>
            </a:r>
            <a:r>
              <a:rPr lang="it-IT" sz="1800" b="0" dirty="0">
                <a:solidFill>
                  <a:srgbClr val="193248"/>
                </a:solidFill>
                <a:latin typeface="Arial"/>
              </a:rPr>
              <a:t> gli antigeni</a:t>
            </a:r>
            <a:r>
              <a:rPr sz="1800" b="0" dirty="0">
                <a:solidFill>
                  <a:srgbClr val="193248"/>
                </a:solidFill>
                <a:latin typeface="Arial"/>
              </a:rPr>
              <a:t>,</a:t>
            </a:r>
            <a:r>
              <a:rPr lang="it-IT" sz="1800" b="0" dirty="0">
                <a:solidFill>
                  <a:srgbClr val="193248"/>
                </a:solidFill>
                <a:latin typeface="Arial"/>
              </a:rPr>
              <a:t> né anti-A né anti-B.</a:t>
            </a:r>
            <a:endParaRPr lang="it-IT" sz="1800" b="0">
              <a:solidFill>
                <a:srgbClr val="193248"/>
              </a:solidFill>
              <a:latin typeface="Arial"/>
            </a:endParaRPr>
          </a:p>
          <a:p>
            <a:pPr marL="190500" indent="-139700">
              <a:lnSpc>
                <a:spcPts val="1900"/>
              </a:lnSpc>
              <a:spcBef>
                <a:spcPts val="0"/>
              </a:spcBef>
              <a:spcAft>
                <a:spcPts val="300"/>
              </a:spcAft>
              <a:buChar char="•"/>
            </a:pPr>
            <a:r>
              <a:rPr lang="it-IT" sz="1800" b="1">
                <a:solidFill>
                  <a:srgbClr val="193248"/>
                </a:solidFill>
                <a:latin typeface="Arial"/>
              </a:rPr>
              <a:t>0</a:t>
            </a:r>
            <a:r>
              <a:rPr lang="it-IT" sz="1800" b="0" dirty="0">
                <a:solidFill>
                  <a:srgbClr val="193248"/>
                </a:solidFill>
                <a:latin typeface="Arial"/>
              </a:rPr>
              <a:t>: nessun antigene</a:t>
            </a:r>
            <a:r>
              <a:rPr sz="1800" b="0" dirty="0">
                <a:solidFill>
                  <a:srgbClr val="193248"/>
                </a:solidFill>
                <a:latin typeface="Arial"/>
              </a:rPr>
              <a:t> A</a:t>
            </a:r>
            <a:r>
              <a:rPr lang="it-IT" sz="1800" b="0" dirty="0">
                <a:solidFill>
                  <a:srgbClr val="193248"/>
                </a:solidFill>
                <a:latin typeface="Arial"/>
              </a:rPr>
              <a:t>/</a:t>
            </a:r>
            <a:r>
              <a:rPr sz="1800" b="0" dirty="0">
                <a:solidFill>
                  <a:srgbClr val="193248"/>
                </a:solidFill>
                <a:latin typeface="Arial"/>
              </a:rPr>
              <a:t>B</a:t>
            </a:r>
            <a:r>
              <a:rPr lang="it-IT" sz="1800" b="0" dirty="0">
                <a:solidFill>
                  <a:srgbClr val="193248"/>
                </a:solidFill>
                <a:latin typeface="Arial"/>
              </a:rPr>
              <a:t>, anticorpi anti-A e anti-B</a:t>
            </a:r>
            <a:r>
              <a:rPr sz="1800" b="0" dirty="0">
                <a:solidFill>
                  <a:srgbClr val="193248"/>
                </a:solidFill>
                <a:latin typeface="Arial"/>
              </a:rPr>
              <a:t>.</a:t>
            </a:r>
            <a:endParaRPr lang="it-IT" sz="1800" b="0">
              <a:solidFill>
                <a:srgbClr val="193248"/>
              </a:solidFill>
              <a:latin typeface="Arial"/>
            </a:endParaRPr>
          </a:p>
        </p:txBody>
      </p:sp>
      <p:sp>
        <p:nvSpPr>
          <p:cNvPr id="26" name="TextBox 25"/>
          <p:cNvSpPr txBox="1"/>
          <p:nvPr/>
        </p:nvSpPr>
        <p:spPr>
          <a:xfrm>
            <a:off x="704088" y="3858768"/>
            <a:ext cx="6355080" cy="365760"/>
          </a:xfrm>
          <a:prstGeom prst="rect">
            <a:avLst/>
          </a:prstGeom>
          <a:noFill/>
        </p:spPr>
        <p:txBody>
          <a:bodyPr wrap="square" lIns="0" tIns="0" rIns="0" bIns="0">
            <a:spAutoFit/>
          </a:bodyPr>
          <a:lstStyle/>
          <a:p>
            <a:pPr>
              <a:spcBef>
                <a:spcPts val="0"/>
              </a:spcBef>
              <a:spcAft>
                <a:spcPts val="300"/>
              </a:spcAft>
            </a:pPr>
            <a:r>
              <a:rPr sz="2300" b="1">
                <a:solidFill>
                  <a:srgbClr val="087E8B"/>
                </a:solidFill>
                <a:latin typeface="Arial"/>
              </a:rPr>
              <a:t>Fattore Rh</a:t>
            </a:r>
          </a:p>
        </p:txBody>
      </p:sp>
      <p:sp>
        <p:nvSpPr>
          <p:cNvPr id="27" name="TextBox 26"/>
          <p:cNvSpPr txBox="1"/>
          <p:nvPr/>
        </p:nvSpPr>
        <p:spPr>
          <a:xfrm>
            <a:off x="704088" y="4325112"/>
            <a:ext cx="6355080" cy="1320874"/>
          </a:xfrm>
          <a:prstGeom prst="rect">
            <a:avLst/>
          </a:prstGeom>
          <a:noFill/>
        </p:spPr>
        <p:txBody>
          <a:bodyPr wrap="square" lIns="0" tIns="0" rIns="0" bIns="0">
            <a:spAutoFit/>
          </a:bodyPr>
          <a:lstStyle/>
          <a:p>
            <a:pPr>
              <a:lnSpc>
                <a:spcPts val="1800"/>
              </a:lnSpc>
              <a:spcBef>
                <a:spcPts val="0"/>
              </a:spcBef>
              <a:spcAft>
                <a:spcPts val="200"/>
              </a:spcAft>
            </a:pPr>
            <a:r>
              <a:rPr lang="it-IT" sz="1800" b="0" dirty="0">
                <a:solidFill>
                  <a:srgbClr val="193248"/>
                </a:solidFill>
                <a:latin typeface="Arial"/>
              </a:rPr>
              <a:t>Antigene D sulla superficie dei globuli rossi:</a:t>
            </a:r>
            <a:endParaRPr lang="it-IT" sz="1800" b="0">
              <a:solidFill>
                <a:srgbClr val="193248"/>
              </a:solidFill>
              <a:latin typeface="Arial"/>
            </a:endParaRPr>
          </a:p>
          <a:p>
            <a:pPr marL="190500" indent="-139700">
              <a:lnSpc>
                <a:spcPts val="1800"/>
              </a:lnSpc>
              <a:spcBef>
                <a:spcPts val="0"/>
              </a:spcBef>
              <a:spcAft>
                <a:spcPts val="200"/>
              </a:spcAft>
              <a:buChar char="•"/>
            </a:pPr>
            <a:r>
              <a:rPr lang="it-IT" sz="1800" b="1" dirty="0">
                <a:solidFill>
                  <a:srgbClr val="193248"/>
                </a:solidFill>
                <a:latin typeface="Arial"/>
              </a:rPr>
              <a:t>Rh positivo (+)</a:t>
            </a:r>
            <a:r>
              <a:rPr lang="it-IT" sz="1800" b="0">
                <a:solidFill>
                  <a:srgbClr val="193248"/>
                </a:solidFill>
                <a:latin typeface="Arial"/>
              </a:rPr>
              <a:t> → antigene D presente</a:t>
            </a:r>
          </a:p>
          <a:p>
            <a:pPr marL="190500" indent="-139700">
              <a:lnSpc>
                <a:spcPts val="1800"/>
              </a:lnSpc>
              <a:spcBef>
                <a:spcPts val="0"/>
              </a:spcBef>
              <a:spcAft>
                <a:spcPts val="200"/>
              </a:spcAft>
              <a:buChar char="•"/>
            </a:pPr>
            <a:r>
              <a:rPr lang="it-IT" sz="1800" b="1" dirty="0">
                <a:solidFill>
                  <a:srgbClr val="193248"/>
                </a:solidFill>
                <a:latin typeface="Arial"/>
              </a:rPr>
              <a:t>Rh negativo (−)</a:t>
            </a:r>
            <a:r>
              <a:rPr lang="it-IT" sz="1800" b="0">
                <a:solidFill>
                  <a:srgbClr val="193248"/>
                </a:solidFill>
                <a:latin typeface="Arial"/>
              </a:rPr>
              <a:t> → antigene D assente</a:t>
            </a:r>
          </a:p>
          <a:p>
            <a:pPr>
              <a:lnSpc>
                <a:spcPts val="1800"/>
              </a:lnSpc>
              <a:spcBef>
                <a:spcPts val="700"/>
              </a:spcBef>
              <a:spcAft>
                <a:spcPts val="200"/>
              </a:spcAft>
              <a:buNone/>
            </a:pPr>
            <a:r>
              <a:rPr lang="it-IT" sz="1650">
                <a:solidFill>
                  <a:srgbClr val="193248"/>
                </a:solidFill>
                <a:latin typeface="Arial"/>
              </a:rPr>
              <a:t>Chi è Rh− può sviluppare anticorpi anti-D dopo contatto con sangue Rh+ (per esempio durante una trasfusione o una gravidanza).</a:t>
            </a:r>
          </a:p>
        </p:txBody>
      </p:sp>
      <p:pic>
        <p:nvPicPr>
          <p:cNvPr id="30" name="Picture 29" descr="IMG-20261010-WA0006.jpg"/>
          <p:cNvPicPr>
            <a:picLocks noChangeAspect="1"/>
          </p:cNvPicPr>
          <p:nvPr/>
        </p:nvPicPr>
        <p:blipFill>
          <a:blip r:embed="rId3"/>
          <a:stretch>
            <a:fillRect/>
          </a:stretch>
        </p:blipFill>
        <p:spPr>
          <a:xfrm>
            <a:off x="7370064" y="1645920"/>
            <a:ext cx="4412894" cy="4786884"/>
          </a:xfrm>
          <a:prstGeom prst="rect">
            <a:avLst/>
          </a:prstGeom>
        </p:spPr>
      </p:pic>
      <p:sp>
        <p:nvSpPr>
          <p:cNvPr id="46" name="Conclusione gruppi sanguigni"/>
          <p:cNvSpPr txBox="1"/>
          <p:nvPr/>
        </p:nvSpPr>
        <p:spPr>
          <a:xfrm>
            <a:off x="704088" y="5989320"/>
            <a:ext cx="6355080" cy="538609"/>
          </a:xfrm>
          <a:prstGeom prst="rect">
            <a:avLst/>
          </a:prstGeom>
          <a:noFill/>
        </p:spPr>
        <p:txBody>
          <a:bodyPr wrap="square" lIns="0" tIns="0" rIns="0" bIns="0">
            <a:spAutoFit/>
          </a:bodyPr>
          <a:lstStyle/>
          <a:p>
            <a:pPr>
              <a:lnSpc>
                <a:spcPts val="2100"/>
              </a:lnSpc>
              <a:spcBef>
                <a:spcPts val="0"/>
              </a:spcBef>
              <a:spcAft>
                <a:spcPts val="0"/>
              </a:spcAft>
            </a:pPr>
            <a:r>
              <a:rPr lang="it-IT" sz="1750" b="0">
                <a:solidFill>
                  <a:srgbClr val="087E8B"/>
                </a:solidFill>
                <a:latin typeface="Arial"/>
              </a:rPr>
              <a:t>Sistema A-B-0 e fattore Rh definiscono </a:t>
            </a:r>
            <a:r>
              <a:rPr lang="it-IT" sz="1750" b="1">
                <a:solidFill>
                  <a:srgbClr val="087E8B"/>
                </a:solidFill>
                <a:latin typeface="Arial"/>
              </a:rPr>
              <a:t>8 gruppi sanguigni</a:t>
            </a:r>
            <a:r>
              <a:rPr lang="it-IT" sz="1750" b="0">
                <a:solidFill>
                  <a:srgbClr val="087E8B"/>
                </a:solidFill>
                <a:latin typeface="Arial"/>
              </a:rPr>
              <a:t>, determinati geneticamente.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Principali patologie del sangue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39</a:t>
            </a:r>
            <a:endParaRPr sz="1350" b="1">
              <a:solidFill>
                <a:srgbClr val="123F67"/>
              </a:solidFill>
              <a:latin typeface="Arial"/>
              <a:ea typeface="Arial"/>
              <a:cs typeface="Arial"/>
            </a:endParaRPr>
          </a:p>
        </p:txBody>
      </p:sp>
      <p:sp>
        <p:nvSpPr>
          <p:cNvPr id="25" name="TextBox 24"/>
          <p:cNvSpPr txBox="1"/>
          <p:nvPr/>
        </p:nvSpPr>
        <p:spPr>
          <a:xfrm>
            <a:off x="705002" y="1737825"/>
            <a:ext cx="6629400" cy="256032"/>
          </a:xfrm>
          <a:prstGeom prst="rect">
            <a:avLst/>
          </a:prstGeom>
          <a:noFill/>
        </p:spPr>
        <p:txBody>
          <a:bodyPr wrap="square" lIns="0" tIns="0" rIns="0" bIns="0">
            <a:noAutofit/>
          </a:bodyPr>
          <a:lstStyle/>
          <a:p>
            <a:pPr>
              <a:lnSpc>
                <a:spcPts val="1600"/>
              </a:lnSpc>
            </a:pPr>
            <a:r>
              <a:rPr sz="1300" b="1" dirty="0">
                <a:solidFill>
                  <a:srgbClr val="087E8B"/>
                </a:solidFill>
                <a:latin typeface="Arial"/>
              </a:rPr>
              <a:t>GLOBULI ROSSI ED EMOGLOBINA</a:t>
            </a:r>
          </a:p>
        </p:txBody>
      </p:sp>
      <p:sp>
        <p:nvSpPr>
          <p:cNvPr id="26" name="TextBox 25"/>
          <p:cNvSpPr txBox="1"/>
          <p:nvPr/>
        </p:nvSpPr>
        <p:spPr>
          <a:xfrm>
            <a:off x="705002" y="1947672"/>
            <a:ext cx="6629400" cy="365760"/>
          </a:xfrm>
          <a:prstGeom prst="rect">
            <a:avLst/>
          </a:prstGeom>
          <a:noFill/>
        </p:spPr>
        <p:txBody>
          <a:bodyPr wrap="square" lIns="0" tIns="0" rIns="0" bIns="0">
            <a:noAutofit/>
          </a:bodyPr>
          <a:lstStyle/>
          <a:p>
            <a:pPr>
              <a:lnSpc>
                <a:spcPct val="100000"/>
              </a:lnSpc>
              <a:spcAft>
                <a:spcPts val="300"/>
              </a:spcAft>
            </a:pPr>
            <a:r>
              <a:rPr lang="it-IT" sz="2100" b="1">
                <a:solidFill>
                  <a:srgbClr val="123F67"/>
                </a:solidFill>
                <a:latin typeface="Arial"/>
              </a:rPr>
              <a:t>Anemie*</a:t>
            </a:r>
          </a:p>
        </p:txBody>
      </p:sp>
      <p:sp>
        <p:nvSpPr>
          <p:cNvPr id="27" name="TextBox 26"/>
          <p:cNvSpPr txBox="1"/>
          <p:nvPr/>
        </p:nvSpPr>
        <p:spPr>
          <a:xfrm>
            <a:off x="705002" y="2423160"/>
            <a:ext cx="6629400" cy="3621024"/>
          </a:xfrm>
          <a:prstGeom prst="rect">
            <a:avLst/>
          </a:prstGeom>
          <a:noFill/>
        </p:spPr>
        <p:txBody>
          <a:bodyPr wrap="square" lIns="0" tIns="0" rIns="0" bIns="0">
            <a:noAutofit/>
          </a:bodyPr>
          <a:lstStyle/>
          <a:p>
            <a:pPr>
              <a:lnSpc>
                <a:spcPts val="2000"/>
              </a:lnSpc>
              <a:spcBef>
                <a:spcPts val="0"/>
              </a:spcBef>
              <a:spcAft>
                <a:spcPts val="0"/>
              </a:spcAft>
            </a:pPr>
            <a:r>
              <a:rPr lang="it-IT" sz="1750" b="0" dirty="0">
                <a:solidFill>
                  <a:srgbClr val="193248"/>
                </a:solidFill>
                <a:latin typeface="Arial"/>
              </a:rPr>
              <a:t>Riduzione dell’emoglobina nel sangue, spesso associata a globuli rossi insufficienti o malformati. Diminuisce il trasporto di ossigeno ai tessuti.</a:t>
            </a:r>
          </a:p>
          <a:p>
            <a:pPr>
              <a:lnSpc>
                <a:spcPts val="2000"/>
              </a:lnSpc>
              <a:spcBef>
                <a:spcPts val="1000"/>
              </a:spcBef>
              <a:spcAft>
                <a:spcPts val="500"/>
              </a:spcAft>
            </a:pPr>
            <a:r>
              <a:rPr lang="it-IT" sz="1750" b="1" dirty="0">
                <a:solidFill>
                  <a:srgbClr val="193248"/>
                </a:solidFill>
                <a:latin typeface="Arial"/>
              </a:rPr>
              <a:t>1. Ridotta o inefficace produzione di globuli rossi</a:t>
            </a:r>
          </a:p>
          <a:p>
            <a:pPr>
              <a:lnSpc>
                <a:spcPts val="2000"/>
              </a:lnSpc>
              <a:spcBef>
                <a:spcPts val="0"/>
              </a:spcBef>
              <a:spcAft>
                <a:spcPts val="0"/>
              </a:spcAft>
            </a:pPr>
            <a:r>
              <a:rPr lang="it-IT" sz="1750" b="1" dirty="0">
                <a:solidFill>
                  <a:srgbClr val="193248"/>
                </a:solidFill>
                <a:latin typeface="Arial"/>
              </a:rPr>
              <a:t>Cause:</a:t>
            </a:r>
            <a:r>
              <a:rPr lang="it-IT" sz="1750" b="0" dirty="0">
                <a:solidFill>
                  <a:srgbClr val="193248"/>
                </a:solidFill>
                <a:latin typeface="Arial"/>
              </a:rPr>
              <a:t> patologie del midollo osseo o difetti genetici, come la </a:t>
            </a:r>
            <a:r>
              <a:rPr lang="it-IT" sz="1750" b="0" u="sng" dirty="0">
                <a:solidFill>
                  <a:srgbClr val="193248"/>
                </a:solidFill>
                <a:latin typeface="Arial"/>
              </a:rPr>
              <a:t>talassemia</a:t>
            </a:r>
            <a:r>
              <a:rPr lang="it-IT" sz="1750" b="0" dirty="0">
                <a:solidFill>
                  <a:srgbClr val="193248"/>
                </a:solidFill>
                <a:latin typeface="Arial"/>
              </a:rPr>
              <a:t> (anemia mediterranea), che riduce la produzione di emoglobina.</a:t>
            </a:r>
          </a:p>
          <a:p>
            <a:pPr>
              <a:lnSpc>
                <a:spcPts val="2000"/>
              </a:lnSpc>
              <a:spcBef>
                <a:spcPts val="1000"/>
              </a:spcBef>
              <a:spcAft>
                <a:spcPts val="500"/>
              </a:spcAft>
            </a:pPr>
            <a:r>
              <a:rPr lang="it-IT" sz="1750" b="1" dirty="0">
                <a:solidFill>
                  <a:srgbClr val="193248"/>
                </a:solidFill>
                <a:latin typeface="Arial"/>
              </a:rPr>
              <a:t>2. Aumentata distruzione dei globuli rossi</a:t>
            </a:r>
          </a:p>
          <a:p>
            <a:pPr>
              <a:lnSpc>
                <a:spcPts val="2000"/>
              </a:lnSpc>
              <a:spcBef>
                <a:spcPts val="0"/>
              </a:spcBef>
              <a:spcAft>
                <a:spcPts val="500"/>
              </a:spcAft>
            </a:pPr>
            <a:r>
              <a:rPr lang="it-IT" sz="1750" b="0" dirty="0">
                <a:solidFill>
                  <a:srgbClr val="193248"/>
                </a:solidFill>
                <a:latin typeface="Arial"/>
              </a:rPr>
              <a:t>Nelle anemie emolitiche i globuli rossi vengono distrutti (emolisi) prima della normale durata di vita, circa 120 giorni.</a:t>
            </a:r>
          </a:p>
          <a:p>
            <a:pPr>
              <a:lnSpc>
                <a:spcPts val="2000"/>
              </a:lnSpc>
              <a:spcBef>
                <a:spcPts val="0"/>
              </a:spcBef>
              <a:spcAft>
                <a:spcPts val="0"/>
              </a:spcAft>
            </a:pPr>
            <a:r>
              <a:rPr lang="it-IT" sz="1750" b="0" dirty="0">
                <a:solidFill>
                  <a:srgbClr val="193248"/>
                </a:solidFill>
                <a:latin typeface="Arial"/>
              </a:rPr>
              <a:t>Nell’</a:t>
            </a:r>
            <a:r>
              <a:rPr lang="it-IT" sz="1750" b="0" u="sng" dirty="0">
                <a:solidFill>
                  <a:srgbClr val="193248"/>
                </a:solidFill>
                <a:latin typeface="Arial"/>
              </a:rPr>
              <a:t>anemia falciforme</a:t>
            </a:r>
            <a:r>
              <a:rPr lang="it-IT" sz="1750" b="0" dirty="0">
                <a:solidFill>
                  <a:srgbClr val="193248"/>
                </a:solidFill>
                <a:latin typeface="Arial"/>
              </a:rPr>
              <a:t>, ereditaria, l’emoglobina alterata nella struttura deforma i globuli rossi e ne favorisce la distruzione precoce.</a:t>
            </a:r>
          </a:p>
        </p:txBody>
      </p:sp>
      <p:sp>
        <p:nvSpPr>
          <p:cNvPr id="28" name="TextBox 27"/>
          <p:cNvSpPr txBox="1"/>
          <p:nvPr/>
        </p:nvSpPr>
        <p:spPr>
          <a:xfrm>
            <a:off x="7635240" y="1746077"/>
            <a:ext cx="3931920" cy="256032"/>
          </a:xfrm>
          <a:prstGeom prst="rect">
            <a:avLst/>
          </a:prstGeom>
          <a:noFill/>
        </p:spPr>
        <p:txBody>
          <a:bodyPr wrap="square" lIns="0" tIns="0" rIns="0" bIns="0">
            <a:noAutofit/>
          </a:bodyPr>
          <a:lstStyle/>
          <a:p>
            <a:pPr>
              <a:lnSpc>
                <a:spcPts val="1600"/>
              </a:lnSpc>
              <a:spcBef>
                <a:spcPts val="0"/>
              </a:spcBef>
              <a:spcAft>
                <a:spcPts val="0"/>
              </a:spcAft>
            </a:pPr>
            <a:r>
              <a:rPr sz="1300" b="1" dirty="0">
                <a:solidFill>
                  <a:srgbClr val="087E8B"/>
                </a:solidFill>
                <a:latin typeface="Arial"/>
              </a:rPr>
              <a:t>CELLULE DEL SANGUE E MIDOLLO</a:t>
            </a:r>
            <a:endParaRPr lang="it-IT" sz="1300" b="1" dirty="0">
              <a:solidFill>
                <a:srgbClr val="087E8B"/>
              </a:solidFill>
              <a:latin typeface="Arial"/>
            </a:endParaRPr>
          </a:p>
        </p:txBody>
      </p:sp>
      <p:sp>
        <p:nvSpPr>
          <p:cNvPr id="29" name="TextBox 28"/>
          <p:cNvSpPr txBox="1"/>
          <p:nvPr/>
        </p:nvSpPr>
        <p:spPr>
          <a:xfrm>
            <a:off x="7635240" y="1956816"/>
            <a:ext cx="3931920" cy="365760"/>
          </a:xfrm>
          <a:prstGeom prst="rect">
            <a:avLst/>
          </a:prstGeom>
          <a:noFill/>
        </p:spPr>
        <p:txBody>
          <a:bodyPr wrap="square" lIns="0" tIns="0" rIns="0" bIns="0">
            <a:noAutofit/>
          </a:bodyPr>
          <a:lstStyle/>
          <a:p>
            <a:pPr>
              <a:lnSpc>
                <a:spcPct val="100000"/>
              </a:lnSpc>
              <a:spcBef>
                <a:spcPts val="0"/>
              </a:spcBef>
              <a:spcAft>
                <a:spcPts val="0"/>
              </a:spcAft>
            </a:pPr>
            <a:r>
              <a:rPr lang="it-IT" sz="2100" b="1">
                <a:solidFill>
                  <a:srgbClr val="123F67"/>
                </a:solidFill>
                <a:latin typeface="Arial"/>
              </a:rPr>
              <a:t>Leucemie</a:t>
            </a:r>
          </a:p>
        </p:txBody>
      </p:sp>
      <p:sp>
        <p:nvSpPr>
          <p:cNvPr id="30" name="TextBox 29"/>
          <p:cNvSpPr txBox="1"/>
          <p:nvPr/>
        </p:nvSpPr>
        <p:spPr>
          <a:xfrm>
            <a:off x="7635240" y="2386584"/>
            <a:ext cx="3931920" cy="868680"/>
          </a:xfrm>
          <a:prstGeom prst="rect">
            <a:avLst/>
          </a:prstGeom>
          <a:noFill/>
        </p:spPr>
        <p:txBody>
          <a:bodyPr wrap="square" lIns="0" tIns="0" rIns="0" bIns="0">
            <a:noAutofit/>
          </a:bodyPr>
          <a:lstStyle/>
          <a:p>
            <a:pPr>
              <a:lnSpc>
                <a:spcPts val="1900"/>
              </a:lnSpc>
              <a:spcBef>
                <a:spcPts val="0"/>
              </a:spcBef>
              <a:spcAft>
                <a:spcPts val="0"/>
              </a:spcAft>
            </a:pPr>
            <a:r>
              <a:rPr lang="it-IT" sz="1700" b="0" dirty="0">
                <a:solidFill>
                  <a:srgbClr val="193248"/>
                </a:solidFill>
                <a:latin typeface="Arial"/>
              </a:rPr>
              <a:t>Tumori delle cellule del sangue che alterano la produzione nel midollo. Possono causare anemia</a:t>
            </a:r>
            <a:r>
              <a:rPr lang="it-IT" sz="1700" b="0">
                <a:solidFill>
                  <a:srgbClr val="193248"/>
                </a:solidFill>
                <a:latin typeface="Arial"/>
              </a:rPr>
              <a:t>*</a:t>
            </a:r>
            <a:r>
              <a:rPr lang="it-IT" sz="1700" b="0" dirty="0">
                <a:solidFill>
                  <a:srgbClr val="193248"/>
                </a:solidFill>
                <a:latin typeface="Arial"/>
              </a:rPr>
              <a:t> e infezioni.</a:t>
            </a:r>
          </a:p>
        </p:txBody>
      </p:sp>
      <p:sp>
        <p:nvSpPr>
          <p:cNvPr id="31" name="TextBox 30"/>
          <p:cNvSpPr txBox="1"/>
          <p:nvPr/>
        </p:nvSpPr>
        <p:spPr>
          <a:xfrm>
            <a:off x="7650480" y="3275076"/>
            <a:ext cx="3931920" cy="256032"/>
          </a:xfrm>
          <a:prstGeom prst="rect">
            <a:avLst/>
          </a:prstGeom>
          <a:noFill/>
        </p:spPr>
        <p:txBody>
          <a:bodyPr wrap="square" lIns="0" tIns="0" rIns="0" bIns="0">
            <a:noAutofit/>
          </a:bodyPr>
          <a:lstStyle/>
          <a:p>
            <a:pPr>
              <a:lnSpc>
                <a:spcPts val="1600"/>
              </a:lnSpc>
              <a:spcBef>
                <a:spcPts val="0"/>
              </a:spcBef>
              <a:spcAft>
                <a:spcPts val="0"/>
              </a:spcAft>
            </a:pPr>
            <a:r>
              <a:rPr sz="1300" b="1" dirty="0">
                <a:solidFill>
                  <a:srgbClr val="087E8B"/>
                </a:solidFill>
                <a:latin typeface="Arial"/>
              </a:rPr>
              <a:t>PIASTRINE</a:t>
            </a:r>
            <a:endParaRPr lang="it-IT" sz="1300" b="1" dirty="0">
              <a:solidFill>
                <a:srgbClr val="087E8B"/>
              </a:solidFill>
              <a:latin typeface="Arial"/>
            </a:endParaRPr>
          </a:p>
        </p:txBody>
      </p:sp>
      <p:sp>
        <p:nvSpPr>
          <p:cNvPr id="32" name="TextBox 31"/>
          <p:cNvSpPr txBox="1"/>
          <p:nvPr/>
        </p:nvSpPr>
        <p:spPr>
          <a:xfrm>
            <a:off x="7635240" y="3483864"/>
            <a:ext cx="3931920" cy="365760"/>
          </a:xfrm>
          <a:prstGeom prst="rect">
            <a:avLst/>
          </a:prstGeom>
          <a:noFill/>
        </p:spPr>
        <p:txBody>
          <a:bodyPr wrap="square" lIns="0" tIns="0" rIns="0" bIns="0">
            <a:noAutofit/>
          </a:bodyPr>
          <a:lstStyle/>
          <a:p>
            <a:pPr>
              <a:lnSpc>
                <a:spcPct val="100000"/>
              </a:lnSpc>
              <a:spcBef>
                <a:spcPts val="0"/>
              </a:spcBef>
              <a:spcAft>
                <a:spcPts val="0"/>
              </a:spcAft>
            </a:pPr>
            <a:r>
              <a:rPr lang="it-IT" sz="2100" b="1">
                <a:solidFill>
                  <a:srgbClr val="123F67"/>
                </a:solidFill>
                <a:latin typeface="Arial"/>
              </a:rPr>
              <a:t>Piastrinopenia</a:t>
            </a:r>
          </a:p>
        </p:txBody>
      </p:sp>
      <p:sp>
        <p:nvSpPr>
          <p:cNvPr id="33" name="TextBox 32"/>
          <p:cNvSpPr txBox="1"/>
          <p:nvPr/>
        </p:nvSpPr>
        <p:spPr>
          <a:xfrm>
            <a:off x="7635240" y="3913632"/>
            <a:ext cx="3931920" cy="868680"/>
          </a:xfrm>
          <a:prstGeom prst="rect">
            <a:avLst/>
          </a:prstGeom>
          <a:noFill/>
        </p:spPr>
        <p:txBody>
          <a:bodyPr wrap="square" lIns="0" tIns="0" rIns="0" bIns="0">
            <a:noAutofit/>
          </a:bodyPr>
          <a:lstStyle/>
          <a:p>
            <a:pPr>
              <a:lnSpc>
                <a:spcPts val="1900"/>
              </a:lnSpc>
              <a:spcBef>
                <a:spcPts val="0"/>
              </a:spcBef>
              <a:spcAft>
                <a:spcPts val="0"/>
              </a:spcAft>
            </a:pPr>
            <a:r>
              <a:rPr lang="it-IT" sz="1700" b="0">
                <a:solidFill>
                  <a:srgbClr val="193248"/>
                </a:solidFill>
                <a:latin typeface="Arial"/>
              </a:rPr>
              <a:t>Piastrine inferiori alla norma. Può favorire lividi, piccole macchie cutanee (petecchie) e sanguinamenti.</a:t>
            </a:r>
          </a:p>
        </p:txBody>
      </p:sp>
      <p:sp>
        <p:nvSpPr>
          <p:cNvPr id="34" name="TextBox 33"/>
          <p:cNvSpPr txBox="1"/>
          <p:nvPr/>
        </p:nvSpPr>
        <p:spPr>
          <a:xfrm>
            <a:off x="7650480" y="4799076"/>
            <a:ext cx="3931920" cy="256032"/>
          </a:xfrm>
          <a:prstGeom prst="rect">
            <a:avLst/>
          </a:prstGeom>
          <a:noFill/>
        </p:spPr>
        <p:txBody>
          <a:bodyPr wrap="square" lIns="0" tIns="0" rIns="0" bIns="0">
            <a:noAutofit/>
          </a:bodyPr>
          <a:lstStyle/>
          <a:p>
            <a:pPr>
              <a:lnSpc>
                <a:spcPts val="1600"/>
              </a:lnSpc>
              <a:spcBef>
                <a:spcPts val="0"/>
              </a:spcBef>
              <a:spcAft>
                <a:spcPts val="0"/>
              </a:spcAft>
            </a:pPr>
            <a:r>
              <a:rPr sz="1300" b="1" dirty="0">
                <a:solidFill>
                  <a:srgbClr val="087E8B"/>
                </a:solidFill>
                <a:latin typeface="Arial"/>
              </a:rPr>
              <a:t>FATTORI DELLA COAGULAZIONE</a:t>
            </a:r>
            <a:endParaRPr lang="it-IT" sz="1300" b="1" dirty="0">
              <a:solidFill>
                <a:srgbClr val="087E8B"/>
              </a:solidFill>
              <a:latin typeface="Arial"/>
            </a:endParaRPr>
          </a:p>
        </p:txBody>
      </p:sp>
      <p:sp>
        <p:nvSpPr>
          <p:cNvPr id="35" name="TextBox 34"/>
          <p:cNvSpPr txBox="1"/>
          <p:nvPr/>
        </p:nvSpPr>
        <p:spPr>
          <a:xfrm>
            <a:off x="7635240" y="5001768"/>
            <a:ext cx="3931920" cy="365760"/>
          </a:xfrm>
          <a:prstGeom prst="rect">
            <a:avLst/>
          </a:prstGeom>
          <a:noFill/>
        </p:spPr>
        <p:txBody>
          <a:bodyPr wrap="square" lIns="0" tIns="0" rIns="0" bIns="0">
            <a:noAutofit/>
          </a:bodyPr>
          <a:lstStyle/>
          <a:p>
            <a:pPr>
              <a:lnSpc>
                <a:spcPct val="100000"/>
              </a:lnSpc>
              <a:spcBef>
                <a:spcPts val="0"/>
              </a:spcBef>
              <a:spcAft>
                <a:spcPts val="0"/>
              </a:spcAft>
            </a:pPr>
            <a:r>
              <a:rPr lang="it-IT" sz="2100" b="1">
                <a:solidFill>
                  <a:srgbClr val="123F67"/>
                </a:solidFill>
                <a:latin typeface="Arial"/>
              </a:rPr>
              <a:t>Disturbi emorragici</a:t>
            </a:r>
          </a:p>
        </p:txBody>
      </p:sp>
      <p:sp>
        <p:nvSpPr>
          <p:cNvPr id="36" name="TextBox 35"/>
          <p:cNvSpPr txBox="1"/>
          <p:nvPr/>
        </p:nvSpPr>
        <p:spPr>
          <a:xfrm>
            <a:off x="7635240" y="5431536"/>
            <a:ext cx="3931920" cy="868680"/>
          </a:xfrm>
          <a:prstGeom prst="rect">
            <a:avLst/>
          </a:prstGeom>
          <a:noFill/>
        </p:spPr>
        <p:txBody>
          <a:bodyPr wrap="square" lIns="0" tIns="0" rIns="0" bIns="0">
            <a:noAutofit/>
          </a:bodyPr>
          <a:lstStyle/>
          <a:p>
            <a:pPr>
              <a:lnSpc>
                <a:spcPts val="1900"/>
              </a:lnSpc>
              <a:spcBef>
                <a:spcPts val="0"/>
              </a:spcBef>
              <a:spcAft>
                <a:spcPts val="0"/>
              </a:spcAft>
            </a:pPr>
            <a:r>
              <a:rPr lang="it-IT" sz="1700" b="0" dirty="0">
                <a:solidFill>
                  <a:srgbClr val="193248"/>
                </a:solidFill>
                <a:latin typeface="Arial"/>
              </a:rPr>
              <a:t>Difetti della coagulazione (es. emofilia A) causano sanguinamenti prolungati e possibile anemia</a:t>
            </a:r>
            <a:r>
              <a:rPr lang="it-IT" sz="1700" b="0">
                <a:solidFill>
                  <a:srgbClr val="193248"/>
                </a:solidFill>
                <a:latin typeface="Arial"/>
              </a:rPr>
              <a:t>*</a:t>
            </a:r>
            <a:r>
              <a:rPr lang="it-IT" sz="1700" b="0" dirty="0">
                <a:solidFill>
                  <a:srgbClr val="193248"/>
                </a:solidFill>
                <a:latin typeface="Arial"/>
              </a:rPr>
              <a:t> cronica.</a:t>
            </a:r>
            <a:endParaRPr lang="it-IT" sz="1700" b="0">
              <a:solidFill>
                <a:srgbClr val="193248"/>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0000000C-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C-0002-4000-8000-000000000000}"/>
              </a:ext>
            </a:extLst>
          </p:cNvPr>
          <p:cNvSpPr>
            <a:spLocks noGrp="1"/>
          </p:cNvSpPr>
          <p:nvPr/>
        </p:nvSpPr>
        <p:spPr>
          <a:xfrm>
            <a:off x="609600" y="22860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3 DI 7</a:t>
            </a:r>
          </a:p>
        </p:txBody>
      </p:sp>
      <p:sp>
        <p:nvSpPr>
          <p:cNvPr id="3" name="Rettangolo 2">
            <a:extLst>
              <a:ext uri="{FF2B5EF4-FFF2-40B4-BE49-F238E27FC236}">
                <a16:creationId xmlns:a16="http://schemas.microsoft.com/office/drawing/2014/main" id="{0000000C-0003-4000-8000-000000000000}"/>
              </a:ext>
            </a:extLst>
          </p:cNvPr>
          <p:cNvSpPr>
            <a:spLocks noGrp="1"/>
          </p:cNvSpPr>
          <p:nvPr/>
        </p:nvSpPr>
        <p:spPr>
          <a:xfrm>
            <a:off x="609600" y="581025"/>
            <a:ext cx="10972800" cy="514350"/>
          </a:xfrm>
          <a:prstGeom prst="rect">
            <a:avLst/>
          </a:prstGeom>
          <a:noFill/>
          <a:ln w="0">
            <a:noFill/>
          </a:ln>
        </p:spPr>
        <p:txBody>
          <a:bodyPr>
            <a:noAutofit/>
          </a:bodyPr>
          <a:lstStyle/>
          <a:p>
            <a:pPr>
              <a:defRPr sz="3225" b="1">
                <a:solidFill>
                  <a:srgbClr val="123F67"/>
                </a:solidFill>
                <a:latin typeface="Arial"/>
                <a:ea typeface="Arial"/>
                <a:cs typeface="Arial"/>
              </a:defRPr>
            </a:pPr>
            <a:r>
              <a:rPr sz="3225" b="1" dirty="0" err="1">
                <a:solidFill>
                  <a:srgbClr val="123F67"/>
                </a:solidFill>
                <a:latin typeface="Arial"/>
                <a:ea typeface="Arial"/>
                <a:cs typeface="Arial"/>
              </a:rPr>
              <a:t>Apparato</a:t>
            </a:r>
            <a:r>
              <a:rPr lang="it-IT" sz="3225" b="1" err="1">
                <a:solidFill>
                  <a:srgbClr val="123F67"/>
                </a:solidFill>
                <a:latin typeface="Arial"/>
                <a:ea typeface="Arial"/>
                <a:cs typeface="Arial"/>
              </a:rPr>
              <a:t> </a:t>
            </a:r>
            <a:r>
              <a:rPr sz="3225" b="1" dirty="0" err="1">
                <a:solidFill>
                  <a:srgbClr val="123F67"/>
                </a:solidFill>
                <a:latin typeface="Arial"/>
                <a:ea typeface="Arial"/>
                <a:cs typeface="Arial"/>
              </a:rPr>
              <a:t>digerente</a:t>
            </a:r>
            <a:endParaRPr sz="3225" b="1" dirty="0">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C-0004-4000-8000-000000000000}"/>
              </a:ext>
            </a:extLst>
          </p:cNvPr>
          <p:cNvSpPr>
            <a:spLocks noGrp="1"/>
          </p:cNvSpPr>
          <p:nvPr/>
        </p:nvSpPr>
        <p:spPr>
          <a:xfrm>
            <a:off x="609600" y="12287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C-0005-4000-8000-000000000000}"/>
              </a:ext>
            </a:extLst>
          </p:cNvPr>
          <p:cNvSpPr>
            <a:spLocks noGrp="1"/>
          </p:cNvSpPr>
          <p:nvPr/>
        </p:nvSpPr>
        <p:spPr>
          <a:xfrm>
            <a:off x="704088" y="6602730"/>
            <a:ext cx="9906000" cy="190500"/>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C-0006-4000-8000-000000000000}"/>
              </a:ext>
            </a:extLst>
          </p:cNvPr>
          <p:cNvSpPr>
            <a:spLocks noGrp="1"/>
          </p:cNvSpPr>
          <p:nvPr/>
        </p:nvSpPr>
        <p:spPr>
          <a:xfrm>
            <a:off x="11049000" y="6583680"/>
            <a:ext cx="523875" cy="209550"/>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40</a:t>
            </a:r>
            <a:endParaRPr sz="1350" b="1">
              <a:solidFill>
                <a:srgbClr val="123F67"/>
              </a:solidFill>
              <a:latin typeface="Arial"/>
              <a:ea typeface="Arial"/>
              <a:cs typeface="Arial"/>
            </a:endParaRPr>
          </a:p>
        </p:txBody>
      </p:sp>
      <p:sp>
        <p:nvSpPr>
          <p:cNvPr id="14" name="Funzione"/>
          <p:cNvSpPr txBox="1"/>
          <p:nvPr/>
        </p:nvSpPr>
        <p:spPr>
          <a:xfrm>
            <a:off x="704088" y="1389888"/>
            <a:ext cx="10863072" cy="320040"/>
          </a:xfrm>
          <a:prstGeom prst="rect">
            <a:avLst/>
          </a:prstGeom>
          <a:noFill/>
        </p:spPr>
        <p:txBody>
          <a:bodyPr wrap="square" lIns="0" tIns="0" rIns="0" bIns="0">
            <a:noAutofit/>
          </a:bodyPr>
          <a:lstStyle/>
          <a:p>
            <a:pPr>
              <a:lnSpc>
                <a:spcPts val="2000"/>
              </a:lnSpc>
              <a:spcAft>
                <a:spcPts val="0"/>
              </a:spcAft>
            </a:pPr>
            <a:r>
              <a:rPr lang="it-IT" sz="1800" b="0">
                <a:solidFill>
                  <a:srgbClr val="087E8B"/>
                </a:solidFill>
                <a:latin typeface="Arial"/>
              </a:rPr>
              <a:t>La digestione trasforma gli alimenti in nutrienti utili per energia, crescita e riparazione dei tessuti.</a:t>
            </a:r>
          </a:p>
        </p:txBody>
      </p:sp>
      <p:pic>
        <p:nvPicPr>
          <p:cNvPr id="15" name="Picture 14" descr="reference.png"/>
          <p:cNvPicPr>
            <a:picLocks noChangeAspect="1"/>
          </p:cNvPicPr>
          <p:nvPr/>
        </p:nvPicPr>
        <p:blipFill>
          <a:blip r:embed="rId3"/>
          <a:srcRect l="9291" t="16211" r="9046" b="8008"/>
          <a:stretch>
            <a:fillRect/>
          </a:stretch>
        </p:blipFill>
        <p:spPr>
          <a:xfrm>
            <a:off x="609600" y="1719072"/>
            <a:ext cx="3219237" cy="3739702"/>
          </a:xfrm>
          <a:prstGeom prst="rect">
            <a:avLst/>
          </a:prstGeom>
        </p:spPr>
      </p:pic>
      <p:sp>
        <p:nvSpPr>
          <p:cNvPr id="16" name="Tappa 1"/>
          <p:cNvSpPr txBox="1"/>
          <p:nvPr/>
        </p:nvSpPr>
        <p:spPr>
          <a:xfrm>
            <a:off x="3986784" y="1810512"/>
            <a:ext cx="7589520" cy="310896"/>
          </a:xfrm>
          <a:prstGeom prst="rect">
            <a:avLst/>
          </a:prstGeom>
          <a:noFill/>
        </p:spPr>
        <p:txBody>
          <a:bodyPr wrap="square" lIns="0" tIns="0" rIns="0" bIns="0">
            <a:noAutofit/>
          </a:bodyPr>
          <a:lstStyle/>
          <a:p>
            <a:pPr>
              <a:lnSpc>
                <a:spcPts val="2200"/>
              </a:lnSpc>
              <a:spcAft>
                <a:spcPts val="0"/>
              </a:spcAft>
            </a:pPr>
            <a:r>
              <a:rPr lang="it-IT" sz="2000" b="1">
                <a:solidFill>
                  <a:srgbClr val="087E8B"/>
                </a:solidFill>
                <a:latin typeface="Arial"/>
              </a:rPr>
              <a:t>1. Bocca e faringe</a:t>
            </a:r>
          </a:p>
        </p:txBody>
      </p:sp>
      <p:sp>
        <p:nvSpPr>
          <p:cNvPr id="17" name="Funzione Bocca e faringe"/>
          <p:cNvSpPr txBox="1"/>
          <p:nvPr/>
        </p:nvSpPr>
        <p:spPr>
          <a:xfrm>
            <a:off x="4261104" y="2167128"/>
            <a:ext cx="7315200" cy="786384"/>
          </a:xfrm>
          <a:prstGeom prst="rect">
            <a:avLst/>
          </a:prstGeom>
          <a:noFill/>
        </p:spPr>
        <p:txBody>
          <a:bodyPr wrap="square" lIns="0" tIns="0" rIns="0" bIns="0">
            <a:noAutofit/>
          </a:bodyPr>
          <a:lstStyle/>
          <a:p>
            <a:pPr>
              <a:lnSpc>
                <a:spcPts val="2000"/>
              </a:lnSpc>
              <a:spcAft>
                <a:spcPts val="0"/>
              </a:spcAft>
            </a:pPr>
            <a:r>
              <a:rPr sz="1800" b="0">
                <a:solidFill>
                  <a:srgbClr val="193248"/>
                </a:solidFill>
                <a:latin typeface="Arial"/>
              </a:rPr>
              <a:t>Denti, lingua e saliva formano il bolo. La faringe lo guida nell’esofago. L’epiglottide protegge le vie respiratorie durante la deglutizione.</a:t>
            </a:r>
          </a:p>
        </p:txBody>
      </p:sp>
      <p:sp>
        <p:nvSpPr>
          <p:cNvPr id="18" name="Tappa 2"/>
          <p:cNvSpPr txBox="1"/>
          <p:nvPr/>
        </p:nvSpPr>
        <p:spPr>
          <a:xfrm>
            <a:off x="3986784" y="2706624"/>
            <a:ext cx="7589520" cy="310896"/>
          </a:xfrm>
          <a:prstGeom prst="rect">
            <a:avLst/>
          </a:prstGeom>
          <a:noFill/>
        </p:spPr>
        <p:txBody>
          <a:bodyPr wrap="square" lIns="0" tIns="0" rIns="0" bIns="0">
            <a:noAutofit/>
          </a:bodyPr>
          <a:lstStyle/>
          <a:p>
            <a:pPr>
              <a:lnSpc>
                <a:spcPts val="2200"/>
              </a:lnSpc>
              <a:spcAft>
                <a:spcPts val="0"/>
              </a:spcAft>
            </a:pPr>
            <a:r>
              <a:rPr lang="it-IT" sz="2000" b="1">
                <a:solidFill>
                  <a:srgbClr val="087E8B"/>
                </a:solidFill>
                <a:latin typeface="Arial"/>
              </a:rPr>
              <a:t>2. Esofago e stomaco</a:t>
            </a:r>
          </a:p>
        </p:txBody>
      </p:sp>
      <p:sp>
        <p:nvSpPr>
          <p:cNvPr id="19" name="Funzione Esofago e stomaco"/>
          <p:cNvSpPr txBox="1"/>
          <p:nvPr/>
        </p:nvSpPr>
        <p:spPr>
          <a:xfrm>
            <a:off x="4261104" y="3063240"/>
            <a:ext cx="7315200" cy="786384"/>
          </a:xfrm>
          <a:prstGeom prst="rect">
            <a:avLst/>
          </a:prstGeom>
          <a:noFill/>
        </p:spPr>
        <p:txBody>
          <a:bodyPr wrap="square" lIns="0" tIns="0" rIns="0" bIns="0">
            <a:noAutofit/>
          </a:bodyPr>
          <a:lstStyle/>
          <a:p>
            <a:pPr>
              <a:lnSpc>
                <a:spcPts val="2000"/>
              </a:lnSpc>
              <a:spcAft>
                <a:spcPts val="0"/>
              </a:spcAft>
            </a:pPr>
            <a:r>
              <a:rPr sz="1800" b="0">
                <a:solidFill>
                  <a:srgbClr val="193248"/>
                </a:solidFill>
                <a:latin typeface="Arial"/>
              </a:rPr>
              <a:t>L’esofago trasporta il bolo allo stomaco, che lo mescola con i succhi gastrici acidi e avvia la digestione delle proteine.</a:t>
            </a:r>
          </a:p>
        </p:txBody>
      </p:sp>
      <p:sp>
        <p:nvSpPr>
          <p:cNvPr id="20" name="Tappa 3"/>
          <p:cNvSpPr txBox="1"/>
          <p:nvPr/>
        </p:nvSpPr>
        <p:spPr>
          <a:xfrm>
            <a:off x="3986784" y="3694176"/>
            <a:ext cx="7589520" cy="310896"/>
          </a:xfrm>
          <a:prstGeom prst="rect">
            <a:avLst/>
          </a:prstGeom>
          <a:noFill/>
        </p:spPr>
        <p:txBody>
          <a:bodyPr wrap="square" lIns="0" tIns="0" rIns="0" bIns="0">
            <a:noAutofit/>
          </a:bodyPr>
          <a:lstStyle/>
          <a:p>
            <a:pPr>
              <a:lnSpc>
                <a:spcPts val="2200"/>
              </a:lnSpc>
              <a:spcAft>
                <a:spcPts val="0"/>
              </a:spcAft>
            </a:pPr>
            <a:r>
              <a:rPr lang="it-IT" sz="2000" b="1">
                <a:solidFill>
                  <a:srgbClr val="087E8B"/>
                </a:solidFill>
                <a:latin typeface="Arial"/>
              </a:rPr>
              <a:t>3. Intestino tenue</a:t>
            </a:r>
          </a:p>
        </p:txBody>
      </p:sp>
      <p:sp>
        <p:nvSpPr>
          <p:cNvPr id="21" name="Funzione Intestino tenue"/>
          <p:cNvSpPr txBox="1"/>
          <p:nvPr/>
        </p:nvSpPr>
        <p:spPr>
          <a:xfrm>
            <a:off x="4261104" y="4050792"/>
            <a:ext cx="7315200" cy="786384"/>
          </a:xfrm>
          <a:prstGeom prst="rect">
            <a:avLst/>
          </a:prstGeom>
          <a:noFill/>
        </p:spPr>
        <p:txBody>
          <a:bodyPr wrap="square" lIns="0" tIns="0" rIns="0" bIns="0">
            <a:noAutofit/>
          </a:bodyPr>
          <a:lstStyle/>
          <a:p>
            <a:pPr>
              <a:lnSpc>
                <a:spcPts val="2000"/>
              </a:lnSpc>
              <a:spcAft>
                <a:spcPts val="0"/>
              </a:spcAft>
            </a:pPr>
            <a:r>
              <a:rPr lang="it-IT" sz="1800" b="0">
                <a:solidFill>
                  <a:srgbClr val="193248"/>
                </a:solidFill>
                <a:latin typeface="Arial"/>
              </a:rPr>
              <a:t>Duodeno, digiuno e ileo completano la digestione e assorbono la maggior parte dei nutrienti.</a:t>
            </a:r>
          </a:p>
        </p:txBody>
      </p:sp>
      <p:sp>
        <p:nvSpPr>
          <p:cNvPr id="22" name="Tappa 4"/>
          <p:cNvSpPr txBox="1"/>
          <p:nvPr/>
        </p:nvSpPr>
        <p:spPr>
          <a:xfrm>
            <a:off x="3986784" y="4636008"/>
            <a:ext cx="7589520" cy="310896"/>
          </a:xfrm>
          <a:prstGeom prst="rect">
            <a:avLst/>
          </a:prstGeom>
          <a:noFill/>
        </p:spPr>
        <p:txBody>
          <a:bodyPr wrap="square" lIns="0" tIns="0" rIns="0" bIns="0">
            <a:noAutofit/>
          </a:bodyPr>
          <a:lstStyle/>
          <a:p>
            <a:pPr>
              <a:lnSpc>
                <a:spcPts val="2200"/>
              </a:lnSpc>
              <a:spcAft>
                <a:spcPts val="0"/>
              </a:spcAft>
            </a:pPr>
            <a:r>
              <a:rPr lang="it-IT" sz="2000" b="1">
                <a:solidFill>
                  <a:srgbClr val="087E8B"/>
                </a:solidFill>
                <a:latin typeface="Arial"/>
              </a:rPr>
              <a:t>4. Intestino crasso, retto e ano</a:t>
            </a:r>
          </a:p>
        </p:txBody>
      </p:sp>
      <p:sp>
        <p:nvSpPr>
          <p:cNvPr id="23" name="Funzione Intestino crasso, retto e ano"/>
          <p:cNvSpPr txBox="1"/>
          <p:nvPr/>
        </p:nvSpPr>
        <p:spPr>
          <a:xfrm>
            <a:off x="4261104" y="4992624"/>
            <a:ext cx="7315200" cy="786384"/>
          </a:xfrm>
          <a:prstGeom prst="rect">
            <a:avLst/>
          </a:prstGeom>
          <a:noFill/>
        </p:spPr>
        <p:txBody>
          <a:bodyPr wrap="square" lIns="0" tIns="0" rIns="0" bIns="0">
            <a:noAutofit/>
          </a:bodyPr>
          <a:lstStyle/>
          <a:p>
            <a:pPr>
              <a:lnSpc>
                <a:spcPts val="2000"/>
              </a:lnSpc>
              <a:spcAft>
                <a:spcPts val="0"/>
              </a:spcAft>
            </a:pPr>
            <a:r>
              <a:rPr lang="it-IT" sz="1800" b="0">
                <a:solidFill>
                  <a:srgbClr val="193248"/>
                </a:solidFill>
                <a:latin typeface="Arial"/>
              </a:rPr>
              <a:t>Il colon comprende ascendente, trasverso, discendente e sigma. Assorbe acqua e forma le feci. Il retto le raccoglie, l’ano ne regola l’espulsione.</a:t>
            </a:r>
          </a:p>
        </p:txBody>
      </p:sp>
      <p:sp>
        <p:nvSpPr>
          <p:cNvPr id="24" name="Peritoneo"/>
          <p:cNvSpPr txBox="1"/>
          <p:nvPr/>
        </p:nvSpPr>
        <p:spPr>
          <a:xfrm>
            <a:off x="4261104" y="6208776"/>
            <a:ext cx="7315200" cy="310896"/>
          </a:xfrm>
          <a:prstGeom prst="rect">
            <a:avLst/>
          </a:prstGeom>
          <a:noFill/>
        </p:spPr>
        <p:txBody>
          <a:bodyPr wrap="square" lIns="0" tIns="0" rIns="0" bIns="0">
            <a:noAutofit/>
          </a:bodyPr>
          <a:lstStyle/>
          <a:p>
            <a:pPr>
              <a:lnSpc>
                <a:spcPts val="2000"/>
              </a:lnSpc>
              <a:spcAft>
                <a:spcPts val="0"/>
              </a:spcAft>
            </a:pPr>
            <a:r>
              <a:rPr lang="it-IT" sz="1800" b="0" dirty="0">
                <a:solidFill>
                  <a:srgbClr val="193248"/>
                </a:solidFill>
                <a:latin typeface="Arial"/>
              </a:rPr>
              <a:t>Riveste, protegge e sostiene i visceri.</a:t>
            </a:r>
          </a:p>
        </p:txBody>
      </p:sp>
      <p:sp>
        <p:nvSpPr>
          <p:cNvPr id="25" name="Organi annessi"/>
          <p:cNvSpPr txBox="1"/>
          <p:nvPr/>
        </p:nvSpPr>
        <p:spPr>
          <a:xfrm>
            <a:off x="609600" y="5564408"/>
            <a:ext cx="2240280" cy="310896"/>
          </a:xfrm>
          <a:prstGeom prst="rect">
            <a:avLst/>
          </a:prstGeom>
          <a:noFill/>
        </p:spPr>
        <p:txBody>
          <a:bodyPr wrap="square" lIns="0" tIns="0" rIns="0" bIns="0">
            <a:noAutofit/>
          </a:bodyPr>
          <a:lstStyle/>
          <a:p>
            <a:pPr>
              <a:lnSpc>
                <a:spcPts val="2200"/>
              </a:lnSpc>
              <a:spcAft>
                <a:spcPts val="0"/>
              </a:spcAft>
            </a:pPr>
            <a:r>
              <a:rPr lang="it-IT" sz="1700" b="1" dirty="0">
                <a:solidFill>
                  <a:srgbClr val="087E8B"/>
                </a:solidFill>
                <a:latin typeface="Arial"/>
              </a:rPr>
              <a:t>Organi annessi</a:t>
            </a:r>
          </a:p>
        </p:txBody>
      </p:sp>
      <p:sp>
        <p:nvSpPr>
          <p:cNvPr id="26" name="Organo Fegato"/>
          <p:cNvSpPr txBox="1"/>
          <p:nvPr/>
        </p:nvSpPr>
        <p:spPr>
          <a:xfrm>
            <a:off x="632460" y="5861304"/>
            <a:ext cx="2194560" cy="658368"/>
          </a:xfrm>
          <a:prstGeom prst="rect">
            <a:avLst/>
          </a:prstGeom>
          <a:noFill/>
        </p:spPr>
        <p:txBody>
          <a:bodyPr wrap="square" lIns="0" tIns="0" rIns="0" bIns="0">
            <a:noAutofit/>
          </a:bodyPr>
          <a:lstStyle/>
          <a:p>
            <a:pPr marL="152400" indent="-114300">
              <a:lnSpc>
                <a:spcPts val="1700"/>
              </a:lnSpc>
              <a:spcBef>
                <a:spcPts val="0"/>
              </a:spcBef>
              <a:spcAft>
                <a:spcPts val="0"/>
              </a:spcAft>
              <a:buChar char="•"/>
            </a:pPr>
            <a:r>
              <a:rPr lang="it-IT" sz="1550" b="0" dirty="0">
                <a:solidFill>
                  <a:srgbClr val="193248"/>
                </a:solidFill>
                <a:latin typeface="Arial"/>
              </a:rPr>
              <a:t>Fegato</a:t>
            </a:r>
            <a:endParaRPr lang="it-IT" sz="1700" b="1" dirty="0">
              <a:solidFill>
                <a:srgbClr val="193248"/>
              </a:solidFill>
              <a:latin typeface="Arial"/>
            </a:endParaRPr>
          </a:p>
          <a:p>
            <a:pPr marL="152400" indent="-114300">
              <a:lnSpc>
                <a:spcPts val="1700"/>
              </a:lnSpc>
              <a:spcBef>
                <a:spcPts val="0"/>
              </a:spcBef>
              <a:spcAft>
                <a:spcPts val="0"/>
              </a:spcAft>
              <a:buChar char="•"/>
            </a:pPr>
            <a:r>
              <a:rPr lang="it-IT" sz="1550" b="0" dirty="0">
                <a:solidFill>
                  <a:srgbClr val="193248"/>
                </a:solidFill>
                <a:latin typeface="Arial"/>
              </a:rPr>
              <a:t>Colecisti</a:t>
            </a:r>
            <a:endParaRPr lang="it-IT" sz="1700" b="1" dirty="0">
              <a:solidFill>
                <a:srgbClr val="193248"/>
              </a:solidFill>
              <a:latin typeface="Arial"/>
            </a:endParaRPr>
          </a:p>
          <a:p>
            <a:pPr marL="152400" indent="-114300">
              <a:lnSpc>
                <a:spcPts val="1700"/>
              </a:lnSpc>
              <a:spcBef>
                <a:spcPts val="0"/>
              </a:spcBef>
              <a:spcAft>
                <a:spcPts val="0"/>
              </a:spcAft>
              <a:buChar char="•"/>
            </a:pPr>
            <a:r>
              <a:rPr lang="it-IT" sz="1550" b="0" dirty="0">
                <a:solidFill>
                  <a:srgbClr val="193248"/>
                </a:solidFill>
                <a:latin typeface="Arial"/>
              </a:rPr>
              <a:t>Pancreas</a:t>
            </a:r>
            <a:endParaRPr lang="it-IT" sz="1700" b="1" dirty="0">
              <a:solidFill>
                <a:srgbClr val="193248"/>
              </a:solidFill>
              <a:latin typeface="Arial"/>
            </a:endParaRPr>
          </a:p>
        </p:txBody>
      </p:sp>
      <p:sp>
        <p:nvSpPr>
          <p:cNvPr id="27" name="Titolo Peritoneo"/>
          <p:cNvSpPr txBox="1"/>
          <p:nvPr/>
        </p:nvSpPr>
        <p:spPr>
          <a:xfrm>
            <a:off x="3986784" y="5852160"/>
            <a:ext cx="7589520" cy="310896"/>
          </a:xfrm>
          <a:prstGeom prst="rect">
            <a:avLst/>
          </a:prstGeom>
          <a:noFill/>
        </p:spPr>
        <p:txBody>
          <a:bodyPr wrap="square" lIns="0" tIns="0" rIns="0" bIns="0">
            <a:noAutofit/>
          </a:bodyPr>
          <a:lstStyle/>
          <a:p>
            <a:pPr>
              <a:lnSpc>
                <a:spcPts val="2200"/>
              </a:lnSpc>
              <a:spcAft>
                <a:spcPts val="0"/>
              </a:spcAft>
            </a:pPr>
            <a:r>
              <a:rPr lang="it-IT" sz="2000" b="1">
                <a:solidFill>
                  <a:srgbClr val="087E8B"/>
                </a:solidFill>
                <a:latin typeface="Arial"/>
              </a:rPr>
              <a:t>Peritoneo</a:t>
            </a:r>
          </a:p>
        </p:txBody>
      </p:sp>
    </p:spTree>
    <p:extLst>
      <p:ext uri="{BB962C8B-B14F-4D97-AF65-F5344CB8AC3E}">
        <p14:creationId xmlns:p14="http://schemas.microsoft.com/office/powerpoint/2010/main" val="12000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DIGERENTE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dirty="0" err="1">
                <a:solidFill>
                  <a:srgbClr val="123F67"/>
                </a:solidFill>
                <a:latin typeface="Arial"/>
                <a:ea typeface="Arial"/>
                <a:cs typeface="Arial"/>
              </a:rPr>
              <a:t>Fegato</a:t>
            </a:r>
            <a:r>
              <a:rPr sz="3000" b="1" dirty="0">
                <a:solidFill>
                  <a:srgbClr val="123F67"/>
                </a:solidFill>
                <a:latin typeface="Arial"/>
                <a:ea typeface="Arial"/>
                <a:cs typeface="Arial"/>
              </a:rPr>
              <a:t> e </a:t>
            </a:r>
            <a:r>
              <a:rPr lang="it-IT" sz="3000" b="1" dirty="0">
                <a:solidFill>
                  <a:srgbClr val="123F67"/>
                </a:solidFill>
                <a:latin typeface="Arial"/>
                <a:ea typeface="Arial"/>
                <a:cs typeface="Arial"/>
              </a:rPr>
              <a:t>C</a:t>
            </a:r>
            <a:r>
              <a:rPr sz="3000" b="1" dirty="0" err="1">
                <a:solidFill>
                  <a:srgbClr val="123F67"/>
                </a:solidFill>
                <a:latin typeface="Arial"/>
                <a:ea typeface="Arial"/>
                <a:cs typeface="Arial"/>
              </a:rPr>
              <a:t>olecisti</a:t>
            </a:r>
            <a:endParaRPr sz="3225" b="1" dirty="0">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41</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Metabolismo dei nutrienti e produzione, deposito e rilascio della bile</a:t>
            </a:r>
            <a:endParaRPr sz="1900" b="0">
              <a:solidFill>
                <a:srgbClr val="087E8B"/>
              </a:solidFill>
              <a:latin typeface="Arial"/>
            </a:endParaRPr>
          </a:p>
        </p:txBody>
      </p:sp>
      <p:pic>
        <p:nvPicPr>
          <p:cNvPr id="8" name="Picture 7" descr="Illustrazione anatomica schematica generata con IA: Fegato e colecisti"/>
          <p:cNvPicPr>
            <a:picLocks noChangeAspect="1"/>
          </p:cNvPicPr>
          <p:nvPr/>
        </p:nvPicPr>
        <p:blipFill>
          <a:blip r:embed="rId3"/>
          <a:stretch>
            <a:fillRect/>
          </a:stretch>
        </p:blipFill>
        <p:spPr>
          <a:xfrm>
            <a:off x="772667" y="1920240"/>
            <a:ext cx="3611880" cy="3611880"/>
          </a:xfrm>
          <a:prstGeom prst="rect">
            <a:avLst/>
          </a:prstGeom>
        </p:spPr>
      </p:pic>
      <p:sp>
        <p:nvSpPr>
          <p:cNvPr id="9" name="Organ profile 9"/>
          <p:cNvSpPr txBox="1"/>
          <p:nvPr/>
        </p:nvSpPr>
        <p:spPr>
          <a:xfrm>
            <a:off x="667512" y="5669280"/>
            <a:ext cx="3886200" cy="749808"/>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Il fegato è sotto il diaframma, a destra.</a:t>
            </a:r>
          </a:p>
          <a:p>
            <a:pPr algn="ctr">
              <a:lnSpc>
                <a:spcPct val="105000"/>
              </a:lnSpc>
              <a:spcBef>
                <a:spcPts val="0"/>
              </a:spcBef>
              <a:spcAft>
                <a:spcPts val="0"/>
              </a:spcAft>
            </a:pPr>
            <a:r>
              <a:rPr sz="1650" b="0">
                <a:solidFill>
                  <a:srgbClr val="087E8B"/>
                </a:solidFill>
                <a:latin typeface="Arial"/>
              </a:rPr>
              <a:t>La colecisti si trova sulla sua faccia inferiore.</a:t>
            </a:r>
          </a:p>
        </p:txBody>
      </p:sp>
      <p:sp>
        <p:nvSpPr>
          <p:cNvPr id="10" name="Organ profile 10"/>
          <p:cNvSpPr txBox="1"/>
          <p:nvPr/>
        </p:nvSpPr>
        <p:spPr>
          <a:xfrm>
            <a:off x="4800600" y="196596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Fegato</a:t>
            </a:r>
          </a:p>
        </p:txBody>
      </p:sp>
      <p:sp>
        <p:nvSpPr>
          <p:cNvPr id="11" name="Organ profile 11"/>
          <p:cNvSpPr txBox="1"/>
          <p:nvPr/>
        </p:nvSpPr>
        <p:spPr>
          <a:xfrm>
            <a:off x="4990795" y="2798064"/>
            <a:ext cx="6558076" cy="804672"/>
          </a:xfrm>
          <a:prstGeom prst="rect">
            <a:avLst/>
          </a:prstGeom>
          <a:noFill/>
        </p:spPr>
        <p:txBody>
          <a:bodyPr wrap="square" lIns="0" tIns="0" rIns="0" bIns="0" anchor="t">
            <a:noAutofit/>
          </a:bodyPr>
          <a:lstStyle/>
          <a:p>
            <a:pPr algn="l">
              <a:lnSpc>
                <a:spcPct val="100000"/>
              </a:lnSpc>
              <a:spcBef>
                <a:spcPts val="0"/>
              </a:spcBef>
              <a:spcAft>
                <a:spcPts val="0"/>
              </a:spcAft>
            </a:pPr>
            <a:r>
              <a:rPr sz="1850" b="0">
                <a:solidFill>
                  <a:srgbClr val="193248"/>
                </a:solidFill>
                <a:latin typeface="Arial"/>
              </a:rPr>
              <a:t>Elabora i nutrienti assorbiti dall’intestino e conserva glucosio sotto forma di glicogeno. Trasforma farmaci, alcol e altre sostanze, facilitandone l’eliminazione.</a:t>
            </a:r>
            <a:endParaRPr lang="it-IT" sz="1850" b="0">
              <a:solidFill>
                <a:srgbClr val="193248"/>
              </a:solidFill>
              <a:latin typeface="Arial"/>
            </a:endParaRPr>
          </a:p>
        </p:txBody>
      </p:sp>
      <p:sp>
        <p:nvSpPr>
          <p:cNvPr id="12" name="Organ profile 12"/>
          <p:cNvSpPr txBox="1"/>
          <p:nvPr/>
        </p:nvSpPr>
        <p:spPr>
          <a:xfrm>
            <a:off x="4800600" y="3721608"/>
            <a:ext cx="6748272" cy="329184"/>
          </a:xfrm>
          <a:prstGeom prst="rect">
            <a:avLst/>
          </a:prstGeom>
          <a:noFill/>
        </p:spPr>
        <p:txBody>
          <a:bodyPr wrap="square" lIns="0" tIns="0" rIns="0" bIns="0" anchor="t">
            <a:noAutofit/>
          </a:bodyPr>
          <a:lstStyle/>
          <a:p>
            <a:pPr marL="190500" indent="-139700" algn="l">
              <a:lnSpc>
                <a:spcPct val="105000"/>
              </a:lnSpc>
              <a:spcBef>
                <a:spcPts val="0"/>
              </a:spcBef>
              <a:spcAft>
                <a:spcPts val="0"/>
              </a:spcAft>
              <a:buChar char="•"/>
            </a:pPr>
            <a:r>
              <a:rPr sz="2000" b="1" dirty="0" err="1">
                <a:solidFill>
                  <a:srgbClr val="123F67"/>
                </a:solidFill>
                <a:latin typeface="Arial"/>
              </a:rPr>
              <a:t>Produzione</a:t>
            </a:r>
            <a:r>
              <a:rPr sz="2000" b="1" dirty="0">
                <a:solidFill>
                  <a:srgbClr val="123F67"/>
                </a:solidFill>
                <a:latin typeface="Arial"/>
              </a:rPr>
              <a:t> di </a:t>
            </a:r>
            <a:r>
              <a:rPr sz="2000" b="1" dirty="0" err="1">
                <a:solidFill>
                  <a:srgbClr val="123F67"/>
                </a:solidFill>
                <a:latin typeface="Arial"/>
              </a:rPr>
              <a:t>proteine</a:t>
            </a:r>
            <a:r>
              <a:rPr sz="2000" b="1" dirty="0">
                <a:solidFill>
                  <a:srgbClr val="123F67"/>
                </a:solidFill>
                <a:latin typeface="Arial"/>
              </a:rPr>
              <a:t> e bile</a:t>
            </a:r>
            <a:endParaRPr lang="it-IT" sz="2000" b="1" dirty="0">
              <a:solidFill>
                <a:srgbClr val="123F67"/>
              </a:solidFill>
              <a:latin typeface="Arial"/>
            </a:endParaRPr>
          </a:p>
        </p:txBody>
      </p:sp>
      <p:sp>
        <p:nvSpPr>
          <p:cNvPr id="13" name="Organ profile 13"/>
          <p:cNvSpPr txBox="1"/>
          <p:nvPr/>
        </p:nvSpPr>
        <p:spPr>
          <a:xfrm>
            <a:off x="4990795" y="4114800"/>
            <a:ext cx="6558076" cy="877824"/>
          </a:xfrm>
          <a:prstGeom prst="rect">
            <a:avLst/>
          </a:prstGeom>
          <a:noFill/>
        </p:spPr>
        <p:txBody>
          <a:bodyPr wrap="square" lIns="0" tIns="0" rIns="0" bIns="0" anchor="t">
            <a:noAutofit/>
          </a:bodyPr>
          <a:lstStyle/>
          <a:p>
            <a:pPr marL="177800" indent="-139700" algn="l">
              <a:lnSpc>
                <a:spcPct val="100000"/>
              </a:lnSpc>
              <a:spcBef>
                <a:spcPts val="0"/>
              </a:spcBef>
              <a:spcAft>
                <a:spcPts val="300"/>
              </a:spcAft>
              <a:buChar char="-"/>
            </a:pPr>
            <a:r>
              <a:rPr sz="1850" b="0">
                <a:solidFill>
                  <a:srgbClr val="193248"/>
                </a:solidFill>
                <a:latin typeface="Arial"/>
              </a:rPr>
              <a:t>Produce albumina e molti fattori della coagulazione.</a:t>
            </a:r>
            <a:endParaRPr lang="it-IT" sz="1850" b="0">
              <a:solidFill>
                <a:srgbClr val="193248"/>
              </a:solidFill>
              <a:latin typeface="Arial"/>
            </a:endParaRPr>
          </a:p>
          <a:p>
            <a:pPr marL="177800" indent="-139700" algn="l">
              <a:lnSpc>
                <a:spcPct val="100000"/>
              </a:lnSpc>
              <a:spcBef>
                <a:spcPts val="0"/>
              </a:spcBef>
              <a:spcAft>
                <a:spcPts val="0"/>
              </a:spcAft>
              <a:buChar char="-"/>
            </a:pPr>
            <a:r>
              <a:rPr sz="1850" b="0">
                <a:solidFill>
                  <a:srgbClr val="193248"/>
                </a:solidFill>
                <a:latin typeface="Arial"/>
              </a:rPr>
              <a:t>Produce anche la bile, che facilita la digestione e l’assorbimento dei grassi nell’intestino.</a:t>
            </a:r>
            <a:endParaRPr lang="it-IT" sz="1850" b="0">
              <a:solidFill>
                <a:srgbClr val="193248"/>
              </a:solidFill>
              <a:latin typeface="Arial"/>
            </a:endParaRPr>
          </a:p>
        </p:txBody>
      </p:sp>
      <p:sp>
        <p:nvSpPr>
          <p:cNvPr id="14" name="Organ profile 14"/>
          <p:cNvSpPr txBox="1"/>
          <p:nvPr/>
        </p:nvSpPr>
        <p:spPr>
          <a:xfrm>
            <a:off x="4800600" y="5056632"/>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Colecisti: deposito e rilascio</a:t>
            </a:r>
          </a:p>
        </p:txBody>
      </p:sp>
      <p:sp>
        <p:nvSpPr>
          <p:cNvPr id="15" name="Organ profile 15"/>
          <p:cNvSpPr txBox="1"/>
          <p:nvPr/>
        </p:nvSpPr>
        <p:spPr>
          <a:xfrm>
            <a:off x="4800600" y="5458968"/>
            <a:ext cx="6748272" cy="886968"/>
          </a:xfrm>
          <a:prstGeom prst="rect">
            <a:avLst/>
          </a:prstGeom>
          <a:noFill/>
        </p:spPr>
        <p:txBody>
          <a:bodyPr wrap="square" lIns="0" tIns="0" rIns="0" bIns="0" anchor="t">
            <a:noAutofit/>
          </a:bodyPr>
          <a:lstStyle/>
          <a:p>
            <a:pPr algn="l">
              <a:lnSpc>
                <a:spcPct val="100000"/>
              </a:lnSpc>
              <a:spcBef>
                <a:spcPts val="0"/>
              </a:spcBef>
              <a:spcAft>
                <a:spcPts val="0"/>
              </a:spcAft>
            </a:pPr>
            <a:r>
              <a:rPr sz="1850" b="0">
                <a:solidFill>
                  <a:srgbClr val="193248"/>
                </a:solidFill>
                <a:latin typeface="Arial"/>
              </a:rPr>
              <a:t>Conserva e concentra la bile prodotta dal fegato. Durante la digestione la rilascia nelle vie biliari, che la portano nel duodeno. La colecisti non produce la bile.</a:t>
            </a:r>
            <a:endParaRPr lang="it-IT" sz="1850" b="0">
              <a:solidFill>
                <a:srgbClr val="193248"/>
              </a:solidFill>
              <a:latin typeface="Arial"/>
            </a:endParaRPr>
          </a:p>
        </p:txBody>
      </p:sp>
      <p:cxnSp>
        <p:nvCxnSpPr>
          <p:cNvPr id="17" name="Freccia dalla colecisti alla spiegazione"/>
          <p:cNvCxnSpPr/>
          <p:nvPr/>
        </p:nvCxnSpPr>
        <p:spPr>
          <a:xfrm>
            <a:off x="2029968" y="3803904"/>
            <a:ext cx="2660904" cy="1417320"/>
          </a:xfrm>
          <a:prstGeom prst="line">
            <a:avLst/>
          </a:prstGeom>
          <a:ln w="25400">
            <a:solidFill>
              <a:srgbClr val="087E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rasformazione e riserva"/>
          <p:cNvSpPr txBox="1"/>
          <p:nvPr/>
        </p:nvSpPr>
        <p:spPr>
          <a:xfrm>
            <a:off x="4800600" y="2404872"/>
            <a:ext cx="6748272" cy="329184"/>
          </a:xfrm>
          <a:prstGeom prst="rect">
            <a:avLst/>
          </a:prstGeom>
          <a:noFill/>
        </p:spPr>
        <p:txBody>
          <a:bodyPr wrap="square" lIns="0" tIns="0" rIns="0" bIns="0" anchor="t">
            <a:noAutofit/>
          </a:bodyPr>
          <a:lstStyle/>
          <a:p>
            <a:pPr marL="190500" indent="-139700" algn="l">
              <a:lnSpc>
                <a:spcPct val="105000"/>
              </a:lnSpc>
              <a:spcBef>
                <a:spcPts val="0"/>
              </a:spcBef>
              <a:spcAft>
                <a:spcPts val="0"/>
              </a:spcAft>
              <a:buChar char="•"/>
            </a:pPr>
            <a:r>
              <a:rPr sz="2000" b="1">
                <a:solidFill>
                  <a:srgbClr val="123F67"/>
                </a:solidFill>
                <a:latin typeface="Arial"/>
              </a:rPr>
              <a:t>Trasformazione e riserva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DIGERENTE E SISTEMA ENDOCRINO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Il pancreas</a:t>
            </a:r>
            <a:endParaRPr sz="3225" b="1">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42</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Una ghiandola con due funzioni: digestione e controllo della glicemia</a:t>
            </a:r>
            <a:endParaRPr sz="1900" b="0">
              <a:solidFill>
                <a:srgbClr val="087E8B"/>
              </a:solidFill>
              <a:latin typeface="Arial"/>
            </a:endParaRPr>
          </a:p>
        </p:txBody>
      </p:sp>
      <p:pic>
        <p:nvPicPr>
          <p:cNvPr id="17" name="Pancreas - immagine fornita" descr="image.png"/>
          <p:cNvPicPr>
            <a:picLocks noChangeAspect="1"/>
          </p:cNvPicPr>
          <p:nvPr/>
        </p:nvPicPr>
        <p:blipFill>
          <a:blip r:embed="rId3"/>
          <a:stretch>
            <a:fillRect/>
          </a:stretch>
        </p:blipFill>
        <p:spPr>
          <a:xfrm>
            <a:off x="704088" y="2476499"/>
            <a:ext cx="3749039" cy="2499359"/>
          </a:xfrm>
          <a:prstGeom prst="rect">
            <a:avLst/>
          </a:prstGeom>
        </p:spPr>
      </p:pic>
      <p:sp>
        <p:nvSpPr>
          <p:cNvPr id="9" name="Organ profile 9"/>
          <p:cNvSpPr txBox="1"/>
          <p:nvPr/>
        </p:nvSpPr>
        <p:spPr>
          <a:xfrm>
            <a:off x="667512" y="5696712"/>
            <a:ext cx="3886200" cy="612648"/>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Nell’addome, dietro lo stomaco,</a:t>
            </a:r>
          </a:p>
          <a:p>
            <a:pPr algn="ctr">
              <a:lnSpc>
                <a:spcPct val="105000"/>
              </a:lnSpc>
              <a:spcBef>
                <a:spcPts val="0"/>
              </a:spcBef>
              <a:spcAft>
                <a:spcPts val="0"/>
              </a:spcAft>
            </a:pPr>
            <a:r>
              <a:rPr sz="1650" b="0">
                <a:solidFill>
                  <a:srgbClr val="087E8B"/>
                </a:solidFill>
                <a:latin typeface="Arial"/>
              </a:rPr>
              <a:t>tra il duodeno e la milza.</a:t>
            </a:r>
          </a:p>
        </p:txBody>
      </p:sp>
      <p:sp>
        <p:nvSpPr>
          <p:cNvPr id="10" name="Organ profile 10"/>
          <p:cNvSpPr txBox="1"/>
          <p:nvPr/>
        </p:nvSpPr>
        <p:spPr>
          <a:xfrm>
            <a:off x="4800600" y="196596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Struttura e collegamenti</a:t>
            </a:r>
          </a:p>
        </p:txBody>
      </p:sp>
      <p:sp>
        <p:nvSpPr>
          <p:cNvPr id="11" name="Organ profile 11"/>
          <p:cNvSpPr txBox="1"/>
          <p:nvPr/>
        </p:nvSpPr>
        <p:spPr>
          <a:xfrm>
            <a:off x="4800600" y="235915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Si distingue in testa, corpo e coda. La testa è accolta nella curva del duodeno. Il dotto pancreatico convoglia il succo digestivo verso l’intestino.</a:t>
            </a:r>
          </a:p>
        </p:txBody>
      </p:sp>
      <p:sp>
        <p:nvSpPr>
          <p:cNvPr id="12" name="Organ profile 12"/>
          <p:cNvSpPr txBox="1"/>
          <p:nvPr/>
        </p:nvSpPr>
        <p:spPr>
          <a:xfrm>
            <a:off x="4800600" y="338328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Funzione esocrina: digestione</a:t>
            </a:r>
          </a:p>
        </p:txBody>
      </p:sp>
      <p:sp>
        <p:nvSpPr>
          <p:cNvPr id="13" name="Organ profile 13"/>
          <p:cNvSpPr txBox="1"/>
          <p:nvPr/>
        </p:nvSpPr>
        <p:spPr>
          <a:xfrm>
            <a:off x="4800600" y="3776472"/>
            <a:ext cx="6748272" cy="960120"/>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Produce enzimi che digeriscono carboidrati, proteine e grassi. Il bicarbonato aiuta a neutralizzare l’acidità del contenuto che arriva dallo stomaco.</a:t>
            </a:r>
          </a:p>
        </p:txBody>
      </p:sp>
      <p:sp>
        <p:nvSpPr>
          <p:cNvPr id="14" name="Organ profile 14"/>
          <p:cNvSpPr txBox="1"/>
          <p:nvPr/>
        </p:nvSpPr>
        <p:spPr>
          <a:xfrm>
            <a:off x="4800600" y="480060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Funzione endocrina: glicemia</a:t>
            </a:r>
          </a:p>
        </p:txBody>
      </p:sp>
      <p:sp>
        <p:nvSpPr>
          <p:cNvPr id="15" name="Organ profile 15"/>
          <p:cNvSpPr txBox="1"/>
          <p:nvPr/>
        </p:nvSpPr>
        <p:spPr>
          <a:xfrm>
            <a:off x="4800600" y="5193792"/>
            <a:ext cx="6748272" cy="1280160"/>
          </a:xfrm>
          <a:prstGeom prst="rect">
            <a:avLst/>
          </a:prstGeom>
          <a:noFill/>
        </p:spPr>
        <p:txBody>
          <a:bodyPr wrap="square" lIns="0" tIns="0" rIns="0" bIns="0" anchor="t">
            <a:noAutofit/>
          </a:bodyPr>
          <a:lstStyle/>
          <a:p>
            <a:pPr marL="18288" algn="l">
              <a:lnSpc>
                <a:spcPts val="1900"/>
              </a:lnSpc>
              <a:spcBef>
                <a:spcPts val="0"/>
              </a:spcBef>
              <a:spcAft>
                <a:spcPts val="300"/>
              </a:spcAft>
            </a:pPr>
            <a:r>
              <a:rPr lang="it-IT" sz="1800" dirty="0">
                <a:solidFill>
                  <a:srgbClr val="193248"/>
                </a:solidFill>
                <a:latin typeface="Arial"/>
              </a:rPr>
              <a:t>Le</a:t>
            </a:r>
            <a:r>
              <a:rPr lang="it-IT" sz="1800" b="1" dirty="0">
                <a:solidFill>
                  <a:srgbClr val="193248"/>
                </a:solidFill>
                <a:latin typeface="Arial"/>
              </a:rPr>
              <a:t> </a:t>
            </a:r>
            <a:r>
              <a:rPr lang="it-IT" sz="1800" u="sng" dirty="0">
                <a:solidFill>
                  <a:srgbClr val="193248"/>
                </a:solidFill>
                <a:latin typeface="Arial"/>
              </a:rPr>
              <a:t>isole pancreatiche</a:t>
            </a:r>
            <a:r>
              <a:rPr lang="it-IT" sz="1800" dirty="0">
                <a:solidFill>
                  <a:srgbClr val="193248"/>
                </a:solidFill>
                <a:latin typeface="Arial"/>
              </a:rPr>
              <a:t> </a:t>
            </a:r>
            <a:r>
              <a:rPr lang="it-IT" sz="1800" b="0" dirty="0">
                <a:solidFill>
                  <a:srgbClr val="193248"/>
                </a:solidFill>
                <a:latin typeface="Arial"/>
              </a:rPr>
              <a:t>rilasciano ormoni nel sangue.</a:t>
            </a:r>
          </a:p>
          <a:p>
            <a:pPr marL="164592" indent="-146304">
              <a:lnSpc>
                <a:spcPts val="1900"/>
              </a:lnSpc>
              <a:spcBef>
                <a:spcPts val="0"/>
              </a:spcBef>
              <a:spcAft>
                <a:spcPts val="300"/>
              </a:spcAft>
              <a:buChar char="•"/>
            </a:pPr>
            <a:r>
              <a:rPr lang="it-IT" sz="1800" b="1" dirty="0">
                <a:solidFill>
                  <a:srgbClr val="193248"/>
                </a:solidFill>
                <a:latin typeface="Arial"/>
              </a:rPr>
              <a:t>Insulina:</a:t>
            </a:r>
            <a:r>
              <a:rPr lang="it-IT" sz="1800" b="0" dirty="0">
                <a:solidFill>
                  <a:srgbClr val="193248"/>
                </a:solidFill>
                <a:latin typeface="Arial"/>
              </a:rPr>
              <a:t> abbassa la glicemia, favorendo l’utilizzo e il deposito del glucosio.</a:t>
            </a:r>
          </a:p>
          <a:p>
            <a:pPr marL="164592" indent="-146304">
              <a:lnSpc>
                <a:spcPts val="1900"/>
              </a:lnSpc>
              <a:spcBef>
                <a:spcPts val="0"/>
              </a:spcBef>
              <a:spcAft>
                <a:spcPts val="300"/>
              </a:spcAft>
              <a:buChar char="•"/>
            </a:pPr>
            <a:r>
              <a:rPr lang="it-IT" sz="1800" b="1" dirty="0">
                <a:solidFill>
                  <a:srgbClr val="193248"/>
                </a:solidFill>
                <a:latin typeface="Arial"/>
              </a:rPr>
              <a:t>Glucagone:</a:t>
            </a:r>
            <a:r>
              <a:rPr lang="it-IT" sz="1800" b="0" dirty="0">
                <a:solidFill>
                  <a:srgbClr val="193248"/>
                </a:solidFill>
                <a:latin typeface="Arial"/>
              </a:rPr>
              <a:t> aumenta la glicemia, stimolando il fegato a liberare glucosio.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digerente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43</a:t>
            </a:r>
            <a:endParaRPr sz="1350" b="1">
              <a:solidFill>
                <a:srgbClr val="123F67"/>
              </a:solidFill>
              <a:latin typeface="Arial"/>
              <a:ea typeface="Arial"/>
              <a:cs typeface="Arial"/>
            </a:endParaRPr>
          </a:p>
        </p:txBody>
      </p:sp>
      <p:sp>
        <p:nvSpPr>
          <p:cNvPr id="25" name="TextBox 24"/>
          <p:cNvSpPr txBox="1"/>
          <p:nvPr/>
        </p:nvSpPr>
        <p:spPr>
          <a:xfrm>
            <a:off x="705002" y="1554480"/>
            <a:ext cx="5166360" cy="228600"/>
          </a:xfrm>
          <a:prstGeom prst="rect">
            <a:avLst/>
          </a:prstGeom>
          <a:noFill/>
        </p:spPr>
        <p:txBody>
          <a:bodyPr wrap="square" lIns="0" tIns="0" rIns="0" bIns="0">
            <a:noAutofit/>
          </a:bodyPr>
          <a:lstStyle/>
          <a:p>
            <a:pPr>
              <a:lnSpc>
                <a:spcPts val="1700"/>
              </a:lnSpc>
            </a:pPr>
            <a:r>
              <a:rPr sz="1400" b="1">
                <a:solidFill>
                  <a:srgbClr val="087E8B"/>
                </a:solidFill>
                <a:latin typeface="Arial"/>
              </a:rPr>
              <a:t>ESOFAGO</a:t>
            </a:r>
          </a:p>
        </p:txBody>
      </p:sp>
      <p:sp>
        <p:nvSpPr>
          <p:cNvPr id="26" name="TextBox 25"/>
          <p:cNvSpPr txBox="1"/>
          <p:nvPr/>
        </p:nvSpPr>
        <p:spPr>
          <a:xfrm>
            <a:off x="705002" y="1828800"/>
            <a:ext cx="5166360" cy="630936"/>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Reflusso gastroesofageo</a:t>
            </a:r>
          </a:p>
          <a:p>
            <a:pPr>
              <a:lnSpc>
                <a:spcPct val="100000"/>
              </a:lnSpc>
              <a:spcAft>
                <a:spcPts val="0"/>
              </a:spcAft>
            </a:pPr>
            <a:r>
              <a:rPr lang="it-IT" sz="1800" b="0">
                <a:solidFill>
                  <a:srgbClr val="087E8B"/>
                </a:solidFill>
                <a:latin typeface="Arial"/>
              </a:rPr>
              <a:t>(omeprazolo)</a:t>
            </a:r>
          </a:p>
        </p:txBody>
      </p:sp>
      <p:sp>
        <p:nvSpPr>
          <p:cNvPr id="27" name="TextBox 26"/>
          <p:cNvSpPr txBox="1"/>
          <p:nvPr/>
        </p:nvSpPr>
        <p:spPr>
          <a:xfrm>
            <a:off x="705002" y="2542032"/>
            <a:ext cx="5166360" cy="566928"/>
          </a:xfrm>
          <a:prstGeom prst="rect">
            <a:avLst/>
          </a:prstGeom>
          <a:noFill/>
        </p:spPr>
        <p:txBody>
          <a:bodyPr wrap="square" lIns="0" tIns="0" rIns="0" bIns="0">
            <a:noAutofit/>
          </a:bodyPr>
          <a:lstStyle/>
          <a:p>
            <a:pPr>
              <a:lnSpc>
                <a:spcPts val="1900"/>
              </a:lnSpc>
              <a:spcAft>
                <a:spcPts val="0"/>
              </a:spcAft>
            </a:pPr>
            <a:r>
              <a:rPr lang="it-IT" sz="1700" b="0">
                <a:solidFill>
                  <a:srgbClr val="193248"/>
                </a:solidFill>
                <a:latin typeface="Arial"/>
              </a:rPr>
              <a:t>Risalita del contenuto gastrico nell’esofago, con bruciore e possibile infiammazione della mucosa.</a:t>
            </a:r>
          </a:p>
        </p:txBody>
      </p:sp>
      <p:sp>
        <p:nvSpPr>
          <p:cNvPr id="28" name="TextBox 27"/>
          <p:cNvSpPr txBox="1"/>
          <p:nvPr/>
        </p:nvSpPr>
        <p:spPr>
          <a:xfrm>
            <a:off x="705002" y="3310128"/>
            <a:ext cx="5166360" cy="228600"/>
          </a:xfrm>
          <a:prstGeom prst="rect">
            <a:avLst/>
          </a:prstGeom>
          <a:noFill/>
        </p:spPr>
        <p:txBody>
          <a:bodyPr wrap="square" lIns="0" tIns="0" rIns="0" bIns="0">
            <a:noAutofit/>
          </a:bodyPr>
          <a:lstStyle/>
          <a:p>
            <a:pPr>
              <a:lnSpc>
                <a:spcPts val="1700"/>
              </a:lnSpc>
            </a:pPr>
            <a:r>
              <a:rPr sz="1400" b="1">
                <a:solidFill>
                  <a:srgbClr val="087E8B"/>
                </a:solidFill>
                <a:latin typeface="Arial"/>
              </a:rPr>
              <a:t>INTESTINO</a:t>
            </a:r>
          </a:p>
        </p:txBody>
      </p:sp>
      <p:sp>
        <p:nvSpPr>
          <p:cNvPr id="29" name="TextBox 28"/>
          <p:cNvSpPr txBox="1"/>
          <p:nvPr/>
        </p:nvSpPr>
        <p:spPr>
          <a:xfrm>
            <a:off x="705002" y="3584448"/>
            <a:ext cx="5166360" cy="338328"/>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Occlusione intestinale</a:t>
            </a:r>
          </a:p>
        </p:txBody>
      </p:sp>
      <p:sp>
        <p:nvSpPr>
          <p:cNvPr id="30" name="TextBox 29"/>
          <p:cNvSpPr txBox="1"/>
          <p:nvPr/>
        </p:nvSpPr>
        <p:spPr>
          <a:xfrm>
            <a:off x="705002" y="3995928"/>
            <a:ext cx="5166360" cy="585216"/>
          </a:xfrm>
          <a:prstGeom prst="rect">
            <a:avLst/>
          </a:prstGeom>
          <a:noFill/>
        </p:spPr>
        <p:txBody>
          <a:bodyPr wrap="square" lIns="0" tIns="0" rIns="0" bIns="0">
            <a:noAutofit/>
          </a:bodyPr>
          <a:lstStyle/>
          <a:p>
            <a:pPr>
              <a:lnSpc>
                <a:spcPts val="1900"/>
              </a:lnSpc>
              <a:spcAft>
                <a:spcPts val="0"/>
              </a:spcAft>
            </a:pPr>
            <a:r>
              <a:rPr lang="it-IT" sz="1700" b="0">
                <a:solidFill>
                  <a:srgbClr val="193248"/>
                </a:solidFill>
                <a:latin typeface="Arial"/>
              </a:rPr>
              <a:t>Blocco parziale o completo del contenuto intestinale, con possibile dolore e gonfiore addominale.</a:t>
            </a:r>
          </a:p>
        </p:txBody>
      </p:sp>
      <p:sp>
        <p:nvSpPr>
          <p:cNvPr id="33" name="FEGATO"/>
          <p:cNvSpPr txBox="1"/>
          <p:nvPr/>
        </p:nvSpPr>
        <p:spPr>
          <a:xfrm>
            <a:off x="6355080" y="1554480"/>
            <a:ext cx="5212080" cy="228600"/>
          </a:xfrm>
          <a:prstGeom prst="rect">
            <a:avLst/>
          </a:prstGeom>
          <a:noFill/>
        </p:spPr>
        <p:txBody>
          <a:bodyPr wrap="square" lIns="0" tIns="0" rIns="0" bIns="0">
            <a:noAutofit/>
          </a:bodyPr>
          <a:lstStyle/>
          <a:p>
            <a:pPr>
              <a:lnSpc>
                <a:spcPts val="1700"/>
              </a:lnSpc>
            </a:pPr>
            <a:r>
              <a:rPr sz="1400" b="1">
                <a:solidFill>
                  <a:srgbClr val="087E8B"/>
                </a:solidFill>
                <a:latin typeface="Arial"/>
              </a:rPr>
              <a:t>FEGATO</a:t>
            </a:r>
          </a:p>
        </p:txBody>
      </p:sp>
      <p:sp>
        <p:nvSpPr>
          <p:cNvPr id="34" name="Epatiti virali"/>
          <p:cNvSpPr txBox="1"/>
          <p:nvPr/>
        </p:nvSpPr>
        <p:spPr>
          <a:xfrm>
            <a:off x="6355080" y="1828800"/>
            <a:ext cx="5212080" cy="338328"/>
          </a:xfrm>
          <a:prstGeom prst="rect">
            <a:avLst/>
          </a:prstGeom>
          <a:noFill/>
        </p:spPr>
        <p:txBody>
          <a:bodyPr wrap="square" lIns="0" tIns="0" rIns="0" bIns="0">
            <a:noAutofit/>
          </a:bodyPr>
          <a:lstStyle/>
          <a:p>
            <a:pPr marL="190500" indent="-139700">
              <a:lnSpc>
                <a:spcPct val="100000"/>
              </a:lnSpc>
              <a:spcAft>
                <a:spcPts val="300"/>
              </a:spcAft>
              <a:buChar char="•"/>
            </a:pPr>
            <a:r>
              <a:rPr lang="it-IT" sz="2000" b="1">
                <a:solidFill>
                  <a:srgbClr val="123F67"/>
                </a:solidFill>
                <a:latin typeface="Arial"/>
              </a:rPr>
              <a:t>Epatiti virali</a:t>
            </a:r>
          </a:p>
        </p:txBody>
      </p:sp>
      <p:sp>
        <p:nvSpPr>
          <p:cNvPr id="35" name="Infiammazioni del fegato causate da"/>
          <p:cNvSpPr txBox="1"/>
          <p:nvPr/>
        </p:nvSpPr>
        <p:spPr>
          <a:xfrm>
            <a:off x="6545549" y="2240280"/>
            <a:ext cx="5021610" cy="777240"/>
          </a:xfrm>
          <a:prstGeom prst="rect">
            <a:avLst/>
          </a:prstGeom>
          <a:noFill/>
        </p:spPr>
        <p:txBody>
          <a:bodyPr wrap="square" lIns="0" tIns="0" rIns="0" bIns="0">
            <a:noAutofit/>
          </a:bodyPr>
          <a:lstStyle/>
          <a:p>
            <a:pPr>
              <a:lnSpc>
                <a:spcPts val="1900"/>
              </a:lnSpc>
              <a:spcAft>
                <a:spcPts val="0"/>
              </a:spcAft>
            </a:pPr>
            <a:r>
              <a:rPr lang="it-IT" sz="1700" b="0" dirty="0">
                <a:solidFill>
                  <a:srgbClr val="193248"/>
                </a:solidFill>
                <a:latin typeface="Arial"/>
              </a:rPr>
              <a:t>Infiammazioni da virus A, B, C, D o E. B e C</a:t>
            </a:r>
          </a:p>
          <a:p>
            <a:pPr>
              <a:lnSpc>
                <a:spcPts val="1900"/>
              </a:lnSpc>
              <a:spcAft>
                <a:spcPts val="0"/>
              </a:spcAft>
            </a:pPr>
            <a:r>
              <a:rPr lang="it-IT" sz="1700" dirty="0">
                <a:solidFill>
                  <a:srgbClr val="193248"/>
                </a:solidFill>
                <a:latin typeface="Arial"/>
              </a:rPr>
              <a:t>P</a:t>
            </a:r>
            <a:r>
              <a:rPr lang="it-IT" sz="1700" b="0" dirty="0">
                <a:solidFill>
                  <a:srgbClr val="193248"/>
                </a:solidFill>
                <a:latin typeface="Arial"/>
              </a:rPr>
              <a:t>ossono cronicizzare e causare cirrosi</a:t>
            </a:r>
            <a:r>
              <a:rPr lang="it-IT" sz="2000" b="0" dirty="0">
                <a:solidFill>
                  <a:srgbClr val="193248"/>
                </a:solidFill>
                <a:latin typeface="Arial"/>
              </a:rPr>
              <a:t>*</a:t>
            </a:r>
            <a:r>
              <a:rPr lang="it-IT" sz="1700" b="0" dirty="0">
                <a:solidFill>
                  <a:srgbClr val="193248"/>
                </a:solidFill>
                <a:latin typeface="Arial"/>
              </a:rPr>
              <a:t> o tumore. Vaccini disponibili per A e B.</a:t>
            </a:r>
          </a:p>
        </p:txBody>
      </p:sp>
      <p:sp>
        <p:nvSpPr>
          <p:cNvPr id="37" name="Pancreatitis 37"/>
          <p:cNvSpPr txBox="1"/>
          <p:nvPr/>
        </p:nvSpPr>
        <p:spPr>
          <a:xfrm>
            <a:off x="705002" y="4709160"/>
            <a:ext cx="10862157" cy="228600"/>
          </a:xfrm>
          <a:prstGeom prst="rect">
            <a:avLst/>
          </a:prstGeom>
          <a:noFill/>
        </p:spPr>
        <p:txBody>
          <a:bodyPr wrap="square" lIns="0" tIns="0" rIns="0" bIns="0">
            <a:noAutofit/>
          </a:bodyPr>
          <a:lstStyle/>
          <a:p>
            <a:pPr>
              <a:lnSpc>
                <a:spcPts val="1700"/>
              </a:lnSpc>
            </a:pPr>
            <a:r>
              <a:rPr sz="1400" b="1">
                <a:solidFill>
                  <a:srgbClr val="087E8B"/>
                </a:solidFill>
                <a:latin typeface="Arial"/>
              </a:rPr>
              <a:t>PANCREAS</a:t>
            </a:r>
          </a:p>
        </p:txBody>
      </p:sp>
      <p:sp>
        <p:nvSpPr>
          <p:cNvPr id="38" name="Pancreatitis 38"/>
          <p:cNvSpPr txBox="1"/>
          <p:nvPr/>
        </p:nvSpPr>
        <p:spPr>
          <a:xfrm>
            <a:off x="705002" y="4983480"/>
            <a:ext cx="10862157" cy="338328"/>
          </a:xfrm>
          <a:prstGeom prst="rect">
            <a:avLst/>
          </a:prstGeom>
          <a:noFill/>
        </p:spPr>
        <p:txBody>
          <a:bodyPr wrap="square" lIns="0" tIns="0" rIns="0" bIns="0">
            <a:noAutofit/>
          </a:bodyPr>
          <a:lstStyle/>
          <a:p>
            <a:pPr>
              <a:lnSpc>
                <a:spcPct val="100000"/>
              </a:lnSpc>
              <a:spcAft>
                <a:spcPts val="300"/>
              </a:spcAft>
            </a:pPr>
            <a:r>
              <a:rPr lang="it-IT" sz="2000" b="1">
                <a:solidFill>
                  <a:srgbClr val="123F67"/>
                </a:solidFill>
                <a:latin typeface="Arial"/>
              </a:rPr>
              <a:t>Pancreatite</a:t>
            </a:r>
          </a:p>
        </p:txBody>
      </p:sp>
      <p:sp>
        <p:nvSpPr>
          <p:cNvPr id="39" name="Pancreatitis 39"/>
          <p:cNvSpPr txBox="1"/>
          <p:nvPr/>
        </p:nvSpPr>
        <p:spPr>
          <a:xfrm>
            <a:off x="705002" y="5394960"/>
            <a:ext cx="10862157" cy="1042415"/>
          </a:xfrm>
          <a:prstGeom prst="rect">
            <a:avLst/>
          </a:prstGeom>
          <a:noFill/>
        </p:spPr>
        <p:txBody>
          <a:bodyPr wrap="square" lIns="0" tIns="0" rIns="0" bIns="0">
            <a:noAutofit/>
          </a:bodyPr>
          <a:lstStyle/>
          <a:p>
            <a:pPr>
              <a:lnSpc>
                <a:spcPts val="1900"/>
              </a:lnSpc>
              <a:spcAft>
                <a:spcPts val="200"/>
              </a:spcAft>
            </a:pPr>
            <a:r>
              <a:rPr lang="it-IT" sz="1700" dirty="0">
                <a:solidFill>
                  <a:srgbClr val="193248"/>
                </a:solidFill>
                <a:latin typeface="Arial"/>
              </a:rPr>
              <a:t>Infiammazione del pancreas: </a:t>
            </a:r>
            <a:r>
              <a:rPr lang="it-IT" sz="1700" b="0" dirty="0">
                <a:solidFill>
                  <a:srgbClr val="193248"/>
                </a:solidFill>
                <a:latin typeface="Arial"/>
              </a:rPr>
              <a:t>gli enzimi digestivi danneggiano la ghiandola stessa.</a:t>
            </a:r>
          </a:p>
          <a:p>
            <a:pPr>
              <a:lnSpc>
                <a:spcPts val="1900"/>
              </a:lnSpc>
              <a:spcAft>
                <a:spcPts val="200"/>
              </a:spcAft>
            </a:pPr>
            <a:r>
              <a:rPr lang="it-IT" sz="1700" b="0" dirty="0">
                <a:solidFill>
                  <a:srgbClr val="193248"/>
                </a:solidFill>
                <a:latin typeface="Arial"/>
              </a:rPr>
              <a:t>Può essere acuta (con esordio improvviso, curabile) o cronica (con danno permanente).</a:t>
            </a:r>
          </a:p>
          <a:p>
            <a:pPr>
              <a:lnSpc>
                <a:spcPts val="1900"/>
              </a:lnSpc>
              <a:spcAft>
                <a:spcPts val="200"/>
              </a:spcAft>
            </a:pPr>
            <a:r>
              <a:rPr lang="it-IT" sz="1700" b="1" dirty="0">
                <a:solidFill>
                  <a:srgbClr val="193248"/>
                </a:solidFill>
                <a:latin typeface="Arial"/>
              </a:rPr>
              <a:t>Cause frequenti:</a:t>
            </a:r>
            <a:r>
              <a:rPr lang="it-IT" sz="1700" b="0" dirty="0">
                <a:solidFill>
                  <a:srgbClr val="193248"/>
                </a:solidFill>
                <a:latin typeface="Arial"/>
              </a:rPr>
              <a:t> calcoli biliari e consumo eccessivo di alcol.</a:t>
            </a:r>
          </a:p>
          <a:p>
            <a:pPr>
              <a:lnSpc>
                <a:spcPts val="1900"/>
              </a:lnSpc>
              <a:spcAft>
                <a:spcPts val="0"/>
              </a:spcAft>
            </a:pPr>
            <a:r>
              <a:rPr lang="it-IT" sz="1700" b="1" dirty="0">
                <a:solidFill>
                  <a:srgbClr val="193248"/>
                </a:solidFill>
                <a:latin typeface="Arial"/>
              </a:rPr>
              <a:t>Sintomi:</a:t>
            </a:r>
            <a:r>
              <a:rPr lang="it-IT" sz="1700" b="0" dirty="0">
                <a:solidFill>
                  <a:srgbClr val="193248"/>
                </a:solidFill>
                <a:latin typeface="Arial"/>
              </a:rPr>
              <a:t> dolore nella parte alta dell’addome, spesso esteso alla schiena, nausea e vomito.</a:t>
            </a:r>
          </a:p>
        </p:txBody>
      </p:sp>
      <p:sp>
        <p:nvSpPr>
          <p:cNvPr id="40" name="Cirrosi epatica"/>
          <p:cNvSpPr txBox="1"/>
          <p:nvPr/>
        </p:nvSpPr>
        <p:spPr>
          <a:xfrm>
            <a:off x="6355080" y="3154680"/>
            <a:ext cx="5212080" cy="338328"/>
          </a:xfrm>
          <a:prstGeom prst="rect">
            <a:avLst/>
          </a:prstGeom>
          <a:noFill/>
        </p:spPr>
        <p:txBody>
          <a:bodyPr wrap="square" lIns="0" tIns="0" rIns="0" bIns="0">
            <a:noAutofit/>
          </a:bodyPr>
          <a:lstStyle/>
          <a:p>
            <a:pPr marL="190500" indent="-139700">
              <a:lnSpc>
                <a:spcPct val="100000"/>
              </a:lnSpc>
              <a:spcAft>
                <a:spcPts val="300"/>
              </a:spcAft>
              <a:buChar char="•"/>
            </a:pPr>
            <a:r>
              <a:rPr lang="it-IT" sz="2000" b="1" dirty="0">
                <a:solidFill>
                  <a:srgbClr val="123F67"/>
                </a:solidFill>
                <a:latin typeface="Arial"/>
              </a:rPr>
              <a:t>Cirrosi epatica*</a:t>
            </a:r>
          </a:p>
        </p:txBody>
      </p:sp>
      <p:sp>
        <p:nvSpPr>
          <p:cNvPr id="41" name="Tessuto cicatriziale sostituisce"/>
          <p:cNvSpPr txBox="1"/>
          <p:nvPr/>
        </p:nvSpPr>
        <p:spPr>
          <a:xfrm>
            <a:off x="6545549" y="3566160"/>
            <a:ext cx="5021610" cy="1353312"/>
          </a:xfrm>
          <a:prstGeom prst="rect">
            <a:avLst/>
          </a:prstGeom>
          <a:noFill/>
        </p:spPr>
        <p:txBody>
          <a:bodyPr wrap="square" lIns="0" tIns="0" rIns="0" bIns="0">
            <a:noAutofit/>
          </a:bodyPr>
          <a:lstStyle/>
          <a:p>
            <a:pPr>
              <a:lnSpc>
                <a:spcPts val="1900"/>
              </a:lnSpc>
              <a:spcAft>
                <a:spcPts val="0"/>
              </a:spcAft>
            </a:pPr>
            <a:r>
              <a:rPr lang="it-IT" sz="1700" b="0">
                <a:solidFill>
                  <a:srgbClr val="193248"/>
                </a:solidFill>
                <a:latin typeface="Arial"/>
              </a:rPr>
              <a:t>Tessuto cicatriziale sostituisce quello sano del fegato, compromettendone la funzione.</a:t>
            </a:r>
          </a:p>
          <a:p>
            <a:pPr>
              <a:lnSpc>
                <a:spcPts val="1900"/>
              </a:lnSpc>
              <a:spcBef>
                <a:spcPts val="400"/>
              </a:spcBef>
              <a:spcAft>
                <a:spcPts val="0"/>
              </a:spcAft>
            </a:pPr>
            <a:r>
              <a:rPr lang="it-IT" sz="1700" b="1">
                <a:solidFill>
                  <a:srgbClr val="193248"/>
                </a:solidFill>
                <a:latin typeface="Arial"/>
              </a:rPr>
              <a:t>Cause principali:</a:t>
            </a:r>
            <a:r>
              <a:rPr lang="it-IT" sz="1700" b="0">
                <a:solidFill>
                  <a:srgbClr val="193248"/>
                </a:solidFill>
                <a:latin typeface="Arial"/>
              </a:rPr>
              <a:t> consumo eccessivo e prolungato di alcol, epatiti B e C croniche e steatosi epatica metabolica (fegato grasso).</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0000000D-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D-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4 DI 7</a:t>
            </a:r>
          </a:p>
        </p:txBody>
      </p:sp>
      <p:sp>
        <p:nvSpPr>
          <p:cNvPr id="3" name="Rettangolo 2">
            <a:extLst>
              <a:ext uri="{FF2B5EF4-FFF2-40B4-BE49-F238E27FC236}">
                <a16:creationId xmlns:a16="http://schemas.microsoft.com/office/drawing/2014/main" id="{0000000D-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Apparato respiratorio</a:t>
            </a:r>
          </a:p>
        </p:txBody>
      </p:sp>
      <p:sp>
        <p:nvSpPr>
          <p:cNvPr id="4" name="Rettangolo 3">
            <a:extLst>
              <a:ext uri="{FF2B5EF4-FFF2-40B4-BE49-F238E27FC236}">
                <a16:creationId xmlns:a16="http://schemas.microsoft.com/office/drawing/2014/main" id="{0000000D-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D-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D-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44</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D-0007-4000-8000-000000000000}"/>
              </a:ext>
            </a:extLst>
          </p:cNvPr>
          <p:cNvSpPr>
            <a:spLocks noGrp="1"/>
          </p:cNvSpPr>
          <p:nvPr/>
        </p:nvSpPr>
        <p:spPr>
          <a:xfrm>
            <a:off x="609600" y="1809750"/>
            <a:ext cx="5762625" cy="361950"/>
          </a:xfrm>
          <a:prstGeom prst="rect">
            <a:avLst/>
          </a:prstGeom>
          <a:noFill/>
          <a:ln w="0">
            <a:noFill/>
          </a:ln>
        </p:spPr>
        <p:txBody>
          <a:bodyPr>
            <a:noAutofit/>
          </a:bodyPr>
          <a:lstStyle/>
          <a:p>
            <a:pPr>
              <a:defRPr sz="2025" b="1">
                <a:solidFill>
                  <a:srgbClr val="123F67"/>
                </a:solidFill>
                <a:latin typeface="Arial"/>
                <a:ea typeface="Arial"/>
                <a:cs typeface="Arial"/>
              </a:defRPr>
            </a:pPr>
            <a:r>
              <a:rPr lang="it-IT" sz="2025" b="1">
                <a:solidFill>
                  <a:srgbClr val="123F67"/>
                </a:solidFill>
                <a:latin typeface="Arial"/>
                <a:ea typeface="Arial"/>
                <a:cs typeface="Arial"/>
              </a:rPr>
              <a:t>Il percorso dell’aria</a:t>
            </a:r>
            <a:endParaRPr sz="2025" b="1">
              <a:solidFill>
                <a:srgbClr val="123F67"/>
              </a:solidFill>
              <a:latin typeface="Arial"/>
              <a:ea typeface="Arial"/>
              <a:cs typeface="Arial"/>
            </a:endParaRPr>
          </a:p>
        </p:txBody>
      </p:sp>
      <p:pic>
        <p:nvPicPr>
          <p:cNvPr id="59" name="Picture 58" descr="image-e88b97cbf281a5f02fec490fc25c939e.jpg"/>
          <p:cNvPicPr>
            <a:picLocks noChangeAspect="1"/>
          </p:cNvPicPr>
          <p:nvPr/>
        </p:nvPicPr>
        <p:blipFill>
          <a:blip r:embed="rId3"/>
          <a:stretch>
            <a:fillRect/>
          </a:stretch>
        </p:blipFill>
        <p:spPr>
          <a:xfrm>
            <a:off x="6372224" y="1629201"/>
            <a:ext cx="5508455" cy="3100153"/>
          </a:xfrm>
          <a:prstGeom prst="rect">
            <a:avLst/>
          </a:prstGeom>
        </p:spPr>
      </p:pic>
      <p:sp>
        <p:nvSpPr>
          <p:cNvPr id="18" name="TextBox 17"/>
          <p:cNvSpPr txBox="1"/>
          <p:nvPr/>
        </p:nvSpPr>
        <p:spPr>
          <a:xfrm>
            <a:off x="7000875" y="5524500"/>
            <a:ext cx="1381125" cy="338554"/>
          </a:xfrm>
          <a:prstGeom prst="rect">
            <a:avLst/>
          </a:prstGeom>
          <a:noFill/>
        </p:spPr>
        <p:txBody>
          <a:bodyPr wrap="square" lIns="0" tIns="0" rIns="0" bIns="0">
            <a:spAutoFit/>
          </a:bodyPr>
          <a:lstStyle/>
          <a:p>
            <a:pPr algn="ctr">
              <a:defRPr sz="2200" b="1">
                <a:solidFill>
                  <a:srgbClr val="087E8B"/>
                </a:solidFill>
                <a:latin typeface="Arial"/>
              </a:defRPr>
            </a:pPr>
            <a:r>
              <a:t>Alveoli</a:t>
            </a:r>
            <a:endParaRPr lang="it-IT"/>
          </a:p>
        </p:txBody>
      </p:sp>
      <p:sp>
        <p:nvSpPr>
          <p:cNvPr id="19" name="TextBox 18"/>
          <p:cNvSpPr txBox="1"/>
          <p:nvPr/>
        </p:nvSpPr>
        <p:spPr>
          <a:xfrm>
            <a:off x="10006244" y="5502401"/>
            <a:ext cx="1524000" cy="338554"/>
          </a:xfrm>
          <a:prstGeom prst="rect">
            <a:avLst/>
          </a:prstGeom>
          <a:noFill/>
        </p:spPr>
        <p:txBody>
          <a:bodyPr wrap="square" lIns="0" tIns="0" rIns="0" bIns="0">
            <a:spAutoFit/>
          </a:bodyPr>
          <a:lstStyle/>
          <a:p>
            <a:pPr algn="ctr">
              <a:defRPr sz="2200" b="1">
                <a:solidFill>
                  <a:srgbClr val="087E8B"/>
                </a:solidFill>
                <a:latin typeface="Arial"/>
              </a:defRPr>
            </a:pPr>
            <a:r>
              <a:rPr dirty="0" err="1"/>
              <a:t>Sangue</a:t>
            </a:r>
            <a:endParaRPr lang="it-IT" dirty="0"/>
          </a:p>
        </p:txBody>
      </p:sp>
      <p:cxnSp>
        <p:nvCxnSpPr>
          <p:cNvPr id="20" name="Connector 19"/>
          <p:cNvCxnSpPr/>
          <p:nvPr/>
        </p:nvCxnSpPr>
        <p:spPr>
          <a:xfrm>
            <a:off x="8239125" y="5400675"/>
            <a:ext cx="1666875"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39125" y="5095875"/>
            <a:ext cx="1666875" cy="266700"/>
          </a:xfrm>
          <a:prstGeom prst="rect">
            <a:avLst/>
          </a:prstGeom>
          <a:noFill/>
        </p:spPr>
        <p:txBody>
          <a:bodyPr wrap="square" lIns="0" tIns="0" rIns="0" bIns="0">
            <a:spAutoFit/>
          </a:bodyPr>
          <a:lstStyle/>
          <a:p>
            <a:pPr algn="ctr">
              <a:defRPr sz="1700" b="0">
                <a:solidFill>
                  <a:srgbClr val="193248"/>
                </a:solidFill>
                <a:latin typeface="Arial"/>
              </a:defRPr>
            </a:pPr>
            <a:r>
              <a:rPr lang="it-IT"/>
              <a:t>O2</a:t>
            </a:r>
          </a:p>
        </p:txBody>
      </p:sp>
      <p:cxnSp>
        <p:nvCxnSpPr>
          <p:cNvPr id="22" name="Connector 21"/>
          <p:cNvCxnSpPr/>
          <p:nvPr/>
        </p:nvCxnSpPr>
        <p:spPr>
          <a:xfrm flipH="1">
            <a:off x="8239125" y="5915025"/>
            <a:ext cx="1666875" cy="0"/>
          </a:xfrm>
          <a:prstGeom prst="line">
            <a:avLst/>
          </a:prstGeom>
          <a:ln w="25400">
            <a:solidFill>
              <a:srgbClr val="087E8B"/>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39125" y="5972175"/>
            <a:ext cx="1666875" cy="230832"/>
          </a:xfrm>
          <a:prstGeom prst="rect">
            <a:avLst/>
          </a:prstGeom>
          <a:noFill/>
        </p:spPr>
        <p:txBody>
          <a:bodyPr wrap="square" lIns="0" tIns="0" rIns="0" bIns="0">
            <a:spAutoFit/>
          </a:bodyPr>
          <a:lstStyle/>
          <a:p>
            <a:pPr algn="ctr">
              <a:defRPr sz="1500" b="0">
                <a:solidFill>
                  <a:srgbClr val="193248"/>
                </a:solidFill>
                <a:latin typeface="Arial"/>
              </a:defRPr>
            </a:pPr>
            <a:r>
              <a:rPr lang="it-IT"/>
              <a:t>CO2</a:t>
            </a:r>
          </a:p>
        </p:txBody>
      </p:sp>
      <p:sp>
        <p:nvSpPr>
          <p:cNvPr id="40" name="TextBox 39"/>
          <p:cNvSpPr txBox="1"/>
          <p:nvPr/>
        </p:nvSpPr>
        <p:spPr>
          <a:xfrm>
            <a:off x="8081962" y="5554218"/>
            <a:ext cx="1981200" cy="266700"/>
          </a:xfrm>
          <a:prstGeom prst="rect">
            <a:avLst/>
          </a:prstGeom>
          <a:noFill/>
        </p:spPr>
        <p:txBody>
          <a:bodyPr wrap="square" lIns="0" tIns="0" rIns="0" bIns="0">
            <a:spAutoFit/>
          </a:bodyPr>
          <a:lstStyle/>
          <a:p>
            <a:pPr algn="ctr">
              <a:defRPr sz="1300">
                <a:solidFill>
                  <a:srgbClr val="087E8B"/>
                </a:solidFill>
                <a:latin typeface="Arial"/>
              </a:defRPr>
            </a:pPr>
            <a:r>
              <a:rPr dirty="0"/>
              <a:t>(</a:t>
            </a:r>
            <a:r>
              <a:rPr dirty="0" err="1"/>
              <a:t>piccola</a:t>
            </a:r>
            <a:r>
              <a:rPr dirty="0"/>
              <a:t> </a:t>
            </a:r>
            <a:r>
              <a:rPr dirty="0" err="1"/>
              <a:t>circolazione</a:t>
            </a:r>
            <a:r>
              <a:rPr dirty="0"/>
              <a:t>)</a:t>
            </a:r>
          </a:p>
        </p:txBody>
      </p:sp>
      <p:sp>
        <p:nvSpPr>
          <p:cNvPr id="42" name="TextBox 41"/>
          <p:cNvSpPr txBox="1"/>
          <p:nvPr/>
        </p:nvSpPr>
        <p:spPr>
          <a:xfrm>
            <a:off x="1047902" y="5486400"/>
            <a:ext cx="5372100" cy="361950"/>
          </a:xfrm>
          <a:prstGeom prst="rect">
            <a:avLst/>
          </a:prstGeom>
          <a:noFill/>
        </p:spPr>
        <p:txBody>
          <a:bodyPr wrap="square" lIns="0" tIns="0" rIns="0" bIns="0">
            <a:noAutofit/>
          </a:bodyPr>
          <a:lstStyle/>
          <a:p>
            <a:pPr>
              <a:spcAft>
                <a:spcPts val="400"/>
              </a:spcAft>
              <a:defRPr sz="1800" b="1">
                <a:solidFill>
                  <a:srgbClr val="087E8B"/>
                </a:solidFill>
                <a:latin typeface="Arial"/>
              </a:defRPr>
            </a:pPr>
            <a:r>
              <a:t>Epiglottide: protezione durante la deglutizione</a:t>
            </a:r>
          </a:p>
        </p:txBody>
      </p:sp>
      <p:sp>
        <p:nvSpPr>
          <p:cNvPr id="43" name="TextBox 42"/>
          <p:cNvSpPr txBox="1"/>
          <p:nvPr/>
        </p:nvSpPr>
        <p:spPr>
          <a:xfrm>
            <a:off x="1047750" y="5782817"/>
            <a:ext cx="5619750" cy="438150"/>
          </a:xfrm>
          <a:prstGeom prst="rect">
            <a:avLst/>
          </a:prstGeom>
          <a:noFill/>
        </p:spPr>
        <p:txBody>
          <a:bodyPr wrap="square" lIns="0" tIns="0" rIns="0" bIns="0">
            <a:noAutofit/>
          </a:bodyPr>
          <a:lstStyle/>
          <a:p>
            <a:pPr>
              <a:spcAft>
                <a:spcPts val="400"/>
              </a:spcAft>
              <a:defRPr sz="1700" b="0">
                <a:solidFill>
                  <a:srgbClr val="193248"/>
                </a:solidFill>
                <a:latin typeface="Arial"/>
              </a:defRPr>
            </a:pPr>
            <a:r>
              <a:rPr dirty="0" err="1"/>
              <a:t>Contribuisce</a:t>
            </a:r>
            <a:r>
              <a:rPr dirty="0"/>
              <a:t> a </a:t>
            </a:r>
            <a:r>
              <a:rPr dirty="0" err="1"/>
              <a:t>chiudere</a:t>
            </a:r>
            <a:r>
              <a:rPr dirty="0"/>
              <a:t> </a:t>
            </a:r>
            <a:r>
              <a:rPr dirty="0" err="1"/>
              <a:t>l’ingresso</a:t>
            </a:r>
            <a:r>
              <a:rPr dirty="0"/>
              <a:t> della </a:t>
            </a:r>
            <a:r>
              <a:rPr dirty="0" err="1"/>
              <a:t>laringe</a:t>
            </a:r>
            <a:r>
              <a:rPr dirty="0"/>
              <a:t> e a </a:t>
            </a:r>
            <a:r>
              <a:rPr dirty="0" err="1"/>
              <a:t>impedire</a:t>
            </a:r>
            <a:r>
              <a:rPr dirty="0"/>
              <a:t> </a:t>
            </a:r>
            <a:r>
              <a:rPr dirty="0" err="1"/>
              <a:t>l’aspirazione</a:t>
            </a:r>
            <a:r>
              <a:rPr dirty="0"/>
              <a:t> di </a:t>
            </a:r>
            <a:r>
              <a:rPr dirty="0" err="1"/>
              <a:t>cibo</a:t>
            </a:r>
            <a:r>
              <a:rPr dirty="0"/>
              <a:t>.</a:t>
            </a:r>
          </a:p>
        </p:txBody>
      </p:sp>
      <p:sp>
        <p:nvSpPr>
          <p:cNvPr id="44" name="TextBox 43"/>
          <p:cNvSpPr txBox="1"/>
          <p:nvPr/>
        </p:nvSpPr>
        <p:spPr>
          <a:xfrm>
            <a:off x="1047750" y="2305050"/>
            <a:ext cx="5372100" cy="838200"/>
          </a:xfrm>
          <a:prstGeom prst="rect">
            <a:avLst/>
          </a:prstGeom>
          <a:noFill/>
        </p:spPr>
        <p:txBody>
          <a:bodyPr wrap="square" lIns="0" tIns="0" rIns="0" bIns="0">
            <a:spAutoFit/>
          </a:bodyPr>
          <a:lstStyle/>
          <a:p>
            <a:pPr>
              <a:spcAft>
                <a:spcPts val="400"/>
              </a:spcAft>
              <a:defRPr sz="1900" b="0">
                <a:solidFill>
                  <a:srgbClr val="193248"/>
                </a:solidFill>
                <a:latin typeface="Arial"/>
              </a:defRPr>
            </a:pPr>
            <a:r>
              <a:t>Naso: filtra, riscalda e umidifica l’aria.</a:t>
            </a:r>
          </a:p>
        </p:txBody>
      </p:sp>
      <p:sp>
        <p:nvSpPr>
          <p:cNvPr id="45" name="TextBox 44"/>
          <p:cNvSpPr txBox="1"/>
          <p:nvPr/>
        </p:nvSpPr>
        <p:spPr>
          <a:xfrm>
            <a:off x="1047750" y="2739390"/>
            <a:ext cx="5372100" cy="838200"/>
          </a:xfrm>
          <a:prstGeom prst="rect">
            <a:avLst/>
          </a:prstGeom>
          <a:noFill/>
        </p:spPr>
        <p:txBody>
          <a:bodyPr wrap="square" lIns="0" tIns="0" rIns="0" bIns="0">
            <a:spAutoFit/>
          </a:bodyPr>
          <a:lstStyle/>
          <a:p>
            <a:pPr>
              <a:spcAft>
                <a:spcPts val="400"/>
              </a:spcAft>
              <a:defRPr sz="1900" b="0">
                <a:solidFill>
                  <a:srgbClr val="193248"/>
                </a:solidFill>
                <a:latin typeface="Arial"/>
              </a:defRPr>
            </a:pPr>
            <a:r>
              <a:t>Faringe: passaggio comune ad aria e alimenti.</a:t>
            </a:r>
          </a:p>
        </p:txBody>
      </p:sp>
      <p:sp>
        <p:nvSpPr>
          <p:cNvPr id="46" name="TextBox 45"/>
          <p:cNvSpPr txBox="1"/>
          <p:nvPr/>
        </p:nvSpPr>
        <p:spPr>
          <a:xfrm>
            <a:off x="1047750" y="3173730"/>
            <a:ext cx="5372100" cy="838200"/>
          </a:xfrm>
          <a:prstGeom prst="rect">
            <a:avLst/>
          </a:prstGeom>
          <a:noFill/>
        </p:spPr>
        <p:txBody>
          <a:bodyPr wrap="square" lIns="0" tIns="0" rIns="0" bIns="0">
            <a:spAutoFit/>
          </a:bodyPr>
          <a:lstStyle/>
          <a:p>
            <a:pPr>
              <a:spcAft>
                <a:spcPts val="400"/>
              </a:spcAft>
              <a:defRPr sz="1900" b="0">
                <a:solidFill>
                  <a:srgbClr val="193248"/>
                </a:solidFill>
                <a:latin typeface="Arial"/>
              </a:defRPr>
            </a:pPr>
            <a:r>
              <a:t>Laringe: conduce l’aria e contiene le corde vocali.</a:t>
            </a:r>
          </a:p>
        </p:txBody>
      </p:sp>
      <p:sp>
        <p:nvSpPr>
          <p:cNvPr id="47" name="TextBox 46"/>
          <p:cNvSpPr txBox="1"/>
          <p:nvPr/>
        </p:nvSpPr>
        <p:spPr>
          <a:xfrm>
            <a:off x="1047750" y="3608070"/>
            <a:ext cx="5372100" cy="838200"/>
          </a:xfrm>
          <a:prstGeom prst="rect">
            <a:avLst/>
          </a:prstGeom>
          <a:noFill/>
        </p:spPr>
        <p:txBody>
          <a:bodyPr wrap="square" lIns="0" tIns="0" rIns="0" bIns="0">
            <a:spAutoFit/>
          </a:bodyPr>
          <a:lstStyle/>
          <a:p>
            <a:pPr>
              <a:spcAft>
                <a:spcPts val="400"/>
              </a:spcAft>
              <a:defRPr sz="1900" b="0">
                <a:solidFill>
                  <a:srgbClr val="193248"/>
                </a:solidFill>
                <a:latin typeface="Arial"/>
              </a:defRPr>
            </a:pPr>
            <a:r>
              <a:t>Trachea: porta l’aria ai bronchi.</a:t>
            </a:r>
          </a:p>
        </p:txBody>
      </p:sp>
      <p:sp>
        <p:nvSpPr>
          <p:cNvPr id="48" name="TextBox 47"/>
          <p:cNvSpPr txBox="1"/>
          <p:nvPr/>
        </p:nvSpPr>
        <p:spPr>
          <a:xfrm>
            <a:off x="1047750" y="4042410"/>
            <a:ext cx="5372100" cy="838200"/>
          </a:xfrm>
          <a:prstGeom prst="rect">
            <a:avLst/>
          </a:prstGeom>
          <a:noFill/>
        </p:spPr>
        <p:txBody>
          <a:bodyPr wrap="square" lIns="0" tIns="0" rIns="0" bIns="0">
            <a:spAutoFit/>
          </a:bodyPr>
          <a:lstStyle/>
          <a:p>
            <a:pPr>
              <a:spcAft>
                <a:spcPts val="400"/>
              </a:spcAft>
              <a:defRPr sz="1900" b="0">
                <a:solidFill>
                  <a:srgbClr val="193248"/>
                </a:solidFill>
                <a:latin typeface="Arial"/>
              </a:defRPr>
            </a:pPr>
            <a:r>
              <a:t>Bronchi: entrano nei polmoni e si ramificano.</a:t>
            </a:r>
          </a:p>
        </p:txBody>
      </p:sp>
      <p:sp>
        <p:nvSpPr>
          <p:cNvPr id="49" name="TextBox 48"/>
          <p:cNvSpPr txBox="1"/>
          <p:nvPr/>
        </p:nvSpPr>
        <p:spPr>
          <a:xfrm>
            <a:off x="1047750" y="4476750"/>
            <a:ext cx="5372100" cy="838200"/>
          </a:xfrm>
          <a:prstGeom prst="rect">
            <a:avLst/>
          </a:prstGeom>
          <a:noFill/>
        </p:spPr>
        <p:txBody>
          <a:bodyPr wrap="square" lIns="0" tIns="0" rIns="0" bIns="0">
            <a:spAutoFit/>
          </a:bodyPr>
          <a:lstStyle/>
          <a:p>
            <a:pPr>
              <a:spcAft>
                <a:spcPts val="400"/>
              </a:spcAft>
              <a:defRPr sz="1900" b="0">
                <a:solidFill>
                  <a:srgbClr val="193248"/>
                </a:solidFill>
                <a:latin typeface="Arial"/>
              </a:defRPr>
            </a:pPr>
            <a:r>
              <a:t>Bronchioli e alveoli: le ramificazioni raggiungono la zona degli scambi gassosi.</a:t>
            </a:r>
          </a:p>
        </p:txBody>
      </p:sp>
      <p:sp>
        <p:nvSpPr>
          <p:cNvPr id="50" name="Oval 49"/>
          <p:cNvSpPr/>
          <p:nvPr/>
        </p:nvSpPr>
        <p:spPr>
          <a:xfrm>
            <a:off x="704850" y="2314575"/>
            <a:ext cx="247650" cy="247650"/>
          </a:xfrm>
          <a:prstGeom prst="ellipse">
            <a:avLst/>
          </a:prstGeom>
          <a:solidFill>
            <a:srgbClr val="92B52C"/>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defRPr sz="1500" b="1">
                <a:solidFill>
                  <a:srgbClr val="FFFFFF"/>
                </a:solidFill>
                <a:latin typeface="Arial"/>
              </a:defRPr>
            </a:pPr>
            <a:r>
              <a:t>1</a:t>
            </a:r>
          </a:p>
        </p:txBody>
      </p:sp>
      <p:sp>
        <p:nvSpPr>
          <p:cNvPr id="51" name="Oval 50"/>
          <p:cNvSpPr/>
          <p:nvPr/>
        </p:nvSpPr>
        <p:spPr>
          <a:xfrm>
            <a:off x="704850" y="2748915"/>
            <a:ext cx="247650" cy="247650"/>
          </a:xfrm>
          <a:prstGeom prst="ellipse">
            <a:avLst/>
          </a:prstGeom>
          <a:solidFill>
            <a:srgbClr val="92B52C"/>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defRPr sz="1500" b="1">
                <a:solidFill>
                  <a:srgbClr val="FFFFFF"/>
                </a:solidFill>
                <a:latin typeface="Arial"/>
              </a:defRPr>
            </a:pPr>
            <a:r>
              <a:t>2</a:t>
            </a:r>
          </a:p>
        </p:txBody>
      </p:sp>
      <p:sp>
        <p:nvSpPr>
          <p:cNvPr id="52" name="Oval 51"/>
          <p:cNvSpPr/>
          <p:nvPr/>
        </p:nvSpPr>
        <p:spPr>
          <a:xfrm>
            <a:off x="704850" y="3183255"/>
            <a:ext cx="247650" cy="247650"/>
          </a:xfrm>
          <a:prstGeom prst="ellipse">
            <a:avLst/>
          </a:prstGeom>
          <a:solidFill>
            <a:srgbClr val="92B52C"/>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defRPr sz="1500" b="1">
                <a:solidFill>
                  <a:srgbClr val="FFFFFF"/>
                </a:solidFill>
                <a:latin typeface="Arial"/>
              </a:defRPr>
            </a:pPr>
            <a:r>
              <a:rPr lang="it-IT"/>
              <a:t>3</a:t>
            </a:r>
            <a:endParaRPr/>
          </a:p>
        </p:txBody>
      </p:sp>
      <p:sp>
        <p:nvSpPr>
          <p:cNvPr id="53" name="Oval 52"/>
          <p:cNvSpPr/>
          <p:nvPr/>
        </p:nvSpPr>
        <p:spPr>
          <a:xfrm>
            <a:off x="704850" y="3617595"/>
            <a:ext cx="247650" cy="247650"/>
          </a:xfrm>
          <a:prstGeom prst="ellipse">
            <a:avLst/>
          </a:prstGeom>
          <a:solidFill>
            <a:srgbClr val="92B52C"/>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defRPr sz="1500" b="1">
                <a:solidFill>
                  <a:srgbClr val="FFFFFF"/>
                </a:solidFill>
                <a:latin typeface="Arial"/>
              </a:defRPr>
            </a:pPr>
            <a:r>
              <a:rPr lang="it-IT"/>
              <a:t>4</a:t>
            </a:r>
            <a:endParaRPr/>
          </a:p>
        </p:txBody>
      </p:sp>
      <p:sp>
        <p:nvSpPr>
          <p:cNvPr id="54" name="Oval 53"/>
          <p:cNvSpPr/>
          <p:nvPr/>
        </p:nvSpPr>
        <p:spPr>
          <a:xfrm>
            <a:off x="704850" y="4051935"/>
            <a:ext cx="247650" cy="247650"/>
          </a:xfrm>
          <a:prstGeom prst="ellipse">
            <a:avLst/>
          </a:prstGeom>
          <a:solidFill>
            <a:srgbClr val="92B52C"/>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defRPr sz="1500" b="1">
                <a:solidFill>
                  <a:srgbClr val="FFFFFF"/>
                </a:solidFill>
                <a:latin typeface="Arial"/>
              </a:defRPr>
            </a:pPr>
            <a:r>
              <a:rPr lang="it-IT"/>
              <a:t>5</a:t>
            </a:r>
            <a:endParaRPr/>
          </a:p>
        </p:txBody>
      </p:sp>
      <p:sp>
        <p:nvSpPr>
          <p:cNvPr id="55" name="Oval 54"/>
          <p:cNvSpPr/>
          <p:nvPr/>
        </p:nvSpPr>
        <p:spPr>
          <a:xfrm>
            <a:off x="704850" y="4486275"/>
            <a:ext cx="247650" cy="247650"/>
          </a:xfrm>
          <a:prstGeom prst="ellipse">
            <a:avLst/>
          </a:prstGeom>
          <a:solidFill>
            <a:srgbClr val="92B52C"/>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defRPr sz="1500" b="1">
                <a:solidFill>
                  <a:srgbClr val="FFFFFF"/>
                </a:solidFill>
                <a:latin typeface="Arial"/>
              </a:defRPr>
            </a:pPr>
            <a:r>
              <a:rPr lang="it-IT"/>
              <a:t>6</a:t>
            </a:r>
            <a:endParaRPr/>
          </a:p>
        </p:txBody>
      </p:sp>
      <p:sp>
        <p:nvSpPr>
          <p:cNvPr id="57" name="Epiglottide - testo"/>
          <p:cNvSpPr/>
          <p:nvPr/>
        </p:nvSpPr>
        <p:spPr>
          <a:xfrm>
            <a:off x="726948" y="5522976"/>
            <a:ext cx="201168" cy="201168"/>
          </a:xfrm>
          <a:prstGeom prst="diamond">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Epiglottide - immagine"/>
          <p:cNvSpPr/>
          <p:nvPr/>
        </p:nvSpPr>
        <p:spPr>
          <a:xfrm>
            <a:off x="7936992" y="2368296"/>
            <a:ext cx="128016" cy="128016"/>
          </a:xfrm>
          <a:prstGeom prst="diamond">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00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RESPIRATORIO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I polmoni</a:t>
            </a:r>
            <a:endParaRPr sz="3225" b="1">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45</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Dai bronchi agli alveoli: la struttura che permette gli scambi gassosi</a:t>
            </a:r>
            <a:endParaRPr sz="1900" b="0">
              <a:solidFill>
                <a:srgbClr val="087E8B"/>
              </a:solidFill>
              <a:latin typeface="Arial"/>
            </a:endParaRPr>
          </a:p>
        </p:txBody>
      </p:sp>
      <p:pic>
        <p:nvPicPr>
          <p:cNvPr id="8" name="Picture 7" descr="Illustrazione anatomica schematica generata con IA: I polmoni"/>
          <p:cNvPicPr>
            <a:picLocks noChangeAspect="1"/>
          </p:cNvPicPr>
          <p:nvPr/>
        </p:nvPicPr>
        <p:blipFill>
          <a:blip r:embed="rId3"/>
          <a:srcRect/>
          <a:stretch>
            <a:fillRect/>
          </a:stretch>
        </p:blipFill>
        <p:spPr>
          <a:xfrm>
            <a:off x="667512" y="2336577"/>
            <a:ext cx="4754880" cy="3177540"/>
          </a:xfrm>
          <a:prstGeom prst="rect">
            <a:avLst/>
          </a:prstGeom>
        </p:spPr>
      </p:pic>
      <p:sp>
        <p:nvSpPr>
          <p:cNvPr id="9" name="Organ profile 9"/>
          <p:cNvSpPr txBox="1"/>
          <p:nvPr/>
        </p:nvSpPr>
        <p:spPr>
          <a:xfrm>
            <a:off x="667512" y="5760720"/>
            <a:ext cx="4754880" cy="493776"/>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Nel torace, ai lati del cuore,</a:t>
            </a:r>
          </a:p>
          <a:p>
            <a:pPr algn="ctr">
              <a:lnSpc>
                <a:spcPct val="105000"/>
              </a:lnSpc>
              <a:spcBef>
                <a:spcPts val="0"/>
              </a:spcBef>
              <a:spcAft>
                <a:spcPts val="0"/>
              </a:spcAft>
            </a:pPr>
            <a:r>
              <a:rPr sz="1650" b="0">
                <a:solidFill>
                  <a:srgbClr val="087E8B"/>
                </a:solidFill>
                <a:latin typeface="Arial"/>
              </a:rPr>
              <a:t>protetti dalle costole e sopra il diaframma.</a:t>
            </a:r>
          </a:p>
        </p:txBody>
      </p:sp>
      <p:sp>
        <p:nvSpPr>
          <p:cNvPr id="10" name="Organ profile 10"/>
          <p:cNvSpPr txBox="1"/>
          <p:nvPr/>
        </p:nvSpPr>
        <p:spPr>
          <a:xfrm>
            <a:off x="5669280" y="1975104"/>
            <a:ext cx="587959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dirty="0">
                <a:solidFill>
                  <a:srgbClr val="123F67"/>
                </a:solidFill>
                <a:latin typeface="Arial"/>
              </a:rPr>
              <a:t>Lobi e </a:t>
            </a:r>
            <a:r>
              <a:rPr lang="it-IT" sz="2000" b="1" dirty="0">
                <a:solidFill>
                  <a:srgbClr val="123F67"/>
                </a:solidFill>
                <a:latin typeface="Arial"/>
              </a:rPr>
              <a:t>P</a:t>
            </a:r>
            <a:r>
              <a:rPr sz="2000" b="1" dirty="0" err="1">
                <a:solidFill>
                  <a:srgbClr val="123F67"/>
                </a:solidFill>
                <a:latin typeface="Arial"/>
              </a:rPr>
              <a:t>leura</a:t>
            </a:r>
            <a:endParaRPr sz="2000" b="1" dirty="0">
              <a:solidFill>
                <a:srgbClr val="123F67"/>
              </a:solidFill>
              <a:latin typeface="Arial"/>
            </a:endParaRPr>
          </a:p>
        </p:txBody>
      </p:sp>
      <p:sp>
        <p:nvSpPr>
          <p:cNvPr id="11" name="Organ profile 11"/>
          <p:cNvSpPr txBox="1"/>
          <p:nvPr/>
        </p:nvSpPr>
        <p:spPr>
          <a:xfrm>
            <a:off x="5669280" y="2368296"/>
            <a:ext cx="5879592" cy="1353312"/>
          </a:xfrm>
          <a:prstGeom prst="rect">
            <a:avLst/>
          </a:prstGeom>
          <a:noFill/>
        </p:spPr>
        <p:txBody>
          <a:bodyPr wrap="square" lIns="0" tIns="0" rIns="0" bIns="0" anchor="t">
            <a:noAutofit/>
          </a:bodyPr>
          <a:lstStyle/>
          <a:p>
            <a:pPr algn="l">
              <a:lnSpc>
                <a:spcPct val="105000"/>
              </a:lnSpc>
              <a:spcBef>
                <a:spcPts val="0"/>
              </a:spcBef>
              <a:spcAft>
                <a:spcPts val="0"/>
              </a:spcAft>
            </a:pPr>
            <a:r>
              <a:rPr sz="1850" b="0" dirty="0">
                <a:solidFill>
                  <a:srgbClr val="193248"/>
                </a:solidFill>
                <a:latin typeface="Arial"/>
              </a:rPr>
              <a:t>Il </a:t>
            </a:r>
            <a:r>
              <a:rPr sz="1850" b="0" dirty="0" err="1">
                <a:solidFill>
                  <a:srgbClr val="193248"/>
                </a:solidFill>
                <a:latin typeface="Arial"/>
              </a:rPr>
              <a:t>polmone</a:t>
            </a:r>
            <a:r>
              <a:rPr sz="1850" b="0" dirty="0">
                <a:solidFill>
                  <a:srgbClr val="193248"/>
                </a:solidFill>
                <a:latin typeface="Arial"/>
              </a:rPr>
              <a:t> </a:t>
            </a:r>
            <a:r>
              <a:rPr sz="1850" b="0" dirty="0" err="1">
                <a:solidFill>
                  <a:srgbClr val="193248"/>
                </a:solidFill>
                <a:latin typeface="Arial"/>
              </a:rPr>
              <a:t>destro</a:t>
            </a:r>
            <a:r>
              <a:rPr sz="1850" b="0" dirty="0">
                <a:solidFill>
                  <a:srgbClr val="193248"/>
                </a:solidFill>
                <a:latin typeface="Arial"/>
              </a:rPr>
              <a:t> ha </a:t>
            </a:r>
            <a:r>
              <a:rPr lang="it-IT" sz="1850" dirty="0">
                <a:solidFill>
                  <a:srgbClr val="193248"/>
                </a:solidFill>
                <a:latin typeface="Arial"/>
              </a:rPr>
              <a:t>3</a:t>
            </a:r>
            <a:r>
              <a:rPr sz="1850" b="0" dirty="0">
                <a:solidFill>
                  <a:srgbClr val="193248"/>
                </a:solidFill>
                <a:latin typeface="Arial"/>
              </a:rPr>
              <a:t> </a:t>
            </a:r>
            <a:r>
              <a:rPr sz="1850" b="0" dirty="0" err="1">
                <a:solidFill>
                  <a:srgbClr val="193248"/>
                </a:solidFill>
                <a:latin typeface="Arial"/>
              </a:rPr>
              <a:t>lobi</a:t>
            </a:r>
            <a:r>
              <a:rPr sz="1850" b="0" dirty="0">
                <a:solidFill>
                  <a:srgbClr val="193248"/>
                </a:solidFill>
                <a:latin typeface="Arial"/>
              </a:rPr>
              <a:t>, il </a:t>
            </a:r>
            <a:r>
              <a:rPr sz="1850" b="0" dirty="0" err="1">
                <a:solidFill>
                  <a:srgbClr val="193248"/>
                </a:solidFill>
                <a:latin typeface="Arial"/>
              </a:rPr>
              <a:t>sinistro</a:t>
            </a:r>
            <a:r>
              <a:rPr sz="1850" b="0" dirty="0">
                <a:solidFill>
                  <a:srgbClr val="193248"/>
                </a:solidFill>
                <a:latin typeface="Arial"/>
              </a:rPr>
              <a:t> </a:t>
            </a:r>
            <a:r>
              <a:rPr lang="it-IT" sz="1850" dirty="0">
                <a:solidFill>
                  <a:srgbClr val="193248"/>
                </a:solidFill>
                <a:latin typeface="Arial"/>
              </a:rPr>
              <a:t>2</a:t>
            </a:r>
            <a:r>
              <a:rPr sz="1850" b="0" dirty="0">
                <a:solidFill>
                  <a:srgbClr val="193248"/>
                </a:solidFill>
                <a:latin typeface="Arial"/>
              </a:rPr>
              <a:t> </a:t>
            </a:r>
            <a:r>
              <a:rPr lang="it-IT" sz="1850" b="0" dirty="0">
                <a:solidFill>
                  <a:srgbClr val="193248"/>
                </a:solidFill>
                <a:latin typeface="Arial"/>
              </a:rPr>
              <a:t>p</a:t>
            </a:r>
            <a:r>
              <a:rPr sz="1850" b="0" dirty="0">
                <a:solidFill>
                  <a:srgbClr val="193248"/>
                </a:solidFill>
                <a:latin typeface="Arial"/>
              </a:rPr>
              <a:t>e</a:t>
            </a:r>
            <a:r>
              <a:rPr lang="it-IT" sz="1850" b="0" dirty="0">
                <a:solidFill>
                  <a:srgbClr val="193248"/>
                </a:solidFill>
                <a:latin typeface="Arial"/>
              </a:rPr>
              <a:t>r</a:t>
            </a:r>
            <a:r>
              <a:rPr sz="1850" b="0" dirty="0">
                <a:solidFill>
                  <a:srgbClr val="193248"/>
                </a:solidFill>
                <a:latin typeface="Arial"/>
              </a:rPr>
              <a:t> </a:t>
            </a:r>
            <a:r>
              <a:rPr sz="1850" b="0" dirty="0" err="1">
                <a:solidFill>
                  <a:srgbClr val="193248"/>
                </a:solidFill>
                <a:latin typeface="Arial"/>
              </a:rPr>
              <a:t>lascia</a:t>
            </a:r>
            <a:r>
              <a:rPr lang="it-IT" sz="1850" b="0" dirty="0">
                <a:solidFill>
                  <a:srgbClr val="193248"/>
                </a:solidFill>
                <a:latin typeface="Arial"/>
              </a:rPr>
              <a:t>re</a:t>
            </a:r>
            <a:r>
              <a:rPr sz="1850" b="0" dirty="0">
                <a:solidFill>
                  <a:srgbClr val="193248"/>
                </a:solidFill>
                <a:latin typeface="Arial"/>
              </a:rPr>
              <a:t> </a:t>
            </a:r>
            <a:r>
              <a:rPr sz="1850" b="0" dirty="0" err="1">
                <a:solidFill>
                  <a:srgbClr val="193248"/>
                </a:solidFill>
                <a:latin typeface="Arial"/>
              </a:rPr>
              <a:t>spazio</a:t>
            </a:r>
            <a:r>
              <a:rPr sz="1850" b="0" dirty="0">
                <a:solidFill>
                  <a:srgbClr val="193248"/>
                </a:solidFill>
                <a:latin typeface="Arial"/>
              </a:rPr>
              <a:t> al </a:t>
            </a:r>
            <a:r>
              <a:rPr sz="1850" b="0" dirty="0" err="1">
                <a:solidFill>
                  <a:srgbClr val="193248"/>
                </a:solidFill>
                <a:latin typeface="Arial"/>
              </a:rPr>
              <a:t>cuore</a:t>
            </a:r>
            <a:r>
              <a:rPr sz="1850" b="0" dirty="0">
                <a:solidFill>
                  <a:srgbClr val="193248"/>
                </a:solidFill>
                <a:latin typeface="Arial"/>
              </a:rPr>
              <a:t>. Ogni </a:t>
            </a:r>
            <a:r>
              <a:rPr sz="1850" b="0" dirty="0" err="1">
                <a:solidFill>
                  <a:srgbClr val="193248"/>
                </a:solidFill>
                <a:latin typeface="Arial"/>
              </a:rPr>
              <a:t>polmone</a:t>
            </a:r>
            <a:r>
              <a:rPr sz="1850" b="0" dirty="0">
                <a:solidFill>
                  <a:srgbClr val="193248"/>
                </a:solidFill>
                <a:latin typeface="Arial"/>
              </a:rPr>
              <a:t> è </a:t>
            </a:r>
            <a:r>
              <a:rPr sz="1850" b="0" dirty="0" err="1">
                <a:solidFill>
                  <a:srgbClr val="193248"/>
                </a:solidFill>
                <a:latin typeface="Arial"/>
              </a:rPr>
              <a:t>avvolto</a:t>
            </a:r>
            <a:r>
              <a:rPr sz="1850" b="0" dirty="0">
                <a:solidFill>
                  <a:srgbClr val="193248"/>
                </a:solidFill>
                <a:latin typeface="Arial"/>
              </a:rPr>
              <a:t> </a:t>
            </a:r>
            <a:r>
              <a:rPr sz="1850" b="0" dirty="0" err="1">
                <a:solidFill>
                  <a:srgbClr val="193248"/>
                </a:solidFill>
                <a:latin typeface="Arial"/>
              </a:rPr>
              <a:t>dalla</a:t>
            </a:r>
            <a:r>
              <a:rPr sz="1850" b="0" dirty="0">
                <a:solidFill>
                  <a:srgbClr val="193248"/>
                </a:solidFill>
                <a:latin typeface="Arial"/>
              </a:rPr>
              <a:t> pleura </a:t>
            </a:r>
            <a:r>
              <a:rPr lang="it-IT" sz="1850" b="0" dirty="0">
                <a:solidFill>
                  <a:srgbClr val="193248"/>
                </a:solidFill>
                <a:latin typeface="Arial"/>
              </a:rPr>
              <a:t>(</a:t>
            </a:r>
            <a:r>
              <a:rPr sz="1850" b="0" dirty="0" err="1">
                <a:solidFill>
                  <a:srgbClr val="193248"/>
                </a:solidFill>
                <a:latin typeface="Arial"/>
              </a:rPr>
              <a:t>una</a:t>
            </a:r>
            <a:r>
              <a:rPr sz="1850" b="0" dirty="0">
                <a:solidFill>
                  <a:srgbClr val="193248"/>
                </a:solidFill>
                <a:latin typeface="Arial"/>
              </a:rPr>
              <a:t> doppia membrana </a:t>
            </a:r>
            <a:r>
              <a:rPr sz="1850" b="0" dirty="0" err="1">
                <a:solidFill>
                  <a:srgbClr val="193248"/>
                </a:solidFill>
                <a:latin typeface="Arial"/>
              </a:rPr>
              <a:t>che</a:t>
            </a:r>
            <a:r>
              <a:rPr sz="1850" b="0" dirty="0">
                <a:solidFill>
                  <a:srgbClr val="193248"/>
                </a:solidFill>
                <a:latin typeface="Arial"/>
              </a:rPr>
              <a:t> </a:t>
            </a:r>
            <a:r>
              <a:rPr sz="1850" b="0" dirty="0" err="1">
                <a:solidFill>
                  <a:srgbClr val="193248"/>
                </a:solidFill>
                <a:latin typeface="Arial"/>
              </a:rPr>
              <a:t>facilita</a:t>
            </a:r>
            <a:r>
              <a:rPr sz="1850" b="0" dirty="0">
                <a:solidFill>
                  <a:srgbClr val="193248"/>
                </a:solidFill>
                <a:latin typeface="Arial"/>
              </a:rPr>
              <a:t> lo </a:t>
            </a:r>
            <a:r>
              <a:rPr sz="1850" b="0" dirty="0" err="1">
                <a:solidFill>
                  <a:srgbClr val="193248"/>
                </a:solidFill>
                <a:latin typeface="Arial"/>
              </a:rPr>
              <a:t>scorrimento</a:t>
            </a:r>
            <a:r>
              <a:rPr sz="1850" b="0" dirty="0">
                <a:solidFill>
                  <a:srgbClr val="193248"/>
                </a:solidFill>
                <a:latin typeface="Arial"/>
              </a:rPr>
              <a:t> </a:t>
            </a:r>
            <a:r>
              <a:rPr lang="it-IT" sz="1850" b="0" dirty="0">
                <a:solidFill>
                  <a:srgbClr val="193248"/>
                </a:solidFill>
                <a:latin typeface="Arial"/>
              </a:rPr>
              <a:t>all’interno della cassa toracica </a:t>
            </a:r>
            <a:r>
              <a:rPr sz="1850" b="0" dirty="0" err="1">
                <a:solidFill>
                  <a:srgbClr val="193248"/>
                </a:solidFill>
                <a:latin typeface="Arial"/>
              </a:rPr>
              <a:t>durante</a:t>
            </a:r>
            <a:r>
              <a:rPr sz="1850" b="0" dirty="0">
                <a:solidFill>
                  <a:srgbClr val="193248"/>
                </a:solidFill>
                <a:latin typeface="Arial"/>
              </a:rPr>
              <a:t> il </a:t>
            </a:r>
            <a:r>
              <a:rPr sz="1850" b="0" dirty="0" err="1">
                <a:solidFill>
                  <a:srgbClr val="193248"/>
                </a:solidFill>
                <a:latin typeface="Arial"/>
              </a:rPr>
              <a:t>respiro</a:t>
            </a:r>
            <a:r>
              <a:rPr lang="it-IT" sz="1850" b="0" dirty="0">
                <a:solidFill>
                  <a:srgbClr val="193248"/>
                </a:solidFill>
                <a:latin typeface="Arial"/>
              </a:rPr>
              <a:t>)</a:t>
            </a:r>
            <a:r>
              <a:rPr sz="1850" b="0" dirty="0">
                <a:solidFill>
                  <a:srgbClr val="193248"/>
                </a:solidFill>
                <a:latin typeface="Arial"/>
              </a:rPr>
              <a:t>.</a:t>
            </a:r>
          </a:p>
        </p:txBody>
      </p:sp>
      <p:sp>
        <p:nvSpPr>
          <p:cNvPr id="12" name="Organ profile 12"/>
          <p:cNvSpPr txBox="1"/>
          <p:nvPr/>
        </p:nvSpPr>
        <p:spPr>
          <a:xfrm>
            <a:off x="5669280" y="3785615"/>
            <a:ext cx="587959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L’albero bronchiale</a:t>
            </a:r>
          </a:p>
        </p:txBody>
      </p:sp>
      <p:sp>
        <p:nvSpPr>
          <p:cNvPr id="13" name="Organ profile 13"/>
          <p:cNvSpPr txBox="1"/>
          <p:nvPr/>
        </p:nvSpPr>
        <p:spPr>
          <a:xfrm>
            <a:off x="5669280" y="4178808"/>
            <a:ext cx="5879592" cy="1051560"/>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I bronchi entrano nei polmoni e si dividono in rami sempre più piccoli, i bronchioli. L’aria raggiunge infine gli alveoli, piccoli sacchi circondati da capillari.</a:t>
            </a:r>
          </a:p>
        </p:txBody>
      </p:sp>
      <p:sp>
        <p:nvSpPr>
          <p:cNvPr id="14" name="Organ profile 14"/>
          <p:cNvSpPr txBox="1"/>
          <p:nvPr/>
        </p:nvSpPr>
        <p:spPr>
          <a:xfrm>
            <a:off x="5669280" y="5312664"/>
            <a:ext cx="587959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Una superficie per gli scambi</a:t>
            </a:r>
          </a:p>
        </p:txBody>
      </p:sp>
      <p:sp>
        <p:nvSpPr>
          <p:cNvPr id="15" name="Organ profile 15"/>
          <p:cNvSpPr txBox="1"/>
          <p:nvPr/>
        </p:nvSpPr>
        <p:spPr>
          <a:xfrm>
            <a:off x="5669280" y="5705856"/>
            <a:ext cx="5879592" cy="859536"/>
          </a:xfrm>
          <a:prstGeom prst="rect">
            <a:avLst/>
          </a:prstGeom>
          <a:noFill/>
        </p:spPr>
        <p:txBody>
          <a:bodyPr wrap="square" lIns="0" tIns="0" rIns="0" bIns="0" anchor="t">
            <a:noAutofit/>
          </a:bodyPr>
          <a:lstStyle/>
          <a:p>
            <a:pPr algn="l">
              <a:lnSpc>
                <a:spcPct val="100000"/>
              </a:lnSpc>
              <a:spcBef>
                <a:spcPts val="0"/>
              </a:spcBef>
              <a:spcAft>
                <a:spcPts val="0"/>
              </a:spcAft>
              <a:defRPr sz="1800"/>
            </a:pPr>
            <a:r>
              <a:rPr lang="it-IT" sz="1800" b="0">
                <a:solidFill>
                  <a:srgbClr val="193248"/>
                </a:solidFill>
                <a:latin typeface="Arial"/>
              </a:rPr>
              <a:t>Le pareti sottili di alveoli e capillari consentono il passaggio dei gas: l’ossigeno entra nel sangue e l’anidride carbonica passa agli alveoli per essere espirata.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RESPIRATORIO · FUNZIONAMENTO</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Ventilazione e scambio dei gas</a:t>
            </a: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46</a:t>
            </a:r>
            <a:endParaRPr sz="1350" b="1">
              <a:solidFill>
                <a:srgbClr val="123F67"/>
              </a:solidFill>
              <a:latin typeface="Arial"/>
              <a:ea typeface="Arial"/>
              <a:cs typeface="Arial"/>
            </a:endParaRPr>
          </a:p>
        </p:txBody>
      </p:sp>
      <p:sp>
        <p:nvSpPr>
          <p:cNvPr id="16" name="TextBox 15"/>
          <p:cNvSpPr txBox="1"/>
          <p:nvPr/>
        </p:nvSpPr>
        <p:spPr>
          <a:xfrm>
            <a:off x="704850" y="1847850"/>
            <a:ext cx="504825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Ventilazione polmonare</a:t>
            </a:r>
          </a:p>
        </p:txBody>
      </p:sp>
      <p:sp>
        <p:nvSpPr>
          <p:cNvPr id="17" name="TextBox 16"/>
          <p:cNvSpPr txBox="1"/>
          <p:nvPr/>
        </p:nvSpPr>
        <p:spPr>
          <a:xfrm>
            <a:off x="704850" y="2238375"/>
            <a:ext cx="5048250" cy="904875"/>
          </a:xfrm>
          <a:prstGeom prst="rect">
            <a:avLst/>
          </a:prstGeom>
          <a:noFill/>
        </p:spPr>
        <p:txBody>
          <a:bodyPr wrap="square" lIns="0" tIns="0" rIns="0" bIns="0">
            <a:noAutofit/>
          </a:bodyPr>
          <a:lstStyle/>
          <a:p>
            <a:pPr>
              <a:spcAft>
                <a:spcPts val="400"/>
              </a:spcAft>
              <a:defRPr sz="1900" b="0">
                <a:solidFill>
                  <a:srgbClr val="193248"/>
                </a:solidFill>
                <a:latin typeface="Arial"/>
              </a:defRPr>
            </a:pPr>
            <a:r>
              <a:t>Movimento dell’aria tra ambiente e alveoli, prodotto da variazioni di volume e pressione nel torace.</a:t>
            </a:r>
          </a:p>
        </p:txBody>
      </p:sp>
      <p:sp>
        <p:nvSpPr>
          <p:cNvPr id="18" name="TextBox 17"/>
          <p:cNvSpPr txBox="1"/>
          <p:nvPr/>
        </p:nvSpPr>
        <p:spPr>
          <a:xfrm>
            <a:off x="704850" y="3267075"/>
            <a:ext cx="504825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Inspirazione</a:t>
            </a:r>
          </a:p>
        </p:txBody>
      </p:sp>
      <p:sp>
        <p:nvSpPr>
          <p:cNvPr id="19" name="TextBox 18"/>
          <p:cNvSpPr txBox="1"/>
          <p:nvPr/>
        </p:nvSpPr>
        <p:spPr>
          <a:xfrm>
            <a:off x="704850" y="3657600"/>
            <a:ext cx="5048250" cy="1162050"/>
          </a:xfrm>
          <a:prstGeom prst="rect">
            <a:avLst/>
          </a:prstGeom>
          <a:noFill/>
        </p:spPr>
        <p:txBody>
          <a:bodyPr wrap="square" lIns="0" tIns="0" rIns="0" bIns="0">
            <a:noAutofit/>
          </a:bodyPr>
          <a:lstStyle/>
          <a:p>
            <a:pPr>
              <a:spcAft>
                <a:spcPts val="400"/>
              </a:spcAft>
              <a:defRPr sz="1900" b="0">
                <a:solidFill>
                  <a:srgbClr val="193248"/>
                </a:solidFill>
                <a:latin typeface="Arial"/>
              </a:defRPr>
            </a:pPr>
            <a:r>
              <a:t>Il diaframma si contrae e si abbassa. Gli intercostali esterni sollevano le coste. Il volume toracico aumenta, la pressione alveolare scende e l’aria entra.</a:t>
            </a:r>
          </a:p>
        </p:txBody>
      </p:sp>
      <p:sp>
        <p:nvSpPr>
          <p:cNvPr id="20" name="TextBox 19"/>
          <p:cNvSpPr txBox="1"/>
          <p:nvPr/>
        </p:nvSpPr>
        <p:spPr>
          <a:xfrm>
            <a:off x="704850" y="5038725"/>
            <a:ext cx="504825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Espirazione a riposo</a:t>
            </a:r>
          </a:p>
        </p:txBody>
      </p:sp>
      <p:sp>
        <p:nvSpPr>
          <p:cNvPr id="21" name="TextBox 20"/>
          <p:cNvSpPr txBox="1"/>
          <p:nvPr/>
        </p:nvSpPr>
        <p:spPr>
          <a:xfrm>
            <a:off x="704850" y="5429250"/>
            <a:ext cx="5048250" cy="876300"/>
          </a:xfrm>
          <a:prstGeom prst="rect">
            <a:avLst/>
          </a:prstGeom>
          <a:noFill/>
        </p:spPr>
        <p:txBody>
          <a:bodyPr wrap="square" lIns="0" tIns="0" rIns="0" bIns="0">
            <a:noAutofit/>
          </a:bodyPr>
          <a:lstStyle/>
          <a:p>
            <a:pPr>
              <a:spcAft>
                <a:spcPts val="400"/>
              </a:spcAft>
              <a:defRPr sz="1900" b="0">
                <a:solidFill>
                  <a:srgbClr val="193248"/>
                </a:solidFill>
                <a:latin typeface="Arial"/>
              </a:defRPr>
            </a:pPr>
            <a:r>
              <a:t>Il diaframma si rilassa. Il ritorno elastico di polmoni e torace riduce il volume e fa uscire l’aria.</a:t>
            </a:r>
          </a:p>
        </p:txBody>
      </p:sp>
      <p:sp>
        <p:nvSpPr>
          <p:cNvPr id="22" name="TextBox 21"/>
          <p:cNvSpPr txBox="1"/>
          <p:nvPr/>
        </p:nvSpPr>
        <p:spPr>
          <a:xfrm>
            <a:off x="6419850" y="1847850"/>
            <a:ext cx="504825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Scambio alveolo-capillare</a:t>
            </a:r>
          </a:p>
        </p:txBody>
      </p:sp>
      <p:sp>
        <p:nvSpPr>
          <p:cNvPr id="23" name="TextBox 22"/>
          <p:cNvSpPr txBox="1"/>
          <p:nvPr/>
        </p:nvSpPr>
        <p:spPr>
          <a:xfrm>
            <a:off x="6419850" y="2238375"/>
            <a:ext cx="5048250" cy="1047750"/>
          </a:xfrm>
          <a:prstGeom prst="rect">
            <a:avLst/>
          </a:prstGeom>
          <a:noFill/>
        </p:spPr>
        <p:txBody>
          <a:bodyPr wrap="square" lIns="0" tIns="0" rIns="0" bIns="0">
            <a:noAutofit/>
          </a:bodyPr>
          <a:lstStyle/>
          <a:p>
            <a:pPr>
              <a:spcAft>
                <a:spcPts val="400"/>
              </a:spcAft>
              <a:defRPr sz="1900" b="0">
                <a:solidFill>
                  <a:srgbClr val="193248"/>
                </a:solidFill>
                <a:latin typeface="Arial"/>
              </a:defRPr>
            </a:pPr>
            <a:r>
              <a:rPr dirty="0"/>
              <a:t>O₂ e CO₂ </a:t>
            </a:r>
            <a:r>
              <a:rPr dirty="0" err="1"/>
              <a:t>attraversano</a:t>
            </a:r>
            <a:r>
              <a:rPr dirty="0"/>
              <a:t> per </a:t>
            </a:r>
            <a:r>
              <a:rPr dirty="0" err="1"/>
              <a:t>diffusione</a:t>
            </a:r>
            <a:r>
              <a:rPr dirty="0"/>
              <a:t> la </a:t>
            </a:r>
            <a:r>
              <a:rPr dirty="0" err="1"/>
              <a:t>sottile</a:t>
            </a:r>
            <a:r>
              <a:rPr dirty="0"/>
              <a:t> </a:t>
            </a:r>
            <a:r>
              <a:rPr dirty="0" err="1"/>
              <a:t>barriera</a:t>
            </a:r>
            <a:r>
              <a:rPr dirty="0"/>
              <a:t> </a:t>
            </a:r>
            <a:r>
              <a:rPr dirty="0" err="1"/>
              <a:t>tra</a:t>
            </a:r>
            <a:r>
              <a:rPr dirty="0"/>
              <a:t> alveoli e </a:t>
            </a:r>
            <a:r>
              <a:rPr dirty="0" err="1"/>
              <a:t>capillari</a:t>
            </a:r>
            <a:r>
              <a:rPr dirty="0"/>
              <a:t>, secondo </a:t>
            </a:r>
            <a:r>
              <a:rPr dirty="0" err="1"/>
              <a:t>differenze</a:t>
            </a:r>
            <a:r>
              <a:rPr dirty="0"/>
              <a:t> di </a:t>
            </a:r>
            <a:r>
              <a:rPr dirty="0" err="1"/>
              <a:t>pressione</a:t>
            </a:r>
            <a:r>
              <a:rPr dirty="0"/>
              <a:t> </a:t>
            </a:r>
            <a:r>
              <a:rPr dirty="0" err="1"/>
              <a:t>parziale</a:t>
            </a:r>
            <a:r>
              <a:rPr dirty="0"/>
              <a:t>.</a:t>
            </a:r>
          </a:p>
        </p:txBody>
      </p:sp>
      <p:sp>
        <p:nvSpPr>
          <p:cNvPr id="24" name="TextBox 23"/>
          <p:cNvSpPr txBox="1"/>
          <p:nvPr/>
        </p:nvSpPr>
        <p:spPr>
          <a:xfrm>
            <a:off x="6419850" y="3419475"/>
            <a:ext cx="504825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Ossigeno e anidride carbonica</a:t>
            </a:r>
          </a:p>
        </p:txBody>
      </p:sp>
      <p:sp>
        <p:nvSpPr>
          <p:cNvPr id="25" name="TextBox 24"/>
          <p:cNvSpPr txBox="1"/>
          <p:nvPr/>
        </p:nvSpPr>
        <p:spPr>
          <a:xfrm>
            <a:off x="6419850" y="3810000"/>
            <a:ext cx="5048250" cy="1047750"/>
          </a:xfrm>
          <a:prstGeom prst="rect">
            <a:avLst/>
          </a:prstGeom>
          <a:noFill/>
        </p:spPr>
        <p:txBody>
          <a:bodyPr wrap="square" lIns="0" tIns="0" rIns="0" bIns="0">
            <a:noAutofit/>
          </a:bodyPr>
          <a:lstStyle/>
          <a:p>
            <a:pPr>
              <a:spcAft>
                <a:spcPts val="400"/>
              </a:spcAft>
              <a:defRPr sz="1900" b="0">
                <a:solidFill>
                  <a:srgbClr val="193248"/>
                </a:solidFill>
                <a:latin typeface="Arial"/>
              </a:defRPr>
            </a:pPr>
            <a:r>
              <a:t>L’O₂ passa dagli alveoli al sangue. La CO₂ passa dal sangue agli alveoli e viene eliminata con l’espirazione.</a:t>
            </a:r>
          </a:p>
        </p:txBody>
      </p:sp>
      <p:sp>
        <p:nvSpPr>
          <p:cNvPr id="26" name="TextBox 25"/>
          <p:cNvSpPr txBox="1"/>
          <p:nvPr/>
        </p:nvSpPr>
        <p:spPr>
          <a:xfrm>
            <a:off x="6419850" y="4953000"/>
            <a:ext cx="5048250" cy="333375"/>
          </a:xfrm>
          <a:prstGeom prst="rect">
            <a:avLst/>
          </a:prstGeom>
          <a:noFill/>
        </p:spPr>
        <p:txBody>
          <a:bodyPr wrap="square" lIns="0" tIns="0" rIns="0" bIns="0">
            <a:noAutofit/>
          </a:bodyPr>
          <a:lstStyle/>
          <a:p>
            <a:pPr>
              <a:spcAft>
                <a:spcPts val="400"/>
              </a:spcAft>
              <a:defRPr sz="2025" b="1">
                <a:solidFill>
                  <a:srgbClr val="087E8B"/>
                </a:solidFill>
                <a:latin typeface="Arial"/>
              </a:defRPr>
            </a:pPr>
            <a:r>
              <a:t>Il collegamento con la circolazione</a:t>
            </a:r>
          </a:p>
        </p:txBody>
      </p:sp>
      <p:sp>
        <p:nvSpPr>
          <p:cNvPr id="27" name="TextBox 26"/>
          <p:cNvSpPr txBox="1"/>
          <p:nvPr/>
        </p:nvSpPr>
        <p:spPr>
          <a:xfrm>
            <a:off x="6419850" y="5343525"/>
            <a:ext cx="5048250" cy="1028700"/>
          </a:xfrm>
          <a:prstGeom prst="rect">
            <a:avLst/>
          </a:prstGeom>
          <a:noFill/>
        </p:spPr>
        <p:txBody>
          <a:bodyPr wrap="square" lIns="0" tIns="0" rIns="0" bIns="0">
            <a:noAutofit/>
          </a:bodyPr>
          <a:lstStyle/>
          <a:p>
            <a:pPr>
              <a:spcAft>
                <a:spcPts val="400"/>
              </a:spcAft>
              <a:defRPr sz="1900" b="0">
                <a:solidFill>
                  <a:srgbClr val="193248"/>
                </a:solidFill>
                <a:latin typeface="Arial"/>
              </a:defRPr>
            </a:pPr>
            <a:r>
              <a:t>La ventilazione rinnova l’aria. Il flusso sanguigno porta CO₂ ai polmoni e distribuisce O₂ ai tessuti.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respiratorio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47</a:t>
            </a:r>
            <a:endParaRPr sz="1350" b="1">
              <a:solidFill>
                <a:srgbClr val="123F67"/>
              </a:solidFill>
              <a:latin typeface="Arial"/>
              <a:ea typeface="Arial"/>
              <a:cs typeface="Arial"/>
            </a:endParaRPr>
          </a:p>
        </p:txBody>
      </p:sp>
      <p:sp>
        <p:nvSpPr>
          <p:cNvPr id="25" name="TextBox 24"/>
          <p:cNvSpPr txBox="1"/>
          <p:nvPr/>
        </p:nvSpPr>
        <p:spPr>
          <a:xfrm>
            <a:off x="704850" y="1572768"/>
            <a:ext cx="5181600" cy="228600"/>
          </a:xfrm>
          <a:prstGeom prst="rect">
            <a:avLst/>
          </a:prstGeom>
          <a:noFill/>
        </p:spPr>
        <p:txBody>
          <a:bodyPr wrap="square" lIns="0" tIns="0" rIns="0" bIns="0">
            <a:noAutofit/>
          </a:bodyPr>
          <a:lstStyle/>
          <a:p>
            <a:pPr>
              <a:lnSpc>
                <a:spcPts val="1700"/>
              </a:lnSpc>
            </a:pPr>
            <a:r>
              <a:rPr sz="1400" b="1">
                <a:solidFill>
                  <a:srgbClr val="087E8B"/>
                </a:solidFill>
                <a:latin typeface="Arial"/>
              </a:rPr>
              <a:t>VIE AEREE</a:t>
            </a:r>
          </a:p>
        </p:txBody>
      </p:sp>
      <p:sp>
        <p:nvSpPr>
          <p:cNvPr id="26" name="TextBox 25"/>
          <p:cNvSpPr txBox="1"/>
          <p:nvPr/>
        </p:nvSpPr>
        <p:spPr>
          <a:xfrm>
            <a:off x="704850" y="1901952"/>
            <a:ext cx="5181600" cy="36576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Asma</a:t>
            </a:r>
          </a:p>
        </p:txBody>
      </p:sp>
      <p:sp>
        <p:nvSpPr>
          <p:cNvPr id="27" name="TextBox 26"/>
          <p:cNvSpPr txBox="1"/>
          <p:nvPr/>
        </p:nvSpPr>
        <p:spPr>
          <a:xfrm>
            <a:off x="704850" y="2350008"/>
            <a:ext cx="5181600" cy="841248"/>
          </a:xfrm>
          <a:prstGeom prst="rect">
            <a:avLst/>
          </a:prstGeom>
          <a:noFill/>
        </p:spPr>
        <p:txBody>
          <a:bodyPr wrap="square" lIns="0" tIns="0" rIns="0" bIns="0">
            <a:noAutofit/>
          </a:bodyPr>
          <a:lstStyle/>
          <a:p>
            <a:pPr>
              <a:lnSpc>
                <a:spcPts val="1900"/>
              </a:lnSpc>
              <a:spcAft>
                <a:spcPts val="0"/>
              </a:spcAft>
            </a:pPr>
            <a:r>
              <a:rPr lang="it-IT" sz="1800" b="0">
                <a:solidFill>
                  <a:srgbClr val="193248"/>
                </a:solidFill>
                <a:latin typeface="Arial"/>
              </a:rPr>
              <a:t>Restringimento delle vie aeree, in genere reversibile, con episodi di tosse, sibili e difficoltà respiratoria.</a:t>
            </a:r>
          </a:p>
        </p:txBody>
      </p:sp>
      <p:sp>
        <p:nvSpPr>
          <p:cNvPr id="28" name="TextBox 27"/>
          <p:cNvSpPr txBox="1"/>
          <p:nvPr/>
        </p:nvSpPr>
        <p:spPr>
          <a:xfrm>
            <a:off x="704850" y="3511296"/>
            <a:ext cx="5181600" cy="228600"/>
          </a:xfrm>
          <a:prstGeom prst="rect">
            <a:avLst/>
          </a:prstGeom>
          <a:noFill/>
        </p:spPr>
        <p:txBody>
          <a:bodyPr wrap="square" lIns="0" tIns="0" rIns="0" bIns="0">
            <a:noAutofit/>
          </a:bodyPr>
          <a:lstStyle/>
          <a:p>
            <a:pPr>
              <a:lnSpc>
                <a:spcPts val="1700"/>
              </a:lnSpc>
            </a:pPr>
            <a:r>
              <a:rPr sz="1400" b="1">
                <a:solidFill>
                  <a:srgbClr val="087E8B"/>
                </a:solidFill>
                <a:latin typeface="Arial"/>
              </a:rPr>
              <a:t>SCAMBI GASSOSI</a:t>
            </a:r>
          </a:p>
        </p:txBody>
      </p:sp>
      <p:sp>
        <p:nvSpPr>
          <p:cNvPr id="29" name="TextBox 28"/>
          <p:cNvSpPr txBox="1"/>
          <p:nvPr/>
        </p:nvSpPr>
        <p:spPr>
          <a:xfrm>
            <a:off x="704850" y="3840480"/>
            <a:ext cx="5181600" cy="36576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Insufficienza respiratoria</a:t>
            </a:r>
          </a:p>
        </p:txBody>
      </p:sp>
      <p:sp>
        <p:nvSpPr>
          <p:cNvPr id="30" name="TextBox 29"/>
          <p:cNvSpPr txBox="1"/>
          <p:nvPr/>
        </p:nvSpPr>
        <p:spPr>
          <a:xfrm>
            <a:off x="704850" y="4288536"/>
            <a:ext cx="5181600" cy="850392"/>
          </a:xfrm>
          <a:prstGeom prst="rect">
            <a:avLst/>
          </a:prstGeom>
          <a:noFill/>
        </p:spPr>
        <p:txBody>
          <a:bodyPr wrap="square" lIns="0" tIns="0" rIns="0" bIns="0">
            <a:noAutofit/>
          </a:bodyPr>
          <a:lstStyle/>
          <a:p>
            <a:pPr>
              <a:lnSpc>
                <a:spcPts val="1900"/>
              </a:lnSpc>
              <a:spcAft>
                <a:spcPts val="0"/>
              </a:spcAft>
            </a:pPr>
            <a:r>
              <a:rPr lang="it-IT" sz="1800" b="0">
                <a:solidFill>
                  <a:srgbClr val="193248"/>
                </a:solidFill>
                <a:latin typeface="Arial"/>
              </a:rPr>
              <a:t>La respirazione non assicura scambi adeguati: nel sangue c’è troppo poco O₂ , troppa CO₂ oppure entrambe le condizioni.</a:t>
            </a:r>
          </a:p>
        </p:txBody>
      </p:sp>
      <p:cxnSp>
        <p:nvCxnSpPr>
          <p:cNvPr id="31" name="Connector 30"/>
          <p:cNvCxnSpPr/>
          <p:nvPr/>
        </p:nvCxnSpPr>
        <p:spPr>
          <a:xfrm>
            <a:off x="6362395" y="4626864"/>
            <a:ext cx="5181904" cy="0"/>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sp>
        <p:nvSpPr>
          <p:cNvPr id="32" name="TextBox 24"/>
          <p:cNvSpPr txBox="1"/>
          <p:nvPr/>
        </p:nvSpPr>
        <p:spPr>
          <a:xfrm>
            <a:off x="6362700" y="1572768"/>
            <a:ext cx="5181600" cy="228600"/>
          </a:xfrm>
          <a:prstGeom prst="rect">
            <a:avLst/>
          </a:prstGeom>
          <a:noFill/>
        </p:spPr>
        <p:txBody>
          <a:bodyPr wrap="square" lIns="0" tIns="0" rIns="0" bIns="0">
            <a:noAutofit/>
          </a:bodyPr>
          <a:lstStyle/>
          <a:p>
            <a:pPr>
              <a:lnSpc>
                <a:spcPts val="1700"/>
              </a:lnSpc>
            </a:pPr>
            <a:r>
              <a:rPr sz="1400" b="1">
                <a:solidFill>
                  <a:srgbClr val="087E8B"/>
                </a:solidFill>
                <a:latin typeface="Arial"/>
              </a:rPr>
              <a:t>POLMONI</a:t>
            </a:r>
          </a:p>
        </p:txBody>
      </p:sp>
      <p:sp>
        <p:nvSpPr>
          <p:cNvPr id="33" name="TextBox 25"/>
          <p:cNvSpPr txBox="1"/>
          <p:nvPr/>
        </p:nvSpPr>
        <p:spPr>
          <a:xfrm>
            <a:off x="6362700" y="1901952"/>
            <a:ext cx="5181600" cy="36576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Polmonite</a:t>
            </a:r>
          </a:p>
        </p:txBody>
      </p:sp>
      <p:sp>
        <p:nvSpPr>
          <p:cNvPr id="34" name="TextBox 29"/>
          <p:cNvSpPr txBox="1"/>
          <p:nvPr/>
        </p:nvSpPr>
        <p:spPr>
          <a:xfrm>
            <a:off x="6362700" y="2350008"/>
            <a:ext cx="5181600" cy="1042415"/>
          </a:xfrm>
          <a:prstGeom prst="rect">
            <a:avLst/>
          </a:prstGeom>
          <a:noFill/>
        </p:spPr>
        <p:txBody>
          <a:bodyPr wrap="square" lIns="0" tIns="0" rIns="0" bIns="0">
            <a:noAutofit/>
          </a:bodyPr>
          <a:lstStyle/>
          <a:p>
            <a:pPr>
              <a:lnSpc>
                <a:spcPts val="1900"/>
              </a:lnSpc>
              <a:spcAft>
                <a:spcPts val="0"/>
              </a:spcAft>
            </a:pPr>
            <a:r>
              <a:rPr lang="it-IT" sz="1800" b="0">
                <a:solidFill>
                  <a:srgbClr val="193248"/>
                </a:solidFill>
                <a:latin typeface="Arial"/>
              </a:rPr>
              <a:t>Infiammazione del tessuto polmonare, di solito causata da batteri o virus. Gli alveoli possono riempirsi di liquido, con febbre, tosse e difficoltà respiratoria.</a:t>
            </a:r>
          </a:p>
        </p:txBody>
      </p:sp>
      <p:sp>
        <p:nvSpPr>
          <p:cNvPr id="35" name="TextBox 24"/>
          <p:cNvSpPr txBox="1"/>
          <p:nvPr/>
        </p:nvSpPr>
        <p:spPr>
          <a:xfrm>
            <a:off x="6362700" y="4745736"/>
            <a:ext cx="5181600" cy="228600"/>
          </a:xfrm>
          <a:prstGeom prst="rect">
            <a:avLst/>
          </a:prstGeom>
          <a:noFill/>
        </p:spPr>
        <p:txBody>
          <a:bodyPr wrap="square" lIns="0" tIns="0" rIns="0" bIns="0">
            <a:noAutofit/>
          </a:bodyPr>
          <a:lstStyle/>
          <a:p>
            <a:pPr>
              <a:lnSpc>
                <a:spcPts val="1700"/>
              </a:lnSpc>
            </a:pPr>
            <a:r>
              <a:rPr sz="1400" b="1">
                <a:solidFill>
                  <a:srgbClr val="087E8B"/>
                </a:solidFill>
                <a:latin typeface="Arial"/>
              </a:rPr>
              <a:t>ALVEOLI</a:t>
            </a:r>
          </a:p>
        </p:txBody>
      </p:sp>
      <p:sp>
        <p:nvSpPr>
          <p:cNvPr id="36" name="TextBox 25"/>
          <p:cNvSpPr txBox="1"/>
          <p:nvPr/>
        </p:nvSpPr>
        <p:spPr>
          <a:xfrm>
            <a:off x="6362700" y="5074920"/>
            <a:ext cx="5181600" cy="36576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Enfisema polmonare</a:t>
            </a:r>
          </a:p>
        </p:txBody>
      </p:sp>
      <p:sp>
        <p:nvSpPr>
          <p:cNvPr id="37" name="TextBox 29"/>
          <p:cNvSpPr txBox="1"/>
          <p:nvPr/>
        </p:nvSpPr>
        <p:spPr>
          <a:xfrm>
            <a:off x="6362700" y="5513832"/>
            <a:ext cx="5181600" cy="987552"/>
          </a:xfrm>
          <a:prstGeom prst="rect">
            <a:avLst/>
          </a:prstGeom>
          <a:noFill/>
        </p:spPr>
        <p:txBody>
          <a:bodyPr wrap="square" lIns="0" tIns="0" rIns="0" bIns="0">
            <a:noAutofit/>
          </a:bodyPr>
          <a:lstStyle/>
          <a:p>
            <a:pPr>
              <a:lnSpc>
                <a:spcPts val="1900"/>
              </a:lnSpc>
              <a:spcAft>
                <a:spcPts val="0"/>
              </a:spcAft>
            </a:pPr>
            <a:r>
              <a:rPr lang="it-IT" sz="1800" b="0">
                <a:solidFill>
                  <a:srgbClr val="193248"/>
                </a:solidFill>
                <a:latin typeface="Arial"/>
              </a:rPr>
              <a:t>Danno delle pareti degli alveoli con perdita di elasticità. L’aria resta intrappolata nei polmoni, gli scambi gassosi si riducono e compare affanno. Il fumo è un importante fattore di rischio.</a:t>
            </a:r>
          </a:p>
        </p:txBody>
      </p:sp>
      <p:sp>
        <p:nvSpPr>
          <p:cNvPr id="38" name="PLEURA"/>
          <p:cNvSpPr txBox="1"/>
          <p:nvPr/>
        </p:nvSpPr>
        <p:spPr>
          <a:xfrm>
            <a:off x="704850" y="5276088"/>
            <a:ext cx="5181600" cy="228600"/>
          </a:xfrm>
          <a:prstGeom prst="rect">
            <a:avLst/>
          </a:prstGeom>
          <a:noFill/>
        </p:spPr>
        <p:txBody>
          <a:bodyPr wrap="square" lIns="0" tIns="0" rIns="0" bIns="0">
            <a:noAutofit/>
          </a:bodyPr>
          <a:lstStyle/>
          <a:p>
            <a:pPr>
              <a:lnSpc>
                <a:spcPts val="1700"/>
              </a:lnSpc>
            </a:pPr>
            <a:r>
              <a:rPr sz="1400" b="1">
                <a:solidFill>
                  <a:srgbClr val="087E8B"/>
                </a:solidFill>
                <a:latin typeface="Arial"/>
              </a:rPr>
              <a:t>PLEURA</a:t>
            </a:r>
          </a:p>
        </p:txBody>
      </p:sp>
      <p:sp>
        <p:nvSpPr>
          <p:cNvPr id="39" name="Pleurite"/>
          <p:cNvSpPr txBox="1"/>
          <p:nvPr/>
        </p:nvSpPr>
        <p:spPr>
          <a:xfrm>
            <a:off x="704850" y="5605272"/>
            <a:ext cx="5181600" cy="36576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Pleurite</a:t>
            </a:r>
          </a:p>
        </p:txBody>
      </p:sp>
      <p:sp>
        <p:nvSpPr>
          <p:cNvPr id="40" name="Infiammazione della pleura, con "/>
          <p:cNvSpPr txBox="1"/>
          <p:nvPr/>
        </p:nvSpPr>
        <p:spPr>
          <a:xfrm>
            <a:off x="704850" y="6044184"/>
            <a:ext cx="5181600" cy="493776"/>
          </a:xfrm>
          <a:prstGeom prst="rect">
            <a:avLst/>
          </a:prstGeom>
          <a:noFill/>
        </p:spPr>
        <p:txBody>
          <a:bodyPr wrap="square" lIns="0" tIns="0" rIns="0" bIns="0">
            <a:noAutofit/>
          </a:bodyPr>
          <a:lstStyle/>
          <a:p>
            <a:pPr>
              <a:lnSpc>
                <a:spcPts val="1900"/>
              </a:lnSpc>
              <a:spcAft>
                <a:spcPts val="0"/>
              </a:spcAft>
            </a:pPr>
            <a:r>
              <a:rPr lang="it-IT" sz="1800" b="0">
                <a:solidFill>
                  <a:srgbClr val="193248"/>
                </a:solidFill>
                <a:latin typeface="Arial"/>
              </a:rPr>
              <a:t>Infiammazione della pleura, con dolore al torace che aumenta respirando o tossendo.</a:t>
            </a:r>
          </a:p>
        </p:txBody>
      </p:sp>
      <p:sp>
        <p:nvSpPr>
          <p:cNvPr id="41" name="Tumore polmone 41"/>
          <p:cNvSpPr txBox="1"/>
          <p:nvPr/>
        </p:nvSpPr>
        <p:spPr>
          <a:xfrm>
            <a:off x="6362700" y="3355848"/>
            <a:ext cx="5181600" cy="36576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Tumore del polmone</a:t>
            </a:r>
          </a:p>
        </p:txBody>
      </p:sp>
      <p:sp>
        <p:nvSpPr>
          <p:cNvPr id="42" name="Tumore polmone 42"/>
          <p:cNvSpPr txBox="1"/>
          <p:nvPr/>
        </p:nvSpPr>
        <p:spPr>
          <a:xfrm>
            <a:off x="6362700" y="3803904"/>
            <a:ext cx="5181600" cy="804672"/>
          </a:xfrm>
          <a:prstGeom prst="rect">
            <a:avLst/>
          </a:prstGeom>
          <a:noFill/>
        </p:spPr>
        <p:txBody>
          <a:bodyPr wrap="square" lIns="0" tIns="0" rIns="0" bIns="0">
            <a:noAutofit/>
          </a:bodyPr>
          <a:lstStyle/>
          <a:p>
            <a:pPr>
              <a:lnSpc>
                <a:spcPts val="1900"/>
              </a:lnSpc>
              <a:spcAft>
                <a:spcPts val="0"/>
              </a:spcAft>
            </a:pPr>
            <a:r>
              <a:rPr lang="it-IT" sz="1800" b="0">
                <a:solidFill>
                  <a:srgbClr val="193248"/>
                </a:solidFill>
                <a:latin typeface="Arial"/>
              </a:rPr>
              <a:t>Crescita incontrollata di cellule nel polmone. Il fumo è il principale fattore di rischio, ma può colpire anche chi non fuma.</a:t>
            </a:r>
          </a:p>
        </p:txBody>
      </p:sp>
      <p:cxnSp>
        <p:nvCxnSpPr>
          <p:cNvPr id="43" name="Connector 42"/>
          <p:cNvCxnSpPr/>
          <p:nvPr/>
        </p:nvCxnSpPr>
        <p:spPr>
          <a:xfrm>
            <a:off x="705002" y="3310128"/>
            <a:ext cx="5181905" cy="0"/>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05002" y="5084064"/>
            <a:ext cx="5181905" cy="0"/>
          </a:xfrm>
          <a:prstGeom prst="line">
            <a:avLst/>
          </a:prstGeom>
          <a:ln w="9525">
            <a:solidFill>
              <a:srgbClr val="D3E2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0000000E-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E-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5 DI 7</a:t>
            </a:r>
          </a:p>
        </p:txBody>
      </p:sp>
      <p:sp>
        <p:nvSpPr>
          <p:cNvPr id="3" name="Rettangolo 2">
            <a:extLst>
              <a:ext uri="{FF2B5EF4-FFF2-40B4-BE49-F238E27FC236}">
                <a16:creationId xmlns:a16="http://schemas.microsoft.com/office/drawing/2014/main" id="{0000000E-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Apparato urinario</a:t>
            </a:r>
          </a:p>
        </p:txBody>
      </p:sp>
      <p:sp>
        <p:nvSpPr>
          <p:cNvPr id="4" name="Rettangolo 3">
            <a:extLst>
              <a:ext uri="{FF2B5EF4-FFF2-40B4-BE49-F238E27FC236}">
                <a16:creationId xmlns:a16="http://schemas.microsoft.com/office/drawing/2014/main" id="{0000000E-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E-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E-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48</a:t>
            </a:r>
            <a:endParaRPr sz="1350" b="1">
              <a:solidFill>
                <a:srgbClr val="123F67"/>
              </a:solidFill>
              <a:latin typeface="Arial"/>
              <a:ea typeface="Arial"/>
              <a:cs typeface="Arial"/>
            </a:endParaRPr>
          </a:p>
        </p:txBody>
      </p:sp>
      <p:pic>
        <p:nvPicPr>
          <p:cNvPr id="29" name="Picture 28" descr="image.png"/>
          <p:cNvPicPr>
            <a:picLocks noChangeAspect="1"/>
          </p:cNvPicPr>
          <p:nvPr/>
        </p:nvPicPr>
        <p:blipFill>
          <a:blip r:embed="rId3"/>
          <a:stretch>
            <a:fillRect/>
          </a:stretch>
        </p:blipFill>
        <p:spPr>
          <a:xfrm>
            <a:off x="612648" y="1956816"/>
            <a:ext cx="5486400" cy="2982323"/>
          </a:xfrm>
          <a:prstGeom prst="rect">
            <a:avLst/>
          </a:prstGeom>
        </p:spPr>
      </p:pic>
      <p:sp>
        <p:nvSpPr>
          <p:cNvPr id="10" name="Rettangolo 9">
            <a:extLst>
              <a:ext uri="{FF2B5EF4-FFF2-40B4-BE49-F238E27FC236}">
                <a16:creationId xmlns:a16="http://schemas.microsoft.com/office/drawing/2014/main" id="{0000000E-0009-4000-8000-000000000000}"/>
              </a:ext>
            </a:extLst>
          </p:cNvPr>
          <p:cNvSpPr>
            <a:spLocks noGrp="1"/>
          </p:cNvSpPr>
          <p:nvPr/>
        </p:nvSpPr>
        <p:spPr>
          <a:xfrm>
            <a:off x="6400800" y="1700784"/>
            <a:ext cx="5120640" cy="365760"/>
          </a:xfrm>
          <a:prstGeom prst="rect">
            <a:avLst/>
          </a:prstGeom>
          <a:noFill/>
          <a:ln w="0">
            <a:noFill/>
          </a:ln>
        </p:spPr>
        <p:txBody>
          <a:bodyPr wrap="square" lIns="0">
            <a:noAutofit/>
          </a:bodyPr>
          <a:lstStyle/>
          <a:p>
            <a:pPr algn="l">
              <a:defRPr sz="2200" b="1">
                <a:solidFill>
                  <a:srgbClr val="087E8B"/>
                </a:solidFill>
                <a:latin typeface="Arial"/>
                <a:ea typeface="Arial"/>
                <a:cs typeface="Arial"/>
              </a:defRPr>
            </a:pPr>
            <a:r>
              <a:rPr lang="it-IT" sz="2200" b="1" dirty="0">
                <a:solidFill>
                  <a:srgbClr val="087E8B"/>
                </a:solidFill>
              </a:rPr>
              <a:t>Il percorso dell’urina</a:t>
            </a:r>
            <a:endParaRPr lang="it-IT" sz="2200" b="1">
              <a:solidFill>
                <a:srgbClr val="087E8B"/>
              </a:solidFill>
            </a:endParaRPr>
          </a:p>
        </p:txBody>
      </p:sp>
      <p:sp>
        <p:nvSpPr>
          <p:cNvPr id="12" name="Rettangolo 11">
            <a:extLst>
              <a:ext uri="{FF2B5EF4-FFF2-40B4-BE49-F238E27FC236}">
                <a16:creationId xmlns:a16="http://schemas.microsoft.com/office/drawing/2014/main" id="{0000000E-000B-4000-8000-000000000000}"/>
              </a:ext>
            </a:extLst>
          </p:cNvPr>
          <p:cNvSpPr>
            <a:spLocks noGrp="1"/>
          </p:cNvSpPr>
          <p:nvPr/>
        </p:nvSpPr>
        <p:spPr>
          <a:xfrm>
            <a:off x="619125" y="5212080"/>
            <a:ext cx="5532120" cy="1389888"/>
          </a:xfrm>
          <a:prstGeom prst="rect">
            <a:avLst/>
          </a:prstGeom>
          <a:noFill/>
          <a:ln w="0">
            <a:noFill/>
          </a:ln>
        </p:spPr>
        <p:txBody>
          <a:bodyPr wrap="square" lIns="0" tIns="0" rIns="0" bIns="0">
            <a:noAutofit/>
          </a:bodyPr>
          <a:lstStyle/>
          <a:p>
            <a:pPr algn="l">
              <a:lnSpc>
                <a:spcPts val="1900"/>
              </a:lnSpc>
              <a:spcAft>
                <a:spcPts val="300"/>
              </a:spcAft>
              <a:defRPr sz="1875" b="1">
                <a:solidFill>
                  <a:srgbClr val="087E8B"/>
                </a:solidFill>
                <a:latin typeface="Arial"/>
                <a:ea typeface="Arial"/>
                <a:cs typeface="Arial"/>
              </a:defRPr>
            </a:pPr>
            <a:r>
              <a:rPr lang="it-IT" sz="1600" b="1" dirty="0">
                <a:solidFill>
                  <a:srgbClr val="087E8B"/>
                </a:solidFill>
                <a:latin typeface="Arial"/>
                <a:ea typeface="Arial"/>
                <a:cs typeface="Arial"/>
              </a:rPr>
              <a:t>Apparato circolatorio:</a:t>
            </a:r>
            <a:r>
              <a:rPr lang="it-IT" sz="1600" b="0" dirty="0">
                <a:solidFill>
                  <a:srgbClr val="087E8B"/>
                </a:solidFill>
                <a:latin typeface="Arial"/>
                <a:ea typeface="Arial"/>
                <a:cs typeface="Arial"/>
              </a:rPr>
              <a:t> porta il sangue ai reni, che eliminano le scorie e l’acqua in eccesso.</a:t>
            </a:r>
          </a:p>
          <a:p>
            <a:pPr algn="l">
              <a:lnSpc>
                <a:spcPts val="1900"/>
              </a:lnSpc>
              <a:spcAft>
                <a:spcPts val="300"/>
              </a:spcAft>
              <a:defRPr sz="1875" b="1">
                <a:solidFill>
                  <a:srgbClr val="087E8B"/>
                </a:solidFill>
                <a:latin typeface="Arial"/>
                <a:ea typeface="Arial"/>
                <a:cs typeface="Arial"/>
              </a:defRPr>
            </a:pPr>
            <a:r>
              <a:rPr lang="it-IT" sz="1600" b="1" dirty="0">
                <a:solidFill>
                  <a:srgbClr val="087E8B"/>
                </a:solidFill>
                <a:latin typeface="Arial"/>
                <a:ea typeface="Arial"/>
                <a:cs typeface="Arial"/>
              </a:rPr>
              <a:t>Sistema endocrino:</a:t>
            </a:r>
            <a:r>
              <a:rPr lang="it-IT" sz="1600" b="0" dirty="0">
                <a:solidFill>
                  <a:srgbClr val="087E8B"/>
                </a:solidFill>
                <a:latin typeface="Arial"/>
                <a:ea typeface="Arial"/>
                <a:cs typeface="Arial"/>
              </a:rPr>
              <a:t> gli ormoni regolano il riassorbimento, cioè il ritorno dell’acqua filtrata al sangue</a:t>
            </a:r>
          </a:p>
        </p:txBody>
      </p:sp>
      <p:sp>
        <p:nvSpPr>
          <p:cNvPr id="14" name="TextBox 13"/>
          <p:cNvSpPr txBox="1"/>
          <p:nvPr/>
        </p:nvSpPr>
        <p:spPr>
          <a:xfrm>
            <a:off x="6812280" y="2569464"/>
            <a:ext cx="4709160" cy="685800"/>
          </a:xfrm>
          <a:prstGeom prst="rect">
            <a:avLst/>
          </a:prstGeom>
          <a:noFill/>
        </p:spPr>
        <p:txBody>
          <a:bodyPr wrap="square" lIns="0" tIns="0" rIns="0" bIns="0" anchor="t">
            <a:noAutofit/>
          </a:bodyPr>
          <a:lstStyle/>
          <a:p>
            <a:pPr algn="l">
              <a:lnSpc>
                <a:spcPts val="2000"/>
              </a:lnSpc>
              <a:spcAft>
                <a:spcPts val="0"/>
              </a:spcAft>
            </a:pPr>
            <a:r>
              <a:rPr lang="it-IT" sz="1750" b="0" dirty="0">
                <a:solidFill>
                  <a:srgbClr val="193248"/>
                </a:solidFill>
                <a:latin typeface="Arial"/>
              </a:rPr>
              <a:t>Il nefrone (unità funzionale del rene) filtra il sangue</a:t>
            </a:r>
            <a:r>
              <a:rPr lang="it-IT" sz="1750" b="0">
                <a:solidFill>
                  <a:srgbClr val="193248"/>
                </a:solidFill>
                <a:latin typeface="Arial"/>
              </a:rPr>
              <a:t> </a:t>
            </a:r>
            <a:r>
              <a:rPr lang="it-IT" sz="1750" b="0" dirty="0">
                <a:solidFill>
                  <a:srgbClr val="193248"/>
                </a:solidFill>
                <a:latin typeface="Arial"/>
              </a:rPr>
              <a:t>e forma l’urina, che si raccoglie nei calici</a:t>
            </a:r>
            <a:r>
              <a:rPr lang="it-IT" sz="1750" b="0">
                <a:solidFill>
                  <a:srgbClr val="193248"/>
                </a:solidFill>
                <a:latin typeface="Arial"/>
              </a:rPr>
              <a:t> </a:t>
            </a:r>
            <a:r>
              <a:rPr lang="it-IT" sz="1750" b="0" dirty="0">
                <a:solidFill>
                  <a:srgbClr val="193248"/>
                </a:solidFill>
                <a:latin typeface="Arial"/>
              </a:rPr>
              <a:t>e nella pelvi renale.</a:t>
            </a:r>
            <a:endParaRPr lang="it-IT" sz="1750" b="0">
              <a:solidFill>
                <a:srgbClr val="193248"/>
              </a:solidFill>
              <a:latin typeface="Arial"/>
            </a:endParaRPr>
          </a:p>
        </p:txBody>
      </p:sp>
      <p:sp>
        <p:nvSpPr>
          <p:cNvPr id="15" name="TextBox 14"/>
          <p:cNvSpPr txBox="1"/>
          <p:nvPr/>
        </p:nvSpPr>
        <p:spPr>
          <a:xfrm>
            <a:off x="6812280" y="3758184"/>
            <a:ext cx="4709160" cy="685800"/>
          </a:xfrm>
          <a:prstGeom prst="rect">
            <a:avLst/>
          </a:prstGeom>
          <a:noFill/>
        </p:spPr>
        <p:txBody>
          <a:bodyPr wrap="square" lIns="0" tIns="0" rIns="0" bIns="0" anchor="t">
            <a:noAutofit/>
          </a:bodyPr>
          <a:lstStyle/>
          <a:p>
            <a:pPr algn="l">
              <a:lnSpc>
                <a:spcPts val="2000"/>
              </a:lnSpc>
              <a:spcAft>
                <a:spcPts val="0"/>
              </a:spcAft>
            </a:pPr>
            <a:r>
              <a:rPr lang="it-IT" sz="1750" b="0" dirty="0">
                <a:solidFill>
                  <a:srgbClr val="193248"/>
                </a:solidFill>
                <a:latin typeface="Arial"/>
              </a:rPr>
              <a:t>Trasportano l’urina dai reni alla vescica</a:t>
            </a:r>
            <a:r>
              <a:rPr lang="it-IT" sz="1750" b="0">
                <a:solidFill>
                  <a:srgbClr val="193248"/>
                </a:solidFill>
                <a:latin typeface="Arial"/>
              </a:rPr>
              <a:t> </a:t>
            </a:r>
            <a:r>
              <a:rPr lang="it-IT" sz="1750" b="0" dirty="0">
                <a:solidFill>
                  <a:srgbClr val="193248"/>
                </a:solidFill>
                <a:latin typeface="Arial"/>
              </a:rPr>
              <a:t>grazie alle contrazioni della loro parete muscolare.</a:t>
            </a:r>
            <a:endParaRPr lang="it-IT" sz="1750" b="0">
              <a:solidFill>
                <a:srgbClr val="193248"/>
              </a:solidFill>
              <a:latin typeface="Arial"/>
            </a:endParaRPr>
          </a:p>
        </p:txBody>
      </p:sp>
      <p:sp>
        <p:nvSpPr>
          <p:cNvPr id="16" name="TextBox 15"/>
          <p:cNvSpPr txBox="1"/>
          <p:nvPr/>
        </p:nvSpPr>
        <p:spPr>
          <a:xfrm>
            <a:off x="6812280" y="4764024"/>
            <a:ext cx="4709160" cy="685800"/>
          </a:xfrm>
          <a:prstGeom prst="rect">
            <a:avLst/>
          </a:prstGeom>
          <a:noFill/>
        </p:spPr>
        <p:txBody>
          <a:bodyPr wrap="square" lIns="0" tIns="0" rIns="0" bIns="0" anchor="t">
            <a:noAutofit/>
          </a:bodyPr>
          <a:lstStyle/>
          <a:p>
            <a:pPr algn="l">
              <a:lnSpc>
                <a:spcPts val="2000"/>
              </a:lnSpc>
              <a:spcAft>
                <a:spcPts val="0"/>
              </a:spcAft>
            </a:pPr>
            <a:r>
              <a:rPr lang="it-IT" sz="1750" b="0" dirty="0">
                <a:solidFill>
                  <a:srgbClr val="193248"/>
                </a:solidFill>
                <a:latin typeface="Arial"/>
              </a:rPr>
              <a:t>Raccoglie e conserva l’urina fino alla minzione,</a:t>
            </a:r>
            <a:r>
              <a:rPr lang="it-IT" sz="1750" b="0">
                <a:solidFill>
                  <a:srgbClr val="193248"/>
                </a:solidFill>
                <a:latin typeface="Arial"/>
              </a:rPr>
              <a:t> </a:t>
            </a:r>
            <a:r>
              <a:rPr lang="it-IT" sz="1750" b="0" dirty="0">
                <a:solidFill>
                  <a:srgbClr val="193248"/>
                </a:solidFill>
                <a:latin typeface="Arial"/>
              </a:rPr>
              <a:t>poi si contrae per favorirne l’espulsione.</a:t>
            </a:r>
            <a:endParaRPr lang="it-IT" sz="1750" b="0">
              <a:solidFill>
                <a:srgbClr val="193248"/>
              </a:solidFill>
              <a:latin typeface="Arial"/>
            </a:endParaRPr>
          </a:p>
        </p:txBody>
      </p:sp>
      <p:sp>
        <p:nvSpPr>
          <p:cNvPr id="17" name="TextBox 16"/>
          <p:cNvSpPr txBox="1"/>
          <p:nvPr/>
        </p:nvSpPr>
        <p:spPr>
          <a:xfrm>
            <a:off x="6812280" y="5769864"/>
            <a:ext cx="4709160" cy="685800"/>
          </a:xfrm>
          <a:prstGeom prst="rect">
            <a:avLst/>
          </a:prstGeom>
          <a:noFill/>
        </p:spPr>
        <p:txBody>
          <a:bodyPr wrap="square" lIns="0" tIns="0" rIns="0" bIns="0" anchor="t">
            <a:noAutofit/>
          </a:bodyPr>
          <a:lstStyle/>
          <a:p>
            <a:pPr algn="l">
              <a:lnSpc>
                <a:spcPts val="2000"/>
              </a:lnSpc>
              <a:spcAft>
                <a:spcPts val="0"/>
              </a:spcAft>
            </a:pPr>
            <a:r>
              <a:rPr lang="it-IT" sz="1750" b="0" dirty="0">
                <a:solidFill>
                  <a:srgbClr val="193248"/>
                </a:solidFill>
                <a:latin typeface="Arial"/>
              </a:rPr>
              <a:t>Conduce l’urina dalla vescica all’esterno durante la minzione.</a:t>
            </a:r>
          </a:p>
        </p:txBody>
      </p:sp>
      <p:sp>
        <p:nvSpPr>
          <p:cNvPr id="22" name="TextBox 21"/>
          <p:cNvSpPr txBox="1"/>
          <p:nvPr/>
        </p:nvSpPr>
        <p:spPr>
          <a:xfrm>
            <a:off x="6812280" y="2240280"/>
            <a:ext cx="4709160" cy="301752"/>
          </a:xfrm>
          <a:prstGeom prst="rect">
            <a:avLst/>
          </a:prstGeom>
          <a:noFill/>
        </p:spPr>
        <p:txBody>
          <a:bodyPr wrap="square" lIns="0" tIns="0" rIns="0" bIns="0">
            <a:spAutoFit/>
          </a:bodyPr>
          <a:lstStyle/>
          <a:p>
            <a:pPr algn="l">
              <a:lnSpc>
                <a:spcPts val="2000"/>
              </a:lnSpc>
              <a:spcAft>
                <a:spcPts val="300"/>
              </a:spcAft>
              <a:defRPr sz="1800" b="1">
                <a:solidFill>
                  <a:srgbClr val="123F67"/>
                </a:solidFill>
                <a:latin typeface="Arial"/>
              </a:defRPr>
            </a:pPr>
            <a:r>
              <a:rPr lang="it-IT" sz="2000" b="1">
                <a:solidFill>
                  <a:srgbClr val="123F67"/>
                </a:solidFill>
                <a:latin typeface="Arial"/>
              </a:rPr>
              <a:t>Reni</a:t>
            </a:r>
          </a:p>
        </p:txBody>
      </p:sp>
      <p:sp>
        <p:nvSpPr>
          <p:cNvPr id="23" name="TextBox 22"/>
          <p:cNvSpPr txBox="1"/>
          <p:nvPr/>
        </p:nvSpPr>
        <p:spPr>
          <a:xfrm>
            <a:off x="6812280" y="3429000"/>
            <a:ext cx="4709160" cy="301752"/>
          </a:xfrm>
          <a:prstGeom prst="rect">
            <a:avLst/>
          </a:prstGeom>
          <a:noFill/>
        </p:spPr>
        <p:txBody>
          <a:bodyPr wrap="square" lIns="0" tIns="0" rIns="0" bIns="0">
            <a:spAutoFit/>
          </a:bodyPr>
          <a:lstStyle/>
          <a:p>
            <a:pPr algn="l">
              <a:lnSpc>
                <a:spcPts val="2000"/>
              </a:lnSpc>
              <a:spcAft>
                <a:spcPts val="300"/>
              </a:spcAft>
              <a:defRPr sz="1800" b="1">
                <a:solidFill>
                  <a:srgbClr val="123F67"/>
                </a:solidFill>
                <a:latin typeface="Arial"/>
              </a:defRPr>
            </a:pPr>
            <a:r>
              <a:rPr lang="it-IT" sz="2000" b="1">
                <a:solidFill>
                  <a:srgbClr val="123F67"/>
                </a:solidFill>
                <a:latin typeface="Arial"/>
              </a:rPr>
              <a:t>Ureteri</a:t>
            </a:r>
          </a:p>
        </p:txBody>
      </p:sp>
      <p:sp>
        <p:nvSpPr>
          <p:cNvPr id="24" name="TextBox 23"/>
          <p:cNvSpPr txBox="1"/>
          <p:nvPr/>
        </p:nvSpPr>
        <p:spPr>
          <a:xfrm>
            <a:off x="6812280" y="4434840"/>
            <a:ext cx="4709160" cy="301752"/>
          </a:xfrm>
          <a:prstGeom prst="rect">
            <a:avLst/>
          </a:prstGeom>
          <a:noFill/>
        </p:spPr>
        <p:txBody>
          <a:bodyPr wrap="square" lIns="0" tIns="0" rIns="0" bIns="0">
            <a:spAutoFit/>
          </a:bodyPr>
          <a:lstStyle/>
          <a:p>
            <a:pPr algn="l">
              <a:lnSpc>
                <a:spcPts val="2000"/>
              </a:lnSpc>
              <a:spcAft>
                <a:spcPts val="300"/>
              </a:spcAft>
              <a:defRPr sz="1800" b="1">
                <a:solidFill>
                  <a:srgbClr val="123F67"/>
                </a:solidFill>
                <a:latin typeface="Arial"/>
              </a:defRPr>
            </a:pPr>
            <a:r>
              <a:rPr lang="it-IT" sz="2000" b="1">
                <a:solidFill>
                  <a:srgbClr val="123F67"/>
                </a:solidFill>
                <a:latin typeface="Arial"/>
              </a:rPr>
              <a:t>Vescica</a:t>
            </a:r>
          </a:p>
        </p:txBody>
      </p:sp>
      <p:sp>
        <p:nvSpPr>
          <p:cNvPr id="25" name="TextBox 24"/>
          <p:cNvSpPr txBox="1"/>
          <p:nvPr/>
        </p:nvSpPr>
        <p:spPr>
          <a:xfrm>
            <a:off x="6812280" y="5440680"/>
            <a:ext cx="4709160" cy="301752"/>
          </a:xfrm>
          <a:prstGeom prst="rect">
            <a:avLst/>
          </a:prstGeom>
          <a:noFill/>
        </p:spPr>
        <p:txBody>
          <a:bodyPr wrap="square" lIns="0" tIns="0" rIns="0" bIns="0">
            <a:spAutoFit/>
          </a:bodyPr>
          <a:lstStyle/>
          <a:p>
            <a:pPr algn="l">
              <a:lnSpc>
                <a:spcPts val="2000"/>
              </a:lnSpc>
              <a:spcAft>
                <a:spcPts val="300"/>
              </a:spcAft>
              <a:defRPr sz="1800" b="1">
                <a:solidFill>
                  <a:srgbClr val="123F67"/>
                </a:solidFill>
                <a:latin typeface="Arial"/>
              </a:defRPr>
            </a:pPr>
            <a:r>
              <a:rPr lang="it-IT" sz="2000" b="1">
                <a:solidFill>
                  <a:srgbClr val="123F67"/>
                </a:solidFill>
                <a:latin typeface="Arial"/>
              </a:rPr>
              <a:t>Uretra</a:t>
            </a:r>
          </a:p>
        </p:txBody>
      </p:sp>
      <p:sp>
        <p:nvSpPr>
          <p:cNvPr id="30" name="Percorso urina 1"/>
          <p:cNvSpPr/>
          <p:nvPr/>
        </p:nvSpPr>
        <p:spPr>
          <a:xfrm>
            <a:off x="6400800" y="2240280"/>
            <a:ext cx="310896" cy="310896"/>
          </a:xfrm>
          <a:prstGeom prst="ellipse">
            <a:avLst/>
          </a:prstGeom>
          <a:solidFill>
            <a:srgbClr val="173C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1</a:t>
            </a:r>
          </a:p>
        </p:txBody>
      </p:sp>
      <p:sp>
        <p:nvSpPr>
          <p:cNvPr id="31" name="Percorso urina 2"/>
          <p:cNvSpPr/>
          <p:nvPr/>
        </p:nvSpPr>
        <p:spPr>
          <a:xfrm>
            <a:off x="6400800" y="3429000"/>
            <a:ext cx="310896" cy="310896"/>
          </a:xfrm>
          <a:prstGeom prst="ellipse">
            <a:avLst/>
          </a:prstGeom>
          <a:solidFill>
            <a:srgbClr val="173C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2</a:t>
            </a:r>
          </a:p>
        </p:txBody>
      </p:sp>
      <p:sp>
        <p:nvSpPr>
          <p:cNvPr id="32" name="Percorso urina 3"/>
          <p:cNvSpPr/>
          <p:nvPr/>
        </p:nvSpPr>
        <p:spPr>
          <a:xfrm>
            <a:off x="6400800" y="4434840"/>
            <a:ext cx="310896" cy="310896"/>
          </a:xfrm>
          <a:prstGeom prst="ellipse">
            <a:avLst/>
          </a:prstGeom>
          <a:solidFill>
            <a:srgbClr val="173C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3</a:t>
            </a:r>
          </a:p>
        </p:txBody>
      </p:sp>
      <p:sp>
        <p:nvSpPr>
          <p:cNvPr id="33" name="Percorso urina 4"/>
          <p:cNvSpPr/>
          <p:nvPr/>
        </p:nvSpPr>
        <p:spPr>
          <a:xfrm>
            <a:off x="6400800" y="5440680"/>
            <a:ext cx="310896" cy="310896"/>
          </a:xfrm>
          <a:prstGeom prst="ellipse">
            <a:avLst/>
          </a:prstGeom>
          <a:solidFill>
            <a:srgbClr val="173C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4</a:t>
            </a:r>
          </a:p>
        </p:txBody>
      </p:sp>
    </p:spTree>
    <p:extLst>
      <p:ext uri="{BB962C8B-B14F-4D97-AF65-F5344CB8AC3E}">
        <p14:creationId xmlns:p14="http://schemas.microsoft.com/office/powerpoint/2010/main" val="1400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rgan profile 1">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Organ profile 2">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URINARIO · APPROFONDIMENTO</a:t>
            </a:r>
            <a:endParaRPr sz="1275" b="1">
              <a:solidFill>
                <a:srgbClr val="087E8B"/>
              </a:solidFill>
              <a:latin typeface="Arial"/>
              <a:ea typeface="Arial"/>
              <a:cs typeface="Arial"/>
            </a:endParaRPr>
          </a:p>
        </p:txBody>
      </p:sp>
      <p:sp>
        <p:nvSpPr>
          <p:cNvPr id="3" name="Organ profile 3">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dirty="0">
                <a:solidFill>
                  <a:srgbClr val="123F67"/>
                </a:solidFill>
                <a:latin typeface="Arial"/>
                <a:ea typeface="Arial"/>
                <a:cs typeface="Arial"/>
              </a:rPr>
              <a:t>I </a:t>
            </a:r>
            <a:r>
              <a:rPr lang="it-IT" sz="3000" b="1" dirty="0">
                <a:solidFill>
                  <a:srgbClr val="123F67"/>
                </a:solidFill>
                <a:latin typeface="Arial"/>
                <a:ea typeface="Arial"/>
                <a:cs typeface="Arial"/>
              </a:rPr>
              <a:t>R</a:t>
            </a:r>
            <a:r>
              <a:rPr sz="3000" b="1" dirty="0" err="1">
                <a:solidFill>
                  <a:srgbClr val="123F67"/>
                </a:solidFill>
                <a:latin typeface="Arial"/>
                <a:ea typeface="Arial"/>
                <a:cs typeface="Arial"/>
              </a:rPr>
              <a:t>eni</a:t>
            </a:r>
            <a:endParaRPr sz="3225" b="1" dirty="0">
              <a:solidFill>
                <a:srgbClr val="123F67"/>
              </a:solidFill>
              <a:latin typeface="Arial"/>
              <a:ea typeface="Arial"/>
              <a:cs typeface="Arial"/>
            </a:endParaRPr>
          </a:p>
        </p:txBody>
      </p:sp>
      <p:sp>
        <p:nvSpPr>
          <p:cNvPr id="4" name="Organ profile 4">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Organ profile 5">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Organ profile 6">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49</a:t>
            </a:r>
            <a:endParaRPr sz="1350" b="1">
              <a:solidFill>
                <a:srgbClr val="123F67"/>
              </a:solidFill>
              <a:latin typeface="Arial"/>
              <a:ea typeface="Arial"/>
              <a:cs typeface="Arial"/>
            </a:endParaRPr>
          </a:p>
        </p:txBody>
      </p:sp>
      <p:sp>
        <p:nvSpPr>
          <p:cNvPr id="7" name="Organ profile 7"/>
          <p:cNvSpPr txBox="1"/>
          <p:nvPr/>
        </p:nvSpPr>
        <p:spPr>
          <a:xfrm>
            <a:off x="704088" y="1472184"/>
            <a:ext cx="10881360" cy="438912"/>
          </a:xfrm>
          <a:prstGeom prst="rect">
            <a:avLst/>
          </a:prstGeom>
          <a:noFill/>
        </p:spPr>
        <p:txBody>
          <a:bodyPr wrap="square" lIns="0" tIns="0" rIns="0" bIns="0" anchor="t">
            <a:noAutofit/>
          </a:bodyPr>
          <a:lstStyle/>
          <a:p>
            <a:pPr algn="l">
              <a:lnSpc>
                <a:spcPct val="105000"/>
              </a:lnSpc>
              <a:spcBef>
                <a:spcPts val="0"/>
              </a:spcBef>
              <a:spcAft>
                <a:spcPts val="0"/>
              </a:spcAft>
            </a:pPr>
            <a:r>
              <a:rPr sz="1900" b="0">
                <a:solidFill>
                  <a:srgbClr val="193248"/>
                </a:solidFill>
                <a:latin typeface="Arial"/>
              </a:rPr>
              <a:t>Formazione dell’urina, equilibrio interno e funzioni ormonali</a:t>
            </a:r>
            <a:endParaRPr sz="1900" b="0">
              <a:solidFill>
                <a:srgbClr val="087E8B"/>
              </a:solidFill>
              <a:latin typeface="Arial"/>
            </a:endParaRPr>
          </a:p>
        </p:txBody>
      </p:sp>
      <p:pic>
        <p:nvPicPr>
          <p:cNvPr id="8" name="Picture 7" descr="Illustrazione anatomica schematica generata con IA: I reni"/>
          <p:cNvPicPr>
            <a:picLocks noChangeAspect="1"/>
          </p:cNvPicPr>
          <p:nvPr/>
        </p:nvPicPr>
        <p:blipFill>
          <a:blip r:embed="rId3"/>
          <a:srcRect/>
          <a:stretch>
            <a:fillRect/>
          </a:stretch>
        </p:blipFill>
        <p:spPr>
          <a:xfrm>
            <a:off x="847492" y="1723413"/>
            <a:ext cx="3479181" cy="3952080"/>
          </a:xfrm>
          <a:prstGeom prst="rect">
            <a:avLst/>
          </a:prstGeom>
        </p:spPr>
      </p:pic>
      <p:sp>
        <p:nvSpPr>
          <p:cNvPr id="9" name="Organ profile 9"/>
          <p:cNvSpPr txBox="1"/>
          <p:nvPr/>
        </p:nvSpPr>
        <p:spPr>
          <a:xfrm>
            <a:off x="667512" y="5696712"/>
            <a:ext cx="3886200" cy="612648"/>
          </a:xfrm>
          <a:prstGeom prst="rect">
            <a:avLst/>
          </a:prstGeom>
          <a:noFill/>
        </p:spPr>
        <p:txBody>
          <a:bodyPr wrap="square" lIns="0" tIns="0" rIns="0" bIns="0" anchor="t">
            <a:noAutofit/>
          </a:bodyPr>
          <a:lstStyle/>
          <a:p>
            <a:pPr algn="ctr">
              <a:lnSpc>
                <a:spcPct val="105000"/>
              </a:lnSpc>
              <a:spcBef>
                <a:spcPts val="0"/>
              </a:spcBef>
              <a:spcAft>
                <a:spcPts val="0"/>
              </a:spcAft>
            </a:pPr>
            <a:r>
              <a:rPr sz="1650" b="0">
                <a:solidFill>
                  <a:srgbClr val="087E8B"/>
                </a:solidFill>
                <a:latin typeface="Arial"/>
              </a:rPr>
              <a:t>Nella parte posteriore dell’addome,</a:t>
            </a:r>
          </a:p>
          <a:p>
            <a:pPr algn="ctr">
              <a:lnSpc>
                <a:spcPct val="105000"/>
              </a:lnSpc>
              <a:spcBef>
                <a:spcPts val="0"/>
              </a:spcBef>
              <a:spcAft>
                <a:spcPts val="0"/>
              </a:spcAft>
            </a:pPr>
            <a:r>
              <a:rPr sz="1650" b="0">
                <a:solidFill>
                  <a:srgbClr val="087E8B"/>
                </a:solidFill>
                <a:latin typeface="Arial"/>
              </a:rPr>
              <a:t>ai lati della colonna vertebrale.</a:t>
            </a:r>
          </a:p>
        </p:txBody>
      </p:sp>
      <p:sp>
        <p:nvSpPr>
          <p:cNvPr id="10" name="Organ profile 10"/>
          <p:cNvSpPr txBox="1"/>
          <p:nvPr/>
        </p:nvSpPr>
        <p:spPr>
          <a:xfrm>
            <a:off x="4800600" y="1965960"/>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lang="it-IT" sz="2000" b="1">
                <a:solidFill>
                  <a:srgbClr val="123F67"/>
                </a:solidFill>
                <a:latin typeface="Arial"/>
              </a:rPr>
              <a:t>La struttura del rene</a:t>
            </a:r>
            <a:endParaRPr sz="2000" b="1">
              <a:solidFill>
                <a:srgbClr val="123F67"/>
              </a:solidFill>
              <a:latin typeface="Arial"/>
            </a:endParaRPr>
          </a:p>
        </p:txBody>
      </p:sp>
      <p:sp>
        <p:nvSpPr>
          <p:cNvPr id="11" name="Organ profile 11"/>
          <p:cNvSpPr txBox="1"/>
          <p:nvPr/>
        </p:nvSpPr>
        <p:spPr>
          <a:xfrm>
            <a:off x="4800600" y="2359152"/>
            <a:ext cx="6748272" cy="1188720"/>
          </a:xfrm>
          <a:prstGeom prst="rect">
            <a:avLst/>
          </a:prstGeom>
          <a:noFill/>
        </p:spPr>
        <p:txBody>
          <a:bodyPr wrap="square" lIns="0" tIns="0" rIns="0" bIns="0" anchor="t">
            <a:noAutofit/>
          </a:bodyPr>
          <a:lstStyle/>
          <a:p>
            <a:pPr algn="l">
              <a:lnSpc>
                <a:spcPct val="105000"/>
              </a:lnSpc>
              <a:spcBef>
                <a:spcPts val="0"/>
              </a:spcBef>
              <a:spcAft>
                <a:spcPts val="0"/>
              </a:spcAft>
            </a:pPr>
            <a:r>
              <a:rPr lang="it-IT" sz="1850" dirty="0">
                <a:solidFill>
                  <a:srgbClr val="193248"/>
                </a:solidFill>
                <a:latin typeface="Arial"/>
              </a:rPr>
              <a:t>Una</a:t>
            </a:r>
            <a:r>
              <a:rPr lang="it-IT" sz="1850" b="1" dirty="0">
                <a:solidFill>
                  <a:srgbClr val="193248"/>
                </a:solidFill>
                <a:latin typeface="Arial"/>
              </a:rPr>
              <a:t> capsula fibrosa</a:t>
            </a:r>
            <a:r>
              <a:rPr lang="it-IT" sz="1850" b="0" dirty="0">
                <a:solidFill>
                  <a:srgbClr val="193248"/>
                </a:solidFill>
                <a:latin typeface="Arial"/>
              </a:rPr>
              <a:t> riveste il rene. </a:t>
            </a:r>
            <a:r>
              <a:rPr sz="1850" b="0" dirty="0">
                <a:solidFill>
                  <a:srgbClr val="193248"/>
                </a:solidFill>
                <a:latin typeface="Arial"/>
              </a:rPr>
              <a:t>La </a:t>
            </a:r>
            <a:r>
              <a:rPr lang="it-IT" sz="1850" b="1" dirty="0">
                <a:solidFill>
                  <a:srgbClr val="193248"/>
                </a:solidFill>
                <a:latin typeface="Arial"/>
              </a:rPr>
              <a:t>corteccia</a:t>
            </a:r>
            <a:r>
              <a:rPr sz="1850" b="0" dirty="0">
                <a:solidFill>
                  <a:srgbClr val="193248"/>
                </a:solidFill>
                <a:latin typeface="Arial"/>
              </a:rPr>
              <a:t> è </a:t>
            </a:r>
            <a:r>
              <a:rPr lang="it-IT" sz="1850" b="0" dirty="0">
                <a:solidFill>
                  <a:srgbClr val="193248"/>
                </a:solidFill>
                <a:latin typeface="Arial"/>
              </a:rPr>
              <a:t>la zona </a:t>
            </a:r>
            <a:r>
              <a:rPr sz="1850" b="0" dirty="0" err="1">
                <a:solidFill>
                  <a:srgbClr val="193248"/>
                </a:solidFill>
                <a:latin typeface="Arial"/>
              </a:rPr>
              <a:t>esterna</a:t>
            </a:r>
            <a:r>
              <a:rPr sz="1850" b="0" dirty="0">
                <a:solidFill>
                  <a:srgbClr val="193248"/>
                </a:solidFill>
                <a:latin typeface="Arial"/>
              </a:rPr>
              <a:t>, la </a:t>
            </a:r>
            <a:r>
              <a:rPr lang="it-IT" sz="1850" b="1" dirty="0">
                <a:solidFill>
                  <a:srgbClr val="193248"/>
                </a:solidFill>
                <a:latin typeface="Arial"/>
              </a:rPr>
              <a:t>midollare</a:t>
            </a:r>
            <a:r>
              <a:rPr sz="1850" b="0" dirty="0">
                <a:solidFill>
                  <a:srgbClr val="193248"/>
                </a:solidFill>
                <a:latin typeface="Arial"/>
              </a:rPr>
              <a:t> </a:t>
            </a:r>
            <a:r>
              <a:rPr lang="it-IT" sz="1850" b="0" dirty="0">
                <a:solidFill>
                  <a:srgbClr val="193248"/>
                </a:solidFill>
                <a:latin typeface="Arial"/>
              </a:rPr>
              <a:t>quella </a:t>
            </a:r>
            <a:r>
              <a:rPr sz="1850" b="0" dirty="0">
                <a:solidFill>
                  <a:srgbClr val="193248"/>
                </a:solidFill>
                <a:latin typeface="Arial"/>
              </a:rPr>
              <a:t>interna</a:t>
            </a:r>
            <a:r>
              <a:rPr lang="it-IT" sz="1850" b="0" dirty="0">
                <a:solidFill>
                  <a:srgbClr val="193248"/>
                </a:solidFill>
                <a:latin typeface="Arial"/>
              </a:rPr>
              <a:t>, organizzata in piramidi renali</a:t>
            </a:r>
            <a:r>
              <a:rPr sz="1850" b="0" dirty="0">
                <a:solidFill>
                  <a:srgbClr val="193248"/>
                </a:solidFill>
                <a:latin typeface="Arial"/>
              </a:rPr>
              <a:t>. </a:t>
            </a:r>
            <a:r>
              <a:rPr sz="1850" b="0" dirty="0" err="1">
                <a:solidFill>
                  <a:srgbClr val="193248"/>
                </a:solidFill>
                <a:latin typeface="Arial"/>
              </a:rPr>
              <a:t>L’urina</a:t>
            </a:r>
            <a:r>
              <a:rPr sz="1850" b="0" dirty="0">
                <a:solidFill>
                  <a:srgbClr val="193248"/>
                </a:solidFill>
                <a:latin typeface="Arial"/>
              </a:rPr>
              <a:t> </a:t>
            </a:r>
            <a:r>
              <a:rPr lang="it-IT" sz="1850" b="0" dirty="0">
                <a:solidFill>
                  <a:srgbClr val="193248"/>
                </a:solidFill>
                <a:latin typeface="Arial"/>
              </a:rPr>
              <a:t>passa dai </a:t>
            </a:r>
            <a:r>
              <a:rPr lang="it-IT" sz="1850" b="1" dirty="0">
                <a:solidFill>
                  <a:srgbClr val="193248"/>
                </a:solidFill>
                <a:latin typeface="Arial"/>
              </a:rPr>
              <a:t>calici minori </a:t>
            </a:r>
            <a:r>
              <a:rPr lang="it-IT" sz="1850" dirty="0">
                <a:solidFill>
                  <a:srgbClr val="193248"/>
                </a:solidFill>
                <a:latin typeface="Arial"/>
              </a:rPr>
              <a:t>e</a:t>
            </a:r>
            <a:r>
              <a:rPr lang="it-IT" sz="1850" b="1" dirty="0">
                <a:solidFill>
                  <a:srgbClr val="193248"/>
                </a:solidFill>
                <a:latin typeface="Arial"/>
              </a:rPr>
              <a:t> maggiori</a:t>
            </a:r>
            <a:r>
              <a:rPr lang="it-IT" sz="1850" b="0" dirty="0">
                <a:solidFill>
                  <a:srgbClr val="193248"/>
                </a:solidFill>
                <a:latin typeface="Arial"/>
              </a:rPr>
              <a:t> alla </a:t>
            </a:r>
            <a:r>
              <a:rPr lang="it-IT" sz="1850" b="1" dirty="0">
                <a:solidFill>
                  <a:srgbClr val="193248"/>
                </a:solidFill>
                <a:latin typeface="Arial"/>
              </a:rPr>
              <a:t>pelvi renale</a:t>
            </a:r>
            <a:r>
              <a:rPr sz="1850" b="0" dirty="0">
                <a:solidFill>
                  <a:srgbClr val="193248"/>
                </a:solidFill>
                <a:latin typeface="Arial"/>
              </a:rPr>
              <a:t>, poi </a:t>
            </a:r>
            <a:r>
              <a:rPr lang="it-IT" sz="1850" b="0" dirty="0">
                <a:solidFill>
                  <a:srgbClr val="193248"/>
                </a:solidFill>
                <a:latin typeface="Arial"/>
              </a:rPr>
              <a:t>all’</a:t>
            </a:r>
            <a:r>
              <a:rPr lang="it-IT" sz="1850" b="1" dirty="0">
                <a:solidFill>
                  <a:srgbClr val="193248"/>
                </a:solidFill>
                <a:latin typeface="Arial"/>
              </a:rPr>
              <a:t>uretere</a:t>
            </a:r>
            <a:r>
              <a:rPr sz="1850" b="0" dirty="0">
                <a:solidFill>
                  <a:srgbClr val="193248"/>
                </a:solidFill>
                <a:latin typeface="Arial"/>
              </a:rPr>
              <a:t>.</a:t>
            </a:r>
          </a:p>
        </p:txBody>
      </p:sp>
      <p:sp>
        <p:nvSpPr>
          <p:cNvPr id="12" name="Organ profile 12"/>
          <p:cNvSpPr txBox="1"/>
          <p:nvPr/>
        </p:nvSpPr>
        <p:spPr>
          <a:xfrm>
            <a:off x="4800600" y="3639312"/>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Filtrazione e riassorbimento</a:t>
            </a:r>
          </a:p>
        </p:txBody>
      </p:sp>
      <p:sp>
        <p:nvSpPr>
          <p:cNvPr id="13" name="Organ profile 13"/>
          <p:cNvSpPr txBox="1"/>
          <p:nvPr/>
        </p:nvSpPr>
        <p:spPr>
          <a:xfrm>
            <a:off x="4800600" y="4032504"/>
            <a:ext cx="6748272" cy="1060704"/>
          </a:xfrm>
          <a:prstGeom prst="rect">
            <a:avLst/>
          </a:prstGeom>
          <a:noFill/>
        </p:spPr>
        <p:txBody>
          <a:bodyPr wrap="square" lIns="0" tIns="0" rIns="0" bIns="0" anchor="t">
            <a:noAutofit/>
          </a:bodyPr>
          <a:lstStyle/>
          <a:p>
            <a:pPr algn="l">
              <a:lnSpc>
                <a:spcPct val="105000"/>
              </a:lnSpc>
              <a:spcBef>
                <a:spcPts val="0"/>
              </a:spcBef>
              <a:spcAft>
                <a:spcPts val="0"/>
              </a:spcAft>
            </a:pPr>
            <a:r>
              <a:rPr sz="1850" b="0" dirty="0">
                <a:solidFill>
                  <a:srgbClr val="193248"/>
                </a:solidFill>
                <a:latin typeface="Arial"/>
              </a:rPr>
              <a:t>Il </a:t>
            </a:r>
            <a:r>
              <a:rPr lang="it-IT" sz="1850" b="0" dirty="0">
                <a:solidFill>
                  <a:srgbClr val="193248"/>
                </a:solidFill>
                <a:latin typeface="Arial"/>
              </a:rPr>
              <a:t>nefrone è l’unità funzionale che forma l’urina. Il </a:t>
            </a:r>
            <a:r>
              <a:rPr sz="1850" b="0" dirty="0" err="1">
                <a:solidFill>
                  <a:srgbClr val="193248"/>
                </a:solidFill>
                <a:latin typeface="Arial"/>
              </a:rPr>
              <a:t>glomerulo</a:t>
            </a:r>
            <a:r>
              <a:rPr sz="1850" b="0" dirty="0">
                <a:solidFill>
                  <a:srgbClr val="193248"/>
                </a:solidFill>
                <a:latin typeface="Arial"/>
              </a:rPr>
              <a:t> filtra il </a:t>
            </a:r>
            <a:r>
              <a:rPr sz="1850" b="0" dirty="0" err="1">
                <a:solidFill>
                  <a:srgbClr val="193248"/>
                </a:solidFill>
                <a:latin typeface="Arial"/>
              </a:rPr>
              <a:t>sangue</a:t>
            </a:r>
            <a:r>
              <a:rPr sz="1850" b="0" dirty="0">
                <a:solidFill>
                  <a:srgbClr val="193248"/>
                </a:solidFill>
                <a:latin typeface="Arial"/>
              </a:rPr>
              <a:t>. I </a:t>
            </a:r>
            <a:r>
              <a:rPr sz="1850" b="0" dirty="0" err="1">
                <a:solidFill>
                  <a:srgbClr val="193248"/>
                </a:solidFill>
                <a:latin typeface="Arial"/>
              </a:rPr>
              <a:t>tubuli</a:t>
            </a:r>
            <a:r>
              <a:rPr sz="1850" b="0" dirty="0">
                <a:solidFill>
                  <a:srgbClr val="193248"/>
                </a:solidFill>
                <a:latin typeface="Arial"/>
              </a:rPr>
              <a:t> </a:t>
            </a:r>
            <a:r>
              <a:rPr sz="1850" b="0" dirty="0" err="1">
                <a:solidFill>
                  <a:srgbClr val="193248"/>
                </a:solidFill>
                <a:latin typeface="Arial"/>
              </a:rPr>
              <a:t>recuperano</a:t>
            </a:r>
            <a:r>
              <a:rPr sz="1850" b="0" dirty="0">
                <a:solidFill>
                  <a:srgbClr val="193248"/>
                </a:solidFill>
                <a:latin typeface="Arial"/>
              </a:rPr>
              <a:t> </a:t>
            </a:r>
            <a:r>
              <a:rPr sz="1850" b="0" dirty="0" err="1">
                <a:solidFill>
                  <a:srgbClr val="193248"/>
                </a:solidFill>
                <a:latin typeface="Arial"/>
              </a:rPr>
              <a:t>acqua</a:t>
            </a:r>
            <a:r>
              <a:rPr sz="1850" b="0" dirty="0">
                <a:solidFill>
                  <a:srgbClr val="193248"/>
                </a:solidFill>
                <a:latin typeface="Arial"/>
              </a:rPr>
              <a:t> e </a:t>
            </a:r>
            <a:r>
              <a:rPr sz="1850" b="0" dirty="0" err="1">
                <a:solidFill>
                  <a:srgbClr val="193248"/>
                </a:solidFill>
                <a:latin typeface="Arial"/>
              </a:rPr>
              <a:t>sostanze</a:t>
            </a:r>
            <a:r>
              <a:rPr sz="1850" b="0" dirty="0">
                <a:solidFill>
                  <a:srgbClr val="193248"/>
                </a:solidFill>
                <a:latin typeface="Arial"/>
              </a:rPr>
              <a:t> </a:t>
            </a:r>
            <a:r>
              <a:rPr sz="1850" b="0" dirty="0" err="1">
                <a:solidFill>
                  <a:srgbClr val="193248"/>
                </a:solidFill>
                <a:latin typeface="Arial"/>
              </a:rPr>
              <a:t>utili</a:t>
            </a:r>
            <a:r>
              <a:rPr sz="1850" b="0" dirty="0">
                <a:solidFill>
                  <a:srgbClr val="193248"/>
                </a:solidFill>
                <a:latin typeface="Arial"/>
              </a:rPr>
              <a:t> e </a:t>
            </a:r>
            <a:r>
              <a:rPr lang="it-IT" sz="1850" b="0" dirty="0">
                <a:solidFill>
                  <a:srgbClr val="193248"/>
                </a:solidFill>
                <a:latin typeface="Arial"/>
              </a:rPr>
              <a:t>secernono </a:t>
            </a:r>
            <a:r>
              <a:rPr sz="1850" b="0" dirty="0" err="1">
                <a:solidFill>
                  <a:srgbClr val="193248"/>
                </a:solidFill>
                <a:latin typeface="Arial"/>
              </a:rPr>
              <a:t>sostanze</a:t>
            </a:r>
            <a:r>
              <a:rPr sz="1850" b="0" dirty="0">
                <a:solidFill>
                  <a:srgbClr val="193248"/>
                </a:solidFill>
                <a:latin typeface="Arial"/>
              </a:rPr>
              <a:t> da </a:t>
            </a:r>
            <a:r>
              <a:rPr sz="1850" b="0" dirty="0" err="1">
                <a:solidFill>
                  <a:srgbClr val="193248"/>
                </a:solidFill>
                <a:latin typeface="Arial"/>
              </a:rPr>
              <a:t>eliminare</a:t>
            </a:r>
            <a:r>
              <a:rPr sz="1850" b="0" dirty="0">
                <a:solidFill>
                  <a:srgbClr val="193248"/>
                </a:solidFill>
                <a:latin typeface="Arial"/>
              </a:rPr>
              <a:t>. I </a:t>
            </a:r>
            <a:r>
              <a:rPr sz="1850" b="0" dirty="0" err="1">
                <a:solidFill>
                  <a:srgbClr val="193248"/>
                </a:solidFill>
                <a:latin typeface="Arial"/>
              </a:rPr>
              <a:t>reni</a:t>
            </a:r>
            <a:r>
              <a:rPr sz="1850" b="0" dirty="0">
                <a:solidFill>
                  <a:srgbClr val="193248"/>
                </a:solidFill>
                <a:latin typeface="Arial"/>
              </a:rPr>
              <a:t> </a:t>
            </a:r>
            <a:r>
              <a:rPr sz="1850" b="0" dirty="0" err="1">
                <a:solidFill>
                  <a:srgbClr val="193248"/>
                </a:solidFill>
                <a:latin typeface="Arial"/>
              </a:rPr>
              <a:t>regolano</a:t>
            </a:r>
            <a:r>
              <a:rPr sz="1850" b="0" dirty="0">
                <a:solidFill>
                  <a:srgbClr val="193248"/>
                </a:solidFill>
                <a:latin typeface="Arial"/>
              </a:rPr>
              <a:t> </a:t>
            </a:r>
            <a:r>
              <a:rPr sz="1850" b="0" dirty="0" err="1">
                <a:solidFill>
                  <a:srgbClr val="193248"/>
                </a:solidFill>
                <a:latin typeface="Arial"/>
              </a:rPr>
              <a:t>acqua</a:t>
            </a:r>
            <a:r>
              <a:rPr sz="1850" b="0" dirty="0">
                <a:solidFill>
                  <a:srgbClr val="193248"/>
                </a:solidFill>
                <a:latin typeface="Arial"/>
              </a:rPr>
              <a:t>, </a:t>
            </a:r>
            <a:r>
              <a:rPr sz="1850" b="0" dirty="0" err="1">
                <a:solidFill>
                  <a:srgbClr val="193248"/>
                </a:solidFill>
                <a:latin typeface="Arial"/>
              </a:rPr>
              <a:t>sali</a:t>
            </a:r>
            <a:r>
              <a:rPr sz="1850" b="0" dirty="0">
                <a:solidFill>
                  <a:srgbClr val="193248"/>
                </a:solidFill>
                <a:latin typeface="Arial"/>
              </a:rPr>
              <a:t> e </a:t>
            </a:r>
            <a:r>
              <a:rPr sz="1850" b="0" dirty="0" err="1">
                <a:solidFill>
                  <a:srgbClr val="193248"/>
                </a:solidFill>
                <a:latin typeface="Arial"/>
              </a:rPr>
              <a:t>acidità</a:t>
            </a:r>
            <a:r>
              <a:rPr sz="1850" b="0" dirty="0">
                <a:solidFill>
                  <a:srgbClr val="193248"/>
                </a:solidFill>
                <a:latin typeface="Arial"/>
              </a:rPr>
              <a:t> del </a:t>
            </a:r>
            <a:r>
              <a:rPr sz="1850" b="0" dirty="0" err="1">
                <a:solidFill>
                  <a:srgbClr val="193248"/>
                </a:solidFill>
                <a:latin typeface="Arial"/>
              </a:rPr>
              <a:t>sangue</a:t>
            </a:r>
            <a:r>
              <a:rPr sz="1850" b="0" dirty="0">
                <a:solidFill>
                  <a:srgbClr val="193248"/>
                </a:solidFill>
                <a:latin typeface="Arial"/>
              </a:rPr>
              <a:t>.</a:t>
            </a:r>
          </a:p>
        </p:txBody>
      </p:sp>
      <p:sp>
        <p:nvSpPr>
          <p:cNvPr id="14" name="Organ profile 14"/>
          <p:cNvSpPr txBox="1"/>
          <p:nvPr/>
        </p:nvSpPr>
        <p:spPr>
          <a:xfrm>
            <a:off x="4800600" y="5202936"/>
            <a:ext cx="6748272" cy="329184"/>
          </a:xfrm>
          <a:prstGeom prst="rect">
            <a:avLst/>
          </a:prstGeom>
          <a:noFill/>
        </p:spPr>
        <p:txBody>
          <a:bodyPr wrap="square" lIns="0" tIns="0" rIns="0" bIns="0" anchor="t">
            <a:noAutofit/>
          </a:bodyPr>
          <a:lstStyle/>
          <a:p>
            <a:pPr algn="l">
              <a:lnSpc>
                <a:spcPct val="105000"/>
              </a:lnSpc>
              <a:spcBef>
                <a:spcPts val="0"/>
              </a:spcBef>
              <a:spcAft>
                <a:spcPts val="0"/>
              </a:spcAft>
            </a:pPr>
            <a:r>
              <a:rPr sz="2000" b="1">
                <a:solidFill>
                  <a:srgbClr val="123F67"/>
                </a:solidFill>
                <a:latin typeface="Arial"/>
              </a:rPr>
              <a:t>Anche una funzione endocrina</a:t>
            </a:r>
          </a:p>
        </p:txBody>
      </p:sp>
      <p:sp>
        <p:nvSpPr>
          <p:cNvPr id="15" name="Organ profile 15"/>
          <p:cNvSpPr txBox="1"/>
          <p:nvPr/>
        </p:nvSpPr>
        <p:spPr>
          <a:xfrm>
            <a:off x="4800600" y="5596128"/>
            <a:ext cx="6748272" cy="868680"/>
          </a:xfrm>
          <a:prstGeom prst="rect">
            <a:avLst/>
          </a:prstGeom>
          <a:noFill/>
        </p:spPr>
        <p:txBody>
          <a:bodyPr wrap="square" lIns="0" tIns="0" rIns="0" bIns="0" anchor="t">
            <a:noAutofit/>
          </a:bodyPr>
          <a:lstStyle/>
          <a:p>
            <a:pPr algn="l">
              <a:lnSpc>
                <a:spcPct val="105000"/>
              </a:lnSpc>
              <a:spcBef>
                <a:spcPts val="0"/>
              </a:spcBef>
              <a:spcAft>
                <a:spcPts val="0"/>
              </a:spcAft>
            </a:pPr>
            <a:r>
              <a:rPr sz="1850" b="0">
                <a:solidFill>
                  <a:srgbClr val="193248"/>
                </a:solidFill>
                <a:latin typeface="Arial"/>
              </a:rPr>
              <a:t>La renina contribuisce a regolare la pressione. L’eritropoietina stimola il midollo a produrre globuli rossi. I reni attivano la vitamina D, importante per calcio e ossa.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urinario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50</a:t>
            </a:r>
            <a:endParaRPr sz="1350" b="1">
              <a:solidFill>
                <a:srgbClr val="123F67"/>
              </a:solidFill>
              <a:latin typeface="Arial"/>
              <a:ea typeface="Arial"/>
              <a:cs typeface="Arial"/>
            </a:endParaRPr>
          </a:p>
        </p:txBody>
      </p:sp>
      <p:sp>
        <p:nvSpPr>
          <p:cNvPr id="25" name="TextBox 24"/>
          <p:cNvSpPr txBox="1"/>
          <p:nvPr/>
        </p:nvSpPr>
        <p:spPr>
          <a:xfrm>
            <a:off x="704850" y="1581912"/>
            <a:ext cx="3143250" cy="301752"/>
          </a:xfrm>
          <a:prstGeom prst="rect">
            <a:avLst/>
          </a:prstGeom>
          <a:noFill/>
        </p:spPr>
        <p:txBody>
          <a:bodyPr wrap="square" lIns="0" tIns="0" rIns="0" bIns="0">
            <a:noAutofit/>
          </a:bodyPr>
          <a:lstStyle/>
          <a:p>
            <a:pPr>
              <a:lnSpc>
                <a:spcPts val="1700"/>
              </a:lnSpc>
            </a:pPr>
            <a:r>
              <a:rPr sz="1400" b="1">
                <a:solidFill>
                  <a:srgbClr val="087E8B"/>
                </a:solidFill>
                <a:latin typeface="Arial"/>
              </a:rPr>
              <a:t>RENI E VIE URINARIE</a:t>
            </a:r>
          </a:p>
        </p:txBody>
      </p:sp>
      <p:sp>
        <p:nvSpPr>
          <p:cNvPr id="26" name="TextBox 25"/>
          <p:cNvSpPr txBox="1"/>
          <p:nvPr/>
        </p:nvSpPr>
        <p:spPr>
          <a:xfrm>
            <a:off x="704850" y="1892807"/>
            <a:ext cx="3381375" cy="45720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Calcoli renali</a:t>
            </a:r>
          </a:p>
        </p:txBody>
      </p:sp>
      <p:sp>
        <p:nvSpPr>
          <p:cNvPr id="27" name="TextBox 26"/>
          <p:cNvSpPr txBox="1"/>
          <p:nvPr/>
        </p:nvSpPr>
        <p:spPr>
          <a:xfrm>
            <a:off x="4476750" y="1581912"/>
            <a:ext cx="7105650" cy="877824"/>
          </a:xfrm>
          <a:prstGeom prst="rect">
            <a:avLst/>
          </a:prstGeom>
          <a:noFill/>
        </p:spPr>
        <p:txBody>
          <a:bodyPr wrap="square" lIns="0" tIns="0" rIns="0" bIns="0">
            <a:noAutofit/>
          </a:bodyPr>
          <a:lstStyle/>
          <a:p>
            <a:pPr>
              <a:lnSpc>
                <a:spcPts val="2300"/>
              </a:lnSpc>
            </a:pPr>
            <a:r>
              <a:rPr lang="it-IT" sz="2000" b="0">
                <a:solidFill>
                  <a:srgbClr val="193248"/>
                </a:solidFill>
                <a:latin typeface="Arial"/>
              </a:rPr>
              <a:t>Aggregati solidi di minerali che si formano nei reni. Possono bloccare il passaggio dell’urina e causare dolore intenso.</a:t>
            </a:r>
          </a:p>
        </p:txBody>
      </p:sp>
      <p:sp>
        <p:nvSpPr>
          <p:cNvPr id="28" name="TextBox 27"/>
          <p:cNvSpPr txBox="1"/>
          <p:nvPr/>
        </p:nvSpPr>
        <p:spPr>
          <a:xfrm>
            <a:off x="704850" y="2532888"/>
            <a:ext cx="3143250" cy="301752"/>
          </a:xfrm>
          <a:prstGeom prst="rect">
            <a:avLst/>
          </a:prstGeom>
          <a:noFill/>
        </p:spPr>
        <p:txBody>
          <a:bodyPr wrap="square" lIns="0" tIns="0" rIns="0" bIns="0">
            <a:noAutofit/>
          </a:bodyPr>
          <a:lstStyle/>
          <a:p>
            <a:pPr>
              <a:lnSpc>
                <a:spcPts val="1700"/>
              </a:lnSpc>
            </a:pPr>
            <a:r>
              <a:rPr sz="1400" b="1">
                <a:solidFill>
                  <a:srgbClr val="087E8B"/>
                </a:solidFill>
                <a:latin typeface="Arial"/>
              </a:rPr>
              <a:t>RENI</a:t>
            </a:r>
          </a:p>
        </p:txBody>
      </p:sp>
      <p:sp>
        <p:nvSpPr>
          <p:cNvPr id="29" name="TextBox 28"/>
          <p:cNvSpPr txBox="1"/>
          <p:nvPr/>
        </p:nvSpPr>
        <p:spPr>
          <a:xfrm>
            <a:off x="704850" y="2843784"/>
            <a:ext cx="3381375" cy="45720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Pielonefrite</a:t>
            </a:r>
          </a:p>
        </p:txBody>
      </p:sp>
      <p:sp>
        <p:nvSpPr>
          <p:cNvPr id="30" name="TextBox 29"/>
          <p:cNvSpPr txBox="1"/>
          <p:nvPr/>
        </p:nvSpPr>
        <p:spPr>
          <a:xfrm>
            <a:off x="4476750" y="2532888"/>
            <a:ext cx="7105650" cy="877824"/>
          </a:xfrm>
          <a:prstGeom prst="rect">
            <a:avLst/>
          </a:prstGeom>
          <a:noFill/>
        </p:spPr>
        <p:txBody>
          <a:bodyPr wrap="square" lIns="0" tIns="0" rIns="0" bIns="0">
            <a:noAutofit/>
          </a:bodyPr>
          <a:lstStyle/>
          <a:p>
            <a:pPr>
              <a:lnSpc>
                <a:spcPts val="2300"/>
              </a:lnSpc>
            </a:pPr>
            <a:r>
              <a:rPr lang="it-IT" sz="2000" b="0">
                <a:solidFill>
                  <a:srgbClr val="193248"/>
                </a:solidFill>
                <a:latin typeface="Arial"/>
              </a:rPr>
              <a:t>Infezione di uno o entrambi i reni, spesso causata da batteri che risalgono dalla vescica. Può provocare febbre e dolore al fianco.</a:t>
            </a:r>
          </a:p>
        </p:txBody>
      </p:sp>
      <p:cxnSp>
        <p:nvCxnSpPr>
          <p:cNvPr id="31" name="Connector 30"/>
          <p:cNvCxnSpPr/>
          <p:nvPr/>
        </p:nvCxnSpPr>
        <p:spPr>
          <a:xfrm>
            <a:off x="704850" y="2450592"/>
            <a:ext cx="1087755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sp>
        <p:nvSpPr>
          <p:cNvPr id="32" name="Added 32"/>
          <p:cNvSpPr txBox="1"/>
          <p:nvPr/>
        </p:nvSpPr>
        <p:spPr>
          <a:xfrm>
            <a:off x="704850" y="3483864"/>
            <a:ext cx="3143250" cy="301752"/>
          </a:xfrm>
          <a:prstGeom prst="rect">
            <a:avLst/>
          </a:prstGeom>
          <a:noFill/>
        </p:spPr>
        <p:txBody>
          <a:bodyPr wrap="square" lIns="0" tIns="0" rIns="0" bIns="0">
            <a:noAutofit/>
          </a:bodyPr>
          <a:lstStyle/>
          <a:p>
            <a:pPr>
              <a:lnSpc>
                <a:spcPts val="1700"/>
              </a:lnSpc>
            </a:pPr>
            <a:r>
              <a:rPr sz="1400" b="1">
                <a:solidFill>
                  <a:srgbClr val="087E8B"/>
                </a:solidFill>
                <a:latin typeface="Arial"/>
              </a:rPr>
              <a:t>RENI</a:t>
            </a:r>
          </a:p>
        </p:txBody>
      </p:sp>
      <p:sp>
        <p:nvSpPr>
          <p:cNvPr id="33" name="Added 33"/>
          <p:cNvSpPr txBox="1"/>
          <p:nvPr/>
        </p:nvSpPr>
        <p:spPr>
          <a:xfrm>
            <a:off x="704850" y="3794760"/>
            <a:ext cx="3381375" cy="45720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Glomerulonefrite</a:t>
            </a:r>
          </a:p>
        </p:txBody>
      </p:sp>
      <p:sp>
        <p:nvSpPr>
          <p:cNvPr id="34" name="Added 34"/>
          <p:cNvSpPr txBox="1"/>
          <p:nvPr/>
        </p:nvSpPr>
        <p:spPr>
          <a:xfrm>
            <a:off x="4476750" y="3483864"/>
            <a:ext cx="7105650" cy="877824"/>
          </a:xfrm>
          <a:prstGeom prst="rect">
            <a:avLst/>
          </a:prstGeom>
          <a:noFill/>
        </p:spPr>
        <p:txBody>
          <a:bodyPr wrap="square" lIns="0" tIns="0" rIns="0" bIns="0">
            <a:noAutofit/>
          </a:bodyPr>
          <a:lstStyle/>
          <a:p>
            <a:pPr>
              <a:lnSpc>
                <a:spcPts val="2300"/>
              </a:lnSpc>
            </a:pPr>
            <a:r>
              <a:rPr lang="it-IT" sz="2000" b="0">
                <a:solidFill>
                  <a:srgbClr val="193248"/>
                </a:solidFill>
                <a:latin typeface="Arial"/>
              </a:rPr>
              <a:t>Infiammazione dei glomeruli, le strutture del rene che filtrano il sangue.</a:t>
            </a:r>
          </a:p>
        </p:txBody>
      </p:sp>
      <p:cxnSp>
        <p:nvCxnSpPr>
          <p:cNvPr id="35" name="Added 35"/>
          <p:cNvCxnSpPr/>
          <p:nvPr/>
        </p:nvCxnSpPr>
        <p:spPr>
          <a:xfrm>
            <a:off x="704850" y="3401568"/>
            <a:ext cx="1087755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sp>
        <p:nvSpPr>
          <p:cNvPr id="36" name="Added 36"/>
          <p:cNvSpPr txBox="1"/>
          <p:nvPr/>
        </p:nvSpPr>
        <p:spPr>
          <a:xfrm>
            <a:off x="704850" y="4434840"/>
            <a:ext cx="3143250" cy="301752"/>
          </a:xfrm>
          <a:prstGeom prst="rect">
            <a:avLst/>
          </a:prstGeom>
          <a:noFill/>
        </p:spPr>
        <p:txBody>
          <a:bodyPr wrap="square" lIns="0" tIns="0" rIns="0" bIns="0">
            <a:noAutofit/>
          </a:bodyPr>
          <a:lstStyle/>
          <a:p>
            <a:pPr>
              <a:lnSpc>
                <a:spcPts val="1700"/>
              </a:lnSpc>
            </a:pPr>
            <a:r>
              <a:rPr sz="1400" b="1">
                <a:solidFill>
                  <a:srgbClr val="087E8B"/>
                </a:solidFill>
                <a:latin typeface="Arial"/>
              </a:rPr>
              <a:t>VESCICA</a:t>
            </a:r>
          </a:p>
        </p:txBody>
      </p:sp>
      <p:sp>
        <p:nvSpPr>
          <p:cNvPr id="37" name="Added 37"/>
          <p:cNvSpPr txBox="1"/>
          <p:nvPr/>
        </p:nvSpPr>
        <p:spPr>
          <a:xfrm>
            <a:off x="704850" y="4745736"/>
            <a:ext cx="3381375" cy="45720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Cistite</a:t>
            </a:r>
          </a:p>
        </p:txBody>
      </p:sp>
      <p:sp>
        <p:nvSpPr>
          <p:cNvPr id="38" name="Added 38"/>
          <p:cNvSpPr txBox="1"/>
          <p:nvPr/>
        </p:nvSpPr>
        <p:spPr>
          <a:xfrm>
            <a:off x="4476750" y="4434840"/>
            <a:ext cx="7105650" cy="877824"/>
          </a:xfrm>
          <a:prstGeom prst="rect">
            <a:avLst/>
          </a:prstGeom>
          <a:noFill/>
        </p:spPr>
        <p:txBody>
          <a:bodyPr wrap="square" lIns="0" tIns="0" rIns="0" bIns="0">
            <a:noAutofit/>
          </a:bodyPr>
          <a:lstStyle/>
          <a:p>
            <a:pPr>
              <a:lnSpc>
                <a:spcPts val="2300"/>
              </a:lnSpc>
            </a:pPr>
            <a:r>
              <a:rPr lang="it-IT" sz="2000" b="0">
                <a:solidFill>
                  <a:srgbClr val="193248"/>
                </a:solidFill>
                <a:latin typeface="Arial"/>
              </a:rPr>
              <a:t>Infiammazione della vescica, spesso dovuta a batteri. Può causare bruciore e bisogno frequente o urgente di urinare.</a:t>
            </a:r>
          </a:p>
        </p:txBody>
      </p:sp>
      <p:cxnSp>
        <p:nvCxnSpPr>
          <p:cNvPr id="39" name="Added 39"/>
          <p:cNvCxnSpPr/>
          <p:nvPr/>
        </p:nvCxnSpPr>
        <p:spPr>
          <a:xfrm>
            <a:off x="704850" y="4352544"/>
            <a:ext cx="1087755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sp>
        <p:nvSpPr>
          <p:cNvPr id="40" name="Farmaco per la cistite"/>
          <p:cNvSpPr txBox="1"/>
          <p:nvPr/>
        </p:nvSpPr>
        <p:spPr>
          <a:xfrm>
            <a:off x="704850" y="5129784"/>
            <a:ext cx="3566160" cy="438912"/>
          </a:xfrm>
          <a:prstGeom prst="rect">
            <a:avLst/>
          </a:prstGeom>
          <a:noFill/>
        </p:spPr>
        <p:txBody>
          <a:bodyPr wrap="square" lIns="0" tIns="0" rIns="0" bIns="0">
            <a:noAutofit/>
          </a:bodyPr>
          <a:lstStyle/>
          <a:p>
            <a:pPr>
              <a:lnSpc>
                <a:spcPct val="100000"/>
              </a:lnSpc>
            </a:pPr>
            <a:r>
              <a:rPr sz="1650" b="0">
                <a:solidFill>
                  <a:srgbClr val="087E8B"/>
                </a:solidFill>
                <a:latin typeface="Arial"/>
              </a:rPr>
              <a:t>fosfomicina trometamolo (Monuril)</a:t>
            </a:r>
          </a:p>
        </p:txBody>
      </p:sp>
      <p:cxnSp>
        <p:nvCxnSpPr>
          <p:cNvPr id="41" name="Separatore incontinenza"/>
          <p:cNvCxnSpPr/>
          <p:nvPr/>
        </p:nvCxnSpPr>
        <p:spPr>
          <a:xfrm>
            <a:off x="704850" y="5449824"/>
            <a:ext cx="10877550" cy="0"/>
          </a:xfrm>
          <a:prstGeom prst="line">
            <a:avLst/>
          </a:prstGeom>
          <a:ln w="12700">
            <a:solidFill>
              <a:srgbClr val="CEDDE8"/>
            </a:solidFill>
          </a:ln>
        </p:spPr>
        <p:style>
          <a:lnRef idx="2">
            <a:schemeClr val="accent1"/>
          </a:lnRef>
          <a:fillRef idx="0">
            <a:schemeClr val="accent1"/>
          </a:fillRef>
          <a:effectRef idx="1">
            <a:schemeClr val="accent1"/>
          </a:effectRef>
          <a:fontRef idx="minor">
            <a:schemeClr val="tx1"/>
          </a:fontRef>
        </p:style>
      </p:cxnSp>
      <p:sp>
        <p:nvSpPr>
          <p:cNvPr id="42" name="Ambito incontinenza"/>
          <p:cNvSpPr txBox="1"/>
          <p:nvPr/>
        </p:nvSpPr>
        <p:spPr>
          <a:xfrm>
            <a:off x="704850" y="5532120"/>
            <a:ext cx="3143250" cy="301752"/>
          </a:xfrm>
          <a:prstGeom prst="rect">
            <a:avLst/>
          </a:prstGeom>
          <a:noFill/>
        </p:spPr>
        <p:txBody>
          <a:bodyPr wrap="square" lIns="0" tIns="0" rIns="0" bIns="0">
            <a:noAutofit/>
          </a:bodyPr>
          <a:lstStyle/>
          <a:p>
            <a:pPr>
              <a:lnSpc>
                <a:spcPts val="1700"/>
              </a:lnSpc>
            </a:pPr>
            <a:r>
              <a:rPr sz="1400" b="1">
                <a:solidFill>
                  <a:srgbClr val="087E8B"/>
                </a:solidFill>
                <a:latin typeface="Arial"/>
              </a:rPr>
              <a:t>CONTROLLO DELLA MINZIONE</a:t>
            </a:r>
          </a:p>
        </p:txBody>
      </p:sp>
      <p:sp>
        <p:nvSpPr>
          <p:cNvPr id="43" name="Incontinenza urinaria"/>
          <p:cNvSpPr txBox="1"/>
          <p:nvPr/>
        </p:nvSpPr>
        <p:spPr>
          <a:xfrm>
            <a:off x="704850" y="5843016"/>
            <a:ext cx="3381375" cy="640080"/>
          </a:xfrm>
          <a:prstGeom prst="rect">
            <a:avLst/>
          </a:prstGeom>
          <a:noFill/>
        </p:spPr>
        <p:txBody>
          <a:bodyPr wrap="square" lIns="0" tIns="0" rIns="0" bIns="0">
            <a:noAutofit/>
          </a:bodyPr>
          <a:lstStyle/>
          <a:p>
            <a:pPr>
              <a:lnSpc>
                <a:spcPct val="100000"/>
              </a:lnSpc>
              <a:spcAft>
                <a:spcPts val="300"/>
              </a:spcAft>
            </a:pPr>
            <a:r>
              <a:rPr lang="it-IT" sz="2300" b="1">
                <a:solidFill>
                  <a:srgbClr val="123F67"/>
                </a:solidFill>
                <a:latin typeface="Arial"/>
              </a:rPr>
              <a:t>Incontinenza urinaria</a:t>
            </a:r>
          </a:p>
        </p:txBody>
      </p:sp>
      <p:sp>
        <p:nvSpPr>
          <p:cNvPr id="44" name="Descrizione incontinenza"/>
          <p:cNvSpPr txBox="1"/>
          <p:nvPr/>
        </p:nvSpPr>
        <p:spPr>
          <a:xfrm>
            <a:off x="4476750" y="5532120"/>
            <a:ext cx="7105650" cy="896112"/>
          </a:xfrm>
          <a:prstGeom prst="rect">
            <a:avLst/>
          </a:prstGeom>
          <a:noFill/>
        </p:spPr>
        <p:txBody>
          <a:bodyPr wrap="square" lIns="0" tIns="0" rIns="0" bIns="0">
            <a:noAutofit/>
          </a:bodyPr>
          <a:lstStyle/>
          <a:p>
            <a:pPr>
              <a:lnSpc>
                <a:spcPts val="2300"/>
              </a:lnSpc>
            </a:pPr>
            <a:r>
              <a:rPr sz="2000" b="0">
                <a:solidFill>
                  <a:srgbClr val="193248"/>
                </a:solidFill>
                <a:latin typeface="Arial"/>
              </a:rPr>
              <a:t>Perdita involontaria di urina. Può verificarsi durante sforzi, tosse o starnuti, oppure con un bisogno improvviso e intenso di urinare.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F-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F-0002-4000-8000-000000000000}"/>
              </a:ext>
            </a:extLst>
          </p:cNvPr>
          <p:cNvSpPr>
            <a:spLocks noGrp="1"/>
          </p:cNvSpPr>
          <p:nvPr/>
        </p:nvSpPr>
        <p:spPr>
          <a:xfrm>
            <a:off x="609600" y="333375"/>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6 DI 7</a:t>
            </a:r>
          </a:p>
        </p:txBody>
      </p:sp>
      <p:sp>
        <p:nvSpPr>
          <p:cNvPr id="3" name="Rettangolo 2">
            <a:extLst>
              <a:ext uri="{FF2B5EF4-FFF2-40B4-BE49-F238E27FC236}">
                <a16:creationId xmlns:a16="http://schemas.microsoft.com/office/drawing/2014/main" id="{0000000F-0003-4000-8000-000000000000}"/>
              </a:ext>
            </a:extLst>
          </p:cNvPr>
          <p:cNvSpPr>
            <a:spLocks noGrp="1"/>
          </p:cNvSpPr>
          <p:nvPr/>
        </p:nvSpPr>
        <p:spPr>
          <a:xfrm>
            <a:off x="609600" y="742950"/>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lang="it-IT" sz="3225" b="1" dirty="0">
                <a:solidFill>
                  <a:srgbClr val="123F67"/>
                </a:solidFill>
                <a:latin typeface="Arial"/>
                <a:ea typeface="Arial"/>
                <a:cs typeface="Arial"/>
              </a:rPr>
              <a:t>1. </a:t>
            </a:r>
            <a:r>
              <a:rPr sz="3225" b="1" dirty="0" err="1">
                <a:solidFill>
                  <a:srgbClr val="123F67"/>
                </a:solidFill>
                <a:latin typeface="Arial"/>
                <a:ea typeface="Arial"/>
                <a:cs typeface="Arial"/>
              </a:rPr>
              <a:t>Apparato</a:t>
            </a:r>
            <a:r>
              <a:rPr sz="3225" b="1" dirty="0">
                <a:solidFill>
                  <a:srgbClr val="123F67"/>
                </a:solidFill>
                <a:latin typeface="Arial"/>
                <a:ea typeface="Arial"/>
                <a:cs typeface="Arial"/>
              </a:rPr>
              <a:t> </a:t>
            </a:r>
            <a:r>
              <a:rPr lang="it-IT" sz="3225" b="1" dirty="0">
                <a:solidFill>
                  <a:srgbClr val="123F67"/>
                </a:solidFill>
                <a:latin typeface="Arial"/>
                <a:ea typeface="Arial"/>
                <a:cs typeface="Arial"/>
              </a:rPr>
              <a:t>genitale maschile</a:t>
            </a:r>
            <a:endParaRPr sz="3225" b="1" dirty="0">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F-0004-4000-8000-000000000000}"/>
              </a:ext>
            </a:extLst>
          </p:cNvPr>
          <p:cNvSpPr>
            <a:spLocks noGrp="1"/>
          </p:cNvSpPr>
          <p:nvPr/>
        </p:nvSpPr>
        <p:spPr>
          <a:xfrm>
            <a:off x="609600" y="153352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F-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F-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51</a:t>
            </a:r>
            <a:endParaRPr sz="1350" b="1">
              <a:solidFill>
                <a:srgbClr val="123F67"/>
              </a:solidFill>
              <a:latin typeface="Arial"/>
              <a:ea typeface="Arial"/>
              <a:cs typeface="Arial"/>
            </a:endParaRPr>
          </a:p>
        </p:txBody>
      </p:sp>
      <p:sp>
        <p:nvSpPr>
          <p:cNvPr id="10" name="Rettangolo 9">
            <a:extLst>
              <a:ext uri="{FF2B5EF4-FFF2-40B4-BE49-F238E27FC236}">
                <a16:creationId xmlns:a16="http://schemas.microsoft.com/office/drawing/2014/main" id="{0000000F-000A-4000-8000-000000000000}"/>
              </a:ext>
            </a:extLst>
          </p:cNvPr>
          <p:cNvSpPr>
            <a:spLocks noGrp="1"/>
          </p:cNvSpPr>
          <p:nvPr/>
        </p:nvSpPr>
        <p:spPr>
          <a:xfrm>
            <a:off x="6080760" y="1856231"/>
            <a:ext cx="5486400" cy="347472"/>
          </a:xfrm>
          <a:prstGeom prst="rect">
            <a:avLst/>
          </a:prstGeom>
          <a:noFill/>
          <a:ln w="0">
            <a:noFill/>
          </a:ln>
        </p:spPr>
        <p:txBody>
          <a:bodyPr wrap="square" lIns="0" tIns="0" rIns="0" bIns="0" anchor="t">
            <a:noAutofit/>
          </a:bodyPr>
          <a:lstStyle/>
          <a:p>
            <a:pPr algn="l">
              <a:lnSpc>
                <a:spcPts val="2100"/>
              </a:lnSpc>
              <a:spcBef>
                <a:spcPts val="0"/>
              </a:spcBef>
              <a:spcAft>
                <a:spcPts val="0"/>
              </a:spcAft>
              <a:defRPr sz="2025" b="1">
                <a:solidFill>
                  <a:srgbClr val="123F67"/>
                </a:solidFill>
                <a:latin typeface="Arial"/>
                <a:ea typeface="Arial"/>
                <a:cs typeface="Arial"/>
              </a:defRPr>
            </a:pPr>
            <a:r>
              <a:rPr lang="it-IT" sz="2025" b="1">
                <a:solidFill>
                  <a:srgbClr val="123F67"/>
                </a:solidFill>
                <a:latin typeface="Arial"/>
              </a:rPr>
              <a:t>Organi e funzioni</a:t>
            </a:r>
          </a:p>
        </p:txBody>
      </p:sp>
      <p:sp>
        <p:nvSpPr>
          <p:cNvPr id="11" name="Rettangolo 10">
            <a:extLst>
              <a:ext uri="{FF2B5EF4-FFF2-40B4-BE49-F238E27FC236}">
                <a16:creationId xmlns:a16="http://schemas.microsoft.com/office/drawing/2014/main" id="{0000000F-000B-4000-8000-000000000000}"/>
              </a:ext>
            </a:extLst>
          </p:cNvPr>
          <p:cNvSpPr>
            <a:spLocks noGrp="1"/>
          </p:cNvSpPr>
          <p:nvPr/>
        </p:nvSpPr>
        <p:spPr>
          <a:xfrm>
            <a:off x="6080760" y="2322576"/>
            <a:ext cx="5486400" cy="1389888"/>
          </a:xfrm>
          <a:prstGeom prst="rect">
            <a:avLst/>
          </a:prstGeom>
          <a:noFill/>
          <a:ln w="0">
            <a:noFill/>
          </a:ln>
        </p:spPr>
        <p:txBody>
          <a:bodyPr wrap="square" lIns="0" tIns="0" rIns="0" bIns="0" anchor="t">
            <a:noAutofit/>
          </a:bodyPr>
          <a:lstStyle/>
          <a:p>
            <a:pPr algn="l">
              <a:lnSpc>
                <a:spcPts val="2100"/>
              </a:lnSpc>
              <a:spcBef>
                <a:spcPts val="0"/>
              </a:spcBef>
              <a:spcAft>
                <a:spcPts val="0"/>
              </a:spcAft>
              <a:defRPr sz="1875" b="0">
                <a:solidFill>
                  <a:srgbClr val="193248"/>
                </a:solidFill>
                <a:latin typeface="Arial"/>
                <a:ea typeface="Arial"/>
                <a:cs typeface="Arial"/>
              </a:defRPr>
            </a:pPr>
            <a:r>
              <a:rPr lang="it-IT" sz="1750" b="1">
                <a:solidFill>
                  <a:srgbClr val="087E8B"/>
                </a:solidFill>
                <a:latin typeface="Arial"/>
              </a:rPr>
              <a:t>Testicoli
</a:t>
            </a:r>
            <a:r>
              <a:rPr lang="it-IT" sz="1750" b="0">
                <a:solidFill>
                  <a:srgbClr val="193248"/>
                </a:solidFill>
                <a:latin typeface="Arial"/>
              </a:rPr>
              <a:t>Producono gli spermatozoi (gameti maschili) e il testosterone. Questo ormone favorisce lo sviluppo dei caratteri maschili, come voce più profonda, barba e muscolatura.</a:t>
            </a:r>
          </a:p>
        </p:txBody>
      </p:sp>
      <p:sp>
        <p:nvSpPr>
          <p:cNvPr id="12" name="Rettangolo 11">
            <a:extLst>
              <a:ext uri="{FF2B5EF4-FFF2-40B4-BE49-F238E27FC236}">
                <a16:creationId xmlns:a16="http://schemas.microsoft.com/office/drawing/2014/main" id="{0000000F-000C-4000-8000-000000000000}"/>
              </a:ext>
            </a:extLst>
          </p:cNvPr>
          <p:cNvSpPr>
            <a:spLocks noGrp="1"/>
          </p:cNvSpPr>
          <p:nvPr/>
        </p:nvSpPr>
        <p:spPr>
          <a:xfrm>
            <a:off x="6080760" y="3749039"/>
            <a:ext cx="5486400" cy="667512"/>
          </a:xfrm>
          <a:prstGeom prst="rect">
            <a:avLst/>
          </a:prstGeom>
          <a:noFill/>
          <a:ln w="0">
            <a:noFill/>
          </a:ln>
        </p:spPr>
        <p:txBody>
          <a:bodyPr wrap="square" lIns="0" tIns="0" rIns="0" bIns="0" anchor="t">
            <a:noAutofit/>
          </a:bodyPr>
          <a:lstStyle/>
          <a:p>
            <a:pPr algn="l">
              <a:lnSpc>
                <a:spcPts val="2100"/>
              </a:lnSpc>
              <a:spcBef>
                <a:spcPts val="0"/>
              </a:spcBef>
              <a:spcAft>
                <a:spcPts val="0"/>
              </a:spcAft>
              <a:defRPr sz="2025" b="0">
                <a:solidFill>
                  <a:srgbClr val="193248"/>
                </a:solidFill>
                <a:latin typeface="Arial"/>
                <a:ea typeface="Arial"/>
                <a:cs typeface="Arial"/>
              </a:defRPr>
            </a:pPr>
            <a:r>
              <a:rPr lang="it-IT" sz="1750" b="1">
                <a:solidFill>
                  <a:srgbClr val="087E8B"/>
                </a:solidFill>
                <a:latin typeface="Arial"/>
              </a:rPr>
              <a:t>Epididimi e dotti deferenti: </a:t>
            </a:r>
            <a:r>
              <a:rPr lang="it-IT" sz="1750" b="0">
                <a:solidFill>
                  <a:srgbClr val="193248"/>
                </a:solidFill>
                <a:latin typeface="Arial"/>
              </a:rPr>
              <a:t>permettono la maturazione e il trasporto degli spermatozoi.</a:t>
            </a:r>
          </a:p>
        </p:txBody>
      </p:sp>
      <p:sp>
        <p:nvSpPr>
          <p:cNvPr id="13" name="Rettangolo 12">
            <a:extLst>
              <a:ext uri="{FF2B5EF4-FFF2-40B4-BE49-F238E27FC236}">
                <a16:creationId xmlns:a16="http://schemas.microsoft.com/office/drawing/2014/main" id="{0000000F-000D-4000-8000-000000000000}"/>
              </a:ext>
            </a:extLst>
          </p:cNvPr>
          <p:cNvSpPr>
            <a:spLocks noGrp="1"/>
          </p:cNvSpPr>
          <p:nvPr/>
        </p:nvSpPr>
        <p:spPr>
          <a:xfrm>
            <a:off x="609904" y="6108192"/>
            <a:ext cx="10972800" cy="393192"/>
          </a:xfrm>
          <a:prstGeom prst="rect">
            <a:avLst/>
          </a:prstGeom>
          <a:solidFill>
            <a:srgbClr val="EAF2F8"/>
          </a:solidFill>
          <a:ln w="0">
            <a:noFill/>
          </a:ln>
        </p:spPr>
        <p:txBody>
          <a:bodyPr/>
          <a:lstStyle/>
          <a:p>
            <a:endParaRPr lang="it-IT"/>
          </a:p>
        </p:txBody>
      </p:sp>
      <p:sp>
        <p:nvSpPr>
          <p:cNvPr id="14" name="Rettangolo 13">
            <a:extLst>
              <a:ext uri="{FF2B5EF4-FFF2-40B4-BE49-F238E27FC236}">
                <a16:creationId xmlns:a16="http://schemas.microsoft.com/office/drawing/2014/main" id="{0000000F-000E-4000-8000-000000000000}"/>
              </a:ext>
            </a:extLst>
          </p:cNvPr>
          <p:cNvSpPr>
            <a:spLocks noGrp="1"/>
          </p:cNvSpPr>
          <p:nvPr/>
        </p:nvSpPr>
        <p:spPr>
          <a:xfrm>
            <a:off x="795528" y="6144768"/>
            <a:ext cx="10561320" cy="320040"/>
          </a:xfrm>
          <a:prstGeom prst="rect">
            <a:avLst/>
          </a:prstGeom>
          <a:noFill/>
          <a:ln w="0">
            <a:noFill/>
          </a:ln>
        </p:spPr>
        <p:txBody>
          <a:bodyPr wrap="square" lIns="0" tIns="0" rIns="0" bIns="0" anchor="t">
            <a:noAutofit/>
          </a:bodyPr>
          <a:lstStyle/>
          <a:p>
            <a:pPr algn="l">
              <a:lnSpc>
                <a:spcPct val="105000"/>
              </a:lnSpc>
              <a:spcAft>
                <a:spcPts val="900"/>
              </a:spcAft>
              <a:defRPr sz="1875" b="0">
                <a:solidFill>
                  <a:srgbClr val="193248"/>
                </a:solidFill>
                <a:latin typeface="Arial"/>
                <a:ea typeface="Arial"/>
                <a:cs typeface="Arial"/>
              </a:defRPr>
            </a:pPr>
            <a:r>
              <a:rPr lang="it-IT" sz="1650" b="1">
                <a:solidFill>
                  <a:srgbClr val="193248"/>
                </a:solidFill>
                <a:latin typeface="Arial"/>
              </a:rPr>
              <a:t>I </a:t>
            </a:r>
            <a:r>
              <a:rPr lang="it-IT" sz="1650" b="1" dirty="0">
                <a:solidFill>
                  <a:srgbClr val="193248"/>
                </a:solidFill>
                <a:latin typeface="Arial"/>
              </a:rPr>
              <a:t>testicoli</a:t>
            </a:r>
            <a:r>
              <a:rPr lang="it-IT" sz="1650" b="1">
                <a:solidFill>
                  <a:srgbClr val="193248"/>
                </a:solidFill>
                <a:latin typeface="Arial"/>
              </a:rPr>
              <a:t> sono le gonadi maschili: producono gameti e ormoni, sotto il controllo del sistema endocrino.</a:t>
            </a:r>
          </a:p>
        </p:txBody>
      </p:sp>
      <p:pic>
        <p:nvPicPr>
          <p:cNvPr id="19" name="Illustrazione anatomica - etichette rimosse" descr="image-ef10762ee9e7575ea7b936ab1df44a3a.jpg"/>
          <p:cNvPicPr>
            <a:picLocks noChangeAspect="1"/>
          </p:cNvPicPr>
          <p:nvPr/>
        </p:nvPicPr>
        <p:blipFill>
          <a:blip r:embed="rId3"/>
          <a:srcRect l="13672" r="8789"/>
          <a:stretch>
            <a:fillRect/>
          </a:stretch>
        </p:blipFill>
        <p:spPr>
          <a:xfrm>
            <a:off x="612648" y="1938528"/>
            <a:ext cx="5330952" cy="3867290"/>
          </a:xfrm>
          <a:prstGeom prst="rect">
            <a:avLst/>
          </a:prstGeom>
        </p:spPr>
      </p:pic>
      <p:sp>
        <p:nvSpPr>
          <p:cNvPr id="21" name="Funzione anatomica 2">
            <a:extLst>
              <a:ext uri="{FF2B5EF4-FFF2-40B4-BE49-F238E27FC236}">
                <a16:creationId xmlns:a16="http://schemas.microsoft.com/office/drawing/2014/main" id="{0000000F-000C-4000-8000-000000000000}"/>
              </a:ext>
            </a:extLst>
          </p:cNvPr>
          <p:cNvSpPr>
            <a:spLocks noGrp="1"/>
          </p:cNvSpPr>
          <p:nvPr/>
        </p:nvSpPr>
        <p:spPr>
          <a:xfrm>
            <a:off x="6080760" y="4517136"/>
            <a:ext cx="5486400" cy="667512"/>
          </a:xfrm>
          <a:prstGeom prst="rect">
            <a:avLst/>
          </a:prstGeom>
          <a:noFill/>
          <a:ln w="0">
            <a:noFill/>
          </a:ln>
        </p:spPr>
        <p:txBody>
          <a:bodyPr wrap="square" lIns="0" tIns="0" rIns="0" bIns="0" anchor="t">
            <a:noAutofit/>
          </a:bodyPr>
          <a:lstStyle/>
          <a:p>
            <a:pPr algn="l">
              <a:lnSpc>
                <a:spcPts val="2100"/>
              </a:lnSpc>
              <a:spcBef>
                <a:spcPts val="0"/>
              </a:spcBef>
              <a:spcAft>
                <a:spcPts val="0"/>
              </a:spcAft>
            </a:pPr>
            <a:r>
              <a:rPr lang="it-IT" sz="1750" b="1">
                <a:solidFill>
                  <a:srgbClr val="087E8B"/>
                </a:solidFill>
                <a:latin typeface="Arial"/>
              </a:rPr>
              <a:t>Prostata e vescicole seminali: </a:t>
            </a:r>
            <a:r>
              <a:rPr lang="it-IT" sz="1750" b="0">
                <a:solidFill>
                  <a:srgbClr val="193248"/>
                </a:solidFill>
                <a:latin typeface="Arial"/>
              </a:rPr>
              <a:t>producono gran parte del liquido che forma lo sperma.</a:t>
            </a:r>
          </a:p>
        </p:txBody>
      </p:sp>
      <p:sp>
        <p:nvSpPr>
          <p:cNvPr id="22" name="Funzione anatomica 3">
            <a:extLst>
              <a:ext uri="{FF2B5EF4-FFF2-40B4-BE49-F238E27FC236}">
                <a16:creationId xmlns:a16="http://schemas.microsoft.com/office/drawing/2014/main" id="{0000000F-000C-4000-8000-000000000000}"/>
              </a:ext>
            </a:extLst>
          </p:cNvPr>
          <p:cNvSpPr>
            <a:spLocks noGrp="1"/>
          </p:cNvSpPr>
          <p:nvPr/>
        </p:nvSpPr>
        <p:spPr>
          <a:xfrm>
            <a:off x="6080760" y="5285232"/>
            <a:ext cx="5486400" cy="667512"/>
          </a:xfrm>
          <a:prstGeom prst="rect">
            <a:avLst/>
          </a:prstGeom>
          <a:noFill/>
          <a:ln w="0">
            <a:noFill/>
          </a:ln>
        </p:spPr>
        <p:txBody>
          <a:bodyPr wrap="square" lIns="0" tIns="0" rIns="0" bIns="0" anchor="t">
            <a:noAutofit/>
          </a:bodyPr>
          <a:lstStyle/>
          <a:p>
            <a:pPr algn="l">
              <a:lnSpc>
                <a:spcPts val="2100"/>
              </a:lnSpc>
              <a:spcBef>
                <a:spcPts val="0"/>
              </a:spcBef>
              <a:spcAft>
                <a:spcPts val="0"/>
              </a:spcAft>
            </a:pPr>
            <a:r>
              <a:rPr lang="it-IT" sz="1750" b="1">
                <a:solidFill>
                  <a:srgbClr val="087E8B"/>
                </a:solidFill>
                <a:latin typeface="Arial"/>
              </a:rPr>
              <a:t>Uretra e pene: </a:t>
            </a:r>
            <a:r>
              <a:rPr lang="it-IT" sz="1750" b="0">
                <a:solidFill>
                  <a:srgbClr val="193248"/>
                </a:solidFill>
                <a:latin typeface="Arial"/>
              </a:rPr>
              <a:t>via di uscita dello sperma. L’uretra trasporta anche l’urina, in momenti diversi.</a:t>
            </a:r>
          </a:p>
        </p:txBody>
      </p:sp>
    </p:spTree>
    <p:extLst>
      <p:ext uri="{BB962C8B-B14F-4D97-AF65-F5344CB8AC3E}">
        <p14:creationId xmlns:p14="http://schemas.microsoft.com/office/powerpoint/2010/main" val="1500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genitale maschile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52</a:t>
            </a:r>
            <a:endParaRPr sz="1350" b="1">
              <a:solidFill>
                <a:srgbClr val="123F67"/>
              </a:solidFill>
              <a:latin typeface="Arial"/>
              <a:ea typeface="Arial"/>
              <a:cs typeface="Arial"/>
            </a:endParaRPr>
          </a:p>
        </p:txBody>
      </p:sp>
      <p:sp>
        <p:nvSpPr>
          <p:cNvPr id="24" name="TextBox 23"/>
          <p:cNvSpPr txBox="1"/>
          <p:nvPr/>
        </p:nvSpPr>
        <p:spPr>
          <a:xfrm>
            <a:off x="704850" y="1476375"/>
            <a:ext cx="10877550" cy="552450"/>
          </a:xfrm>
          <a:prstGeom prst="rect">
            <a:avLst/>
          </a:prstGeom>
          <a:noFill/>
        </p:spPr>
        <p:txBody>
          <a:bodyPr wrap="square" lIns="0" tIns="0" rIns="0" bIns="0">
            <a:noAutofit/>
          </a:bodyPr>
          <a:lstStyle/>
          <a:p>
            <a:pPr>
              <a:lnSpc>
                <a:spcPts val="2200"/>
              </a:lnSpc>
            </a:pPr>
            <a:r>
              <a:rPr lang="it-IT" sz="1900" b="0">
                <a:solidFill>
                  <a:srgbClr val="087E8B"/>
                </a:solidFill>
                <a:latin typeface="Arial"/>
              </a:rPr>
              <a:t>Patologie della prostata, disturbi della funzione sessuale e della fertilità</a:t>
            </a:r>
            <a:endParaRPr sz="1900" b="0">
              <a:solidFill>
                <a:srgbClr val="087E8B"/>
              </a:solidFill>
              <a:latin typeface="Arial"/>
            </a:endParaRPr>
          </a:p>
        </p:txBody>
      </p:sp>
      <p:sp>
        <p:nvSpPr>
          <p:cNvPr id="29" name="TextBox 28"/>
          <p:cNvSpPr txBox="1"/>
          <p:nvPr/>
        </p:nvSpPr>
        <p:spPr>
          <a:xfrm>
            <a:off x="705002" y="2148840"/>
            <a:ext cx="5120640" cy="365760"/>
          </a:xfrm>
          <a:prstGeom prst="rect">
            <a:avLst/>
          </a:prstGeom>
          <a:noFill/>
        </p:spPr>
        <p:txBody>
          <a:bodyPr wrap="square" lIns="0" tIns="0" rIns="0" bIns="0">
            <a:noAutofit/>
          </a:bodyPr>
          <a:lstStyle/>
          <a:p>
            <a:pPr>
              <a:lnSpc>
                <a:spcPct val="105000"/>
              </a:lnSpc>
              <a:spcAft>
                <a:spcPts val="300"/>
              </a:spcAft>
            </a:pPr>
            <a:r>
              <a:rPr lang="it-IT" sz="2000" b="1">
                <a:solidFill>
                  <a:srgbClr val="123F67"/>
                </a:solidFill>
                <a:latin typeface="Arial"/>
              </a:rPr>
              <a:t>Prostatite</a:t>
            </a:r>
          </a:p>
        </p:txBody>
      </p:sp>
      <p:sp>
        <p:nvSpPr>
          <p:cNvPr id="30" name="TextBox 29"/>
          <p:cNvSpPr txBox="1"/>
          <p:nvPr/>
        </p:nvSpPr>
        <p:spPr>
          <a:xfrm>
            <a:off x="705002" y="2624328"/>
            <a:ext cx="5120640" cy="868680"/>
          </a:xfrm>
          <a:prstGeom prst="rect">
            <a:avLst/>
          </a:prstGeom>
          <a:noFill/>
        </p:spPr>
        <p:txBody>
          <a:bodyPr wrap="square" lIns="0" tIns="0" rIns="0" bIns="0">
            <a:noAutofit/>
          </a:bodyPr>
          <a:lstStyle/>
          <a:p>
            <a:pPr>
              <a:lnSpc>
                <a:spcPct val="105000"/>
              </a:lnSpc>
            </a:pPr>
            <a:r>
              <a:rPr lang="it-IT" sz="1750" b="0">
                <a:solidFill>
                  <a:srgbClr val="193248"/>
                </a:solidFill>
                <a:latin typeface="Arial"/>
              </a:rPr>
              <a:t>Infiammazione della prostata, che può causare dolore pelvico e disturbi urinari. Esistono forme batteriche e non batteriche.</a:t>
            </a:r>
          </a:p>
        </p:txBody>
      </p:sp>
      <p:sp>
        <p:nvSpPr>
          <p:cNvPr id="36" name="TextBox 25"/>
          <p:cNvSpPr txBox="1"/>
          <p:nvPr/>
        </p:nvSpPr>
        <p:spPr>
          <a:xfrm>
            <a:off x="705002" y="3538728"/>
            <a:ext cx="5120640" cy="365760"/>
          </a:xfrm>
          <a:prstGeom prst="rect">
            <a:avLst/>
          </a:prstGeom>
          <a:noFill/>
        </p:spPr>
        <p:txBody>
          <a:bodyPr wrap="square" lIns="0" tIns="0" rIns="0" bIns="0">
            <a:noAutofit/>
          </a:bodyPr>
          <a:lstStyle/>
          <a:p>
            <a:pPr>
              <a:lnSpc>
                <a:spcPct val="105000"/>
              </a:lnSpc>
              <a:spcAft>
                <a:spcPts val="300"/>
              </a:spcAft>
            </a:pPr>
            <a:r>
              <a:rPr lang="it-IT" sz="2000" b="1">
                <a:solidFill>
                  <a:srgbClr val="123F67"/>
                </a:solidFill>
                <a:latin typeface="Arial"/>
              </a:rPr>
              <a:t>Tumore della prostata</a:t>
            </a:r>
          </a:p>
        </p:txBody>
      </p:sp>
      <p:sp>
        <p:nvSpPr>
          <p:cNvPr id="37" name="TextBox 26"/>
          <p:cNvSpPr txBox="1"/>
          <p:nvPr/>
        </p:nvSpPr>
        <p:spPr>
          <a:xfrm>
            <a:off x="705002" y="4014215"/>
            <a:ext cx="5120640" cy="1005840"/>
          </a:xfrm>
          <a:prstGeom prst="rect">
            <a:avLst/>
          </a:prstGeom>
          <a:noFill/>
        </p:spPr>
        <p:txBody>
          <a:bodyPr wrap="square" lIns="0" tIns="0" rIns="0" bIns="0">
            <a:noAutofit/>
          </a:bodyPr>
          <a:lstStyle/>
          <a:p>
            <a:pPr>
              <a:lnSpc>
                <a:spcPct val="105000"/>
              </a:lnSpc>
            </a:pPr>
            <a:r>
              <a:rPr lang="it-IT" sz="1750" b="0">
                <a:solidFill>
                  <a:srgbClr val="193248"/>
                </a:solidFill>
                <a:latin typeface="Arial"/>
              </a:rPr>
              <a:t>Crescita incontrollata di cellule della ghiandola prostatica. Può restare senza sintomi nelle fasi iniziali. Alcune forme crescono lentamente, altre possono diffondersi ad altri organi.</a:t>
            </a:r>
          </a:p>
        </p:txBody>
      </p:sp>
      <p:sp>
        <p:nvSpPr>
          <p:cNvPr id="38" name="Condition 38"/>
          <p:cNvSpPr txBox="1"/>
          <p:nvPr/>
        </p:nvSpPr>
        <p:spPr>
          <a:xfrm>
            <a:off x="6362395" y="2240280"/>
            <a:ext cx="5181904" cy="365760"/>
          </a:xfrm>
          <a:prstGeom prst="rect">
            <a:avLst/>
          </a:prstGeom>
          <a:noFill/>
        </p:spPr>
        <p:txBody>
          <a:bodyPr wrap="square" lIns="0" tIns="0" rIns="0" bIns="0">
            <a:noAutofit/>
          </a:bodyPr>
          <a:lstStyle/>
          <a:p>
            <a:pPr>
              <a:lnSpc>
                <a:spcPct val="105000"/>
              </a:lnSpc>
              <a:spcAft>
                <a:spcPts val="300"/>
              </a:spcAft>
            </a:pPr>
            <a:r>
              <a:rPr lang="it-IT" sz="2000" b="1">
                <a:solidFill>
                  <a:srgbClr val="123F67"/>
                </a:solidFill>
                <a:latin typeface="Arial"/>
              </a:rPr>
              <a:t>Eiaculazione precoce</a:t>
            </a:r>
          </a:p>
        </p:txBody>
      </p:sp>
      <p:sp>
        <p:nvSpPr>
          <p:cNvPr id="39" name="Condition 39"/>
          <p:cNvSpPr txBox="1"/>
          <p:nvPr/>
        </p:nvSpPr>
        <p:spPr>
          <a:xfrm>
            <a:off x="6362395" y="2715768"/>
            <a:ext cx="5181904" cy="914400"/>
          </a:xfrm>
          <a:prstGeom prst="rect">
            <a:avLst/>
          </a:prstGeom>
          <a:noFill/>
        </p:spPr>
        <p:txBody>
          <a:bodyPr wrap="square" lIns="0" tIns="0" rIns="0" bIns="0">
            <a:noAutofit/>
          </a:bodyPr>
          <a:lstStyle/>
          <a:p>
            <a:pPr>
              <a:lnSpc>
                <a:spcPct val="105000"/>
              </a:lnSpc>
            </a:pPr>
            <a:r>
              <a:rPr lang="it-IT" sz="1750" b="0">
                <a:solidFill>
                  <a:srgbClr val="193248"/>
                </a:solidFill>
                <a:latin typeface="Arial"/>
              </a:rPr>
              <a:t>Eiaculazione che avviene prima di quanto desiderato, con difficoltà a ritardarla e disagio.</a:t>
            </a:r>
          </a:p>
        </p:txBody>
      </p:sp>
      <p:sp>
        <p:nvSpPr>
          <p:cNvPr id="40" name="Condition 40"/>
          <p:cNvSpPr txBox="1"/>
          <p:nvPr/>
        </p:nvSpPr>
        <p:spPr>
          <a:xfrm>
            <a:off x="6362395" y="3657600"/>
            <a:ext cx="5181904" cy="365760"/>
          </a:xfrm>
          <a:prstGeom prst="rect">
            <a:avLst/>
          </a:prstGeom>
          <a:noFill/>
        </p:spPr>
        <p:txBody>
          <a:bodyPr wrap="square" lIns="0" tIns="0" rIns="0" bIns="0">
            <a:noAutofit/>
          </a:bodyPr>
          <a:lstStyle/>
          <a:p>
            <a:pPr>
              <a:lnSpc>
                <a:spcPct val="105000"/>
              </a:lnSpc>
              <a:spcAft>
                <a:spcPts val="300"/>
              </a:spcAft>
            </a:pPr>
            <a:r>
              <a:rPr lang="it-IT" sz="2000" b="1" dirty="0">
                <a:solidFill>
                  <a:srgbClr val="123F67"/>
                </a:solidFill>
                <a:latin typeface="Arial"/>
              </a:rPr>
              <a:t>Disfunzione erettile</a:t>
            </a:r>
          </a:p>
        </p:txBody>
      </p:sp>
      <p:sp>
        <p:nvSpPr>
          <p:cNvPr id="41" name="Condition 41"/>
          <p:cNvSpPr txBox="1"/>
          <p:nvPr/>
        </p:nvSpPr>
        <p:spPr>
          <a:xfrm>
            <a:off x="6362395" y="4133087"/>
            <a:ext cx="5181904" cy="914400"/>
          </a:xfrm>
          <a:prstGeom prst="rect">
            <a:avLst/>
          </a:prstGeom>
          <a:noFill/>
        </p:spPr>
        <p:txBody>
          <a:bodyPr wrap="square" lIns="0" tIns="0" rIns="0" bIns="0">
            <a:noAutofit/>
          </a:bodyPr>
          <a:lstStyle/>
          <a:p>
            <a:pPr>
              <a:lnSpc>
                <a:spcPct val="105000"/>
              </a:lnSpc>
            </a:pPr>
            <a:r>
              <a:rPr lang="it-IT" sz="1750" b="0">
                <a:solidFill>
                  <a:srgbClr val="193248"/>
                </a:solidFill>
                <a:latin typeface="Arial"/>
              </a:rPr>
              <a:t>Difficoltà persistente a ottenere o mantenere un’erezione sufficiente per un rapporto sessuale.</a:t>
            </a:r>
          </a:p>
        </p:txBody>
      </p:sp>
      <p:sp>
        <p:nvSpPr>
          <p:cNvPr id="42" name="Condition 42"/>
          <p:cNvSpPr txBox="1"/>
          <p:nvPr/>
        </p:nvSpPr>
        <p:spPr>
          <a:xfrm>
            <a:off x="6362395" y="5074920"/>
            <a:ext cx="5181904" cy="365760"/>
          </a:xfrm>
          <a:prstGeom prst="rect">
            <a:avLst/>
          </a:prstGeom>
          <a:noFill/>
        </p:spPr>
        <p:txBody>
          <a:bodyPr wrap="square" lIns="0" tIns="0" rIns="0" bIns="0">
            <a:noAutofit/>
          </a:bodyPr>
          <a:lstStyle/>
          <a:p>
            <a:pPr>
              <a:lnSpc>
                <a:spcPct val="105000"/>
              </a:lnSpc>
              <a:spcAft>
                <a:spcPts val="300"/>
              </a:spcAft>
            </a:pPr>
            <a:r>
              <a:rPr lang="it-IT" sz="2000" b="1">
                <a:solidFill>
                  <a:srgbClr val="123F67"/>
                </a:solidFill>
                <a:latin typeface="Arial"/>
              </a:rPr>
              <a:t>Infertilità maschile</a:t>
            </a:r>
          </a:p>
        </p:txBody>
      </p:sp>
      <p:sp>
        <p:nvSpPr>
          <p:cNvPr id="43" name="Condition 43"/>
          <p:cNvSpPr txBox="1"/>
          <p:nvPr/>
        </p:nvSpPr>
        <p:spPr>
          <a:xfrm>
            <a:off x="6362395" y="5550408"/>
            <a:ext cx="5181904" cy="914400"/>
          </a:xfrm>
          <a:prstGeom prst="rect">
            <a:avLst/>
          </a:prstGeom>
          <a:noFill/>
        </p:spPr>
        <p:txBody>
          <a:bodyPr wrap="square" lIns="0" tIns="0" rIns="0" bIns="0">
            <a:noAutofit/>
          </a:bodyPr>
          <a:lstStyle/>
          <a:p>
            <a:pPr>
              <a:lnSpc>
                <a:spcPct val="105000"/>
              </a:lnSpc>
            </a:pPr>
            <a:r>
              <a:rPr lang="it-IT" sz="1750" b="0">
                <a:solidFill>
                  <a:srgbClr val="193248"/>
                </a:solidFill>
                <a:latin typeface="Arial"/>
              </a:rPr>
              <a:t>Ridotta capacità di ottenere una gravidanza, ad esempio per alterazioni del numero, della motilità o della forma degli spermatozoi.</a:t>
            </a:r>
          </a:p>
        </p:txBody>
      </p:sp>
      <p:sp>
        <p:nvSpPr>
          <p:cNvPr id="44" name="Varicocele"/>
          <p:cNvSpPr txBox="1"/>
          <p:nvPr/>
        </p:nvSpPr>
        <p:spPr>
          <a:xfrm>
            <a:off x="705002" y="5166360"/>
            <a:ext cx="5120640" cy="365760"/>
          </a:xfrm>
          <a:prstGeom prst="rect">
            <a:avLst/>
          </a:prstGeom>
          <a:noFill/>
        </p:spPr>
        <p:txBody>
          <a:bodyPr wrap="square" lIns="0" tIns="0" rIns="0" bIns="0">
            <a:noAutofit/>
          </a:bodyPr>
          <a:lstStyle/>
          <a:p>
            <a:pPr>
              <a:lnSpc>
                <a:spcPct val="105000"/>
              </a:lnSpc>
              <a:spcAft>
                <a:spcPts val="300"/>
              </a:spcAft>
            </a:pPr>
            <a:r>
              <a:rPr lang="it-IT" sz="2000" b="1">
                <a:solidFill>
                  <a:srgbClr val="123F67"/>
                </a:solidFill>
                <a:latin typeface="Arial"/>
              </a:rPr>
              <a:t>Varicocele</a:t>
            </a:r>
          </a:p>
        </p:txBody>
      </p:sp>
      <p:sp>
        <p:nvSpPr>
          <p:cNvPr id="45" name="Descrizione varicocele"/>
          <p:cNvSpPr txBox="1"/>
          <p:nvPr/>
        </p:nvSpPr>
        <p:spPr>
          <a:xfrm>
            <a:off x="705002" y="5641848"/>
            <a:ext cx="5120640" cy="832104"/>
          </a:xfrm>
          <a:prstGeom prst="rect">
            <a:avLst/>
          </a:prstGeom>
          <a:noFill/>
        </p:spPr>
        <p:txBody>
          <a:bodyPr wrap="square" lIns="0" tIns="0" rIns="0" bIns="0">
            <a:noAutofit/>
          </a:bodyPr>
          <a:lstStyle/>
          <a:p>
            <a:pPr>
              <a:lnSpc>
                <a:spcPct val="105000"/>
              </a:lnSpc>
            </a:pPr>
            <a:r>
              <a:rPr lang="it-IT" sz="1750" b="0">
                <a:solidFill>
                  <a:srgbClr val="193248"/>
                </a:solidFill>
                <a:latin typeface="Arial"/>
              </a:rPr>
              <a:t>Dilatazione delle vene dello scroto, spesso a sinistra. Può causare dolore o ridurre la fertilità, ma spesso non dà sintomi.</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F-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F-0002-4000-8000-000000000000}"/>
              </a:ext>
            </a:extLst>
          </p:cNvPr>
          <p:cNvSpPr>
            <a:spLocks noGrp="1"/>
          </p:cNvSpPr>
          <p:nvPr/>
        </p:nvSpPr>
        <p:spPr>
          <a:xfrm>
            <a:off x="609600" y="145389"/>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6 DI 7</a:t>
            </a:r>
          </a:p>
        </p:txBody>
      </p:sp>
      <p:sp>
        <p:nvSpPr>
          <p:cNvPr id="3" name="Rettangolo 2">
            <a:extLst>
              <a:ext uri="{FF2B5EF4-FFF2-40B4-BE49-F238E27FC236}">
                <a16:creationId xmlns:a16="http://schemas.microsoft.com/office/drawing/2014/main" id="{0000000F-0003-4000-8000-000000000000}"/>
              </a:ext>
            </a:extLst>
          </p:cNvPr>
          <p:cNvSpPr>
            <a:spLocks noGrp="1"/>
          </p:cNvSpPr>
          <p:nvPr/>
        </p:nvSpPr>
        <p:spPr>
          <a:xfrm>
            <a:off x="609600" y="470916"/>
            <a:ext cx="10972800" cy="647700"/>
          </a:xfrm>
          <a:prstGeom prst="rect">
            <a:avLst/>
          </a:prstGeom>
          <a:noFill/>
          <a:ln w="0">
            <a:noFill/>
          </a:ln>
        </p:spPr>
        <p:txBody>
          <a:bodyPr>
            <a:noAutofit/>
          </a:bodyPr>
          <a:lstStyle/>
          <a:p>
            <a:pPr>
              <a:defRPr sz="3225" b="1">
                <a:solidFill>
                  <a:srgbClr val="123F67"/>
                </a:solidFill>
                <a:latin typeface="Arial"/>
                <a:ea typeface="Arial"/>
                <a:cs typeface="Arial"/>
              </a:defRPr>
            </a:pPr>
            <a:r>
              <a:rPr lang="it-IT" sz="3225" b="1" dirty="0">
                <a:solidFill>
                  <a:srgbClr val="123F67"/>
                </a:solidFill>
                <a:latin typeface="Arial"/>
                <a:ea typeface="Arial"/>
                <a:cs typeface="Arial"/>
              </a:rPr>
              <a:t>2. </a:t>
            </a:r>
            <a:r>
              <a:rPr sz="3225" b="1" dirty="0" err="1">
                <a:solidFill>
                  <a:srgbClr val="123F67"/>
                </a:solidFill>
                <a:latin typeface="Arial"/>
                <a:ea typeface="Arial"/>
                <a:cs typeface="Arial"/>
              </a:rPr>
              <a:t>Apparato</a:t>
            </a:r>
            <a:r>
              <a:rPr sz="3225" b="1" dirty="0">
                <a:solidFill>
                  <a:srgbClr val="123F67"/>
                </a:solidFill>
                <a:latin typeface="Arial"/>
                <a:ea typeface="Arial"/>
                <a:cs typeface="Arial"/>
              </a:rPr>
              <a:t> </a:t>
            </a:r>
            <a:r>
              <a:rPr sz="3225" b="1" dirty="0" err="1">
                <a:solidFill>
                  <a:srgbClr val="123F67"/>
                </a:solidFill>
                <a:latin typeface="Arial"/>
                <a:ea typeface="Arial"/>
                <a:cs typeface="Arial"/>
              </a:rPr>
              <a:t>genitale</a:t>
            </a:r>
            <a:r>
              <a:rPr sz="3225" b="1" dirty="0">
                <a:solidFill>
                  <a:srgbClr val="123F67"/>
                </a:solidFill>
                <a:latin typeface="Arial"/>
                <a:ea typeface="Arial"/>
                <a:cs typeface="Arial"/>
              </a:rPr>
              <a:t> </a:t>
            </a:r>
            <a:r>
              <a:rPr sz="3225" b="1" dirty="0" err="1">
                <a:solidFill>
                  <a:srgbClr val="123F67"/>
                </a:solidFill>
                <a:latin typeface="Arial"/>
                <a:ea typeface="Arial"/>
                <a:cs typeface="Arial"/>
              </a:rPr>
              <a:t>femminile</a:t>
            </a:r>
            <a:endParaRPr sz="3225" b="1" dirty="0">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F-0004-4000-8000-000000000000}"/>
              </a:ext>
            </a:extLst>
          </p:cNvPr>
          <p:cNvSpPr>
            <a:spLocks noGrp="1"/>
          </p:cNvSpPr>
          <p:nvPr/>
        </p:nvSpPr>
        <p:spPr>
          <a:xfrm>
            <a:off x="609600" y="1138428"/>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F-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F-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53</a:t>
            </a:r>
            <a:endParaRPr sz="1350" b="1">
              <a:solidFill>
                <a:srgbClr val="123F67"/>
              </a:solidFill>
              <a:latin typeface="Arial"/>
              <a:ea typeface="Arial"/>
              <a:cs typeface="Arial"/>
            </a:endParaRPr>
          </a:p>
        </p:txBody>
      </p:sp>
      <p:sp>
        <p:nvSpPr>
          <p:cNvPr id="7" name="Rettangolo 6">
            <a:extLst>
              <a:ext uri="{FF2B5EF4-FFF2-40B4-BE49-F238E27FC236}">
                <a16:creationId xmlns:a16="http://schemas.microsoft.com/office/drawing/2014/main" id="{0000000F-0007-4000-8000-000000000000}"/>
              </a:ext>
            </a:extLst>
          </p:cNvPr>
          <p:cNvSpPr>
            <a:spLocks noGrp="1"/>
          </p:cNvSpPr>
          <p:nvPr/>
        </p:nvSpPr>
        <p:spPr>
          <a:xfrm>
            <a:off x="704088" y="1408176"/>
            <a:ext cx="5257800" cy="347472"/>
          </a:xfrm>
          <a:prstGeom prst="rect">
            <a:avLst/>
          </a:prstGeom>
          <a:noFill/>
          <a:ln w="0">
            <a:noFill/>
          </a:ln>
        </p:spPr>
        <p:txBody>
          <a:bodyPr wrap="square" lIns="0" tIns="0" rIns="0" bIns="0" anchor="t">
            <a:noAutofit/>
          </a:bodyPr>
          <a:lstStyle/>
          <a:p>
            <a:pPr algn="l">
              <a:lnSpc>
                <a:spcPts val="2300"/>
              </a:lnSpc>
              <a:spcBef>
                <a:spcPts val="0"/>
              </a:spcBef>
              <a:spcAft>
                <a:spcPts val="0"/>
              </a:spcAft>
              <a:defRPr sz="2025" b="1">
                <a:solidFill>
                  <a:srgbClr val="123F67"/>
                </a:solidFill>
                <a:latin typeface="Arial"/>
                <a:ea typeface="Arial"/>
                <a:cs typeface="Arial"/>
              </a:defRPr>
            </a:pPr>
            <a:r>
              <a:rPr lang="it-IT" sz="2025" b="1">
                <a:solidFill>
                  <a:srgbClr val="123F67"/>
                </a:solidFill>
                <a:latin typeface="Arial"/>
              </a:rPr>
              <a:t>Organi e funzioni</a:t>
            </a:r>
          </a:p>
        </p:txBody>
      </p:sp>
      <p:sp>
        <p:nvSpPr>
          <p:cNvPr id="9" name="Rettangolo 8">
            <a:extLst>
              <a:ext uri="{FF2B5EF4-FFF2-40B4-BE49-F238E27FC236}">
                <a16:creationId xmlns:a16="http://schemas.microsoft.com/office/drawing/2014/main" id="{0000000F-0009-4000-8000-000000000000}"/>
              </a:ext>
            </a:extLst>
          </p:cNvPr>
          <p:cNvSpPr>
            <a:spLocks noGrp="1"/>
          </p:cNvSpPr>
          <p:nvPr/>
        </p:nvSpPr>
        <p:spPr>
          <a:xfrm>
            <a:off x="704088" y="3511296"/>
            <a:ext cx="5257800" cy="2542032"/>
          </a:xfrm>
          <a:prstGeom prst="rect">
            <a:avLst/>
          </a:prstGeom>
          <a:noFill/>
          <a:ln w="0">
            <a:noFill/>
          </a:ln>
        </p:spPr>
        <p:txBody>
          <a:bodyPr wrap="square" lIns="0" tIns="0" rIns="0" bIns="0" anchor="t">
            <a:noAutofit/>
          </a:bodyPr>
          <a:lstStyle/>
          <a:p>
            <a:pPr algn="l">
              <a:lnSpc>
                <a:spcPts val="2050"/>
              </a:lnSpc>
              <a:spcBef>
                <a:spcPts val="0"/>
              </a:spcBef>
              <a:spcAft>
                <a:spcPts val="900"/>
              </a:spcAft>
              <a:defRPr sz="2025" b="0">
                <a:solidFill>
                  <a:srgbClr val="193248"/>
                </a:solidFill>
                <a:latin typeface="Arial"/>
                <a:ea typeface="Arial"/>
                <a:cs typeface="Arial"/>
              </a:defRPr>
            </a:pPr>
            <a:r>
              <a:rPr lang="it-IT" sz="1750" b="1">
                <a:solidFill>
                  <a:srgbClr val="087E8B"/>
                </a:solidFill>
                <a:latin typeface="Arial"/>
              </a:rPr>
              <a:t>Ovaie: </a:t>
            </a:r>
            <a:r>
              <a:rPr lang="it-IT" sz="1750" b="0">
                <a:solidFill>
                  <a:srgbClr val="193248"/>
                </a:solidFill>
                <a:latin typeface="Arial"/>
              </a:rPr>
              <a:t>fanno maturare gli ovociti (gameti femminili) e producono estrogeni e progesterone.</a:t>
            </a:r>
          </a:p>
          <a:p>
            <a:pPr algn="l">
              <a:lnSpc>
                <a:spcPts val="2050"/>
              </a:lnSpc>
              <a:spcBef>
                <a:spcPts val="0"/>
              </a:spcBef>
              <a:spcAft>
                <a:spcPts val="900"/>
              </a:spcAft>
              <a:defRPr sz="2025" b="0">
                <a:solidFill>
                  <a:srgbClr val="193248"/>
                </a:solidFill>
                <a:latin typeface="Arial"/>
                <a:ea typeface="Arial"/>
                <a:cs typeface="Arial"/>
              </a:defRPr>
            </a:pPr>
            <a:r>
              <a:rPr lang="it-IT" sz="1750" b="1">
                <a:solidFill>
                  <a:srgbClr val="087E8B"/>
                </a:solidFill>
                <a:latin typeface="Arial"/>
              </a:rPr>
              <a:t>Tube uterine: </a:t>
            </a:r>
            <a:r>
              <a:rPr lang="it-IT" sz="1750" b="0">
                <a:solidFill>
                  <a:srgbClr val="193248"/>
                </a:solidFill>
                <a:latin typeface="Arial"/>
              </a:rPr>
              <a:t>trasportano l’ovocita verso l’utero. Qui avviene di solito la fecondazione.</a:t>
            </a:r>
          </a:p>
          <a:p>
            <a:pPr algn="l">
              <a:lnSpc>
                <a:spcPts val="2050"/>
              </a:lnSpc>
              <a:spcBef>
                <a:spcPts val="0"/>
              </a:spcBef>
              <a:spcAft>
                <a:spcPts val="900"/>
              </a:spcAft>
            </a:pPr>
            <a:r>
              <a:rPr lang="it-IT" sz="1750" b="1">
                <a:solidFill>
                  <a:srgbClr val="087E8B"/>
                </a:solidFill>
                <a:latin typeface="Arial"/>
              </a:rPr>
              <a:t>Utero: </a:t>
            </a:r>
            <a:r>
              <a:rPr lang="it-IT" sz="1750" b="0">
                <a:solidFill>
                  <a:srgbClr val="193248"/>
                </a:solidFill>
                <a:latin typeface="Arial"/>
              </a:rPr>
              <a:t>accoglie l’embrione e ne permette lo sviluppo durante la gravidanza.</a:t>
            </a:r>
          </a:p>
          <a:p>
            <a:pPr algn="l">
              <a:lnSpc>
                <a:spcPts val="2050"/>
              </a:lnSpc>
              <a:spcBef>
                <a:spcPts val="0"/>
              </a:spcBef>
              <a:spcAft>
                <a:spcPts val="0"/>
              </a:spcAft>
            </a:pPr>
            <a:r>
              <a:rPr lang="it-IT" sz="1750" b="1">
                <a:solidFill>
                  <a:srgbClr val="087E8B"/>
                </a:solidFill>
                <a:latin typeface="Arial"/>
              </a:rPr>
              <a:t>Vagina e vulva: </a:t>
            </a:r>
            <a:r>
              <a:rPr lang="it-IT" sz="1750" b="0">
                <a:solidFill>
                  <a:srgbClr val="193248"/>
                </a:solidFill>
                <a:latin typeface="Arial"/>
              </a:rPr>
              <a:t>la vagina è il canale del parto. La vulva comprende i genitali esterni.</a:t>
            </a:r>
          </a:p>
        </p:txBody>
      </p:sp>
      <p:sp>
        <p:nvSpPr>
          <p:cNvPr id="10" name="Rettangolo 9">
            <a:extLst>
              <a:ext uri="{FF2B5EF4-FFF2-40B4-BE49-F238E27FC236}">
                <a16:creationId xmlns:a16="http://schemas.microsoft.com/office/drawing/2014/main" id="{0000000F-000A-4000-8000-000000000000}"/>
              </a:ext>
            </a:extLst>
          </p:cNvPr>
          <p:cNvSpPr>
            <a:spLocks noGrp="1"/>
          </p:cNvSpPr>
          <p:nvPr/>
        </p:nvSpPr>
        <p:spPr>
          <a:xfrm>
            <a:off x="6355080" y="1408176"/>
            <a:ext cx="5212080" cy="347472"/>
          </a:xfrm>
          <a:prstGeom prst="rect">
            <a:avLst/>
          </a:prstGeom>
          <a:noFill/>
          <a:ln w="0">
            <a:noFill/>
          </a:ln>
        </p:spPr>
        <p:txBody>
          <a:bodyPr wrap="square" lIns="0" tIns="0" rIns="0" bIns="0" anchor="t">
            <a:noAutofit/>
          </a:bodyPr>
          <a:lstStyle/>
          <a:p>
            <a:pPr algn="l">
              <a:lnSpc>
                <a:spcPts val="2300"/>
              </a:lnSpc>
              <a:spcBef>
                <a:spcPts val="0"/>
              </a:spcBef>
              <a:spcAft>
                <a:spcPts val="0"/>
              </a:spcAft>
              <a:defRPr sz="2025" b="1">
                <a:solidFill>
                  <a:srgbClr val="123F67"/>
                </a:solidFill>
                <a:latin typeface="Arial"/>
                <a:ea typeface="Arial"/>
                <a:cs typeface="Arial"/>
              </a:defRPr>
            </a:pPr>
            <a:r>
              <a:rPr lang="it-IT" sz="2025" b="1">
                <a:solidFill>
                  <a:srgbClr val="123F67"/>
                </a:solidFill>
                <a:latin typeface="Arial"/>
              </a:rPr>
              <a:t>Il ciclo mestruale</a:t>
            </a:r>
          </a:p>
        </p:txBody>
      </p:sp>
      <p:sp>
        <p:nvSpPr>
          <p:cNvPr id="11" name="Rettangolo 10">
            <a:extLst>
              <a:ext uri="{FF2B5EF4-FFF2-40B4-BE49-F238E27FC236}">
                <a16:creationId xmlns:a16="http://schemas.microsoft.com/office/drawing/2014/main" id="{0000000F-000B-4000-8000-000000000000}"/>
              </a:ext>
            </a:extLst>
          </p:cNvPr>
          <p:cNvSpPr>
            <a:spLocks noGrp="1"/>
          </p:cNvSpPr>
          <p:nvPr/>
        </p:nvSpPr>
        <p:spPr>
          <a:xfrm>
            <a:off x="6355080" y="1874519"/>
            <a:ext cx="5212080" cy="914400"/>
          </a:xfrm>
          <a:prstGeom prst="rect">
            <a:avLst/>
          </a:prstGeom>
          <a:noFill/>
          <a:ln w="0">
            <a:noFill/>
          </a:ln>
        </p:spPr>
        <p:txBody>
          <a:bodyPr wrap="square" lIns="0" tIns="0" rIns="0" bIns="0" anchor="t">
            <a:noAutofit/>
          </a:bodyPr>
          <a:lstStyle/>
          <a:p>
            <a:pPr algn="l">
              <a:lnSpc>
                <a:spcPts val="2050"/>
              </a:lnSpc>
              <a:spcBef>
                <a:spcPts val="0"/>
              </a:spcBef>
              <a:spcAft>
                <a:spcPts val="0"/>
              </a:spcAft>
              <a:defRPr sz="1875" b="0">
                <a:solidFill>
                  <a:srgbClr val="193248"/>
                </a:solidFill>
                <a:latin typeface="Arial"/>
                <a:ea typeface="Arial"/>
                <a:cs typeface="Arial"/>
              </a:defRPr>
            </a:pPr>
            <a:r>
              <a:rPr lang="it-IT" sz="1750" b="0">
                <a:solidFill>
                  <a:srgbClr val="193248"/>
                </a:solidFill>
                <a:latin typeface="Arial"/>
              </a:rPr>
              <a:t>Si conta dal primo giorno della mestruazione al giorno prima della successiva. Dura in media 28 giorni, con durata variabile.</a:t>
            </a:r>
          </a:p>
        </p:txBody>
      </p:sp>
      <p:sp>
        <p:nvSpPr>
          <p:cNvPr id="12" name="Rettangolo 11">
            <a:extLst>
              <a:ext uri="{FF2B5EF4-FFF2-40B4-BE49-F238E27FC236}">
                <a16:creationId xmlns:a16="http://schemas.microsoft.com/office/drawing/2014/main" id="{0000000F-000C-4000-8000-000000000000}"/>
              </a:ext>
            </a:extLst>
          </p:cNvPr>
          <p:cNvSpPr>
            <a:spLocks noGrp="1"/>
          </p:cNvSpPr>
          <p:nvPr/>
        </p:nvSpPr>
        <p:spPr>
          <a:xfrm>
            <a:off x="6355080" y="2971800"/>
            <a:ext cx="5212080" cy="2990088"/>
          </a:xfrm>
          <a:prstGeom prst="rect">
            <a:avLst/>
          </a:prstGeom>
          <a:noFill/>
          <a:ln w="0">
            <a:noFill/>
          </a:ln>
        </p:spPr>
        <p:txBody>
          <a:bodyPr wrap="square" lIns="0" tIns="0" rIns="0" bIns="0" anchor="t">
            <a:noAutofit/>
          </a:bodyPr>
          <a:lstStyle/>
          <a:p>
            <a:pPr algn="l">
              <a:lnSpc>
                <a:spcPts val="2050"/>
              </a:lnSpc>
              <a:spcBef>
                <a:spcPts val="0"/>
              </a:spcBef>
              <a:spcAft>
                <a:spcPts val="1700"/>
              </a:spcAft>
              <a:defRPr sz="2025" b="0">
                <a:solidFill>
                  <a:srgbClr val="193248"/>
                </a:solidFill>
                <a:latin typeface="Arial"/>
                <a:ea typeface="Arial"/>
                <a:cs typeface="Arial"/>
              </a:defRPr>
            </a:pPr>
            <a:r>
              <a:rPr lang="it-IT" sz="1750" b="1">
                <a:solidFill>
                  <a:srgbClr val="087E8B"/>
                </a:solidFill>
                <a:latin typeface="Arial"/>
              </a:rPr>
              <a:t>Mestruazione: </a:t>
            </a:r>
            <a:r>
              <a:rPr lang="it-IT" sz="1750" b="0">
                <a:solidFill>
                  <a:srgbClr val="193248"/>
                </a:solidFill>
                <a:latin typeface="Arial"/>
              </a:rPr>
              <a:t>l’endometrio si sfalda, con perdita di sangue.</a:t>
            </a:r>
          </a:p>
          <a:p>
            <a:pPr algn="l">
              <a:lnSpc>
                <a:spcPts val="2050"/>
              </a:lnSpc>
              <a:spcBef>
                <a:spcPts val="0"/>
              </a:spcBef>
              <a:spcAft>
                <a:spcPts val="1700"/>
              </a:spcAft>
              <a:defRPr sz="2025" b="0">
                <a:solidFill>
                  <a:srgbClr val="193248"/>
                </a:solidFill>
                <a:latin typeface="Arial"/>
                <a:ea typeface="Arial"/>
                <a:cs typeface="Arial"/>
              </a:defRPr>
            </a:pPr>
            <a:r>
              <a:rPr lang="it-IT" sz="1750" b="1">
                <a:solidFill>
                  <a:srgbClr val="087E8B"/>
                </a:solidFill>
                <a:latin typeface="Arial"/>
              </a:rPr>
              <a:t>Prima dell’ovulazione: </a:t>
            </a:r>
            <a:r>
              <a:rPr lang="it-IT" sz="1750" b="0">
                <a:solidFill>
                  <a:srgbClr val="193248"/>
                </a:solidFill>
                <a:latin typeface="Arial"/>
              </a:rPr>
              <a:t>matura l’ovocita e gli estrogeni fanno ricrescere l’endometrio.</a:t>
            </a:r>
          </a:p>
          <a:p>
            <a:pPr algn="l">
              <a:lnSpc>
                <a:spcPts val="2050"/>
              </a:lnSpc>
              <a:spcBef>
                <a:spcPts val="0"/>
              </a:spcBef>
              <a:spcAft>
                <a:spcPts val="1700"/>
              </a:spcAft>
              <a:defRPr sz="2025" b="0">
                <a:solidFill>
                  <a:srgbClr val="193248"/>
                </a:solidFill>
                <a:latin typeface="Arial"/>
                <a:ea typeface="Arial"/>
                <a:cs typeface="Arial"/>
              </a:defRPr>
            </a:pPr>
            <a:r>
              <a:rPr lang="it-IT" sz="1750" b="1">
                <a:solidFill>
                  <a:srgbClr val="087E8B"/>
                </a:solidFill>
                <a:latin typeface="Arial"/>
              </a:rPr>
              <a:t>Ovulazione: </a:t>
            </a:r>
            <a:r>
              <a:rPr lang="it-IT" sz="1750" b="0">
                <a:solidFill>
                  <a:srgbClr val="193248"/>
                </a:solidFill>
                <a:latin typeface="Arial"/>
              </a:rPr>
              <a:t>l’ovaio libera l’ovocita nella tuba.</a:t>
            </a:r>
          </a:p>
          <a:p>
            <a:pPr algn="l">
              <a:lnSpc>
                <a:spcPts val="2050"/>
              </a:lnSpc>
              <a:spcBef>
                <a:spcPts val="0"/>
              </a:spcBef>
              <a:spcAft>
                <a:spcPts val="0"/>
              </a:spcAft>
              <a:defRPr sz="2025" b="0">
                <a:solidFill>
                  <a:srgbClr val="193248"/>
                </a:solidFill>
                <a:latin typeface="Arial"/>
                <a:ea typeface="Arial"/>
                <a:cs typeface="Arial"/>
              </a:defRPr>
            </a:pPr>
            <a:r>
              <a:rPr lang="it-IT" sz="1750" b="1">
                <a:solidFill>
                  <a:srgbClr val="087E8B"/>
                </a:solidFill>
                <a:latin typeface="Arial"/>
              </a:rPr>
              <a:t>Dopo l’ovulazione: </a:t>
            </a:r>
            <a:r>
              <a:rPr lang="it-IT" sz="1750" b="0">
                <a:solidFill>
                  <a:srgbClr val="193248"/>
                </a:solidFill>
                <a:latin typeface="Arial"/>
              </a:rPr>
              <a:t>il progesterone prepara l’endometrio all’impianto. Senza gravidanza, gli ormoni calano e torna la mestruazione.</a:t>
            </a:r>
          </a:p>
        </p:txBody>
      </p:sp>
      <p:sp>
        <p:nvSpPr>
          <p:cNvPr id="13" name="Rettangolo 12">
            <a:extLst>
              <a:ext uri="{FF2B5EF4-FFF2-40B4-BE49-F238E27FC236}">
                <a16:creationId xmlns:a16="http://schemas.microsoft.com/office/drawing/2014/main" id="{0000000F-000D-4000-8000-000000000000}"/>
              </a:ext>
            </a:extLst>
          </p:cNvPr>
          <p:cNvSpPr>
            <a:spLocks noGrp="1"/>
          </p:cNvSpPr>
          <p:nvPr/>
        </p:nvSpPr>
        <p:spPr>
          <a:xfrm>
            <a:off x="609904" y="6099048"/>
            <a:ext cx="10972800" cy="365760"/>
          </a:xfrm>
          <a:prstGeom prst="rect">
            <a:avLst/>
          </a:prstGeom>
          <a:solidFill>
            <a:srgbClr val="EAF2F8"/>
          </a:solidFill>
          <a:ln w="0">
            <a:noFill/>
          </a:ln>
        </p:spPr>
        <p:txBody>
          <a:bodyPr/>
          <a:lstStyle/>
          <a:p>
            <a:endParaRPr lang="it-IT"/>
          </a:p>
        </p:txBody>
      </p:sp>
      <p:sp>
        <p:nvSpPr>
          <p:cNvPr id="14" name="Rettangolo 13">
            <a:extLst>
              <a:ext uri="{FF2B5EF4-FFF2-40B4-BE49-F238E27FC236}">
                <a16:creationId xmlns:a16="http://schemas.microsoft.com/office/drawing/2014/main" id="{0000000F-000E-4000-8000-000000000000}"/>
              </a:ext>
            </a:extLst>
          </p:cNvPr>
          <p:cNvSpPr>
            <a:spLocks noGrp="1"/>
          </p:cNvSpPr>
          <p:nvPr/>
        </p:nvSpPr>
        <p:spPr>
          <a:xfrm>
            <a:off x="795528" y="6126480"/>
            <a:ext cx="10561320" cy="320040"/>
          </a:xfrm>
          <a:prstGeom prst="rect">
            <a:avLst/>
          </a:prstGeom>
          <a:noFill/>
          <a:ln w="0">
            <a:noFill/>
          </a:ln>
        </p:spPr>
        <p:txBody>
          <a:bodyPr wrap="square" lIns="0" tIns="0" rIns="0" bIns="0" anchor="t">
            <a:noAutofit/>
          </a:bodyPr>
          <a:lstStyle/>
          <a:p>
            <a:pPr algn="l">
              <a:lnSpc>
                <a:spcPct val="105000"/>
              </a:lnSpc>
              <a:spcAft>
                <a:spcPts val="900"/>
              </a:spcAft>
              <a:defRPr sz="1875" b="0">
                <a:solidFill>
                  <a:srgbClr val="193248"/>
                </a:solidFill>
                <a:latin typeface="Arial"/>
                <a:ea typeface="Arial"/>
                <a:cs typeface="Arial"/>
              </a:defRPr>
            </a:pPr>
            <a:r>
              <a:rPr lang="it-IT" sz="1650" b="1">
                <a:solidFill>
                  <a:srgbClr val="193248"/>
                </a:solidFill>
                <a:latin typeface="Arial"/>
              </a:rPr>
              <a:t>Le ovaie sono le gonadi femminili: producono gameti e ormoni, sotto il controllo del sistema endocrino.</a:t>
            </a:r>
          </a:p>
        </p:txBody>
      </p:sp>
      <p:pic>
        <p:nvPicPr>
          <p:cNvPr id="17" name="Picture 16" descr="image.png"/>
          <p:cNvPicPr>
            <a:picLocks noChangeAspect="1"/>
          </p:cNvPicPr>
          <p:nvPr/>
        </p:nvPicPr>
        <p:blipFill>
          <a:blip r:embed="rId3"/>
          <a:srcRect l="9346" t="29883" r="9112" b="25195"/>
          <a:stretch>
            <a:fillRect/>
          </a:stretch>
        </p:blipFill>
        <p:spPr>
          <a:xfrm>
            <a:off x="2098114" y="1764792"/>
            <a:ext cx="2469746" cy="162763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a:t>
            </a:r>
            <a:r>
              <a:rPr lang="it-IT" sz="3000" b="1">
                <a:solidFill>
                  <a:srgbClr val="123F67"/>
                </a:solidFill>
                <a:latin typeface="Arial"/>
                <a:ea typeface="Arial"/>
                <a:cs typeface="Arial"/>
              </a:rPr>
              <a:t>genitale femminile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54</a:t>
            </a:r>
            <a:endParaRPr sz="1350" b="1">
              <a:solidFill>
                <a:srgbClr val="123F67"/>
              </a:solidFill>
              <a:latin typeface="Arial"/>
              <a:ea typeface="Arial"/>
              <a:cs typeface="Arial"/>
            </a:endParaRPr>
          </a:p>
        </p:txBody>
      </p:sp>
      <p:sp>
        <p:nvSpPr>
          <p:cNvPr id="24" name="TextBox 23"/>
          <p:cNvSpPr txBox="1"/>
          <p:nvPr/>
        </p:nvSpPr>
        <p:spPr>
          <a:xfrm>
            <a:off x="704850" y="1476375"/>
            <a:ext cx="10877550" cy="552450"/>
          </a:xfrm>
          <a:prstGeom prst="rect">
            <a:avLst/>
          </a:prstGeom>
          <a:noFill/>
        </p:spPr>
        <p:txBody>
          <a:bodyPr wrap="square" lIns="0" tIns="0" rIns="0" bIns="0">
            <a:noAutofit/>
          </a:bodyPr>
          <a:lstStyle/>
          <a:p>
            <a:pPr>
              <a:lnSpc>
                <a:spcPts val="2200"/>
              </a:lnSpc>
            </a:pPr>
            <a:r>
              <a:rPr lang="it-IT" sz="1900" b="0">
                <a:solidFill>
                  <a:srgbClr val="087E8B"/>
                </a:solidFill>
                <a:latin typeface="Arial"/>
              </a:rPr>
              <a:t>Patologie dell’utero e delle ovaie, disturbi ormonali e infezioni vaginali</a:t>
            </a:r>
            <a:endParaRPr sz="1900" b="0">
              <a:solidFill>
                <a:srgbClr val="087E8B"/>
              </a:solidFill>
              <a:latin typeface="Arial"/>
            </a:endParaRPr>
          </a:p>
        </p:txBody>
      </p:sp>
      <p:sp>
        <p:nvSpPr>
          <p:cNvPr id="26" name="TextBox 25"/>
          <p:cNvSpPr txBox="1"/>
          <p:nvPr/>
        </p:nvSpPr>
        <p:spPr>
          <a:xfrm>
            <a:off x="704088" y="1947672"/>
            <a:ext cx="5230368" cy="338328"/>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Endometriosi</a:t>
            </a:r>
          </a:p>
        </p:txBody>
      </p:sp>
      <p:sp>
        <p:nvSpPr>
          <p:cNvPr id="27" name="TextBox 26"/>
          <p:cNvSpPr txBox="1"/>
          <p:nvPr/>
        </p:nvSpPr>
        <p:spPr>
          <a:xfrm>
            <a:off x="704088" y="2331720"/>
            <a:ext cx="5230368" cy="1252728"/>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Tessuto simile al rivestimento interno dell’utero cresce al di fuori dell’utero, causando infiammazione e spesso dolore pelvico.</a:t>
            </a:r>
          </a:p>
        </p:txBody>
      </p:sp>
      <p:sp>
        <p:nvSpPr>
          <p:cNvPr id="33" name="TextBox 25"/>
          <p:cNvSpPr txBox="1"/>
          <p:nvPr/>
        </p:nvSpPr>
        <p:spPr>
          <a:xfrm>
            <a:off x="704088" y="5001768"/>
            <a:ext cx="5230368" cy="338328"/>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Tumori dell’utero</a:t>
            </a:r>
          </a:p>
        </p:txBody>
      </p:sp>
      <p:sp>
        <p:nvSpPr>
          <p:cNvPr id="34" name="TextBox 26"/>
          <p:cNvSpPr txBox="1"/>
          <p:nvPr/>
        </p:nvSpPr>
        <p:spPr>
          <a:xfrm>
            <a:off x="704088" y="5385816"/>
            <a:ext cx="5230368" cy="1252728"/>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Colpiscono il corpo dell’utero (endometrio) o il collo (cervice), con cause e cure diverse. L’infezione persistente da HPV (papillomavirus umano) ad alto rischio è la principale causa del tumore della cervice.</a:t>
            </a:r>
          </a:p>
        </p:txBody>
      </p:sp>
      <p:sp>
        <p:nvSpPr>
          <p:cNvPr id="35" name="Fibromi uterini"/>
          <p:cNvSpPr txBox="1"/>
          <p:nvPr/>
        </p:nvSpPr>
        <p:spPr>
          <a:xfrm>
            <a:off x="704088" y="3474720"/>
            <a:ext cx="5230368" cy="338328"/>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Fibromi (o miomi) uterini</a:t>
            </a:r>
          </a:p>
        </p:txBody>
      </p:sp>
      <p:sp>
        <p:nvSpPr>
          <p:cNvPr id="36" name="Descrizione fibromi"/>
          <p:cNvSpPr txBox="1"/>
          <p:nvPr/>
        </p:nvSpPr>
        <p:spPr>
          <a:xfrm>
            <a:off x="704088" y="3858768"/>
            <a:ext cx="5230368" cy="1252728"/>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Formazioni benigne del tessuto muscolare dell’utero. Spesso non danno sintomi, ma possono causare mestruazioni abbondanti, dolore o senso di pressione pelvica.</a:t>
            </a:r>
          </a:p>
        </p:txBody>
      </p:sp>
      <p:sp>
        <p:nvSpPr>
          <p:cNvPr id="37" name="Sindrome dell’ovaio policistico (PCOS)"/>
          <p:cNvSpPr txBox="1"/>
          <p:nvPr/>
        </p:nvSpPr>
        <p:spPr>
          <a:xfrm>
            <a:off x="6345936" y="1947672"/>
            <a:ext cx="5230368" cy="338328"/>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Sindrome dell’ovaio policistico (PCOS)</a:t>
            </a:r>
          </a:p>
        </p:txBody>
      </p:sp>
      <p:sp>
        <p:nvSpPr>
          <p:cNvPr id="38" name="Descrizione Sindrome dell’ovaio policistico (PCOS)"/>
          <p:cNvSpPr txBox="1"/>
          <p:nvPr/>
        </p:nvSpPr>
        <p:spPr>
          <a:xfrm>
            <a:off x="6345936" y="2331720"/>
            <a:ext cx="5230368" cy="1252728"/>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Disturbo ormonale con ovulazione irregolare o assente e spesso eccesso di androgeni. Può causare cicli irregolari, acne e difficoltà a concepire.</a:t>
            </a:r>
          </a:p>
        </p:txBody>
      </p:sp>
      <p:sp>
        <p:nvSpPr>
          <p:cNvPr id="39" name="Cisti ovariche"/>
          <p:cNvSpPr txBox="1"/>
          <p:nvPr/>
        </p:nvSpPr>
        <p:spPr>
          <a:xfrm>
            <a:off x="6345936" y="3474720"/>
            <a:ext cx="5230368" cy="338328"/>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Cisti ovariche</a:t>
            </a:r>
          </a:p>
        </p:txBody>
      </p:sp>
      <p:sp>
        <p:nvSpPr>
          <p:cNvPr id="40" name="Descrizione Cisti ovariche"/>
          <p:cNvSpPr txBox="1"/>
          <p:nvPr/>
        </p:nvSpPr>
        <p:spPr>
          <a:xfrm>
            <a:off x="6345936" y="3858768"/>
            <a:ext cx="5230368" cy="1252728"/>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Formazioni spesso piene di liquido, in genere benigne. Molte non danno sintomi e si riassorbono spontaneamente, altre causano dolore pelvico.</a:t>
            </a:r>
          </a:p>
        </p:txBody>
      </p:sp>
      <p:sp>
        <p:nvSpPr>
          <p:cNvPr id="41" name="Candidosi vaginale"/>
          <p:cNvSpPr txBox="1"/>
          <p:nvPr/>
        </p:nvSpPr>
        <p:spPr>
          <a:xfrm>
            <a:off x="6345936" y="5001768"/>
            <a:ext cx="5230368" cy="338328"/>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Candidosi vaginale</a:t>
            </a:r>
          </a:p>
        </p:txBody>
      </p:sp>
      <p:sp>
        <p:nvSpPr>
          <p:cNvPr id="42" name="Descrizione Candidosi vaginale"/>
          <p:cNvSpPr txBox="1"/>
          <p:nvPr/>
        </p:nvSpPr>
        <p:spPr>
          <a:xfrm>
            <a:off x="6345936" y="5385816"/>
            <a:ext cx="5230368" cy="1252728"/>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Infezione da eccessiva crescita del fungo Candida. Può causare prurito, bruciore e perdite vaginali bianche e dense.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Tumore della mammella</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55</a:t>
            </a:r>
            <a:endParaRPr sz="1350" b="1">
              <a:solidFill>
                <a:srgbClr val="123F67"/>
              </a:solidFill>
              <a:latin typeface="Arial"/>
              <a:ea typeface="Arial"/>
              <a:cs typeface="Arial"/>
            </a:endParaRPr>
          </a:p>
        </p:txBody>
      </p:sp>
      <p:sp>
        <p:nvSpPr>
          <p:cNvPr id="24" name="TextBox 23"/>
          <p:cNvSpPr txBox="1"/>
          <p:nvPr/>
        </p:nvSpPr>
        <p:spPr>
          <a:xfrm>
            <a:off x="704850" y="1476375"/>
            <a:ext cx="10877550" cy="758952"/>
          </a:xfrm>
          <a:prstGeom prst="rect">
            <a:avLst/>
          </a:prstGeom>
          <a:noFill/>
        </p:spPr>
        <p:txBody>
          <a:bodyPr wrap="square" lIns="0" tIns="0" rIns="0" bIns="0">
            <a:noAutofit/>
          </a:bodyPr>
          <a:lstStyle/>
          <a:p>
            <a:pPr>
              <a:lnSpc>
                <a:spcPts val="2200"/>
              </a:lnSpc>
            </a:pPr>
            <a:r>
              <a:rPr sz="1900" b="0" dirty="0" err="1">
                <a:solidFill>
                  <a:srgbClr val="087E8B"/>
                </a:solidFill>
                <a:latin typeface="Arial"/>
              </a:rPr>
              <a:t>Ghiandola</a:t>
            </a:r>
            <a:r>
              <a:rPr sz="1900" b="0" dirty="0">
                <a:solidFill>
                  <a:srgbClr val="087E8B"/>
                </a:solidFill>
                <a:latin typeface="Arial"/>
              </a:rPr>
              <a:t> </a:t>
            </a:r>
            <a:r>
              <a:rPr sz="1900" b="0" dirty="0" err="1">
                <a:solidFill>
                  <a:srgbClr val="087E8B"/>
                </a:solidFill>
                <a:latin typeface="Arial"/>
              </a:rPr>
              <a:t>mammaria</a:t>
            </a:r>
            <a:r>
              <a:rPr lang="it-IT" sz="1900" b="0" dirty="0">
                <a:solidFill>
                  <a:srgbClr val="087E8B"/>
                </a:solidFill>
                <a:latin typeface="Arial"/>
              </a:rPr>
              <a:t> e lattazione</a:t>
            </a:r>
            <a:r>
              <a:rPr sz="1900" b="0" dirty="0">
                <a:solidFill>
                  <a:srgbClr val="087E8B"/>
                </a:solidFill>
                <a:latin typeface="Arial"/>
              </a:rPr>
              <a:t>: </a:t>
            </a:r>
            <a:r>
              <a:rPr lang="it-IT" sz="1900" b="0" dirty="0">
                <a:solidFill>
                  <a:srgbClr val="087E8B"/>
                </a:solidFill>
                <a:latin typeface="Arial"/>
              </a:rPr>
              <a:t>i lobuli producono </a:t>
            </a:r>
            <a:r>
              <a:rPr sz="1900" b="0" dirty="0">
                <a:solidFill>
                  <a:srgbClr val="087E8B"/>
                </a:solidFill>
                <a:latin typeface="Arial"/>
              </a:rPr>
              <a:t>latte</a:t>
            </a:r>
            <a:r>
              <a:rPr lang="it-IT" sz="1900" b="0" dirty="0">
                <a:solidFill>
                  <a:srgbClr val="087E8B"/>
                </a:solidFill>
                <a:latin typeface="Arial"/>
              </a:rPr>
              <a:t>, i dotti lo trasportano.</a:t>
            </a:r>
          </a:p>
          <a:p>
            <a:pPr>
              <a:lnSpc>
                <a:spcPts val="2200"/>
              </a:lnSpc>
              <a:spcBef>
                <a:spcPts val="800"/>
              </a:spcBef>
            </a:pPr>
            <a:r>
              <a:rPr lang="it-IT" sz="1900" b="0" dirty="0">
                <a:solidFill>
                  <a:srgbClr val="087E8B"/>
                </a:solidFill>
                <a:latin typeface="Arial"/>
              </a:rPr>
              <a:t>In Italia rappresenta circa il 30% dei nuovi tumori diagnosticati nelle donne.</a:t>
            </a:r>
          </a:p>
        </p:txBody>
      </p:sp>
      <p:sp>
        <p:nvSpPr>
          <p:cNvPr id="26" name="TextBox 25"/>
          <p:cNvSpPr txBox="1"/>
          <p:nvPr/>
        </p:nvSpPr>
        <p:spPr>
          <a:xfrm>
            <a:off x="705002" y="2377440"/>
            <a:ext cx="5257800" cy="310896"/>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Carcinoma in situ</a:t>
            </a:r>
          </a:p>
        </p:txBody>
      </p:sp>
      <p:sp>
        <p:nvSpPr>
          <p:cNvPr id="27" name="TextBox 26"/>
          <p:cNvSpPr txBox="1"/>
          <p:nvPr/>
        </p:nvSpPr>
        <p:spPr>
          <a:xfrm>
            <a:off x="705002" y="2743200"/>
            <a:ext cx="5257800" cy="832104"/>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Le cellule anomale restano nella sede d’origine, senza superare la membrana basale né invadere i tessuti circostanti.</a:t>
            </a:r>
          </a:p>
        </p:txBody>
      </p:sp>
      <p:sp>
        <p:nvSpPr>
          <p:cNvPr id="29" name="TextBox 28"/>
          <p:cNvSpPr txBox="1"/>
          <p:nvPr/>
        </p:nvSpPr>
        <p:spPr>
          <a:xfrm>
            <a:off x="705002" y="4983480"/>
            <a:ext cx="5257800" cy="310896"/>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Segni da valutare</a:t>
            </a:r>
          </a:p>
        </p:txBody>
      </p:sp>
      <p:sp>
        <p:nvSpPr>
          <p:cNvPr id="30" name="TextBox 29"/>
          <p:cNvSpPr txBox="1"/>
          <p:nvPr/>
        </p:nvSpPr>
        <p:spPr>
          <a:xfrm>
            <a:off x="705002" y="5349240"/>
            <a:ext cx="5257800" cy="1097280"/>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Possibili noduli nella mammella o nell’ascella, cambiamenti della pelle o del capezzolo e secrezioni anomale. Questi segni possono avere anche cause benigne: serve una valutazione medica.</a:t>
            </a:r>
          </a:p>
        </p:txBody>
      </p:sp>
      <p:sp>
        <p:nvSpPr>
          <p:cNvPr id="32" name="Carcinoma invasivo 26"/>
          <p:cNvSpPr txBox="1"/>
          <p:nvPr/>
        </p:nvSpPr>
        <p:spPr>
          <a:xfrm>
            <a:off x="705002" y="3675887"/>
            <a:ext cx="5257800" cy="310896"/>
          </a:xfrm>
          <a:prstGeom prst="rect">
            <a:avLst/>
          </a:prstGeom>
          <a:noFill/>
        </p:spPr>
        <p:txBody>
          <a:bodyPr wrap="square" lIns="0" tIns="0" rIns="0" bIns="0">
            <a:noAutofit/>
          </a:bodyPr>
          <a:lstStyle/>
          <a:p>
            <a:pPr>
              <a:lnSpc>
                <a:spcPts val="2200"/>
              </a:lnSpc>
              <a:spcBef>
                <a:spcPts val="0"/>
              </a:spcBef>
              <a:spcAft>
                <a:spcPts val="0"/>
              </a:spcAft>
            </a:pPr>
            <a:r>
              <a:rPr lang="it-IT" sz="2000" b="1">
                <a:solidFill>
                  <a:srgbClr val="123F67"/>
                </a:solidFill>
                <a:latin typeface="Arial"/>
              </a:rPr>
              <a:t>Carcinoma invasivo (infiltrante)</a:t>
            </a:r>
          </a:p>
        </p:txBody>
      </p:sp>
      <p:sp>
        <p:nvSpPr>
          <p:cNvPr id="33" name="Carcinoma invasivo 27"/>
          <p:cNvSpPr txBox="1"/>
          <p:nvPr/>
        </p:nvSpPr>
        <p:spPr>
          <a:xfrm>
            <a:off x="705002" y="4041648"/>
            <a:ext cx="5257800" cy="832104"/>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Le cellule tumorali superano la membrana basale e invadono i tessuti vicini. Possono diffondersi ai linfonodi e ad altri organi.</a:t>
            </a:r>
          </a:p>
        </p:txBody>
      </p:sp>
      <p:sp>
        <p:nvSpPr>
          <p:cNvPr id="34" name="Prevenzione e diagnosi precoce"/>
          <p:cNvSpPr txBox="1"/>
          <p:nvPr/>
        </p:nvSpPr>
        <p:spPr>
          <a:xfrm>
            <a:off x="6355080" y="2377440"/>
            <a:ext cx="5212080" cy="365760"/>
          </a:xfrm>
          <a:prstGeom prst="rect">
            <a:avLst/>
          </a:prstGeom>
          <a:noFill/>
        </p:spPr>
        <p:txBody>
          <a:bodyPr wrap="square" lIns="0" tIns="0" rIns="0" bIns="0">
            <a:noAutofit/>
          </a:bodyPr>
          <a:lstStyle/>
          <a:p>
            <a:pPr>
              <a:lnSpc>
                <a:spcPts val="2300"/>
              </a:lnSpc>
              <a:spcBef>
                <a:spcPts val="0"/>
              </a:spcBef>
              <a:spcAft>
                <a:spcPts val="0"/>
              </a:spcAft>
            </a:pPr>
            <a:r>
              <a:rPr lang="it-IT" sz="2100" b="1">
                <a:solidFill>
                  <a:srgbClr val="087E8B"/>
                </a:solidFill>
                <a:latin typeface="Arial"/>
              </a:rPr>
              <a:t>Prevenzione e diagnosi precoce</a:t>
            </a:r>
          </a:p>
        </p:txBody>
      </p:sp>
      <p:sp>
        <p:nvSpPr>
          <p:cNvPr id="35" name="Mammografia periodica"/>
          <p:cNvSpPr txBox="1"/>
          <p:nvPr/>
        </p:nvSpPr>
        <p:spPr>
          <a:xfrm>
            <a:off x="6355080" y="2907792"/>
            <a:ext cx="5212080" cy="347472"/>
          </a:xfrm>
          <a:prstGeom prst="rect">
            <a:avLst/>
          </a:prstGeom>
          <a:noFill/>
        </p:spPr>
        <p:txBody>
          <a:bodyPr wrap="square" lIns="0" tIns="0" rIns="0" bIns="0">
            <a:noAutofit/>
          </a:bodyPr>
          <a:lstStyle/>
          <a:p>
            <a:pPr>
              <a:lnSpc>
                <a:spcPts val="1950"/>
              </a:lnSpc>
              <a:spcBef>
                <a:spcPts val="0"/>
              </a:spcBef>
              <a:spcAft>
                <a:spcPts val="0"/>
              </a:spcAft>
            </a:pPr>
            <a:r>
              <a:rPr lang="it-IT" sz="1750" b="1">
                <a:solidFill>
                  <a:srgbClr val="123F67"/>
                </a:solidFill>
                <a:latin typeface="Arial"/>
              </a:rPr>
              <a:t>Mammografia periodica</a:t>
            </a:r>
          </a:p>
        </p:txBody>
      </p:sp>
      <p:sp>
        <p:nvSpPr>
          <p:cNvPr id="36" name="Descrizione Mammografia periodica"/>
          <p:cNvSpPr txBox="1"/>
          <p:nvPr/>
        </p:nvSpPr>
        <p:spPr>
          <a:xfrm>
            <a:off x="6355080" y="3255264"/>
            <a:ext cx="5212080" cy="768096"/>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Screening gratuito in Italia: ogni 2 anni tra 50 e 69 anni, anche senza sintomi.</a:t>
            </a:r>
          </a:p>
        </p:txBody>
      </p:sp>
      <p:sp>
        <p:nvSpPr>
          <p:cNvPr id="37" name="Programmi regionali e rischio individuale"/>
          <p:cNvSpPr txBox="1"/>
          <p:nvPr/>
        </p:nvSpPr>
        <p:spPr>
          <a:xfrm>
            <a:off x="6355080" y="4041648"/>
            <a:ext cx="5212080" cy="347472"/>
          </a:xfrm>
          <a:prstGeom prst="rect">
            <a:avLst/>
          </a:prstGeom>
          <a:noFill/>
        </p:spPr>
        <p:txBody>
          <a:bodyPr wrap="square" lIns="0" tIns="0" rIns="0" bIns="0">
            <a:noAutofit/>
          </a:bodyPr>
          <a:lstStyle/>
          <a:p>
            <a:pPr>
              <a:lnSpc>
                <a:spcPts val="1950"/>
              </a:lnSpc>
              <a:spcBef>
                <a:spcPts val="0"/>
              </a:spcBef>
              <a:spcAft>
                <a:spcPts val="0"/>
              </a:spcAft>
            </a:pPr>
            <a:r>
              <a:rPr lang="it-IT" sz="1750" b="1">
                <a:solidFill>
                  <a:srgbClr val="123F67"/>
                </a:solidFill>
                <a:latin typeface="Arial"/>
              </a:rPr>
              <a:t>Programmi regionali e rischio individuale</a:t>
            </a:r>
          </a:p>
        </p:txBody>
      </p:sp>
      <p:sp>
        <p:nvSpPr>
          <p:cNvPr id="38" name="Descrizione Programmi regionali e rischio individuale"/>
          <p:cNvSpPr txBox="1"/>
          <p:nvPr/>
        </p:nvSpPr>
        <p:spPr>
          <a:xfrm>
            <a:off x="6355080" y="4398264"/>
            <a:ext cx="5212080" cy="987552"/>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Alcune Regioni estendono l’offerta a 45–74 anni. Seguire gli inviti ASL e concordare con il medico gli altri controlli, in base al rischio.</a:t>
            </a:r>
          </a:p>
        </p:txBody>
      </p:sp>
      <p:sp>
        <p:nvSpPr>
          <p:cNvPr id="39" name="Stili di vita e attenzione ai segnali"/>
          <p:cNvSpPr txBox="1"/>
          <p:nvPr/>
        </p:nvSpPr>
        <p:spPr>
          <a:xfrm>
            <a:off x="6355080" y="5394960"/>
            <a:ext cx="5212080" cy="347472"/>
          </a:xfrm>
          <a:prstGeom prst="rect">
            <a:avLst/>
          </a:prstGeom>
          <a:noFill/>
        </p:spPr>
        <p:txBody>
          <a:bodyPr wrap="square" lIns="0" tIns="0" rIns="0" bIns="0">
            <a:noAutofit/>
          </a:bodyPr>
          <a:lstStyle/>
          <a:p>
            <a:pPr>
              <a:lnSpc>
                <a:spcPts val="1950"/>
              </a:lnSpc>
              <a:spcBef>
                <a:spcPts val="0"/>
              </a:spcBef>
              <a:spcAft>
                <a:spcPts val="0"/>
              </a:spcAft>
            </a:pPr>
            <a:r>
              <a:rPr lang="it-IT" sz="1750" b="1">
                <a:solidFill>
                  <a:srgbClr val="123F67"/>
                </a:solidFill>
                <a:latin typeface="Arial"/>
              </a:rPr>
              <a:t>Stili di vita e attenzione ai segnali</a:t>
            </a:r>
          </a:p>
        </p:txBody>
      </p:sp>
      <p:sp>
        <p:nvSpPr>
          <p:cNvPr id="40" name="Descrizione Stili di vita e attenzione ai segnali"/>
          <p:cNvSpPr txBox="1"/>
          <p:nvPr/>
        </p:nvSpPr>
        <p:spPr>
          <a:xfrm>
            <a:off x="6355080" y="5742432"/>
            <a:ext cx="5212080" cy="804672"/>
          </a:xfrm>
          <a:prstGeom prst="rect">
            <a:avLst/>
          </a:prstGeom>
          <a:noFill/>
        </p:spPr>
        <p:txBody>
          <a:bodyPr wrap="square" lIns="0" tIns="0" rIns="0" bIns="0">
            <a:noAutofit/>
          </a:bodyPr>
          <a:lstStyle/>
          <a:p>
            <a:pPr>
              <a:lnSpc>
                <a:spcPts val="1950"/>
              </a:lnSpc>
              <a:spcBef>
                <a:spcPts val="0"/>
              </a:spcBef>
              <a:spcAft>
                <a:spcPts val="0"/>
              </a:spcAft>
            </a:pPr>
            <a:r>
              <a:rPr lang="it-IT" sz="1750" b="0">
                <a:solidFill>
                  <a:srgbClr val="193248"/>
                </a:solidFill>
                <a:latin typeface="Arial"/>
              </a:rPr>
              <a:t>Attività fisica, alimentazione equilibrata, niente fumo ed evitare alcol. Se compaiono cambiamenti, rivolgersi al medico senza attendere lo screening.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RIPRODUTTORE · APPROFONDIMENTO</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lnSpc>
                <a:spcPct val="105000"/>
              </a:lnSpc>
              <a:spcAft>
                <a:spcPts val="0"/>
              </a:spcAft>
              <a:defRPr sz="3225" b="1">
                <a:solidFill>
                  <a:srgbClr val="123F67"/>
                </a:solidFill>
                <a:latin typeface="Arial"/>
                <a:ea typeface="Arial"/>
                <a:cs typeface="Arial"/>
              </a:defRPr>
            </a:pPr>
            <a:r>
              <a:rPr sz="3000" b="1" u="none">
                <a:solidFill>
                  <a:srgbClr val="123F67"/>
                </a:solidFill>
                <a:latin typeface="Arial"/>
                <a:ea typeface="Arial"/>
                <a:cs typeface="Arial"/>
              </a:rPr>
              <a:t>Contraccezione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56</a:t>
            </a:r>
            <a:endParaRPr sz="1350" b="1">
              <a:solidFill>
                <a:srgbClr val="123F67"/>
              </a:solidFill>
              <a:latin typeface="Arial"/>
              <a:ea typeface="Arial"/>
              <a:cs typeface="Arial"/>
            </a:endParaRPr>
          </a:p>
        </p:txBody>
      </p:sp>
      <p:sp>
        <p:nvSpPr>
          <p:cNvPr id="24" name="TextBox 23"/>
          <p:cNvSpPr txBox="1"/>
          <p:nvPr/>
        </p:nvSpPr>
        <p:spPr>
          <a:xfrm>
            <a:off x="704850" y="1476375"/>
            <a:ext cx="10877550" cy="552450"/>
          </a:xfrm>
          <a:prstGeom prst="rect">
            <a:avLst/>
          </a:prstGeom>
          <a:noFill/>
        </p:spPr>
        <p:txBody>
          <a:bodyPr wrap="square" lIns="0" tIns="0" rIns="0" bIns="0">
            <a:noAutofit/>
          </a:bodyPr>
          <a:lstStyle/>
          <a:p>
            <a:pPr>
              <a:lnSpc>
                <a:spcPct val="105000"/>
              </a:lnSpc>
              <a:spcAft>
                <a:spcPts val="0"/>
              </a:spcAft>
            </a:pPr>
            <a:r>
              <a:rPr lang="it-IT" sz="1900" b="0" u="none">
                <a:solidFill>
                  <a:srgbClr val="087E8B"/>
                </a:solidFill>
                <a:latin typeface="Arial"/>
              </a:rPr>
              <a:t>Metodi per prevenire una gravidanza e criteri di scelta</a:t>
            </a:r>
            <a:endParaRPr sz="1900" b="0">
              <a:solidFill>
                <a:srgbClr val="087E8B"/>
              </a:solidFill>
              <a:latin typeface="Arial"/>
            </a:endParaRPr>
          </a:p>
        </p:txBody>
      </p:sp>
      <p:sp>
        <p:nvSpPr>
          <p:cNvPr id="26" name="TextBox 25"/>
          <p:cNvSpPr txBox="1"/>
          <p:nvPr/>
        </p:nvSpPr>
        <p:spPr>
          <a:xfrm>
            <a:off x="704088" y="1975104"/>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Principali metodi</a:t>
            </a:r>
          </a:p>
        </p:txBody>
      </p:sp>
      <p:sp>
        <p:nvSpPr>
          <p:cNvPr id="27" name="TextBox 26"/>
          <p:cNvSpPr txBox="1"/>
          <p:nvPr/>
        </p:nvSpPr>
        <p:spPr>
          <a:xfrm>
            <a:off x="704088" y="2450592"/>
            <a:ext cx="5184648" cy="3867912"/>
          </a:xfrm>
          <a:prstGeom prst="rect">
            <a:avLst/>
          </a:prstGeom>
          <a:noFill/>
        </p:spPr>
        <p:txBody>
          <a:bodyPr wrap="square" lIns="0" tIns="0" rIns="0" bIns="0">
            <a:noAutofit/>
          </a:bodyPr>
          <a:lstStyle/>
          <a:p>
            <a:pPr>
              <a:lnSpc>
                <a:spcPct val="105000"/>
              </a:lnSpc>
              <a:spcAft>
                <a:spcPts val="1400"/>
              </a:spcAft>
            </a:pPr>
            <a:r>
              <a:rPr lang="it-IT" sz="1800" b="1" u="none">
                <a:solidFill>
                  <a:srgbClr val="193248"/>
                </a:solidFill>
                <a:latin typeface="Arial"/>
              </a:rPr>
              <a:t>Di barriera. </a:t>
            </a:r>
            <a:r>
              <a:rPr lang="it-IT" sz="1800" b="0" u="none">
                <a:solidFill>
                  <a:srgbClr val="193248"/>
                </a:solidFill>
                <a:latin typeface="Arial"/>
              </a:rPr>
              <a:t>Preservativo e diaframma ostacolano il passaggio degli spermatozoi.</a:t>
            </a:r>
          </a:p>
          <a:p>
            <a:pPr>
              <a:lnSpc>
                <a:spcPct val="105000"/>
              </a:lnSpc>
              <a:spcAft>
                <a:spcPts val="1400"/>
              </a:spcAft>
            </a:pPr>
            <a:r>
              <a:rPr lang="it-IT" sz="1800" b="1" u="none">
                <a:solidFill>
                  <a:srgbClr val="193248"/>
                </a:solidFill>
                <a:latin typeface="Arial"/>
              </a:rPr>
              <a:t>Ormonali. </a:t>
            </a:r>
            <a:r>
              <a:rPr lang="it-IT" sz="1800" b="0" u="none">
                <a:solidFill>
                  <a:srgbClr val="193248"/>
                </a:solidFill>
                <a:latin typeface="Arial"/>
              </a:rPr>
              <a:t>Pillola, anello, cerotto e impianto: agiscono sull’ovulazione e/o sul muco cervicale.</a:t>
            </a:r>
          </a:p>
          <a:p>
            <a:pPr>
              <a:lnSpc>
                <a:spcPct val="105000"/>
              </a:lnSpc>
              <a:spcAft>
                <a:spcPts val="1400"/>
              </a:spcAft>
            </a:pPr>
            <a:r>
              <a:rPr lang="it-IT" sz="1800" b="1" u="none">
                <a:solidFill>
                  <a:srgbClr val="193248"/>
                </a:solidFill>
                <a:latin typeface="Arial"/>
              </a:rPr>
              <a:t>Intrauterini. </a:t>
            </a:r>
            <a:r>
              <a:rPr lang="it-IT" sz="1800" b="0" u="none">
                <a:solidFill>
                  <a:srgbClr val="193248"/>
                </a:solidFill>
                <a:latin typeface="Arial"/>
              </a:rPr>
              <a:t>Spirale al rame o a rilascio di progestinico, inserita nell’utero dal professionista sanitario.</a:t>
            </a:r>
          </a:p>
          <a:p>
            <a:pPr>
              <a:lnSpc>
                <a:spcPct val="105000"/>
              </a:lnSpc>
              <a:spcAft>
                <a:spcPts val="1400"/>
              </a:spcAft>
            </a:pPr>
            <a:r>
              <a:rPr lang="it-IT" sz="1800" b="1" u="none">
                <a:solidFill>
                  <a:srgbClr val="193248"/>
                </a:solidFill>
                <a:latin typeface="Arial"/>
              </a:rPr>
              <a:t>Basati sulla fertilità. </a:t>
            </a:r>
            <a:r>
              <a:rPr lang="it-IT" sz="1800" b="0" u="none">
                <a:solidFill>
                  <a:srgbClr val="193248"/>
                </a:solidFill>
                <a:latin typeface="Arial"/>
              </a:rPr>
              <a:t>Calendario, muco cervicale e temperatura basale aiutano a riconoscere il periodo fertile.</a:t>
            </a:r>
          </a:p>
        </p:txBody>
      </p:sp>
      <p:sp>
        <p:nvSpPr>
          <p:cNvPr id="29" name="TextBox 28"/>
          <p:cNvSpPr txBox="1"/>
          <p:nvPr/>
        </p:nvSpPr>
        <p:spPr>
          <a:xfrm>
            <a:off x="6364224" y="1975104"/>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Scelta e uso corretto</a:t>
            </a:r>
          </a:p>
        </p:txBody>
      </p:sp>
      <p:sp>
        <p:nvSpPr>
          <p:cNvPr id="30" name="TextBox 29"/>
          <p:cNvSpPr txBox="1"/>
          <p:nvPr/>
        </p:nvSpPr>
        <p:spPr>
          <a:xfrm>
            <a:off x="6364224" y="2450592"/>
            <a:ext cx="5184648" cy="3867912"/>
          </a:xfrm>
          <a:prstGeom prst="rect">
            <a:avLst/>
          </a:prstGeom>
          <a:noFill/>
        </p:spPr>
        <p:txBody>
          <a:bodyPr wrap="square" lIns="0" tIns="0" rIns="0" bIns="0">
            <a:noAutofit/>
          </a:bodyPr>
          <a:lstStyle/>
          <a:p>
            <a:pPr>
              <a:lnSpc>
                <a:spcPct val="105000"/>
              </a:lnSpc>
              <a:spcAft>
                <a:spcPts val="1400"/>
              </a:spcAft>
            </a:pPr>
            <a:r>
              <a:rPr lang="it-IT" sz="1800" b="1" u="none" dirty="0">
                <a:solidFill>
                  <a:srgbClr val="193248"/>
                </a:solidFill>
                <a:latin typeface="Arial"/>
              </a:rPr>
              <a:t>Scelta personalizzata. </a:t>
            </a:r>
            <a:r>
              <a:rPr lang="it-IT" sz="1800" b="0" u="none" dirty="0">
                <a:solidFill>
                  <a:srgbClr val="193248"/>
                </a:solidFill>
                <a:latin typeface="Arial"/>
              </a:rPr>
              <a:t>Valutare con il professionista sanitario efficacia, sicurezza, reversibilità e facilità d’uso.</a:t>
            </a:r>
          </a:p>
          <a:p>
            <a:pPr>
              <a:lnSpc>
                <a:spcPct val="105000"/>
              </a:lnSpc>
              <a:spcAft>
                <a:spcPts val="1400"/>
              </a:spcAft>
            </a:pPr>
            <a:r>
              <a:rPr lang="it-IT" sz="1800" b="1" u="none" dirty="0">
                <a:solidFill>
                  <a:srgbClr val="193248"/>
                </a:solidFill>
                <a:latin typeface="Arial"/>
              </a:rPr>
              <a:t>Uso corretto. </a:t>
            </a:r>
            <a:r>
              <a:rPr lang="it-IT" sz="1800" b="0" u="none" dirty="0">
                <a:solidFill>
                  <a:srgbClr val="193248"/>
                </a:solidFill>
                <a:latin typeface="Arial"/>
              </a:rPr>
              <a:t>L’efficacia dipende anche dal rispetto delle indicazioni del metodo scelto.</a:t>
            </a:r>
          </a:p>
          <a:p>
            <a:pPr>
              <a:lnSpc>
                <a:spcPct val="105000"/>
              </a:lnSpc>
              <a:spcAft>
                <a:spcPts val="1400"/>
              </a:spcAft>
            </a:pPr>
            <a:r>
              <a:rPr lang="it-IT" sz="1800" b="1" u="none" dirty="0">
                <a:solidFill>
                  <a:srgbClr val="193248"/>
                </a:solidFill>
                <a:latin typeface="Arial"/>
              </a:rPr>
              <a:t>Preservativo. </a:t>
            </a:r>
            <a:r>
              <a:rPr lang="it-IT" sz="1800" b="0" u="none" dirty="0">
                <a:solidFill>
                  <a:srgbClr val="193248"/>
                </a:solidFill>
                <a:latin typeface="Arial"/>
              </a:rPr>
              <a:t>Oltre alla contraccezione, contribuisce a </a:t>
            </a:r>
            <a:r>
              <a:rPr lang="it-IT" sz="1800" b="0" u="sng" dirty="0">
                <a:solidFill>
                  <a:srgbClr val="193248"/>
                </a:solidFill>
                <a:latin typeface="Arial"/>
              </a:rPr>
              <a:t>proteggere dalle infezioni sessualmente trasmesse</a:t>
            </a:r>
            <a:r>
              <a:rPr lang="it-IT" sz="1800" b="0" u="none" dirty="0">
                <a:solidFill>
                  <a:srgbClr val="193248"/>
                </a:solidFill>
                <a:latin typeface="Arial"/>
              </a:rPr>
              <a:t>.</a:t>
            </a:r>
          </a:p>
          <a:p>
            <a:pPr>
              <a:lnSpc>
                <a:spcPct val="105000"/>
              </a:lnSpc>
              <a:spcAft>
                <a:spcPts val="1400"/>
              </a:spcAft>
            </a:pPr>
            <a:r>
              <a:rPr lang="it-IT" sz="1800" b="1" u="none" dirty="0">
                <a:solidFill>
                  <a:srgbClr val="193248"/>
                </a:solidFill>
                <a:latin typeface="Arial"/>
              </a:rPr>
              <a:t>Sterilizzazione. </a:t>
            </a:r>
            <a:r>
              <a:rPr lang="it-IT" sz="1800" b="0" u="none" dirty="0">
                <a:solidFill>
                  <a:srgbClr val="193248"/>
                </a:solidFill>
                <a:latin typeface="Arial"/>
              </a:rPr>
              <a:t>È un metodo permanente, distinto dai metodi reversibili.</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RIPRODUTTORE · APPROFONDIMENTO</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Gravidanza</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57</a:t>
            </a:r>
            <a:endParaRPr sz="1350" b="1">
              <a:solidFill>
                <a:srgbClr val="123F67"/>
              </a:solidFill>
              <a:latin typeface="Arial"/>
              <a:ea typeface="Arial"/>
              <a:cs typeface="Arial"/>
            </a:endParaRPr>
          </a:p>
        </p:txBody>
      </p:sp>
      <p:sp>
        <p:nvSpPr>
          <p:cNvPr id="24" name="TextBox 23"/>
          <p:cNvSpPr txBox="1"/>
          <p:nvPr/>
        </p:nvSpPr>
        <p:spPr>
          <a:xfrm>
            <a:off x="704850" y="1476375"/>
            <a:ext cx="10877550" cy="552450"/>
          </a:xfrm>
          <a:prstGeom prst="rect">
            <a:avLst/>
          </a:prstGeom>
          <a:noFill/>
        </p:spPr>
        <p:txBody>
          <a:bodyPr wrap="square" lIns="0" tIns="0" rIns="0" bIns="0">
            <a:noAutofit/>
          </a:bodyPr>
          <a:lstStyle/>
          <a:p>
            <a:pPr>
              <a:lnSpc>
                <a:spcPts val="2200"/>
              </a:lnSpc>
            </a:pPr>
            <a:r>
              <a:rPr lang="it-IT" sz="1900" b="0">
                <a:solidFill>
                  <a:srgbClr val="087E8B"/>
                </a:solidFill>
                <a:latin typeface="Arial"/>
              </a:rPr>
              <a:t>Sviluppo della gravidanza e controlli prenatali</a:t>
            </a:r>
            <a:endParaRPr sz="1900" b="0">
              <a:solidFill>
                <a:srgbClr val="087E8B"/>
              </a:solidFill>
              <a:latin typeface="Arial"/>
            </a:endParaRPr>
          </a:p>
        </p:txBody>
      </p:sp>
      <p:sp>
        <p:nvSpPr>
          <p:cNvPr id="26" name="TextBox 25"/>
          <p:cNvSpPr txBox="1"/>
          <p:nvPr/>
        </p:nvSpPr>
        <p:spPr>
          <a:xfrm>
            <a:off x="704088" y="1938528"/>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Inizio e controlli</a:t>
            </a:r>
          </a:p>
        </p:txBody>
      </p:sp>
      <p:sp>
        <p:nvSpPr>
          <p:cNvPr id="27" name="TextBox 26"/>
          <p:cNvSpPr txBox="1"/>
          <p:nvPr/>
        </p:nvSpPr>
        <p:spPr>
          <a:xfrm>
            <a:off x="704088" y="2450592"/>
            <a:ext cx="5184648" cy="3858768"/>
          </a:xfrm>
          <a:prstGeom prst="rect">
            <a:avLst/>
          </a:prstGeom>
          <a:noFill/>
        </p:spPr>
        <p:txBody>
          <a:bodyPr wrap="square" lIns="0" tIns="0" rIns="0" bIns="0">
            <a:noAutofit/>
          </a:bodyPr>
          <a:lstStyle/>
          <a:p>
            <a:pPr>
              <a:lnSpc>
                <a:spcPts val="2100"/>
              </a:lnSpc>
              <a:spcAft>
                <a:spcPts val="1400"/>
              </a:spcAft>
            </a:pPr>
            <a:r>
              <a:rPr lang="it-IT" sz="1800" b="1" u="none">
                <a:solidFill>
                  <a:srgbClr val="087E8B"/>
                </a:solidFill>
                <a:latin typeface="Arial"/>
              </a:rPr>
              <a:t>Inizio e durata. </a:t>
            </a:r>
            <a:r>
              <a:rPr lang="it-IT" sz="1800" b="0" u="none">
                <a:solidFill>
                  <a:srgbClr val="193248"/>
                </a:solidFill>
                <a:latin typeface="Arial"/>
              </a:rPr>
              <a:t>Fecondazione nella tuba, impianto nell’endometrio e sviluppo nell’utero. Durata: circa 40 settimane dall’ultima mestruazione.</a:t>
            </a:r>
          </a:p>
          <a:p>
            <a:pPr>
              <a:lnSpc>
                <a:spcPts val="2100"/>
              </a:lnSpc>
              <a:spcAft>
                <a:spcPts val="1400"/>
              </a:spcAft>
            </a:pPr>
            <a:r>
              <a:rPr lang="it-IT" sz="1800" b="1" u="none">
                <a:solidFill>
                  <a:srgbClr val="087E8B"/>
                </a:solidFill>
                <a:latin typeface="Arial"/>
              </a:rPr>
              <a:t>Conferma. </a:t>
            </a:r>
            <a:r>
              <a:rPr lang="it-IT" sz="1800" b="0" u="none">
                <a:solidFill>
                  <a:srgbClr val="193248"/>
                </a:solidFill>
                <a:latin typeface="Arial"/>
              </a:rPr>
              <a:t>Il test rileva l’hCG. L’ecografia valuta sede e sviluppo della gravidanza.</a:t>
            </a:r>
          </a:p>
          <a:p>
            <a:pPr>
              <a:lnSpc>
                <a:spcPts val="2100"/>
              </a:lnSpc>
              <a:spcAft>
                <a:spcPts val="1400"/>
              </a:spcAft>
            </a:pPr>
            <a:r>
              <a:rPr lang="it-IT" sz="1800" b="1" u="none">
                <a:solidFill>
                  <a:srgbClr val="087E8B"/>
                </a:solidFill>
                <a:latin typeface="Arial"/>
              </a:rPr>
              <a:t>Controlli materno-fetali. </a:t>
            </a:r>
            <a:r>
              <a:rPr lang="it-IT" sz="1800" b="0" u="none">
                <a:solidFill>
                  <a:srgbClr val="193248"/>
                </a:solidFill>
                <a:latin typeface="Arial"/>
              </a:rPr>
              <a:t>Pressione, esami di sangue e urine, battito cardiaco fetale e movimenti attivi fetali.</a:t>
            </a:r>
          </a:p>
          <a:p>
            <a:pPr>
              <a:lnSpc>
                <a:spcPts val="2100"/>
              </a:lnSpc>
              <a:spcAft>
                <a:spcPts val="0"/>
              </a:spcAft>
            </a:pPr>
            <a:r>
              <a:rPr lang="it-IT" sz="1800" b="1" u="none">
                <a:solidFill>
                  <a:srgbClr val="087E8B"/>
                </a:solidFill>
                <a:latin typeface="Arial"/>
              </a:rPr>
              <a:t>Diabete gestazionale. </a:t>
            </a:r>
            <a:r>
              <a:rPr lang="it-IT" sz="1800" b="0" u="none">
                <a:solidFill>
                  <a:srgbClr val="193248"/>
                </a:solidFill>
                <a:latin typeface="Arial"/>
              </a:rPr>
              <a:t>La resistenza all’insulina aumenta e può causare iperglicemia. Si gestisce con alimentazione, attività fisica, controlli glicemici e, se necessaria, insulina prescritta dal medico.</a:t>
            </a:r>
          </a:p>
        </p:txBody>
      </p:sp>
      <p:sp>
        <p:nvSpPr>
          <p:cNvPr id="29" name="TextBox 28"/>
          <p:cNvSpPr txBox="1"/>
          <p:nvPr/>
        </p:nvSpPr>
        <p:spPr>
          <a:xfrm>
            <a:off x="6364224" y="1938528"/>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Screening e diagnosi prenatale</a:t>
            </a:r>
          </a:p>
        </p:txBody>
      </p:sp>
      <p:sp>
        <p:nvSpPr>
          <p:cNvPr id="30" name="TextBox 29"/>
          <p:cNvSpPr txBox="1"/>
          <p:nvPr/>
        </p:nvSpPr>
        <p:spPr>
          <a:xfrm>
            <a:off x="6364224" y="2450592"/>
            <a:ext cx="5184648" cy="3858768"/>
          </a:xfrm>
          <a:prstGeom prst="rect">
            <a:avLst/>
          </a:prstGeom>
          <a:noFill/>
        </p:spPr>
        <p:txBody>
          <a:bodyPr wrap="square" lIns="0" tIns="0" rIns="0" bIns="0">
            <a:noAutofit/>
          </a:bodyPr>
          <a:lstStyle/>
          <a:p>
            <a:pPr>
              <a:lnSpc>
                <a:spcPts val="2100"/>
              </a:lnSpc>
              <a:spcAft>
                <a:spcPts val="1400"/>
              </a:spcAft>
            </a:pPr>
            <a:r>
              <a:rPr lang="it-IT" sz="1800" b="1" u="none">
                <a:solidFill>
                  <a:srgbClr val="087E8B"/>
                </a:solidFill>
                <a:latin typeface="Arial"/>
              </a:rPr>
              <a:t>Test combinato. </a:t>
            </a:r>
            <a:r>
              <a:rPr lang="it-IT" sz="1800" b="0" u="none">
                <a:solidFill>
                  <a:srgbClr val="193248"/>
                </a:solidFill>
                <a:latin typeface="Arial"/>
              </a:rPr>
              <a:t>Translucenza nucale (spessore dietro la nuca) e dosaggi di PAPP-A e β-hCG stimano il rischio cromosomico.</a:t>
            </a:r>
          </a:p>
          <a:p>
            <a:pPr>
              <a:lnSpc>
                <a:spcPts val="2100"/>
              </a:lnSpc>
              <a:spcAft>
                <a:spcPts val="1400"/>
              </a:spcAft>
            </a:pPr>
            <a:r>
              <a:rPr lang="it-IT" sz="1800" b="1" u="none">
                <a:solidFill>
                  <a:srgbClr val="087E8B"/>
                </a:solidFill>
                <a:latin typeface="Arial"/>
              </a:rPr>
              <a:t>DNA fetale. </a:t>
            </a:r>
            <a:r>
              <a:rPr lang="it-IT" sz="1800" b="0" u="none">
                <a:solidFill>
                  <a:srgbClr val="193248"/>
                </a:solidFill>
                <a:latin typeface="Arial"/>
              </a:rPr>
              <a:t>Screening su sangue materno per il rischio di trisomie 21 (Down), 18 e 13.</a:t>
            </a:r>
          </a:p>
          <a:p>
            <a:pPr>
              <a:lnSpc>
                <a:spcPts val="2100"/>
              </a:lnSpc>
              <a:spcAft>
                <a:spcPts val="1400"/>
              </a:spcAft>
            </a:pPr>
            <a:r>
              <a:rPr lang="it-IT" sz="1800" b="1" u="none">
                <a:solidFill>
                  <a:srgbClr val="087E8B"/>
                </a:solidFill>
                <a:latin typeface="Arial"/>
              </a:rPr>
              <a:t>Diagnosi mirata. </a:t>
            </a:r>
            <a:r>
              <a:rPr lang="it-IT" sz="1800" b="0" u="none">
                <a:solidFill>
                  <a:srgbClr val="193248"/>
                </a:solidFill>
                <a:latin typeface="Arial"/>
              </a:rPr>
              <a:t>Villocentesi: prelievo di villi coriali. Amniocentesi: prelievo di liquido amniotico. Ricercano anomalie cromosomiche e comportano rischi procedurali.</a:t>
            </a:r>
          </a:p>
          <a:p>
            <a:pPr>
              <a:lnSpc>
                <a:spcPts val="2100"/>
              </a:lnSpc>
              <a:spcAft>
                <a:spcPts val="0"/>
              </a:spcAft>
            </a:pPr>
            <a:r>
              <a:rPr lang="it-IT" sz="1800" b="1" u="none">
                <a:solidFill>
                  <a:srgbClr val="087E8B"/>
                </a:solidFill>
                <a:latin typeface="Arial"/>
              </a:rPr>
              <a:t>Ecografia morfologica. </a:t>
            </a:r>
            <a:r>
              <a:rPr lang="it-IT" sz="1800" b="0" u="none">
                <a:solidFill>
                  <a:srgbClr val="193248"/>
                </a:solidFill>
                <a:latin typeface="Arial"/>
              </a:rPr>
              <a:t>Studia gli organi fetali per ricercare malformazioni.</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wrap="square">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APPARATO RIPRODUTTORE · APPROFONDIMENTO</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wrap="square">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Parto e puerperio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58</a:t>
            </a:r>
            <a:endParaRPr sz="1350" b="1">
              <a:solidFill>
                <a:srgbClr val="123F67"/>
              </a:solidFill>
              <a:latin typeface="Arial"/>
              <a:ea typeface="Arial"/>
              <a:cs typeface="Arial"/>
            </a:endParaRPr>
          </a:p>
        </p:txBody>
      </p:sp>
      <p:sp>
        <p:nvSpPr>
          <p:cNvPr id="24" name="TextBox 23"/>
          <p:cNvSpPr txBox="1"/>
          <p:nvPr/>
        </p:nvSpPr>
        <p:spPr>
          <a:xfrm>
            <a:off x="704850" y="1476375"/>
            <a:ext cx="10877550" cy="552450"/>
          </a:xfrm>
          <a:prstGeom prst="rect">
            <a:avLst/>
          </a:prstGeom>
          <a:noFill/>
        </p:spPr>
        <p:txBody>
          <a:bodyPr wrap="square" lIns="0" tIns="0" rIns="0" bIns="0">
            <a:noAutofit/>
          </a:bodyPr>
          <a:lstStyle/>
          <a:p>
            <a:pPr>
              <a:lnSpc>
                <a:spcPts val="2200"/>
              </a:lnSpc>
            </a:pPr>
            <a:r>
              <a:rPr lang="it-IT" sz="1900" b="0">
                <a:solidFill>
                  <a:srgbClr val="087E8B"/>
                </a:solidFill>
                <a:latin typeface="Arial"/>
              </a:rPr>
              <a:t>Fasi del parto, valutazione del feto e puerperio</a:t>
            </a:r>
            <a:endParaRPr sz="1900" b="0">
              <a:solidFill>
                <a:srgbClr val="087E8B"/>
              </a:solidFill>
              <a:latin typeface="Arial"/>
            </a:endParaRPr>
          </a:p>
        </p:txBody>
      </p:sp>
      <p:sp>
        <p:nvSpPr>
          <p:cNvPr id="100" name="Childbirth 0 0"/>
          <p:cNvSpPr txBox="1"/>
          <p:nvPr/>
        </p:nvSpPr>
        <p:spPr>
          <a:xfrm>
            <a:off x="704088" y="1938528"/>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Fasi del parto</a:t>
            </a:r>
          </a:p>
        </p:txBody>
      </p:sp>
      <p:sp>
        <p:nvSpPr>
          <p:cNvPr id="101" name="Childbirth 0 1"/>
          <p:cNvSpPr txBox="1"/>
          <p:nvPr/>
        </p:nvSpPr>
        <p:spPr>
          <a:xfrm>
            <a:off x="704088" y="2432304"/>
            <a:ext cx="5184648" cy="2487168"/>
          </a:xfrm>
          <a:prstGeom prst="rect">
            <a:avLst/>
          </a:prstGeom>
          <a:noFill/>
        </p:spPr>
        <p:txBody>
          <a:bodyPr wrap="square" lIns="0" tIns="0" rIns="0" bIns="0">
            <a:noAutofit/>
          </a:bodyPr>
          <a:lstStyle/>
          <a:p>
            <a:pPr>
              <a:lnSpc>
                <a:spcPts val="2100"/>
              </a:lnSpc>
              <a:spcAft>
                <a:spcPts val="1200"/>
              </a:spcAft>
            </a:pPr>
            <a:r>
              <a:rPr lang="it-IT" sz="1800" b="1" u="none">
                <a:solidFill>
                  <a:srgbClr val="087E8B"/>
                </a:solidFill>
                <a:latin typeface="Arial"/>
              </a:rPr>
              <a:t>1. Periodo prodromico. </a:t>
            </a:r>
            <a:r>
              <a:rPr lang="it-IT" sz="1800" b="0" u="none">
                <a:solidFill>
                  <a:srgbClr val="193248"/>
                </a:solidFill>
                <a:latin typeface="Arial"/>
              </a:rPr>
              <a:t>Contrazioni irregolari e preparazione della cervice.</a:t>
            </a:r>
          </a:p>
          <a:p>
            <a:pPr>
              <a:lnSpc>
                <a:spcPts val="2100"/>
              </a:lnSpc>
              <a:spcAft>
                <a:spcPts val="1200"/>
              </a:spcAft>
            </a:pPr>
            <a:r>
              <a:rPr lang="it-IT" sz="1800" b="1" u="none">
                <a:solidFill>
                  <a:srgbClr val="087E8B"/>
                </a:solidFill>
                <a:latin typeface="Arial"/>
              </a:rPr>
              <a:t>2. Fase dilatante. </a:t>
            </a:r>
            <a:r>
              <a:rPr lang="it-IT" sz="1800" b="0" u="none">
                <a:solidFill>
                  <a:srgbClr val="193248"/>
                </a:solidFill>
                <a:latin typeface="Arial"/>
              </a:rPr>
              <a:t>Le contrazioni modificano e dilatano la cervice fino a 10 cm.</a:t>
            </a:r>
          </a:p>
          <a:p>
            <a:pPr>
              <a:lnSpc>
                <a:spcPts val="2100"/>
              </a:lnSpc>
              <a:spcAft>
                <a:spcPts val="1200"/>
              </a:spcAft>
            </a:pPr>
            <a:r>
              <a:rPr lang="it-IT" sz="1800" b="1" u="none">
                <a:solidFill>
                  <a:srgbClr val="087E8B"/>
                </a:solidFill>
                <a:latin typeface="Arial"/>
              </a:rPr>
              <a:t>3. Fase espulsiva. </a:t>
            </a:r>
            <a:r>
              <a:rPr lang="it-IT" sz="1800" b="0" u="none">
                <a:solidFill>
                  <a:srgbClr val="193248"/>
                </a:solidFill>
                <a:latin typeface="Arial"/>
              </a:rPr>
              <a:t>Contrazioni e spinte favoriscono la discesa e la nascita del bambino.</a:t>
            </a:r>
          </a:p>
          <a:p>
            <a:pPr>
              <a:lnSpc>
                <a:spcPts val="2100"/>
              </a:lnSpc>
              <a:spcAft>
                <a:spcPts val="0"/>
              </a:spcAft>
            </a:pPr>
            <a:r>
              <a:rPr lang="it-IT" sz="1800" b="1" u="none">
                <a:solidFill>
                  <a:srgbClr val="087E8B"/>
                </a:solidFill>
                <a:latin typeface="Arial"/>
              </a:rPr>
              <a:t>4. Secondamento. </a:t>
            </a:r>
            <a:r>
              <a:rPr lang="it-IT" sz="1800" b="0" u="none">
                <a:solidFill>
                  <a:srgbClr val="193248"/>
                </a:solidFill>
                <a:latin typeface="Arial"/>
              </a:rPr>
              <a:t>Distacco ed espulsione della placenta e delle membrane.</a:t>
            </a:r>
          </a:p>
        </p:txBody>
      </p:sp>
      <p:sp>
        <p:nvSpPr>
          <p:cNvPr id="110" name="Leopold heading"/>
          <p:cNvSpPr txBox="1"/>
          <p:nvPr/>
        </p:nvSpPr>
        <p:spPr>
          <a:xfrm>
            <a:off x="6364224" y="1938528"/>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Le quattro manovre di Leopold</a:t>
            </a:r>
          </a:p>
        </p:txBody>
      </p:sp>
      <p:sp>
        <p:nvSpPr>
          <p:cNvPr id="111" name="Leopold explanation"/>
          <p:cNvSpPr txBox="1"/>
          <p:nvPr/>
        </p:nvSpPr>
        <p:spPr>
          <a:xfrm>
            <a:off x="6364224" y="2432304"/>
            <a:ext cx="5184648" cy="3749039"/>
          </a:xfrm>
          <a:prstGeom prst="rect">
            <a:avLst/>
          </a:prstGeom>
          <a:noFill/>
        </p:spPr>
        <p:txBody>
          <a:bodyPr wrap="square" lIns="0" tIns="0" rIns="0" bIns="0">
            <a:noAutofit/>
          </a:bodyPr>
          <a:lstStyle/>
          <a:p>
            <a:pPr>
              <a:lnSpc>
                <a:spcPts val="2100"/>
              </a:lnSpc>
              <a:spcAft>
                <a:spcPts val="1200"/>
              </a:spcAft>
            </a:pPr>
            <a:r>
              <a:rPr lang="it-IT" sz="1800" b="0" u="none" dirty="0">
                <a:solidFill>
                  <a:srgbClr val="193248"/>
                </a:solidFill>
                <a:latin typeface="Arial"/>
              </a:rPr>
              <a:t>Palpazioni addominali eseguite da personale sanitario nel terzo trimestre.</a:t>
            </a:r>
            <a:endParaRPr lang="it-IT" sz="1800" b="0" u="none">
              <a:solidFill>
                <a:srgbClr val="193248"/>
              </a:solidFill>
              <a:latin typeface="Arial"/>
            </a:endParaRPr>
          </a:p>
          <a:p>
            <a:pPr>
              <a:lnSpc>
                <a:spcPts val="2100"/>
              </a:lnSpc>
              <a:spcAft>
                <a:spcPts val="1200"/>
              </a:spcAft>
            </a:pPr>
            <a:r>
              <a:rPr lang="it-IT" sz="1800" b="1" u="none" dirty="0">
                <a:solidFill>
                  <a:srgbClr val="087E8B"/>
                </a:solidFill>
                <a:latin typeface="Arial"/>
              </a:rPr>
              <a:t>1. Fondo uterino. </a:t>
            </a:r>
            <a:r>
              <a:rPr lang="it-IT" sz="1800" b="0" u="none" dirty="0">
                <a:solidFill>
                  <a:srgbClr val="193248"/>
                </a:solidFill>
                <a:latin typeface="Arial"/>
              </a:rPr>
              <a:t>Valuta il livello del fondo dell’utero.</a:t>
            </a:r>
            <a:endParaRPr lang="it-IT" sz="1800" b="0" u="none">
              <a:solidFill>
                <a:srgbClr val="193248"/>
              </a:solidFill>
              <a:latin typeface="Arial"/>
            </a:endParaRPr>
          </a:p>
          <a:p>
            <a:pPr>
              <a:lnSpc>
                <a:spcPts val="2100"/>
              </a:lnSpc>
              <a:spcAft>
                <a:spcPts val="1200"/>
              </a:spcAft>
            </a:pPr>
            <a:r>
              <a:rPr lang="it-IT" sz="1800" b="1" u="none" dirty="0">
                <a:solidFill>
                  <a:srgbClr val="087E8B"/>
                </a:solidFill>
                <a:latin typeface="Arial"/>
              </a:rPr>
              <a:t>2. Lati dell’addome. </a:t>
            </a:r>
            <a:r>
              <a:rPr lang="it-IT" sz="1800" b="0" u="none" dirty="0">
                <a:solidFill>
                  <a:srgbClr val="193248"/>
                </a:solidFill>
                <a:latin typeface="Arial"/>
              </a:rPr>
              <a:t>Localizza dorso e piccole parti per valutare come è disposto il feto.</a:t>
            </a:r>
            <a:endParaRPr lang="it-IT" sz="1800" b="0" u="none">
              <a:solidFill>
                <a:srgbClr val="193248"/>
              </a:solidFill>
              <a:latin typeface="Arial"/>
            </a:endParaRPr>
          </a:p>
          <a:p>
            <a:pPr>
              <a:lnSpc>
                <a:spcPts val="2100"/>
              </a:lnSpc>
              <a:spcAft>
                <a:spcPts val="1200"/>
              </a:spcAft>
            </a:pPr>
            <a:r>
              <a:rPr lang="it-IT" sz="1800" b="1" u="none" dirty="0">
                <a:solidFill>
                  <a:srgbClr val="087E8B"/>
                </a:solidFill>
                <a:latin typeface="Arial"/>
              </a:rPr>
              <a:t>3. Sopra il pube. </a:t>
            </a:r>
            <a:r>
              <a:rPr lang="it-IT" sz="1800" b="0" u="none" dirty="0">
                <a:solidFill>
                  <a:srgbClr val="193248"/>
                </a:solidFill>
                <a:latin typeface="Arial"/>
              </a:rPr>
              <a:t>Riconosce la parte presentata verso il bacino, per esempio testa o natiche.</a:t>
            </a:r>
            <a:endParaRPr lang="it-IT" sz="1800" b="0" u="none">
              <a:solidFill>
                <a:srgbClr val="193248"/>
              </a:solidFill>
              <a:latin typeface="Arial"/>
            </a:endParaRPr>
          </a:p>
          <a:p>
            <a:pPr>
              <a:lnSpc>
                <a:spcPts val="2100"/>
              </a:lnSpc>
              <a:spcAft>
                <a:spcPts val="0"/>
              </a:spcAft>
            </a:pPr>
            <a:r>
              <a:rPr lang="it-IT" sz="1800" b="1" u="none" dirty="0">
                <a:solidFill>
                  <a:srgbClr val="087E8B"/>
                </a:solidFill>
                <a:latin typeface="Arial"/>
              </a:rPr>
              <a:t>4. Ingresso del bacino. </a:t>
            </a:r>
            <a:r>
              <a:rPr lang="it-IT" sz="1800" b="0" u="none" dirty="0">
                <a:solidFill>
                  <a:srgbClr val="193248"/>
                </a:solidFill>
                <a:latin typeface="Arial"/>
              </a:rPr>
              <a:t>Valuta quanto la parte presentata è discesa e si è impegnata.</a:t>
            </a:r>
            <a:endParaRPr lang="it-IT" sz="1800" b="0" u="none">
              <a:solidFill>
                <a:srgbClr val="193248"/>
              </a:solidFill>
              <a:latin typeface="Arial"/>
            </a:endParaRPr>
          </a:p>
        </p:txBody>
      </p:sp>
      <p:sp>
        <p:nvSpPr>
          <p:cNvPr id="112" name="Childbirth 0 0"/>
          <p:cNvSpPr txBox="1"/>
          <p:nvPr/>
        </p:nvSpPr>
        <p:spPr>
          <a:xfrm>
            <a:off x="704088" y="5285232"/>
            <a:ext cx="5184648" cy="384048"/>
          </a:xfrm>
          <a:prstGeom prst="rect">
            <a:avLst/>
          </a:prstGeom>
          <a:noFill/>
        </p:spPr>
        <p:txBody>
          <a:bodyPr wrap="square" lIns="0" tIns="0" rIns="0" bIns="0">
            <a:noAutofit/>
          </a:bodyPr>
          <a:lstStyle/>
          <a:p>
            <a:pPr>
              <a:lnSpc>
                <a:spcPct val="105000"/>
              </a:lnSpc>
              <a:spcAft>
                <a:spcPts val="0"/>
              </a:spcAft>
            </a:pPr>
            <a:r>
              <a:rPr lang="it-IT" sz="2300" b="1" u="none">
                <a:solidFill>
                  <a:srgbClr val="123F67"/>
                </a:solidFill>
                <a:latin typeface="Arial"/>
              </a:rPr>
              <a:t>Puerperio</a:t>
            </a:r>
          </a:p>
        </p:txBody>
      </p:sp>
      <p:sp>
        <p:nvSpPr>
          <p:cNvPr id="113" name="Childbirth 0 1"/>
          <p:cNvSpPr txBox="1"/>
          <p:nvPr/>
        </p:nvSpPr>
        <p:spPr>
          <a:xfrm>
            <a:off x="704088" y="5751576"/>
            <a:ext cx="5184648" cy="832104"/>
          </a:xfrm>
          <a:prstGeom prst="rect">
            <a:avLst/>
          </a:prstGeom>
          <a:noFill/>
        </p:spPr>
        <p:txBody>
          <a:bodyPr wrap="square" lIns="0" tIns="0" rIns="0" bIns="0">
            <a:noAutofit/>
          </a:bodyPr>
          <a:lstStyle/>
          <a:p>
            <a:pPr>
              <a:lnSpc>
                <a:spcPts val="1950"/>
              </a:lnSpc>
              <a:spcBef>
                <a:spcPts val="800"/>
              </a:spcBef>
              <a:spcAft>
                <a:spcPts val="0"/>
              </a:spcAft>
            </a:pPr>
            <a:r>
              <a:rPr lang="it-IT" sz="1800" b="0" u="none" dirty="0">
                <a:solidFill>
                  <a:srgbClr val="193248"/>
                </a:solidFill>
                <a:latin typeface="Arial"/>
              </a:rPr>
              <a:t>Circa 6 settimane di recupero, ritorno dell’utero alle dimensioni precedenti e avvio dell’</a:t>
            </a:r>
            <a:r>
              <a:rPr lang="it-IT" sz="1800" b="0" u="sng" dirty="0">
                <a:solidFill>
                  <a:srgbClr val="193248"/>
                </a:solidFill>
                <a:latin typeface="Arial"/>
              </a:rPr>
              <a:t>allattamento</a:t>
            </a:r>
            <a:r>
              <a:rPr lang="it-IT" sz="1800" b="0" u="none" dirty="0">
                <a:solidFill>
                  <a:srgbClr val="193248"/>
                </a:solidFill>
                <a:latin typeface="Arial"/>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00000010-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0-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APPARATO 7 DI 7</a:t>
            </a:r>
          </a:p>
        </p:txBody>
      </p:sp>
      <p:sp>
        <p:nvSpPr>
          <p:cNvPr id="3" name="Rettangolo 2">
            <a:extLst>
              <a:ext uri="{FF2B5EF4-FFF2-40B4-BE49-F238E27FC236}">
                <a16:creationId xmlns:a16="http://schemas.microsoft.com/office/drawing/2014/main" id="{00000010-0003-4000-8000-000000000000}"/>
              </a:ext>
            </a:extLst>
          </p:cNvPr>
          <p:cNvSpPr>
            <a:spLocks noGrp="1"/>
          </p:cNvSpPr>
          <p:nvPr/>
        </p:nvSpPr>
        <p:spPr>
          <a:xfrm>
            <a:off x="609600" y="552450"/>
            <a:ext cx="10972800" cy="571500"/>
          </a:xfrm>
          <a:prstGeom prst="rect">
            <a:avLst/>
          </a:prstGeom>
          <a:noFill/>
          <a:ln w="0">
            <a:noFill/>
          </a:ln>
        </p:spPr>
        <p:txBody>
          <a:bodyPr>
            <a:noAutofit/>
          </a:bodyPr>
          <a:lstStyle/>
          <a:p>
            <a:pPr>
              <a:defRPr sz="3225" b="1">
                <a:solidFill>
                  <a:srgbClr val="123F67"/>
                </a:solidFill>
                <a:latin typeface="Arial"/>
                <a:ea typeface="Arial"/>
                <a:cs typeface="Arial"/>
              </a:defRPr>
            </a:pPr>
            <a:r>
              <a:rPr sz="3225" b="1" dirty="0" err="1">
                <a:solidFill>
                  <a:srgbClr val="123F67"/>
                </a:solidFill>
                <a:latin typeface="Arial"/>
                <a:ea typeface="Arial"/>
                <a:cs typeface="Arial"/>
              </a:rPr>
              <a:t>Apparato</a:t>
            </a:r>
            <a:r>
              <a:rPr sz="3225" b="1" dirty="0">
                <a:solidFill>
                  <a:srgbClr val="123F67"/>
                </a:solidFill>
                <a:latin typeface="Arial"/>
                <a:ea typeface="Arial"/>
                <a:cs typeface="Arial"/>
              </a:rPr>
              <a:t> </a:t>
            </a:r>
            <a:r>
              <a:rPr lang="it-IT" sz="3225" b="1" dirty="0">
                <a:solidFill>
                  <a:srgbClr val="123F67"/>
                </a:solidFill>
                <a:latin typeface="Arial"/>
                <a:ea typeface="Arial"/>
                <a:cs typeface="Arial"/>
              </a:rPr>
              <a:t>L</a:t>
            </a:r>
            <a:r>
              <a:rPr sz="3225" b="1" dirty="0" err="1">
                <a:solidFill>
                  <a:srgbClr val="123F67"/>
                </a:solidFill>
                <a:latin typeface="Arial"/>
                <a:ea typeface="Arial"/>
                <a:cs typeface="Arial"/>
              </a:rPr>
              <a:t>ocomotore</a:t>
            </a:r>
            <a:endParaRPr sz="3225" b="1" dirty="0">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0-0004-4000-8000-000000000000}"/>
              </a:ext>
            </a:extLst>
          </p:cNvPr>
          <p:cNvSpPr>
            <a:spLocks noGrp="1"/>
          </p:cNvSpPr>
          <p:nvPr/>
        </p:nvSpPr>
        <p:spPr>
          <a:xfrm>
            <a:off x="609600" y="1209675"/>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0-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0-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59</a:t>
            </a:r>
            <a:endParaRPr sz="1350" b="1">
              <a:solidFill>
                <a:srgbClr val="123F67"/>
              </a:solidFill>
              <a:latin typeface="Arial"/>
              <a:ea typeface="Arial"/>
              <a:cs typeface="Arial"/>
            </a:endParaRPr>
          </a:p>
        </p:txBody>
      </p:sp>
      <p:sp>
        <p:nvSpPr>
          <p:cNvPr id="15" name="TextBox 14"/>
          <p:cNvSpPr txBox="1"/>
          <p:nvPr/>
        </p:nvSpPr>
        <p:spPr>
          <a:xfrm>
            <a:off x="609600" y="1371600"/>
            <a:ext cx="10972800" cy="323850"/>
          </a:xfrm>
          <a:prstGeom prst="rect">
            <a:avLst/>
          </a:prstGeom>
          <a:noFill/>
        </p:spPr>
        <p:txBody>
          <a:bodyPr wrap="square" lIns="0" tIns="0" rIns="0" bIns="0" anchor="t">
            <a:spAutoFit/>
          </a:bodyPr>
          <a:lstStyle/>
          <a:p>
            <a:pPr algn="ctr">
              <a:lnSpc>
                <a:spcPts val="1900"/>
              </a:lnSpc>
              <a:spcAft>
                <a:spcPts val="400"/>
              </a:spcAft>
            </a:pPr>
            <a:r>
              <a:rPr sz="1800" b="1">
                <a:solidFill>
                  <a:srgbClr val="123F67"/>
                </a:solidFill>
                <a:latin typeface="Arial"/>
              </a:rPr>
              <a:t>Movimento e postura: ossa, articolazioni e muscoli lavorano insieme</a:t>
            </a:r>
          </a:p>
        </p:txBody>
      </p:sp>
      <p:sp>
        <p:nvSpPr>
          <p:cNvPr id="16" name="Rectangle 15"/>
          <p:cNvSpPr/>
          <p:nvPr/>
        </p:nvSpPr>
        <p:spPr>
          <a:xfrm>
            <a:off x="2838450" y="2009775"/>
            <a:ext cx="2524125" cy="381000"/>
          </a:xfrm>
          <a:prstGeom prst="rect">
            <a:avLst/>
          </a:prstGeom>
          <a:solidFill>
            <a:srgbClr val="258C80"/>
          </a:solidFill>
          <a:ln>
            <a:noFill/>
          </a:ln>
        </p:spPr>
        <p:style>
          <a:lnRef idx="1">
            <a:schemeClr val="accent1"/>
          </a:lnRef>
          <a:fillRef idx="3">
            <a:schemeClr val="accent1"/>
          </a:fillRef>
          <a:effectRef idx="2">
            <a:schemeClr val="accent1"/>
          </a:effectRef>
          <a:fontRef idx="minor">
            <a:schemeClr val="lt1"/>
          </a:fontRef>
        </p:style>
        <p:txBody>
          <a:bodyPr wrap="square" lIns="0" tIns="76200" rIns="0" bIns="0" rtlCol="0" anchor="ctr"/>
          <a:lstStyle/>
          <a:p>
            <a:pPr algn="ctr"/>
            <a:r>
              <a:rPr lang="it-IT" sz="1550" b="1">
                <a:solidFill>
                  <a:srgbClr val="FFFFFF"/>
                </a:solidFill>
                <a:latin typeface="Arial"/>
              </a:rPr>
              <a:t>SISTEMA SCHELETRICO</a:t>
            </a:r>
          </a:p>
        </p:txBody>
      </p:sp>
      <p:sp>
        <p:nvSpPr>
          <p:cNvPr id="17" name="Rectangle 16"/>
          <p:cNvSpPr/>
          <p:nvPr/>
        </p:nvSpPr>
        <p:spPr>
          <a:xfrm>
            <a:off x="6400800" y="2009775"/>
            <a:ext cx="2876550" cy="381000"/>
          </a:xfrm>
          <a:prstGeom prst="rect">
            <a:avLst/>
          </a:prstGeom>
          <a:solidFill>
            <a:srgbClr val="B64950"/>
          </a:solidFill>
          <a:ln>
            <a:noFill/>
          </a:ln>
        </p:spPr>
        <p:style>
          <a:lnRef idx="1">
            <a:schemeClr val="accent1"/>
          </a:lnRef>
          <a:fillRef idx="3">
            <a:schemeClr val="accent1"/>
          </a:fillRef>
          <a:effectRef idx="2">
            <a:schemeClr val="accent1"/>
          </a:effectRef>
          <a:fontRef idx="minor">
            <a:schemeClr val="lt1"/>
          </a:fontRef>
        </p:style>
        <p:txBody>
          <a:bodyPr wrap="square" lIns="0" tIns="76200" rIns="0" bIns="0" rtlCol="0" anchor="ctr"/>
          <a:lstStyle/>
          <a:p>
            <a:pPr algn="ctr"/>
            <a:r>
              <a:rPr lang="it-IT" sz="1550" b="1">
                <a:solidFill>
                  <a:srgbClr val="FFFFFF"/>
                </a:solidFill>
                <a:latin typeface="Arial"/>
              </a:rPr>
              <a:t>SISTEMA MUSCOLARE</a:t>
            </a:r>
          </a:p>
        </p:txBody>
      </p:sp>
      <p:cxnSp>
        <p:nvCxnSpPr>
          <p:cNvPr id="18" name="Connector 17"/>
          <p:cNvCxnSpPr/>
          <p:nvPr/>
        </p:nvCxnSpPr>
        <p:spPr>
          <a:xfrm flipH="1">
            <a:off x="4095750" y="1743075"/>
            <a:ext cx="2000250" cy="0"/>
          </a:xfrm>
          <a:prstGeom prst="line">
            <a:avLst/>
          </a:prstGeom>
          <a:ln w="19050">
            <a:solidFill>
              <a:srgbClr val="258C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095750" y="1743075"/>
            <a:ext cx="0" cy="228600"/>
          </a:xfrm>
          <a:prstGeom prst="line">
            <a:avLst/>
          </a:prstGeom>
          <a:ln w="19050">
            <a:solidFill>
              <a:srgbClr val="258C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0" y="1743075"/>
            <a:ext cx="1743075" cy="0"/>
          </a:xfrm>
          <a:prstGeom prst="line">
            <a:avLst/>
          </a:prstGeom>
          <a:ln w="19050">
            <a:solidFill>
              <a:srgbClr val="B6495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39075" y="1743075"/>
            <a:ext cx="0" cy="228600"/>
          </a:xfrm>
          <a:prstGeom prst="line">
            <a:avLst/>
          </a:prstGeom>
          <a:ln w="19050">
            <a:solidFill>
              <a:srgbClr val="B64950"/>
            </a:solidFill>
          </a:ln>
        </p:spPr>
        <p:style>
          <a:lnRef idx="2">
            <a:schemeClr val="accent1"/>
          </a:lnRef>
          <a:fillRef idx="0">
            <a:schemeClr val="accent1"/>
          </a:fillRef>
          <a:effectRef idx="1">
            <a:schemeClr val="accent1"/>
          </a:effectRef>
          <a:fontRef idx="minor">
            <a:schemeClr val="tx1"/>
          </a:fontRef>
        </p:style>
      </p:cxnSp>
      <p:pic>
        <p:nvPicPr>
          <p:cNvPr id="22" name="Picture 21" descr="skeleton.png"/>
          <p:cNvPicPr>
            <a:picLocks noChangeAspect="1"/>
          </p:cNvPicPr>
          <p:nvPr/>
        </p:nvPicPr>
        <p:blipFill>
          <a:blip r:embed="rId3"/>
          <a:stretch>
            <a:fillRect/>
          </a:stretch>
        </p:blipFill>
        <p:spPr>
          <a:xfrm>
            <a:off x="3064144" y="2495550"/>
            <a:ext cx="2072737" cy="3533775"/>
          </a:xfrm>
          <a:prstGeom prst="rect">
            <a:avLst/>
          </a:prstGeom>
        </p:spPr>
      </p:pic>
      <p:pic>
        <p:nvPicPr>
          <p:cNvPr id="23" name="Picture 22" descr="muscles.png"/>
          <p:cNvPicPr>
            <a:picLocks noChangeAspect="1"/>
          </p:cNvPicPr>
          <p:nvPr/>
        </p:nvPicPr>
        <p:blipFill>
          <a:blip r:embed="rId4"/>
          <a:stretch>
            <a:fillRect/>
          </a:stretch>
        </p:blipFill>
        <p:spPr>
          <a:xfrm>
            <a:off x="6496240" y="2495550"/>
            <a:ext cx="2685669" cy="3533775"/>
          </a:xfrm>
          <a:prstGeom prst="rect">
            <a:avLst/>
          </a:prstGeom>
        </p:spPr>
      </p:pic>
      <p:sp>
        <p:nvSpPr>
          <p:cNvPr id="24" name="TextBox 23"/>
          <p:cNvSpPr txBox="1"/>
          <p:nvPr/>
        </p:nvSpPr>
        <p:spPr>
          <a:xfrm>
            <a:off x="609600" y="2095500"/>
            <a:ext cx="2000250" cy="923330"/>
          </a:xfrm>
          <a:prstGeom prst="rect">
            <a:avLst/>
          </a:prstGeom>
          <a:noFill/>
        </p:spPr>
        <p:txBody>
          <a:bodyPr wrap="square" lIns="0" tIns="0" rIns="0" bIns="0" anchor="t">
            <a:spAutoFit/>
          </a:bodyPr>
          <a:lstStyle/>
          <a:p>
            <a:pPr algn="l">
              <a:lnSpc>
                <a:spcPts val="1700"/>
              </a:lnSpc>
              <a:spcAft>
                <a:spcPts val="400"/>
              </a:spcAft>
            </a:pPr>
            <a:r>
              <a:rPr lang="it-IT" sz="1600" b="1">
                <a:solidFill>
                  <a:srgbClr val="258C80"/>
                </a:solidFill>
                <a:latin typeface="Arial"/>
              </a:rPr>
              <a:t>OSSA E ARTICOLAZIONI</a:t>
            </a:r>
          </a:p>
          <a:p>
            <a:pPr algn="l">
              <a:lnSpc>
                <a:spcPts val="1700"/>
              </a:lnSpc>
              <a:spcAft>
                <a:spcPts val="0"/>
              </a:spcAft>
            </a:pPr>
            <a:r>
              <a:rPr lang="it-IT" sz="1500" b="0">
                <a:solidFill>
                  <a:srgbClr val="193248"/>
                </a:solidFill>
                <a:latin typeface="Arial"/>
              </a:rPr>
              <a:t>Sostegno, protezione
e movimento.</a:t>
            </a:r>
          </a:p>
        </p:txBody>
      </p:sp>
      <p:sp>
        <p:nvSpPr>
          <p:cNvPr id="25" name="TextBox 24"/>
          <p:cNvSpPr txBox="1"/>
          <p:nvPr/>
        </p:nvSpPr>
        <p:spPr>
          <a:xfrm>
            <a:off x="609600" y="3257550"/>
            <a:ext cx="2000250" cy="542925"/>
          </a:xfrm>
          <a:prstGeom prst="rect">
            <a:avLst/>
          </a:prstGeom>
          <a:noFill/>
        </p:spPr>
        <p:txBody>
          <a:bodyPr wrap="square" lIns="0" tIns="0" rIns="0" bIns="0" anchor="t">
            <a:spAutoFit/>
          </a:bodyPr>
          <a:lstStyle/>
          <a:p>
            <a:pPr algn="l">
              <a:lnSpc>
                <a:spcPts val="1900"/>
              </a:lnSpc>
              <a:spcAft>
                <a:spcPts val="400"/>
              </a:spcAft>
            </a:pPr>
            <a:r>
              <a:rPr sz="1800" b="1">
                <a:solidFill>
                  <a:srgbClr val="258C80"/>
                </a:solidFill>
                <a:latin typeface="Arial"/>
              </a:rPr>
              <a:t>CAPO</a:t>
            </a:r>
          </a:p>
          <a:p>
            <a:pPr algn="l">
              <a:lnSpc>
                <a:spcPts val="1900"/>
              </a:lnSpc>
              <a:spcAft>
                <a:spcPts val="0"/>
              </a:spcAft>
            </a:pPr>
            <a:r>
              <a:rPr sz="1700" b="0">
                <a:solidFill>
                  <a:srgbClr val="193248"/>
                </a:solidFill>
                <a:latin typeface="Arial"/>
              </a:rPr>
              <a:t>Cranio e ossa
della faccia.</a:t>
            </a:r>
          </a:p>
        </p:txBody>
      </p:sp>
      <p:sp>
        <p:nvSpPr>
          <p:cNvPr id="26" name="TextBox 25"/>
          <p:cNvSpPr txBox="1"/>
          <p:nvPr/>
        </p:nvSpPr>
        <p:spPr>
          <a:xfrm>
            <a:off x="609600" y="4162425"/>
            <a:ext cx="2000250" cy="733425"/>
          </a:xfrm>
          <a:prstGeom prst="rect">
            <a:avLst/>
          </a:prstGeom>
          <a:noFill/>
        </p:spPr>
        <p:txBody>
          <a:bodyPr wrap="square" lIns="0" tIns="0" rIns="0" bIns="0" anchor="t">
            <a:spAutoFit/>
          </a:bodyPr>
          <a:lstStyle/>
          <a:p>
            <a:pPr algn="l">
              <a:lnSpc>
                <a:spcPts val="1900"/>
              </a:lnSpc>
              <a:spcAft>
                <a:spcPts val="400"/>
              </a:spcAft>
            </a:pPr>
            <a:r>
              <a:rPr sz="1800" b="1">
                <a:solidFill>
                  <a:srgbClr val="258C80"/>
                </a:solidFill>
                <a:latin typeface="Arial"/>
              </a:rPr>
              <a:t>TRONCO</a:t>
            </a:r>
          </a:p>
          <a:p>
            <a:pPr algn="l">
              <a:lnSpc>
                <a:spcPts val="1900"/>
              </a:lnSpc>
              <a:spcAft>
                <a:spcPts val="0"/>
              </a:spcAft>
            </a:pPr>
            <a:r>
              <a:rPr sz="1700" b="0">
                <a:solidFill>
                  <a:srgbClr val="193248"/>
                </a:solidFill>
                <a:latin typeface="Arial"/>
              </a:rPr>
              <a:t>Colonna vertebrale,
gabbia toracica
e bacino.</a:t>
            </a:r>
          </a:p>
        </p:txBody>
      </p:sp>
      <p:sp>
        <p:nvSpPr>
          <p:cNvPr id="27" name="TextBox 26"/>
          <p:cNvSpPr txBox="1"/>
          <p:nvPr/>
        </p:nvSpPr>
        <p:spPr>
          <a:xfrm>
            <a:off x="609600" y="5238750"/>
            <a:ext cx="2000250" cy="638175"/>
          </a:xfrm>
          <a:prstGeom prst="rect">
            <a:avLst/>
          </a:prstGeom>
          <a:noFill/>
        </p:spPr>
        <p:txBody>
          <a:bodyPr wrap="square" lIns="0" tIns="0" rIns="0" bIns="0" anchor="t">
            <a:spAutoFit/>
          </a:bodyPr>
          <a:lstStyle/>
          <a:p>
            <a:pPr algn="l">
              <a:lnSpc>
                <a:spcPts val="1900"/>
              </a:lnSpc>
              <a:spcAft>
                <a:spcPts val="400"/>
              </a:spcAft>
            </a:pPr>
            <a:r>
              <a:rPr sz="1800" b="1">
                <a:solidFill>
                  <a:srgbClr val="258C80"/>
                </a:solidFill>
                <a:latin typeface="Arial"/>
              </a:rPr>
              <a:t>ARTI</a:t>
            </a:r>
          </a:p>
          <a:p>
            <a:pPr algn="l">
              <a:lnSpc>
                <a:spcPts val="1900"/>
              </a:lnSpc>
              <a:spcAft>
                <a:spcPts val="0"/>
              </a:spcAft>
            </a:pPr>
            <a:r>
              <a:rPr sz="1700" b="0">
                <a:solidFill>
                  <a:srgbClr val="193248"/>
                </a:solidFill>
                <a:latin typeface="Arial"/>
              </a:rPr>
              <a:t>Arti superiori
e inferiori.</a:t>
            </a:r>
          </a:p>
        </p:txBody>
      </p:sp>
      <p:cxnSp>
        <p:nvCxnSpPr>
          <p:cNvPr id="28" name="Connector 27"/>
          <p:cNvCxnSpPr/>
          <p:nvPr/>
        </p:nvCxnSpPr>
        <p:spPr>
          <a:xfrm>
            <a:off x="2609850" y="3467100"/>
            <a:ext cx="228600" cy="0"/>
          </a:xfrm>
          <a:prstGeom prst="line">
            <a:avLst/>
          </a:prstGeom>
          <a:ln w="19050">
            <a:solidFill>
              <a:srgbClr val="258C8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609850" y="4505325"/>
            <a:ext cx="228600" cy="0"/>
          </a:xfrm>
          <a:prstGeom prst="line">
            <a:avLst/>
          </a:prstGeom>
          <a:ln w="19050">
            <a:solidFill>
              <a:srgbClr val="258C8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09850" y="5486400"/>
            <a:ext cx="228600" cy="0"/>
          </a:xfrm>
          <a:prstGeom prst="line">
            <a:avLst/>
          </a:prstGeom>
          <a:ln w="19050">
            <a:solidFill>
              <a:srgbClr val="258C8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505950" y="2085975"/>
            <a:ext cx="2076450" cy="1362075"/>
          </a:xfrm>
          <a:prstGeom prst="rect">
            <a:avLst/>
          </a:prstGeom>
          <a:noFill/>
        </p:spPr>
        <p:txBody>
          <a:bodyPr wrap="square" lIns="0" tIns="0" rIns="0" bIns="0" anchor="t">
            <a:spAutoFit/>
          </a:bodyPr>
          <a:lstStyle/>
          <a:p>
            <a:pPr algn="l">
              <a:lnSpc>
                <a:spcPts val="1800"/>
              </a:lnSpc>
              <a:spcAft>
                <a:spcPts val="400"/>
              </a:spcAft>
            </a:pPr>
            <a:r>
              <a:rPr sz="1700" b="1">
                <a:solidFill>
                  <a:srgbClr val="B64950"/>
                </a:solidFill>
                <a:latin typeface="Arial"/>
              </a:rPr>
              <a:t>SCHELETRICI</a:t>
            </a:r>
          </a:p>
          <a:p>
            <a:pPr algn="l">
              <a:lnSpc>
                <a:spcPts val="1800"/>
              </a:lnSpc>
              <a:spcAft>
                <a:spcPts val="0"/>
              </a:spcAft>
            </a:pPr>
            <a:r>
              <a:rPr sz="1600" b="0">
                <a:solidFill>
                  <a:srgbClr val="193248"/>
                </a:solidFill>
                <a:latin typeface="Arial"/>
              </a:rPr>
              <a:t>Striati e volontari.
Generano forza e la
trasmettono alle ossa
attraverso i tendini.</a:t>
            </a:r>
          </a:p>
        </p:txBody>
      </p:sp>
      <p:sp>
        <p:nvSpPr>
          <p:cNvPr id="32" name="TextBox 31"/>
          <p:cNvSpPr txBox="1"/>
          <p:nvPr/>
        </p:nvSpPr>
        <p:spPr>
          <a:xfrm>
            <a:off x="9505950" y="3743325"/>
            <a:ext cx="2076450" cy="914400"/>
          </a:xfrm>
          <a:prstGeom prst="rect">
            <a:avLst/>
          </a:prstGeom>
          <a:noFill/>
        </p:spPr>
        <p:txBody>
          <a:bodyPr wrap="square" lIns="0" tIns="0" rIns="0" bIns="0" anchor="t">
            <a:spAutoFit/>
          </a:bodyPr>
          <a:lstStyle/>
          <a:p>
            <a:pPr algn="l">
              <a:lnSpc>
                <a:spcPts val="1800"/>
              </a:lnSpc>
              <a:spcAft>
                <a:spcPts val="400"/>
              </a:spcAft>
            </a:pPr>
            <a:r>
              <a:rPr sz="1700" b="1">
                <a:solidFill>
                  <a:srgbClr val="B64950"/>
                </a:solidFill>
                <a:latin typeface="Arial"/>
              </a:rPr>
              <a:t>LISCI</a:t>
            </a:r>
          </a:p>
          <a:p>
            <a:pPr algn="l">
              <a:lnSpc>
                <a:spcPts val="1800"/>
              </a:lnSpc>
              <a:spcAft>
                <a:spcPts val="0"/>
              </a:spcAft>
            </a:pPr>
            <a:r>
              <a:rPr sz="1600" b="0">
                <a:solidFill>
                  <a:srgbClr val="193248"/>
                </a:solidFill>
                <a:latin typeface="Arial"/>
              </a:rPr>
              <a:t>Involontari.
Nelle pareti dei vasi
e degli organi cavi.</a:t>
            </a:r>
          </a:p>
        </p:txBody>
      </p:sp>
      <p:sp>
        <p:nvSpPr>
          <p:cNvPr id="33" name="TextBox 32"/>
          <p:cNvSpPr txBox="1"/>
          <p:nvPr/>
        </p:nvSpPr>
        <p:spPr>
          <a:xfrm>
            <a:off x="9505950" y="5029200"/>
            <a:ext cx="2076450" cy="990600"/>
          </a:xfrm>
          <a:prstGeom prst="rect">
            <a:avLst/>
          </a:prstGeom>
          <a:noFill/>
        </p:spPr>
        <p:txBody>
          <a:bodyPr wrap="square" lIns="0" tIns="0" rIns="0" bIns="0" anchor="t">
            <a:spAutoFit/>
          </a:bodyPr>
          <a:lstStyle/>
          <a:p>
            <a:pPr algn="l">
              <a:lnSpc>
                <a:spcPts val="1800"/>
              </a:lnSpc>
              <a:spcAft>
                <a:spcPts val="400"/>
              </a:spcAft>
            </a:pPr>
            <a:r>
              <a:rPr sz="1700" b="1">
                <a:solidFill>
                  <a:srgbClr val="B64950"/>
                </a:solidFill>
                <a:latin typeface="Arial"/>
              </a:rPr>
              <a:t>CARDIACO</a:t>
            </a:r>
          </a:p>
          <a:p>
            <a:pPr algn="l">
              <a:lnSpc>
                <a:spcPts val="1800"/>
              </a:lnSpc>
              <a:spcAft>
                <a:spcPts val="0"/>
              </a:spcAft>
            </a:pPr>
            <a:r>
              <a:rPr sz="1600" b="0">
                <a:solidFill>
                  <a:srgbClr val="193248"/>
                </a:solidFill>
                <a:latin typeface="Arial"/>
              </a:rPr>
              <a:t>Striato e involontario.
Forma il muscolo
del cuore.</a:t>
            </a:r>
          </a:p>
        </p:txBody>
      </p:sp>
      <p:cxnSp>
        <p:nvCxnSpPr>
          <p:cNvPr id="34" name="Connector 33"/>
          <p:cNvCxnSpPr/>
          <p:nvPr/>
        </p:nvCxnSpPr>
        <p:spPr>
          <a:xfrm>
            <a:off x="9277350" y="2867025"/>
            <a:ext cx="152400" cy="0"/>
          </a:xfrm>
          <a:prstGeom prst="line">
            <a:avLst/>
          </a:prstGeom>
          <a:ln w="19050">
            <a:solidFill>
              <a:srgbClr val="B6495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77350" y="4114800"/>
            <a:ext cx="152400" cy="0"/>
          </a:xfrm>
          <a:prstGeom prst="line">
            <a:avLst/>
          </a:prstGeom>
          <a:ln w="19050">
            <a:solidFill>
              <a:srgbClr val="B6495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77350" y="5391150"/>
            <a:ext cx="152400" cy="0"/>
          </a:xfrm>
          <a:prstGeom prst="line">
            <a:avLst/>
          </a:prstGeom>
          <a:ln w="19050">
            <a:solidFill>
              <a:srgbClr val="B6495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09600" y="6086475"/>
            <a:ext cx="10972800" cy="285750"/>
          </a:xfrm>
          <a:prstGeom prst="rect">
            <a:avLst/>
          </a:prstGeom>
          <a:noFill/>
        </p:spPr>
        <p:txBody>
          <a:bodyPr wrap="square" lIns="0" tIns="0" rIns="0" bIns="0" anchor="t">
            <a:spAutoFit/>
          </a:bodyPr>
          <a:lstStyle/>
          <a:p>
            <a:pPr algn="ctr">
              <a:lnSpc>
                <a:spcPts val="1900"/>
              </a:lnSpc>
              <a:spcAft>
                <a:spcPts val="400"/>
              </a:spcAft>
            </a:pPr>
            <a:r>
              <a:rPr sz="1800" b="1">
                <a:solidFill>
                  <a:srgbClr val="123F67"/>
                </a:solidFill>
                <a:latin typeface="Arial"/>
              </a:rPr>
              <a:t>Il sistema nervoso coordina l’attivazione dei muscoli e quindi il movimento.</a:t>
            </a:r>
          </a:p>
        </p:txBody>
      </p:sp>
    </p:spTree>
    <p:extLst>
      <p:ext uri="{BB962C8B-B14F-4D97-AF65-F5344CB8AC3E}">
        <p14:creationId xmlns:p14="http://schemas.microsoft.com/office/powerpoint/2010/main" val="1600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0000011-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1-0002-4000-8000-000000000000}"/>
              </a:ext>
            </a:extLst>
          </p:cNvPr>
          <p:cNvSpPr>
            <a:spLocks noGrp="1"/>
          </p:cNvSpPr>
          <p:nvPr/>
        </p:nvSpPr>
        <p:spPr>
          <a:xfrm>
            <a:off x="609600" y="209550"/>
            <a:ext cx="10858500" cy="266700"/>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PATOLOGIE · ESEMPI DIDATTICI</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1-0003-4000-8000-000000000000}"/>
              </a:ext>
            </a:extLst>
          </p:cNvPr>
          <p:cNvSpPr>
            <a:spLocks noGrp="1"/>
          </p:cNvSpPr>
          <p:nvPr/>
        </p:nvSpPr>
        <p:spPr>
          <a:xfrm>
            <a:off x="609600" y="571500"/>
            <a:ext cx="10972800" cy="609600"/>
          </a:xfrm>
          <a:prstGeom prst="rect">
            <a:avLst/>
          </a:prstGeom>
          <a:noFill/>
          <a:ln w="0">
            <a:noFill/>
          </a:ln>
        </p:spPr>
        <p:txBody>
          <a:bodyPr>
            <a:noAutofit/>
          </a:bodyPr>
          <a:lstStyle/>
          <a:p>
            <a:pPr>
              <a:defRPr sz="3225" b="1">
                <a:solidFill>
                  <a:srgbClr val="123F67"/>
                </a:solidFill>
                <a:latin typeface="Arial"/>
                <a:ea typeface="Arial"/>
                <a:cs typeface="Arial"/>
              </a:defRPr>
            </a:pPr>
            <a:r>
              <a:rPr sz="3000" b="1">
                <a:solidFill>
                  <a:srgbClr val="123F67"/>
                </a:solidFill>
                <a:latin typeface="Arial"/>
                <a:ea typeface="Arial"/>
                <a:cs typeface="Arial"/>
              </a:rPr>
              <a:t>Patologie dell’apparato locomotore</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1-0004-4000-8000-000000000000}"/>
              </a:ext>
            </a:extLst>
          </p:cNvPr>
          <p:cNvSpPr>
            <a:spLocks noGrp="1"/>
          </p:cNvSpPr>
          <p:nvPr/>
        </p:nvSpPr>
        <p:spPr>
          <a:xfrm>
            <a:off x="609600" y="1257300"/>
            <a:ext cx="10972800" cy="19050"/>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1-0005-4000-8000-000000000000}"/>
              </a:ext>
            </a:extLst>
          </p:cNvPr>
          <p:cNvSpPr>
            <a:spLocks noGrp="1"/>
          </p:cNvSpPr>
          <p:nvPr/>
        </p:nvSpPr>
        <p:spPr>
          <a:xfrm>
            <a:off x="704088" y="6601968"/>
            <a:ext cx="9906000" cy="238125"/>
          </a:xfrm>
          <a:prstGeom prst="rect">
            <a:avLst/>
          </a:prstGeom>
          <a:noFill/>
          <a:ln w="0">
            <a:noFill/>
          </a:ln>
        </p:spPr>
        <p:txBody>
          <a:bodyPr wrap="square">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1-0006-4000-8000-000000000000}"/>
              </a:ext>
            </a:extLst>
          </p:cNvPr>
          <p:cNvSpPr>
            <a:spLocks noGrp="1"/>
          </p:cNvSpPr>
          <p:nvPr/>
        </p:nvSpPr>
        <p:spPr>
          <a:xfrm>
            <a:off x="11049000" y="6583680"/>
            <a:ext cx="523875" cy="25717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60</a:t>
            </a:r>
            <a:endParaRPr sz="1350" b="1">
              <a:solidFill>
                <a:srgbClr val="123F67"/>
              </a:solidFill>
              <a:latin typeface="Arial"/>
              <a:ea typeface="Arial"/>
              <a:cs typeface="Arial"/>
            </a:endParaRPr>
          </a:p>
        </p:txBody>
      </p:sp>
      <p:sp>
        <p:nvSpPr>
          <p:cNvPr id="24" name="TextBox 23"/>
          <p:cNvSpPr txBox="1"/>
          <p:nvPr/>
        </p:nvSpPr>
        <p:spPr>
          <a:xfrm>
            <a:off x="704850" y="1331214"/>
            <a:ext cx="10877550" cy="552450"/>
          </a:xfrm>
          <a:prstGeom prst="rect">
            <a:avLst/>
          </a:prstGeom>
          <a:noFill/>
        </p:spPr>
        <p:txBody>
          <a:bodyPr wrap="square" lIns="0" tIns="0" rIns="0" bIns="0">
            <a:noAutofit/>
          </a:bodyPr>
          <a:lstStyle/>
          <a:p>
            <a:pPr>
              <a:lnSpc>
                <a:spcPts val="2200"/>
              </a:lnSpc>
            </a:pPr>
            <a:r>
              <a:rPr lang="it-IT" sz="1900" b="0" dirty="0">
                <a:solidFill>
                  <a:srgbClr val="087E8B"/>
                </a:solidFill>
                <a:latin typeface="Arial"/>
              </a:rPr>
              <a:t>Articolazioni, dischi intervertebrali, tendini e dolore diffuso</a:t>
            </a:r>
            <a:endParaRPr sz="1900" b="0" dirty="0">
              <a:solidFill>
                <a:srgbClr val="087E8B"/>
              </a:solidFill>
              <a:latin typeface="Arial"/>
            </a:endParaRPr>
          </a:p>
        </p:txBody>
      </p:sp>
      <p:sp>
        <p:nvSpPr>
          <p:cNvPr id="25" name="TextBox 24"/>
          <p:cNvSpPr txBox="1"/>
          <p:nvPr/>
        </p:nvSpPr>
        <p:spPr>
          <a:xfrm>
            <a:off x="704088" y="1847088"/>
            <a:ext cx="5193792" cy="210312"/>
          </a:xfrm>
          <a:prstGeom prst="rect">
            <a:avLst/>
          </a:prstGeom>
          <a:noFill/>
        </p:spPr>
        <p:txBody>
          <a:bodyPr wrap="square" lIns="0" tIns="0" rIns="0" bIns="0">
            <a:noAutofit/>
          </a:bodyPr>
          <a:lstStyle/>
          <a:p>
            <a:pPr>
              <a:lnSpc>
                <a:spcPts val="1400"/>
              </a:lnSpc>
              <a:spcAft>
                <a:spcPts val="0"/>
              </a:spcAft>
            </a:pPr>
            <a:r>
              <a:rPr lang="it-IT" sz="1200" b="1">
                <a:solidFill>
                  <a:srgbClr val="087E8B"/>
                </a:solidFill>
                <a:latin typeface="Arial"/>
              </a:rPr>
              <a:t>DANNO DEGENERATIVO</a:t>
            </a:r>
          </a:p>
        </p:txBody>
      </p:sp>
      <p:sp>
        <p:nvSpPr>
          <p:cNvPr id="26" name="TextBox 25"/>
          <p:cNvSpPr txBox="1"/>
          <p:nvPr/>
        </p:nvSpPr>
        <p:spPr>
          <a:xfrm>
            <a:off x="704088" y="2112264"/>
            <a:ext cx="5193792" cy="320040"/>
          </a:xfrm>
          <a:prstGeom prst="rect">
            <a:avLst/>
          </a:prstGeom>
          <a:noFill/>
        </p:spPr>
        <p:txBody>
          <a:bodyPr wrap="square" lIns="0" tIns="0" rIns="0" bIns="0">
            <a:noAutofit/>
          </a:bodyPr>
          <a:lstStyle/>
          <a:p>
            <a:pPr>
              <a:lnSpc>
                <a:spcPts val="2200"/>
              </a:lnSpc>
              <a:spcAft>
                <a:spcPts val="0"/>
              </a:spcAft>
            </a:pPr>
            <a:r>
              <a:rPr lang="it-IT" sz="2000" b="1">
                <a:solidFill>
                  <a:srgbClr val="123F67"/>
                </a:solidFill>
                <a:latin typeface="Arial"/>
              </a:rPr>
              <a:t>Artrosi</a:t>
            </a:r>
          </a:p>
        </p:txBody>
      </p:sp>
      <p:sp>
        <p:nvSpPr>
          <p:cNvPr id="27" name="TextBox 26"/>
          <p:cNvSpPr txBox="1"/>
          <p:nvPr/>
        </p:nvSpPr>
        <p:spPr>
          <a:xfrm>
            <a:off x="704088" y="2487168"/>
            <a:ext cx="5193792" cy="1033271"/>
          </a:xfrm>
          <a:prstGeom prst="rect">
            <a:avLst/>
          </a:prstGeom>
          <a:noFill/>
        </p:spPr>
        <p:txBody>
          <a:bodyPr wrap="square" lIns="0" tIns="0" rIns="0" bIns="0">
            <a:noAutofit/>
          </a:bodyPr>
          <a:lstStyle/>
          <a:p>
            <a:pPr>
              <a:lnSpc>
                <a:spcPts val="1950"/>
              </a:lnSpc>
              <a:spcAft>
                <a:spcPts val="0"/>
              </a:spcAft>
            </a:pPr>
            <a:r>
              <a:rPr lang="it-IT" sz="1750" b="0">
                <a:solidFill>
                  <a:srgbClr val="193248"/>
                </a:solidFill>
                <a:latin typeface="Arial"/>
              </a:rPr>
              <a:t>Deterioramento progressivo della cartilagine e di altri tessuti articolari, con dolore, rigidità e limitazione del movimento.</a:t>
            </a:r>
          </a:p>
        </p:txBody>
      </p:sp>
      <p:sp>
        <p:nvSpPr>
          <p:cNvPr id="28" name="TextBox 27"/>
          <p:cNvSpPr txBox="1"/>
          <p:nvPr/>
        </p:nvSpPr>
        <p:spPr>
          <a:xfrm>
            <a:off x="704088" y="3401568"/>
            <a:ext cx="5193792" cy="210312"/>
          </a:xfrm>
          <a:prstGeom prst="rect">
            <a:avLst/>
          </a:prstGeom>
          <a:noFill/>
        </p:spPr>
        <p:txBody>
          <a:bodyPr wrap="square" lIns="0" tIns="0" rIns="0" bIns="0">
            <a:noAutofit/>
          </a:bodyPr>
          <a:lstStyle/>
          <a:p>
            <a:pPr>
              <a:lnSpc>
                <a:spcPts val="1400"/>
              </a:lnSpc>
              <a:spcAft>
                <a:spcPts val="0"/>
              </a:spcAft>
            </a:pPr>
            <a:r>
              <a:rPr lang="it-IT" sz="1200" b="1">
                <a:solidFill>
                  <a:srgbClr val="087E8B"/>
                </a:solidFill>
                <a:latin typeface="Arial"/>
              </a:rPr>
              <a:t>INFIAMMAZIONE AUTOIMMUNE</a:t>
            </a:r>
          </a:p>
        </p:txBody>
      </p:sp>
      <p:sp>
        <p:nvSpPr>
          <p:cNvPr id="29" name="TextBox 28"/>
          <p:cNvSpPr txBox="1"/>
          <p:nvPr/>
        </p:nvSpPr>
        <p:spPr>
          <a:xfrm>
            <a:off x="704088" y="3666744"/>
            <a:ext cx="5193792" cy="320040"/>
          </a:xfrm>
          <a:prstGeom prst="rect">
            <a:avLst/>
          </a:prstGeom>
          <a:noFill/>
        </p:spPr>
        <p:txBody>
          <a:bodyPr wrap="square" lIns="0" tIns="0" rIns="0" bIns="0">
            <a:noAutofit/>
          </a:bodyPr>
          <a:lstStyle/>
          <a:p>
            <a:pPr>
              <a:lnSpc>
                <a:spcPts val="2200"/>
              </a:lnSpc>
              <a:spcAft>
                <a:spcPts val="0"/>
              </a:spcAft>
            </a:pPr>
            <a:r>
              <a:rPr lang="it-IT" sz="2000" b="1">
                <a:solidFill>
                  <a:srgbClr val="123F67"/>
                </a:solidFill>
                <a:latin typeface="Arial"/>
              </a:rPr>
              <a:t>Artrite reumatoide</a:t>
            </a:r>
          </a:p>
        </p:txBody>
      </p:sp>
      <p:sp>
        <p:nvSpPr>
          <p:cNvPr id="30" name="TextBox 29"/>
          <p:cNvSpPr txBox="1"/>
          <p:nvPr/>
        </p:nvSpPr>
        <p:spPr>
          <a:xfrm>
            <a:off x="704088" y="4041648"/>
            <a:ext cx="5193792" cy="1033271"/>
          </a:xfrm>
          <a:prstGeom prst="rect">
            <a:avLst/>
          </a:prstGeom>
          <a:noFill/>
        </p:spPr>
        <p:txBody>
          <a:bodyPr wrap="square" lIns="0" tIns="0" rIns="0" bIns="0">
            <a:noAutofit/>
          </a:bodyPr>
          <a:lstStyle/>
          <a:p>
            <a:pPr>
              <a:lnSpc>
                <a:spcPts val="1950"/>
              </a:lnSpc>
              <a:spcAft>
                <a:spcPts val="0"/>
              </a:spcAft>
            </a:pPr>
            <a:r>
              <a:rPr lang="it-IT" sz="1750" b="0">
                <a:solidFill>
                  <a:srgbClr val="193248"/>
                </a:solidFill>
                <a:latin typeface="Arial"/>
              </a:rPr>
              <a:t>Malattia autoimmune che infiamma le articolazioni e può danneggiarle, causando dolore, gonfiore e rigidità.</a:t>
            </a:r>
          </a:p>
        </p:txBody>
      </p:sp>
      <p:sp>
        <p:nvSpPr>
          <p:cNvPr id="31" name="Ernia del disco"/>
          <p:cNvSpPr txBox="1"/>
          <p:nvPr/>
        </p:nvSpPr>
        <p:spPr>
          <a:xfrm>
            <a:off x="6364224" y="2496312"/>
            <a:ext cx="5193792" cy="329184"/>
          </a:xfrm>
          <a:prstGeom prst="rect">
            <a:avLst/>
          </a:prstGeom>
          <a:noFill/>
        </p:spPr>
        <p:txBody>
          <a:bodyPr wrap="square" lIns="0" tIns="0" rIns="0" bIns="0">
            <a:noAutofit/>
          </a:bodyPr>
          <a:lstStyle/>
          <a:p>
            <a:pPr>
              <a:lnSpc>
                <a:spcPts val="2200"/>
              </a:lnSpc>
              <a:spcAft>
                <a:spcPts val="0"/>
              </a:spcAft>
            </a:pPr>
            <a:r>
              <a:rPr lang="it-IT" sz="2000" b="1">
                <a:solidFill>
                  <a:srgbClr val="123F67"/>
                </a:solidFill>
                <a:latin typeface="Arial"/>
              </a:rPr>
              <a:t>Ernia del disco</a:t>
            </a:r>
          </a:p>
        </p:txBody>
      </p:sp>
      <p:sp>
        <p:nvSpPr>
          <p:cNvPr id="32" name="Fuoriuscita di materiale del disco intervertebrale. Può"/>
          <p:cNvSpPr txBox="1"/>
          <p:nvPr/>
        </p:nvSpPr>
        <p:spPr>
          <a:xfrm>
            <a:off x="6364224" y="2871215"/>
            <a:ext cx="5193792" cy="1033271"/>
          </a:xfrm>
          <a:prstGeom prst="rect">
            <a:avLst/>
          </a:prstGeom>
          <a:noFill/>
        </p:spPr>
        <p:txBody>
          <a:bodyPr wrap="square" lIns="0" tIns="0" rIns="0" bIns="0">
            <a:noAutofit/>
          </a:bodyPr>
          <a:lstStyle/>
          <a:p>
            <a:pPr>
              <a:lnSpc>
                <a:spcPts val="1950"/>
              </a:lnSpc>
              <a:spcAft>
                <a:spcPts val="0"/>
              </a:spcAft>
            </a:pPr>
            <a:r>
              <a:rPr lang="it-IT" sz="1750" b="0">
                <a:solidFill>
                  <a:srgbClr val="193248"/>
                </a:solidFill>
                <a:latin typeface="Arial"/>
              </a:rPr>
              <a:t>Fuoriuscita di materiale del disco intervertebrale. Può comprimere i nervi e causare dolore irradiato, formicolii o debolezza.</a:t>
            </a:r>
          </a:p>
        </p:txBody>
      </p:sp>
      <p:sp>
        <p:nvSpPr>
          <p:cNvPr id="33" name="Fibromialgia"/>
          <p:cNvSpPr txBox="1"/>
          <p:nvPr/>
        </p:nvSpPr>
        <p:spPr>
          <a:xfrm>
            <a:off x="704088" y="5221224"/>
            <a:ext cx="5193792" cy="329184"/>
          </a:xfrm>
          <a:prstGeom prst="rect">
            <a:avLst/>
          </a:prstGeom>
          <a:noFill/>
        </p:spPr>
        <p:txBody>
          <a:bodyPr wrap="square" lIns="0" tIns="0" rIns="0" bIns="0">
            <a:noAutofit/>
          </a:bodyPr>
          <a:lstStyle/>
          <a:p>
            <a:pPr>
              <a:lnSpc>
                <a:spcPts val="2200"/>
              </a:lnSpc>
              <a:spcAft>
                <a:spcPts val="0"/>
              </a:spcAft>
            </a:pPr>
            <a:r>
              <a:rPr lang="it-IT" sz="2000" b="1">
                <a:solidFill>
                  <a:srgbClr val="123F67"/>
                </a:solidFill>
                <a:latin typeface="Arial"/>
              </a:rPr>
              <a:t>Fibromialgia</a:t>
            </a:r>
          </a:p>
        </p:txBody>
      </p:sp>
      <p:sp>
        <p:nvSpPr>
          <p:cNvPr id="34" name="Condizione cronica con dolore diffuso, maggiore sensibi"/>
          <p:cNvSpPr txBox="1"/>
          <p:nvPr/>
        </p:nvSpPr>
        <p:spPr>
          <a:xfrm>
            <a:off x="704088" y="5596128"/>
            <a:ext cx="5193792" cy="1033271"/>
          </a:xfrm>
          <a:prstGeom prst="rect">
            <a:avLst/>
          </a:prstGeom>
          <a:noFill/>
        </p:spPr>
        <p:txBody>
          <a:bodyPr wrap="square" lIns="0" tIns="0" rIns="0" bIns="0">
            <a:noAutofit/>
          </a:bodyPr>
          <a:lstStyle/>
          <a:p>
            <a:pPr>
              <a:lnSpc>
                <a:spcPts val="1950"/>
              </a:lnSpc>
              <a:spcAft>
                <a:spcPts val="0"/>
              </a:spcAft>
            </a:pPr>
            <a:r>
              <a:rPr lang="it-IT" sz="1750" b="0">
                <a:solidFill>
                  <a:srgbClr val="193248"/>
                </a:solidFill>
                <a:latin typeface="Arial"/>
              </a:rPr>
              <a:t>Condizione cronica con dolore diffuso, maggiore sensibilità al dolore, stanchezza e disturbi del sonno.</a:t>
            </a:r>
          </a:p>
        </p:txBody>
      </p:sp>
      <p:sp>
        <p:nvSpPr>
          <p:cNvPr id="35" name="Tendiniti e tendinopatie"/>
          <p:cNvSpPr txBox="1"/>
          <p:nvPr/>
        </p:nvSpPr>
        <p:spPr>
          <a:xfrm>
            <a:off x="6364224" y="4727448"/>
            <a:ext cx="5193792" cy="329184"/>
          </a:xfrm>
          <a:prstGeom prst="rect">
            <a:avLst/>
          </a:prstGeom>
          <a:noFill/>
        </p:spPr>
        <p:txBody>
          <a:bodyPr wrap="square" lIns="0" tIns="0" rIns="0" bIns="0">
            <a:noAutofit/>
          </a:bodyPr>
          <a:lstStyle/>
          <a:p>
            <a:pPr>
              <a:lnSpc>
                <a:spcPts val="2200"/>
              </a:lnSpc>
              <a:spcAft>
                <a:spcPts val="0"/>
              </a:spcAft>
            </a:pPr>
            <a:r>
              <a:rPr lang="it-IT" sz="2000" b="1">
                <a:solidFill>
                  <a:srgbClr val="123F67"/>
                </a:solidFill>
                <a:latin typeface="Arial"/>
              </a:rPr>
              <a:t>Tendiniti e tendinopatie</a:t>
            </a:r>
          </a:p>
        </p:txBody>
      </p:sp>
      <p:sp>
        <p:nvSpPr>
          <p:cNvPr id="36" name="Le tendiniti sono infiammazioni dei tendini. Le tendino"/>
          <p:cNvSpPr txBox="1"/>
          <p:nvPr/>
        </p:nvSpPr>
        <p:spPr>
          <a:xfrm>
            <a:off x="6364224" y="5102352"/>
            <a:ext cx="5193792" cy="1033271"/>
          </a:xfrm>
          <a:prstGeom prst="rect">
            <a:avLst/>
          </a:prstGeom>
          <a:noFill/>
        </p:spPr>
        <p:txBody>
          <a:bodyPr wrap="square" lIns="0" tIns="0" rIns="0" bIns="0">
            <a:noAutofit/>
          </a:bodyPr>
          <a:lstStyle/>
          <a:p>
            <a:pPr>
              <a:lnSpc>
                <a:spcPts val="1950"/>
              </a:lnSpc>
              <a:spcAft>
                <a:spcPts val="0"/>
              </a:spcAft>
            </a:pPr>
            <a:r>
              <a:rPr lang="it-IT" sz="1750" b="0">
                <a:solidFill>
                  <a:srgbClr val="193248"/>
                </a:solidFill>
                <a:latin typeface="Arial"/>
              </a:rPr>
              <a:t>Le tendiniti sono infiammazioni dei tendini. Le tendinopatie comprendono disturbi tendinei, spesso da sovraccarico, con dolore e ridotta funzione, non sempre infiammatori.</a:t>
            </a:r>
          </a:p>
        </p:txBody>
      </p:sp>
      <p:sp>
        <p:nvSpPr>
          <p:cNvPr id="37" name="Sottotitolo 37"/>
          <p:cNvSpPr txBox="1"/>
          <p:nvPr/>
        </p:nvSpPr>
        <p:spPr>
          <a:xfrm>
            <a:off x="6364224" y="2231136"/>
            <a:ext cx="5193792" cy="210312"/>
          </a:xfrm>
          <a:prstGeom prst="rect">
            <a:avLst/>
          </a:prstGeom>
          <a:noFill/>
        </p:spPr>
        <p:txBody>
          <a:bodyPr wrap="square" lIns="0" tIns="0" rIns="0" bIns="0">
            <a:noAutofit/>
          </a:bodyPr>
          <a:lstStyle/>
          <a:p>
            <a:pPr>
              <a:lnSpc>
                <a:spcPts val="1400"/>
              </a:lnSpc>
              <a:spcAft>
                <a:spcPts val="0"/>
              </a:spcAft>
            </a:pPr>
            <a:r>
              <a:rPr lang="it-IT" sz="1200" b="1">
                <a:solidFill>
                  <a:srgbClr val="087E8B"/>
                </a:solidFill>
                <a:latin typeface="Arial"/>
              </a:rPr>
              <a:t>ALTERAZIONE DEL DISCO</a:t>
            </a:r>
          </a:p>
        </p:txBody>
      </p:sp>
      <p:sp>
        <p:nvSpPr>
          <p:cNvPr id="38" name="Sottotitolo 38"/>
          <p:cNvSpPr txBox="1"/>
          <p:nvPr/>
        </p:nvSpPr>
        <p:spPr>
          <a:xfrm>
            <a:off x="704088" y="4956048"/>
            <a:ext cx="5193792" cy="210312"/>
          </a:xfrm>
          <a:prstGeom prst="rect">
            <a:avLst/>
          </a:prstGeom>
          <a:noFill/>
        </p:spPr>
        <p:txBody>
          <a:bodyPr wrap="square" lIns="0" tIns="0" rIns="0" bIns="0">
            <a:noAutofit/>
          </a:bodyPr>
          <a:lstStyle/>
          <a:p>
            <a:pPr>
              <a:lnSpc>
                <a:spcPts val="1400"/>
              </a:lnSpc>
              <a:spcAft>
                <a:spcPts val="0"/>
              </a:spcAft>
            </a:pPr>
            <a:r>
              <a:rPr lang="it-IT" sz="1200" b="1">
                <a:solidFill>
                  <a:srgbClr val="087E8B"/>
                </a:solidFill>
                <a:latin typeface="Arial"/>
              </a:rPr>
              <a:t>DOLORE DIFFUSO</a:t>
            </a:r>
          </a:p>
        </p:txBody>
      </p:sp>
      <p:sp>
        <p:nvSpPr>
          <p:cNvPr id="39" name="Sottotitolo 39"/>
          <p:cNvSpPr txBox="1"/>
          <p:nvPr/>
        </p:nvSpPr>
        <p:spPr>
          <a:xfrm>
            <a:off x="6364224" y="4462272"/>
            <a:ext cx="5193792" cy="210312"/>
          </a:xfrm>
          <a:prstGeom prst="rect">
            <a:avLst/>
          </a:prstGeom>
          <a:noFill/>
        </p:spPr>
        <p:txBody>
          <a:bodyPr wrap="square" lIns="0" tIns="0" rIns="0" bIns="0">
            <a:noAutofit/>
          </a:bodyPr>
          <a:lstStyle/>
          <a:p>
            <a:pPr>
              <a:lnSpc>
                <a:spcPts val="1400"/>
              </a:lnSpc>
              <a:spcAft>
                <a:spcPts val="0"/>
              </a:spcAft>
            </a:pPr>
            <a:r>
              <a:rPr lang="it-IT" sz="1200" b="1">
                <a:solidFill>
                  <a:srgbClr val="087E8B"/>
                </a:solidFill>
                <a:latin typeface="Arial"/>
              </a:rPr>
              <a:t>DISTURBI DEI TENDINI</a:t>
            </a:r>
          </a:p>
        </p:txBody>
      </p:sp>
      <p:cxnSp>
        <p:nvCxnSpPr>
          <p:cNvPr id="40" name="Connector 39"/>
          <p:cNvCxnSpPr/>
          <p:nvPr/>
        </p:nvCxnSpPr>
        <p:spPr>
          <a:xfrm>
            <a:off x="6126480" y="1828800"/>
            <a:ext cx="0" cy="4608576"/>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04088" y="3310128"/>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364224" y="4133087"/>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04088" y="4864608"/>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00000012-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12-0002-4000-8000-000000000000}"/>
              </a:ext>
            </a:extLst>
          </p:cNvPr>
          <p:cNvSpPr>
            <a:spLocks noGrp="1"/>
          </p:cNvSpPr>
          <p:nvPr/>
        </p:nvSpPr>
        <p:spPr>
          <a:xfrm>
            <a:off x="609904" y="209397"/>
            <a:ext cx="10858500" cy="267004"/>
          </a:xfrm>
          <a:prstGeom prst="rect">
            <a:avLst/>
          </a:prstGeom>
          <a:noFill/>
          <a:ln w="0">
            <a:noFill/>
          </a:ln>
        </p:spPr>
        <p:txBody>
          <a:bodyPr>
            <a:noAutofit/>
          </a:bodyPr>
          <a:lstStyle/>
          <a:p>
            <a:pPr>
              <a:defRPr sz="1275" b="1">
                <a:solidFill>
                  <a:srgbClr val="087E8B"/>
                </a:solidFill>
                <a:latin typeface="Arial"/>
                <a:ea typeface="Arial"/>
                <a:cs typeface="Arial"/>
              </a:defRPr>
            </a:pPr>
            <a:r>
              <a:rPr lang="it-IT" sz="1275" b="1">
                <a:solidFill>
                  <a:srgbClr val="087E8B"/>
                </a:solidFill>
                <a:latin typeface="Arial"/>
                <a:ea typeface="Arial"/>
                <a:cs typeface="Arial"/>
              </a:rPr>
              <a:t>FARMACOLOGIA · 1 DI 3</a:t>
            </a:r>
            <a:endParaRPr sz="1275" b="1">
              <a:solidFill>
                <a:srgbClr val="087E8B"/>
              </a:solidFill>
              <a:latin typeface="Arial"/>
              <a:ea typeface="Arial"/>
              <a:cs typeface="Arial"/>
            </a:endParaRPr>
          </a:p>
        </p:txBody>
      </p:sp>
      <p:sp>
        <p:nvSpPr>
          <p:cNvPr id="3" name="Rettangolo 2">
            <a:extLst>
              <a:ext uri="{FF2B5EF4-FFF2-40B4-BE49-F238E27FC236}">
                <a16:creationId xmlns:a16="http://schemas.microsoft.com/office/drawing/2014/main" id="{00000012-0003-4000-8000-000000000000}"/>
              </a:ext>
            </a:extLst>
          </p:cNvPr>
          <p:cNvSpPr>
            <a:spLocks noGrp="1"/>
          </p:cNvSpPr>
          <p:nvPr/>
        </p:nvSpPr>
        <p:spPr>
          <a:xfrm>
            <a:off x="609904" y="571500"/>
            <a:ext cx="10972800" cy="649224"/>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Farmacologia: </a:t>
            </a:r>
            <a:r>
              <a:rPr lang="it-IT" sz="3225" b="1">
                <a:solidFill>
                  <a:srgbClr val="123F67"/>
                </a:solidFill>
                <a:latin typeface="Arial"/>
                <a:ea typeface="Arial"/>
                <a:cs typeface="Arial"/>
              </a:rPr>
              <a:t>concetti generali</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12-0004-4000-8000-000000000000}"/>
              </a:ext>
            </a:extLst>
          </p:cNvPr>
          <p:cNvSpPr>
            <a:spLocks noGrp="1"/>
          </p:cNvSpPr>
          <p:nvPr/>
        </p:nvSpPr>
        <p:spPr>
          <a:xfrm>
            <a:off x="609904" y="1335024"/>
            <a:ext cx="10972800" cy="19202"/>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12-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12-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61</a:t>
            </a:r>
            <a:endParaRPr sz="1350" b="1">
              <a:solidFill>
                <a:srgbClr val="123F67"/>
              </a:solidFill>
              <a:latin typeface="Arial"/>
              <a:ea typeface="Arial"/>
              <a:cs typeface="Arial"/>
            </a:endParaRPr>
          </a:p>
        </p:txBody>
      </p:sp>
      <p:sp>
        <p:nvSpPr>
          <p:cNvPr id="23" name="TextBox 22"/>
          <p:cNvSpPr txBox="1"/>
          <p:nvPr/>
        </p:nvSpPr>
        <p:spPr>
          <a:xfrm>
            <a:off x="2761488" y="1581912"/>
            <a:ext cx="8787384" cy="941832"/>
          </a:xfrm>
          <a:prstGeom prst="rect">
            <a:avLst/>
          </a:prstGeom>
          <a:noFill/>
        </p:spPr>
        <p:txBody>
          <a:bodyPr wrap="square" lIns="0" tIns="0" rIns="0" bIns="0">
            <a:noAutofit/>
          </a:bodyPr>
          <a:lstStyle/>
          <a:p>
            <a:pPr>
              <a:lnSpc>
                <a:spcPts val="2200"/>
              </a:lnSpc>
              <a:spcAft>
                <a:spcPts val="700"/>
              </a:spcAft>
              <a:defRPr sz="2000" b="0">
                <a:solidFill>
                  <a:srgbClr val="193248"/>
                </a:solidFill>
                <a:latin typeface="Arial"/>
              </a:defRPr>
            </a:pPr>
            <a:r>
              <a:rPr lang="it-IT" sz="1900" b="1" dirty="0">
                <a:solidFill>
                  <a:srgbClr val="087E8B"/>
                </a:solidFill>
                <a:latin typeface="Arial"/>
              </a:rPr>
              <a:t>Principio attivo: </a:t>
            </a:r>
            <a:r>
              <a:rPr lang="it-IT" sz="1900" b="0" dirty="0">
                <a:solidFill>
                  <a:srgbClr val="193248"/>
                </a:solidFill>
                <a:latin typeface="Arial"/>
              </a:rPr>
              <a:t>produce l’effetto farmacologico.</a:t>
            </a:r>
          </a:p>
          <a:p>
            <a:pPr marL="1282700" indent="-1282700">
              <a:lnSpc>
                <a:spcPts val="2200"/>
              </a:lnSpc>
              <a:spcAft>
                <a:spcPts val="0"/>
              </a:spcAft>
            </a:pPr>
            <a:r>
              <a:rPr lang="it-IT" sz="1900" b="1" dirty="0">
                <a:solidFill>
                  <a:srgbClr val="087E8B"/>
                </a:solidFill>
                <a:latin typeface="Arial"/>
              </a:rPr>
              <a:t>Eccipienti: </a:t>
            </a:r>
            <a:r>
              <a:rPr lang="it-IT" sz="1900" b="0" dirty="0">
                <a:solidFill>
                  <a:srgbClr val="193248"/>
                </a:solidFill>
                <a:latin typeface="Arial"/>
              </a:rPr>
              <a:t>sostanze </a:t>
            </a:r>
            <a:r>
              <a:rPr lang="it-IT" sz="1900" b="0">
                <a:solidFill>
                  <a:srgbClr val="193248"/>
                </a:solidFill>
                <a:latin typeface="Arial"/>
              </a:rPr>
              <a:t>diverse dal principio attivo, utili </a:t>
            </a:r>
            <a:r>
              <a:rPr lang="it-IT" sz="1900" b="0" dirty="0">
                <a:solidFill>
                  <a:srgbClr val="193248"/>
                </a:solidFill>
                <a:latin typeface="Arial"/>
              </a:rPr>
              <a:t>per forma</a:t>
            </a:r>
            <a:r>
              <a:rPr lang="it-IT" sz="1900" b="0">
                <a:solidFill>
                  <a:srgbClr val="193248"/>
                </a:solidFill>
                <a:latin typeface="Arial"/>
              </a:rPr>
              <a:t>,</a:t>
            </a:r>
            <a:r>
              <a:rPr lang="it-IT" sz="1900" b="0" dirty="0">
                <a:solidFill>
                  <a:srgbClr val="193248"/>
                </a:solidFill>
                <a:latin typeface="Arial"/>
              </a:rPr>
              <a:t> stabilità e somministrazione</a:t>
            </a:r>
            <a:r>
              <a:rPr lang="it-IT" sz="1900" b="0">
                <a:solidFill>
                  <a:srgbClr val="193248"/>
                </a:solidFill>
                <a:latin typeface="Arial"/>
              </a:rPr>
              <a:t> del medicinale</a:t>
            </a:r>
            <a:r>
              <a:rPr lang="it-IT" sz="1900" b="0" dirty="0">
                <a:solidFill>
                  <a:srgbClr val="193248"/>
                </a:solidFill>
                <a:latin typeface="Arial"/>
              </a:rPr>
              <a:t>.</a:t>
            </a:r>
            <a:endParaRPr lang="it-IT" sz="1900" b="0">
              <a:solidFill>
                <a:srgbClr val="193248"/>
              </a:solidFill>
              <a:latin typeface="Arial"/>
            </a:endParaRPr>
          </a:p>
        </p:txBody>
      </p:sp>
      <p:sp>
        <p:nvSpPr>
          <p:cNvPr id="24" name="TextBox 23"/>
          <p:cNvSpPr txBox="1"/>
          <p:nvPr/>
        </p:nvSpPr>
        <p:spPr>
          <a:xfrm>
            <a:off x="705002" y="3108960"/>
            <a:ext cx="10839297" cy="530352"/>
          </a:xfrm>
          <a:prstGeom prst="rect">
            <a:avLst/>
          </a:prstGeom>
          <a:noFill/>
        </p:spPr>
        <p:txBody>
          <a:bodyPr wrap="square" lIns="0" tIns="0" rIns="0" bIns="0">
            <a:noAutofit/>
          </a:bodyPr>
          <a:lstStyle/>
          <a:p>
            <a:pPr>
              <a:lnSpc>
                <a:spcPts val="2100"/>
              </a:lnSpc>
              <a:spcAft>
                <a:spcPts val="0"/>
              </a:spcAft>
              <a:defRPr sz="1600" b="1">
                <a:solidFill>
                  <a:srgbClr val="087E8B"/>
                </a:solidFill>
                <a:latin typeface="Arial"/>
              </a:defRPr>
            </a:pPr>
            <a:r>
              <a:rPr lang="it-IT" sz="1800" b="1">
                <a:solidFill>
                  <a:srgbClr val="087E8B"/>
                </a:solidFill>
                <a:latin typeface="Arial"/>
              </a:rPr>
              <a:t>Farmacocinetica: </a:t>
            </a:r>
            <a:r>
              <a:rPr lang="it-IT" sz="1800" b="0">
                <a:solidFill>
                  <a:srgbClr val="193248"/>
                </a:solidFill>
                <a:latin typeface="Arial"/>
              </a:rPr>
              <a:t>che cosa fa l’organismo al farmaco durante il suo percorso (ADME).</a:t>
            </a:r>
          </a:p>
        </p:txBody>
      </p:sp>
      <p:sp>
        <p:nvSpPr>
          <p:cNvPr id="25" name="TextBox 24"/>
          <p:cNvSpPr txBox="1"/>
          <p:nvPr/>
        </p:nvSpPr>
        <p:spPr>
          <a:xfrm>
            <a:off x="705002" y="3694175"/>
            <a:ext cx="5193792" cy="333756"/>
          </a:xfrm>
          <a:prstGeom prst="rect">
            <a:avLst/>
          </a:prstGeom>
          <a:noFill/>
        </p:spPr>
        <p:txBody>
          <a:bodyPr wrap="square" lIns="0" tIns="0" rIns="0" bIns="0">
            <a:noAutofit/>
          </a:bodyPr>
          <a:lstStyle/>
          <a:p>
            <a:pPr>
              <a:spcAft>
                <a:spcPts val="400"/>
              </a:spcAft>
              <a:defRPr sz="2025" b="1">
                <a:solidFill>
                  <a:srgbClr val="087E8B"/>
                </a:solidFill>
                <a:latin typeface="Arial"/>
              </a:defRPr>
            </a:pPr>
            <a:r>
              <a:t>Assorbimento</a:t>
            </a:r>
          </a:p>
        </p:txBody>
      </p:sp>
      <p:sp>
        <p:nvSpPr>
          <p:cNvPr id="26" name="TextBox 25"/>
          <p:cNvSpPr txBox="1"/>
          <p:nvPr/>
        </p:nvSpPr>
        <p:spPr>
          <a:xfrm>
            <a:off x="705002" y="4087367"/>
            <a:ext cx="5193792" cy="859536"/>
          </a:xfrm>
          <a:prstGeom prst="rect">
            <a:avLst/>
          </a:prstGeom>
          <a:noFill/>
        </p:spPr>
        <p:txBody>
          <a:bodyPr wrap="square" lIns="0" tIns="0" rIns="0" bIns="0">
            <a:noAutofit/>
          </a:bodyPr>
          <a:lstStyle/>
          <a:p>
            <a:pPr>
              <a:lnSpc>
                <a:spcPts val="2100"/>
              </a:lnSpc>
              <a:spcAft>
                <a:spcPts val="0"/>
              </a:spcAft>
              <a:defRPr sz="1900" b="0">
                <a:solidFill>
                  <a:srgbClr val="193248"/>
                </a:solidFill>
                <a:latin typeface="Arial"/>
              </a:defRPr>
            </a:pPr>
            <a:r>
              <a:rPr lang="it-IT" sz="1900" b="0">
                <a:solidFill>
                  <a:srgbClr val="193248"/>
                </a:solidFill>
                <a:latin typeface="Arial"/>
              </a:rPr>
              <a:t>Passaggio dalla sede di somministrazione al sangue. La via endovenosa lo immette direttamente in circolo, senza assorbimento.</a:t>
            </a:r>
            <a:endParaRPr lang="it-IT"/>
          </a:p>
        </p:txBody>
      </p:sp>
      <p:sp>
        <p:nvSpPr>
          <p:cNvPr id="27" name="TextBox 26"/>
          <p:cNvSpPr txBox="1"/>
          <p:nvPr/>
        </p:nvSpPr>
        <p:spPr>
          <a:xfrm>
            <a:off x="6364224" y="3694175"/>
            <a:ext cx="5193792" cy="333756"/>
          </a:xfrm>
          <a:prstGeom prst="rect">
            <a:avLst/>
          </a:prstGeom>
          <a:noFill/>
        </p:spPr>
        <p:txBody>
          <a:bodyPr wrap="square" lIns="0" tIns="0" rIns="0" bIns="0">
            <a:noAutofit/>
          </a:bodyPr>
          <a:lstStyle/>
          <a:p>
            <a:pPr>
              <a:spcAft>
                <a:spcPts val="400"/>
              </a:spcAft>
              <a:defRPr sz="2025" b="1">
                <a:solidFill>
                  <a:srgbClr val="087E8B"/>
                </a:solidFill>
                <a:latin typeface="Arial"/>
              </a:defRPr>
            </a:pPr>
            <a:r>
              <a:t>Distribuzione</a:t>
            </a:r>
          </a:p>
        </p:txBody>
      </p:sp>
      <p:sp>
        <p:nvSpPr>
          <p:cNvPr id="28" name="TextBox 27"/>
          <p:cNvSpPr txBox="1"/>
          <p:nvPr/>
        </p:nvSpPr>
        <p:spPr>
          <a:xfrm>
            <a:off x="6364224" y="4087367"/>
            <a:ext cx="5193792" cy="859536"/>
          </a:xfrm>
          <a:prstGeom prst="rect">
            <a:avLst/>
          </a:prstGeom>
          <a:noFill/>
        </p:spPr>
        <p:txBody>
          <a:bodyPr wrap="square" lIns="0" tIns="0" rIns="0" bIns="0">
            <a:noAutofit/>
          </a:bodyPr>
          <a:lstStyle/>
          <a:p>
            <a:pPr>
              <a:lnSpc>
                <a:spcPts val="2100"/>
              </a:lnSpc>
              <a:spcAft>
                <a:spcPts val="0"/>
              </a:spcAft>
              <a:defRPr sz="1900" b="0">
                <a:solidFill>
                  <a:srgbClr val="193248"/>
                </a:solidFill>
                <a:latin typeface="Arial"/>
              </a:defRPr>
            </a:pPr>
            <a:r>
              <a:rPr lang="it-IT" sz="1900" b="0">
                <a:solidFill>
                  <a:srgbClr val="193248"/>
                </a:solidFill>
                <a:latin typeface="Arial"/>
              </a:rPr>
              <a:t>Dal sangue ai tessuti. Dipende da flusso sanguigno, barriere biologiche e legame alle proteine plasmatiche.</a:t>
            </a:r>
            <a:endParaRPr lang="it-IT"/>
          </a:p>
        </p:txBody>
      </p:sp>
      <p:sp>
        <p:nvSpPr>
          <p:cNvPr id="29" name="TextBox 28"/>
          <p:cNvSpPr txBox="1"/>
          <p:nvPr/>
        </p:nvSpPr>
        <p:spPr>
          <a:xfrm>
            <a:off x="705002" y="5138928"/>
            <a:ext cx="5193792" cy="333756"/>
          </a:xfrm>
          <a:prstGeom prst="rect">
            <a:avLst/>
          </a:prstGeom>
          <a:noFill/>
        </p:spPr>
        <p:txBody>
          <a:bodyPr wrap="square" lIns="0" tIns="0" rIns="0" bIns="0">
            <a:noAutofit/>
          </a:bodyPr>
          <a:lstStyle/>
          <a:p>
            <a:pPr>
              <a:spcAft>
                <a:spcPts val="400"/>
              </a:spcAft>
              <a:defRPr sz="2025" b="1">
                <a:solidFill>
                  <a:srgbClr val="087E8B"/>
                </a:solidFill>
                <a:latin typeface="Arial"/>
              </a:defRPr>
            </a:pPr>
            <a:r>
              <a:t>Metabolismo</a:t>
            </a:r>
          </a:p>
        </p:txBody>
      </p:sp>
      <p:sp>
        <p:nvSpPr>
          <p:cNvPr id="30" name="TextBox 29"/>
          <p:cNvSpPr txBox="1"/>
          <p:nvPr/>
        </p:nvSpPr>
        <p:spPr>
          <a:xfrm>
            <a:off x="705002" y="5532120"/>
            <a:ext cx="5193792" cy="859536"/>
          </a:xfrm>
          <a:prstGeom prst="rect">
            <a:avLst/>
          </a:prstGeom>
          <a:noFill/>
        </p:spPr>
        <p:txBody>
          <a:bodyPr wrap="square" lIns="0" tIns="0" rIns="0" bIns="0">
            <a:noAutofit/>
          </a:bodyPr>
          <a:lstStyle/>
          <a:p>
            <a:pPr>
              <a:lnSpc>
                <a:spcPts val="2100"/>
              </a:lnSpc>
              <a:spcAft>
                <a:spcPts val="0"/>
              </a:spcAft>
              <a:defRPr sz="1900" b="0">
                <a:solidFill>
                  <a:srgbClr val="193248"/>
                </a:solidFill>
                <a:latin typeface="Arial"/>
              </a:defRPr>
            </a:pPr>
            <a:r>
              <a:rPr lang="it-IT" sz="1900" b="0">
                <a:solidFill>
                  <a:srgbClr val="193248"/>
                </a:solidFill>
                <a:latin typeface="Arial"/>
              </a:rPr>
              <a:t>Trasformazione chimica, soprattutto nel fegato. Può produrre metaboliti inattivi, attivi o tossici.</a:t>
            </a:r>
            <a:endParaRPr lang="it-IT"/>
          </a:p>
        </p:txBody>
      </p:sp>
      <p:sp>
        <p:nvSpPr>
          <p:cNvPr id="31" name="TextBox 30"/>
          <p:cNvSpPr txBox="1"/>
          <p:nvPr/>
        </p:nvSpPr>
        <p:spPr>
          <a:xfrm>
            <a:off x="6364224" y="5138928"/>
            <a:ext cx="5193792" cy="333756"/>
          </a:xfrm>
          <a:prstGeom prst="rect">
            <a:avLst/>
          </a:prstGeom>
          <a:noFill/>
        </p:spPr>
        <p:txBody>
          <a:bodyPr wrap="square" lIns="0" tIns="0" rIns="0" bIns="0">
            <a:noAutofit/>
          </a:bodyPr>
          <a:lstStyle/>
          <a:p>
            <a:pPr>
              <a:spcAft>
                <a:spcPts val="400"/>
              </a:spcAft>
              <a:defRPr sz="2025" b="1">
                <a:solidFill>
                  <a:srgbClr val="087E8B"/>
                </a:solidFill>
                <a:latin typeface="Arial"/>
              </a:defRPr>
            </a:pPr>
            <a:r>
              <a:rPr lang="it-IT"/>
              <a:t>Escrezione</a:t>
            </a:r>
          </a:p>
        </p:txBody>
      </p:sp>
      <p:sp>
        <p:nvSpPr>
          <p:cNvPr id="32" name="TextBox 31"/>
          <p:cNvSpPr txBox="1"/>
          <p:nvPr/>
        </p:nvSpPr>
        <p:spPr>
          <a:xfrm>
            <a:off x="6364224" y="5532120"/>
            <a:ext cx="5193792" cy="859536"/>
          </a:xfrm>
          <a:prstGeom prst="rect">
            <a:avLst/>
          </a:prstGeom>
          <a:noFill/>
        </p:spPr>
        <p:txBody>
          <a:bodyPr wrap="square" lIns="0" tIns="0" rIns="0" bIns="0">
            <a:noAutofit/>
          </a:bodyPr>
          <a:lstStyle/>
          <a:p>
            <a:pPr>
              <a:lnSpc>
                <a:spcPts val="2100"/>
              </a:lnSpc>
              <a:spcAft>
                <a:spcPts val="0"/>
              </a:spcAft>
              <a:defRPr sz="1900" b="0">
                <a:solidFill>
                  <a:srgbClr val="193248"/>
                </a:solidFill>
                <a:latin typeface="Arial"/>
              </a:defRPr>
            </a:pPr>
            <a:r>
              <a:rPr lang="it-IT" sz="1900" b="0">
                <a:solidFill>
                  <a:srgbClr val="193248"/>
                </a:solidFill>
                <a:latin typeface="Arial"/>
              </a:rPr>
              <a:t>Eliminazione del farmaco e dei metaboliti, soprattutto con le urine e, per alcuni, con la bile.</a:t>
            </a:r>
          </a:p>
        </p:txBody>
      </p:sp>
      <p:sp>
        <p:nvSpPr>
          <p:cNvPr id="33" name="TextBox 32"/>
          <p:cNvSpPr txBox="1"/>
          <p:nvPr/>
        </p:nvSpPr>
        <p:spPr>
          <a:xfrm>
            <a:off x="705002" y="2706624"/>
            <a:ext cx="10839297" cy="530352"/>
          </a:xfrm>
          <a:prstGeom prst="rect">
            <a:avLst/>
          </a:prstGeom>
          <a:noFill/>
        </p:spPr>
        <p:txBody>
          <a:bodyPr wrap="square" lIns="0" tIns="0" rIns="0" bIns="0">
            <a:noAutofit/>
          </a:bodyPr>
          <a:lstStyle/>
          <a:p>
            <a:pPr>
              <a:lnSpc>
                <a:spcPts val="2100"/>
              </a:lnSpc>
              <a:spcAft>
                <a:spcPts val="0"/>
              </a:spcAft>
              <a:defRPr sz="1900" b="1">
                <a:solidFill>
                  <a:srgbClr val="123F67"/>
                </a:solidFill>
                <a:latin typeface="Arial"/>
              </a:defRPr>
            </a:pPr>
            <a:r>
              <a:rPr lang="it-IT" sz="1800" b="1">
                <a:solidFill>
                  <a:srgbClr val="087E8B"/>
                </a:solidFill>
                <a:latin typeface="Arial"/>
              </a:rPr>
              <a:t>Farmacodinamica: </a:t>
            </a:r>
            <a:r>
              <a:rPr lang="it-IT" sz="1800" b="0">
                <a:solidFill>
                  <a:srgbClr val="193248"/>
                </a:solidFill>
                <a:latin typeface="Arial"/>
              </a:rPr>
              <a:t>che cosa fa il farmaco all’organismo: bersagli biologici ed effetti.</a:t>
            </a:r>
          </a:p>
        </p:txBody>
      </p:sp>
      <p:sp>
        <p:nvSpPr>
          <p:cNvPr id="34" name="TextBox 33"/>
          <p:cNvSpPr txBox="1"/>
          <p:nvPr/>
        </p:nvSpPr>
        <p:spPr>
          <a:xfrm>
            <a:off x="704088" y="1819656"/>
            <a:ext cx="1664208" cy="438912"/>
          </a:xfrm>
          <a:prstGeom prst="rect">
            <a:avLst/>
          </a:prstGeom>
          <a:noFill/>
        </p:spPr>
        <p:txBody>
          <a:bodyPr wrap="square" lIns="0" rIns="0">
            <a:spAutoFit/>
          </a:bodyPr>
          <a:lstStyle/>
          <a:p>
            <a:r>
              <a:rPr sz="2300" b="1">
                <a:solidFill>
                  <a:srgbClr val="123F67"/>
                </a:solidFill>
                <a:latin typeface="Arial"/>
              </a:rPr>
              <a:t>FARMACO</a:t>
            </a:r>
          </a:p>
        </p:txBody>
      </p:sp>
      <p:sp>
        <p:nvSpPr>
          <p:cNvPr id="35" name="Left Brace 34"/>
          <p:cNvSpPr/>
          <p:nvPr/>
        </p:nvSpPr>
        <p:spPr>
          <a:xfrm>
            <a:off x="2350008" y="1618488"/>
            <a:ext cx="237744" cy="877824"/>
          </a:xfrm>
          <a:prstGeom prst="leftBrace">
            <a:avLst/>
          </a:prstGeom>
          <a:noFill/>
          <a:ln w="22225">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000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904" y="209397"/>
            <a:ext cx="10858500" cy="267004"/>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FARMACOLOGIA · 2 DI 3</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904" y="571500"/>
            <a:ext cx="10972800" cy="649224"/>
          </a:xfrm>
          <a:prstGeom prst="rect">
            <a:avLst/>
          </a:prstGeom>
          <a:noFill/>
          <a:ln w="0">
            <a:noFill/>
          </a:ln>
        </p:spPr>
        <p:txBody>
          <a:bodyPr>
            <a:noAutofit/>
          </a:bodyPr>
          <a:lstStyle/>
          <a:p>
            <a:pPr>
              <a:defRPr sz="3225" b="1">
                <a:solidFill>
                  <a:srgbClr val="123F67"/>
                </a:solidFill>
                <a:latin typeface="Arial"/>
                <a:ea typeface="Arial"/>
                <a:cs typeface="Arial"/>
              </a:defRPr>
            </a:pPr>
            <a:r>
              <a:rPr sz="3225" b="1">
                <a:solidFill>
                  <a:srgbClr val="123F67"/>
                </a:solidFill>
                <a:latin typeface="Arial"/>
                <a:ea typeface="Arial"/>
                <a:cs typeface="Arial"/>
              </a:rPr>
              <a:t>Farmacologia: classificazione</a:t>
            </a:r>
            <a:r>
              <a:rPr lang="it-IT" sz="3225" b="1">
                <a:solidFill>
                  <a:srgbClr val="123F67"/>
                </a:solidFill>
                <a:latin typeface="Arial"/>
                <a:ea typeface="Arial"/>
                <a:cs typeface="Arial"/>
              </a:rPr>
              <a:t> e uso sicuro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609904" y="1335024"/>
            <a:ext cx="10972800" cy="19202"/>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62</a:t>
            </a:r>
            <a:endParaRPr sz="1350" b="1">
              <a:solidFill>
                <a:srgbClr val="123F67"/>
              </a:solidFill>
              <a:latin typeface="Arial"/>
              <a:ea typeface="Arial"/>
              <a:cs typeface="Arial"/>
            </a:endParaRPr>
          </a:p>
        </p:txBody>
      </p:sp>
      <p:sp>
        <p:nvSpPr>
          <p:cNvPr id="16" name="TextBox 15"/>
          <p:cNvSpPr txBox="1"/>
          <p:nvPr/>
        </p:nvSpPr>
        <p:spPr>
          <a:xfrm>
            <a:off x="704088" y="1618488"/>
            <a:ext cx="5193792" cy="256032"/>
          </a:xfrm>
          <a:prstGeom prst="rect">
            <a:avLst/>
          </a:prstGeom>
          <a:noFill/>
        </p:spPr>
        <p:txBody>
          <a:bodyPr wrap="square" lIns="0" tIns="0" rIns="0" bIns="0">
            <a:spAutoFit/>
          </a:bodyPr>
          <a:lstStyle/>
          <a:p>
            <a:pPr>
              <a:lnSpc>
                <a:spcPts val="1600"/>
              </a:lnSpc>
              <a:spcAft>
                <a:spcPts val="0"/>
              </a:spcAft>
            </a:pPr>
            <a:r>
              <a:rPr sz="1400" b="1">
                <a:solidFill>
                  <a:srgbClr val="087E8B"/>
                </a:solidFill>
                <a:latin typeface="Arial"/>
              </a:rPr>
              <a:t>COME SI DESCRIVE UN MEDICINALE</a:t>
            </a:r>
          </a:p>
        </p:txBody>
      </p:sp>
      <p:sp>
        <p:nvSpPr>
          <p:cNvPr id="17" name="TextBox 16"/>
          <p:cNvSpPr txBox="1"/>
          <p:nvPr/>
        </p:nvSpPr>
        <p:spPr>
          <a:xfrm>
            <a:off x="6364224" y="1618488"/>
            <a:ext cx="5193792" cy="256032"/>
          </a:xfrm>
          <a:prstGeom prst="rect">
            <a:avLst/>
          </a:prstGeom>
          <a:noFill/>
        </p:spPr>
        <p:txBody>
          <a:bodyPr wrap="square" lIns="0" tIns="0" rIns="0" bIns="0">
            <a:spAutoFit/>
          </a:bodyPr>
          <a:lstStyle/>
          <a:p>
            <a:pPr>
              <a:lnSpc>
                <a:spcPts val="1600"/>
              </a:lnSpc>
              <a:spcAft>
                <a:spcPts val="0"/>
              </a:spcAft>
            </a:pPr>
            <a:r>
              <a:rPr sz="1400" b="1">
                <a:solidFill>
                  <a:srgbClr val="087E8B"/>
                </a:solidFill>
                <a:latin typeface="Arial"/>
              </a:rPr>
              <a:t>CONCETTI PER UN USO CORRETTO</a:t>
            </a:r>
          </a:p>
        </p:txBody>
      </p:sp>
      <p:sp>
        <p:nvSpPr>
          <p:cNvPr id="18" name="TextBox 17"/>
          <p:cNvSpPr txBox="1"/>
          <p:nvPr/>
        </p:nvSpPr>
        <p:spPr>
          <a:xfrm>
            <a:off x="704088" y="2002536"/>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Preparazione</a:t>
            </a:r>
          </a:p>
        </p:txBody>
      </p:sp>
      <p:sp>
        <p:nvSpPr>
          <p:cNvPr id="19" name="TextBox 18"/>
          <p:cNvSpPr txBox="1"/>
          <p:nvPr/>
        </p:nvSpPr>
        <p:spPr>
          <a:xfrm>
            <a:off x="704088" y="2350008"/>
            <a:ext cx="5193792" cy="694944"/>
          </a:xfrm>
          <a:prstGeom prst="rect">
            <a:avLst/>
          </a:prstGeom>
          <a:noFill/>
        </p:spPr>
        <p:txBody>
          <a:bodyPr wrap="square" lIns="0" tIns="0" rIns="0" bIns="0">
            <a:spAutoFit/>
          </a:bodyPr>
          <a:lstStyle/>
          <a:p>
            <a:pPr>
              <a:lnSpc>
                <a:spcPts val="1950"/>
              </a:lnSpc>
              <a:spcAft>
                <a:spcPts val="0"/>
              </a:spcAft>
            </a:pPr>
            <a:r>
              <a:rPr lang="it-IT" sz="1750" b="0">
                <a:solidFill>
                  <a:srgbClr val="193248"/>
                </a:solidFill>
                <a:latin typeface="Arial"/>
              </a:rPr>
              <a:t>Industriale o galenica (allestita in farmacia). Magistrale: per un singolo paziente.</a:t>
            </a:r>
          </a:p>
        </p:txBody>
      </p:sp>
      <p:sp>
        <p:nvSpPr>
          <p:cNvPr id="20" name="TextBox 19"/>
          <p:cNvSpPr txBox="1"/>
          <p:nvPr/>
        </p:nvSpPr>
        <p:spPr>
          <a:xfrm>
            <a:off x="704088" y="3081528"/>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Via di somministrazione</a:t>
            </a:r>
          </a:p>
        </p:txBody>
      </p:sp>
      <p:sp>
        <p:nvSpPr>
          <p:cNvPr id="21" name="TextBox 20"/>
          <p:cNvSpPr txBox="1"/>
          <p:nvPr/>
        </p:nvSpPr>
        <p:spPr>
          <a:xfrm>
            <a:off x="704088" y="3429000"/>
            <a:ext cx="5193792" cy="694944"/>
          </a:xfrm>
          <a:prstGeom prst="rect">
            <a:avLst/>
          </a:prstGeom>
          <a:noFill/>
        </p:spPr>
        <p:txBody>
          <a:bodyPr wrap="square" lIns="0" tIns="0" rIns="0" bIns="0">
            <a:spAutoFit/>
          </a:bodyPr>
          <a:lstStyle/>
          <a:p>
            <a:pPr>
              <a:lnSpc>
                <a:spcPts val="1950"/>
              </a:lnSpc>
              <a:spcAft>
                <a:spcPts val="0"/>
              </a:spcAft>
            </a:pPr>
            <a:r>
              <a:rPr sz="1750" b="0">
                <a:solidFill>
                  <a:srgbClr val="193248"/>
                </a:solidFill>
                <a:latin typeface="Arial"/>
              </a:rPr>
              <a:t>Percorso di ingresso: orale, endovenosa, intramuscolare, sottocutanea, inalatoria o cutanea.</a:t>
            </a:r>
          </a:p>
        </p:txBody>
      </p:sp>
      <p:sp>
        <p:nvSpPr>
          <p:cNvPr id="22" name="TextBox 21"/>
          <p:cNvSpPr txBox="1"/>
          <p:nvPr/>
        </p:nvSpPr>
        <p:spPr>
          <a:xfrm>
            <a:off x="704088" y="4160519"/>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Forma farmaceutica</a:t>
            </a:r>
          </a:p>
        </p:txBody>
      </p:sp>
      <p:sp>
        <p:nvSpPr>
          <p:cNvPr id="23" name="TextBox 22"/>
          <p:cNvSpPr txBox="1"/>
          <p:nvPr/>
        </p:nvSpPr>
        <p:spPr>
          <a:xfrm>
            <a:off x="704088" y="4507992"/>
            <a:ext cx="5193792" cy="694944"/>
          </a:xfrm>
          <a:prstGeom prst="rect">
            <a:avLst/>
          </a:prstGeom>
          <a:noFill/>
        </p:spPr>
        <p:txBody>
          <a:bodyPr wrap="square" lIns="0" tIns="0" rIns="0" bIns="0">
            <a:spAutoFit/>
          </a:bodyPr>
          <a:lstStyle/>
          <a:p>
            <a:pPr>
              <a:lnSpc>
                <a:spcPts val="1950"/>
              </a:lnSpc>
              <a:spcAft>
                <a:spcPts val="0"/>
              </a:spcAft>
            </a:pPr>
            <a:r>
              <a:rPr lang="it-IT" sz="1750" b="0">
                <a:solidFill>
                  <a:srgbClr val="193248"/>
                </a:solidFill>
                <a:latin typeface="Arial"/>
              </a:rPr>
              <a:t>Forma fisica e formulazione: compressa, capsula, soluzione o crema.</a:t>
            </a:r>
          </a:p>
        </p:txBody>
      </p:sp>
      <p:sp>
        <p:nvSpPr>
          <p:cNvPr id="24" name="TextBox 23"/>
          <p:cNvSpPr txBox="1"/>
          <p:nvPr/>
        </p:nvSpPr>
        <p:spPr>
          <a:xfrm>
            <a:off x="704088" y="5239512"/>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Effetto atteso</a:t>
            </a:r>
          </a:p>
        </p:txBody>
      </p:sp>
      <p:sp>
        <p:nvSpPr>
          <p:cNvPr id="25" name="TextBox 24"/>
          <p:cNvSpPr txBox="1"/>
          <p:nvPr/>
        </p:nvSpPr>
        <p:spPr>
          <a:xfrm>
            <a:off x="704088" y="5586984"/>
            <a:ext cx="5193792" cy="694944"/>
          </a:xfrm>
          <a:prstGeom prst="rect">
            <a:avLst/>
          </a:prstGeom>
          <a:noFill/>
        </p:spPr>
        <p:txBody>
          <a:bodyPr wrap="square" lIns="0" tIns="0" rIns="0" bIns="0">
            <a:spAutoFit/>
          </a:bodyPr>
          <a:lstStyle/>
          <a:p>
            <a:pPr>
              <a:lnSpc>
                <a:spcPts val="1950"/>
              </a:lnSpc>
              <a:spcAft>
                <a:spcPts val="0"/>
              </a:spcAft>
            </a:pPr>
            <a:r>
              <a:rPr sz="1750" b="0">
                <a:solidFill>
                  <a:srgbClr val="193248"/>
                </a:solidFill>
                <a:latin typeface="Arial"/>
              </a:rPr>
              <a:t>Azione per cui si usa il farmaco: per esempio analgesica, antipiretica o antinfiammatoria.</a:t>
            </a:r>
          </a:p>
        </p:txBody>
      </p:sp>
      <p:sp>
        <p:nvSpPr>
          <p:cNvPr id="26" name="TextBox 25"/>
          <p:cNvSpPr txBox="1"/>
          <p:nvPr/>
        </p:nvSpPr>
        <p:spPr>
          <a:xfrm>
            <a:off x="6364224" y="2002536"/>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Dose e posologia</a:t>
            </a:r>
          </a:p>
        </p:txBody>
      </p:sp>
      <p:sp>
        <p:nvSpPr>
          <p:cNvPr id="27" name="TextBox 26"/>
          <p:cNvSpPr txBox="1"/>
          <p:nvPr/>
        </p:nvSpPr>
        <p:spPr>
          <a:xfrm>
            <a:off x="6364224" y="2350008"/>
            <a:ext cx="5193792" cy="694944"/>
          </a:xfrm>
          <a:prstGeom prst="rect">
            <a:avLst/>
          </a:prstGeom>
          <a:noFill/>
        </p:spPr>
        <p:txBody>
          <a:bodyPr wrap="square" lIns="0" tIns="0" rIns="0" bIns="0">
            <a:spAutoFit/>
          </a:bodyPr>
          <a:lstStyle/>
          <a:p>
            <a:pPr>
              <a:lnSpc>
                <a:spcPts val="1950"/>
              </a:lnSpc>
              <a:spcAft>
                <a:spcPts val="0"/>
              </a:spcAft>
            </a:pPr>
            <a:r>
              <a:rPr lang="it-IT" sz="1750" b="0">
                <a:solidFill>
                  <a:srgbClr val="193248"/>
                </a:solidFill>
                <a:latin typeface="Arial"/>
              </a:rPr>
              <a:t>Dose: quantità somministrata. Posologia: dose, intervalli, via e durata del trattamento.</a:t>
            </a:r>
          </a:p>
        </p:txBody>
      </p:sp>
      <p:sp>
        <p:nvSpPr>
          <p:cNvPr id="28" name="TextBox 27"/>
          <p:cNvSpPr txBox="1"/>
          <p:nvPr/>
        </p:nvSpPr>
        <p:spPr>
          <a:xfrm>
            <a:off x="6364224" y="3081528"/>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Biodisponibilità</a:t>
            </a:r>
          </a:p>
        </p:txBody>
      </p:sp>
      <p:sp>
        <p:nvSpPr>
          <p:cNvPr id="29" name="TextBox 28"/>
          <p:cNvSpPr txBox="1"/>
          <p:nvPr/>
        </p:nvSpPr>
        <p:spPr>
          <a:xfrm>
            <a:off x="6364224" y="3429000"/>
            <a:ext cx="5193792" cy="694944"/>
          </a:xfrm>
          <a:prstGeom prst="rect">
            <a:avLst/>
          </a:prstGeom>
          <a:noFill/>
        </p:spPr>
        <p:txBody>
          <a:bodyPr wrap="square" lIns="0" tIns="0" rIns="0" bIns="0">
            <a:spAutoFit/>
          </a:bodyPr>
          <a:lstStyle/>
          <a:p>
            <a:pPr>
              <a:lnSpc>
                <a:spcPts val="1950"/>
              </a:lnSpc>
              <a:spcAft>
                <a:spcPts val="0"/>
              </a:spcAft>
            </a:pPr>
            <a:r>
              <a:rPr sz="1750" b="0">
                <a:solidFill>
                  <a:srgbClr val="193248"/>
                </a:solidFill>
                <a:latin typeface="Arial"/>
              </a:rPr>
              <a:t>Quota della dose che raggiunge il circolo sistemico. Dipende anche dalla via di somministrazione.</a:t>
            </a:r>
          </a:p>
        </p:txBody>
      </p:sp>
      <p:sp>
        <p:nvSpPr>
          <p:cNvPr id="30" name="TextBox 29"/>
          <p:cNvSpPr txBox="1"/>
          <p:nvPr/>
        </p:nvSpPr>
        <p:spPr>
          <a:xfrm>
            <a:off x="6364224" y="4160519"/>
            <a:ext cx="5193792" cy="283464"/>
          </a:xfrm>
          <a:prstGeom prst="rect">
            <a:avLst/>
          </a:prstGeom>
          <a:noFill/>
        </p:spPr>
        <p:txBody>
          <a:bodyPr wrap="square" lIns="0" tIns="0" rIns="0" bIns="0">
            <a:spAutoFit/>
          </a:bodyPr>
          <a:lstStyle/>
          <a:p>
            <a:pPr>
              <a:lnSpc>
                <a:spcPts val="2200"/>
              </a:lnSpc>
              <a:spcAft>
                <a:spcPts val="0"/>
              </a:spcAft>
            </a:pPr>
            <a:r>
              <a:rPr lang="it-IT" sz="2000" b="1">
                <a:solidFill>
                  <a:srgbClr val="087E8B"/>
                </a:solidFill>
                <a:latin typeface="Arial"/>
              </a:rPr>
              <a:t>Emivita</a:t>
            </a:r>
          </a:p>
        </p:txBody>
      </p:sp>
      <p:sp>
        <p:nvSpPr>
          <p:cNvPr id="31" name="TextBox 30"/>
          <p:cNvSpPr txBox="1"/>
          <p:nvPr/>
        </p:nvSpPr>
        <p:spPr>
          <a:xfrm>
            <a:off x="6364224" y="4507992"/>
            <a:ext cx="5193792" cy="694944"/>
          </a:xfrm>
          <a:prstGeom prst="rect">
            <a:avLst/>
          </a:prstGeom>
          <a:noFill/>
        </p:spPr>
        <p:txBody>
          <a:bodyPr wrap="square" lIns="0" tIns="0" rIns="0" bIns="0">
            <a:spAutoFit/>
          </a:bodyPr>
          <a:lstStyle/>
          <a:p>
            <a:pPr>
              <a:lnSpc>
                <a:spcPts val="1950"/>
              </a:lnSpc>
              <a:spcAft>
                <a:spcPts val="0"/>
              </a:spcAft>
            </a:pPr>
            <a:r>
              <a:rPr lang="it-IT" sz="1750" b="0">
                <a:solidFill>
                  <a:srgbClr val="193248"/>
                </a:solidFill>
                <a:latin typeface="Arial"/>
              </a:rPr>
              <a:t>Tempo necessario perché la concentrazione del farmaco nel sangue si riduca della metà.</a:t>
            </a:r>
          </a:p>
        </p:txBody>
      </p:sp>
      <p:sp>
        <p:nvSpPr>
          <p:cNvPr id="32" name="TextBox 31"/>
          <p:cNvSpPr txBox="1"/>
          <p:nvPr/>
        </p:nvSpPr>
        <p:spPr>
          <a:xfrm>
            <a:off x="6364224" y="5239512"/>
            <a:ext cx="5193792" cy="283464"/>
          </a:xfrm>
          <a:prstGeom prst="rect">
            <a:avLst/>
          </a:prstGeom>
          <a:noFill/>
        </p:spPr>
        <p:txBody>
          <a:bodyPr wrap="square" lIns="0" tIns="0" rIns="0" bIns="0">
            <a:spAutoFit/>
          </a:bodyPr>
          <a:lstStyle/>
          <a:p>
            <a:pPr>
              <a:lnSpc>
                <a:spcPts val="2200"/>
              </a:lnSpc>
              <a:spcAft>
                <a:spcPts val="0"/>
              </a:spcAft>
            </a:pPr>
            <a:r>
              <a:rPr sz="2000" b="1">
                <a:solidFill>
                  <a:srgbClr val="087E8B"/>
                </a:solidFill>
                <a:latin typeface="Arial"/>
              </a:rPr>
              <a:t>Beneficio e rischio</a:t>
            </a:r>
          </a:p>
        </p:txBody>
      </p:sp>
      <p:sp>
        <p:nvSpPr>
          <p:cNvPr id="33" name="TextBox 32"/>
          <p:cNvSpPr txBox="1"/>
          <p:nvPr/>
        </p:nvSpPr>
        <p:spPr>
          <a:xfrm>
            <a:off x="6364224" y="5586984"/>
            <a:ext cx="5193792" cy="694944"/>
          </a:xfrm>
          <a:prstGeom prst="rect">
            <a:avLst/>
          </a:prstGeom>
          <a:noFill/>
        </p:spPr>
        <p:txBody>
          <a:bodyPr wrap="square" lIns="0" tIns="0" rIns="0" bIns="0">
            <a:spAutoFit/>
          </a:bodyPr>
          <a:lstStyle/>
          <a:p>
            <a:pPr>
              <a:lnSpc>
                <a:spcPts val="1950"/>
              </a:lnSpc>
              <a:spcAft>
                <a:spcPts val="0"/>
              </a:spcAft>
            </a:pPr>
            <a:r>
              <a:rPr sz="1750" b="0">
                <a:solidFill>
                  <a:srgbClr val="193248"/>
                </a:solidFill>
                <a:latin typeface="Arial"/>
              </a:rPr>
              <a:t>Considerare reazioni avverse, interazioni e controindicazioni. La risposta varia tra persone.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00000005-0001-4000-8000-000000000000}"/>
              </a:ext>
            </a:extLst>
          </p:cNvPr>
          <p:cNvSpPr>
            <a:spLocks noGrp="1"/>
          </p:cNvSpPr>
          <p:nvPr/>
        </p:nvSpPr>
        <p:spPr>
          <a:xfrm>
            <a:off x="0" y="0"/>
            <a:ext cx="152400" cy="6858000"/>
          </a:xfrm>
          <a:prstGeom prst="rect">
            <a:avLst/>
          </a:prstGeom>
          <a:solidFill>
            <a:srgbClr val="123F67"/>
          </a:solidFill>
          <a:ln w="0">
            <a:noFill/>
          </a:ln>
        </p:spPr>
        <p:txBody>
          <a:bodyPr/>
          <a:lstStyle/>
          <a:p>
            <a:endParaRPr lang="it-IT"/>
          </a:p>
        </p:txBody>
      </p:sp>
      <p:sp>
        <p:nvSpPr>
          <p:cNvPr id="2" name="Rettangolo 1">
            <a:extLst>
              <a:ext uri="{FF2B5EF4-FFF2-40B4-BE49-F238E27FC236}">
                <a16:creationId xmlns:a16="http://schemas.microsoft.com/office/drawing/2014/main" id="{00000005-0002-4000-8000-000000000000}"/>
              </a:ext>
            </a:extLst>
          </p:cNvPr>
          <p:cNvSpPr>
            <a:spLocks noGrp="1"/>
          </p:cNvSpPr>
          <p:nvPr/>
        </p:nvSpPr>
        <p:spPr>
          <a:xfrm>
            <a:off x="609904" y="209397"/>
            <a:ext cx="10858500" cy="267004"/>
          </a:xfrm>
          <a:prstGeom prst="rect">
            <a:avLst/>
          </a:prstGeom>
          <a:noFill/>
          <a:ln w="0">
            <a:noFill/>
          </a:ln>
        </p:spPr>
        <p:txBody>
          <a:bodyPr>
            <a:noAutofit/>
          </a:bodyPr>
          <a:lstStyle/>
          <a:p>
            <a:pPr>
              <a:defRPr sz="1275" b="1">
                <a:solidFill>
                  <a:srgbClr val="087E8B"/>
                </a:solidFill>
                <a:latin typeface="Arial"/>
                <a:ea typeface="Arial"/>
                <a:cs typeface="Arial"/>
              </a:defRPr>
            </a:pPr>
            <a:r>
              <a:rPr sz="1275" b="1">
                <a:solidFill>
                  <a:srgbClr val="087E8B"/>
                </a:solidFill>
                <a:latin typeface="Arial"/>
                <a:ea typeface="Arial"/>
                <a:cs typeface="Arial"/>
              </a:rPr>
              <a:t>FARMACOLOGIA · 3 DI 3</a:t>
            </a:r>
          </a:p>
        </p:txBody>
      </p:sp>
      <p:sp>
        <p:nvSpPr>
          <p:cNvPr id="3" name="Rettangolo 2">
            <a:extLst>
              <a:ext uri="{FF2B5EF4-FFF2-40B4-BE49-F238E27FC236}">
                <a16:creationId xmlns:a16="http://schemas.microsoft.com/office/drawing/2014/main" id="{00000005-0003-4000-8000-000000000000}"/>
              </a:ext>
            </a:extLst>
          </p:cNvPr>
          <p:cNvSpPr>
            <a:spLocks noGrp="1"/>
          </p:cNvSpPr>
          <p:nvPr/>
        </p:nvSpPr>
        <p:spPr>
          <a:xfrm>
            <a:off x="609904" y="571500"/>
            <a:ext cx="10972800" cy="649224"/>
          </a:xfrm>
          <a:prstGeom prst="rect">
            <a:avLst/>
          </a:prstGeom>
          <a:noFill/>
          <a:ln w="0">
            <a:noFill/>
          </a:ln>
        </p:spPr>
        <p:txBody>
          <a:bodyPr>
            <a:noAutofit/>
          </a:bodyPr>
          <a:lstStyle/>
          <a:p>
            <a:pPr>
              <a:defRPr sz="3225" b="1">
                <a:solidFill>
                  <a:srgbClr val="123F67"/>
                </a:solidFill>
                <a:latin typeface="Arial"/>
                <a:ea typeface="Arial"/>
                <a:cs typeface="Arial"/>
              </a:defRPr>
            </a:pPr>
            <a:r>
              <a:rPr lang="it-IT" sz="3225" b="1">
                <a:solidFill>
                  <a:srgbClr val="123F67"/>
                </a:solidFill>
                <a:latin typeface="Arial"/>
                <a:ea typeface="Arial"/>
                <a:cs typeface="Arial"/>
              </a:rPr>
              <a:t>Farmaci: classi ed esempi d’uso</a:t>
            </a:r>
            <a:endParaRPr sz="3225" b="1">
              <a:solidFill>
                <a:srgbClr val="123F67"/>
              </a:solidFill>
              <a:latin typeface="Arial"/>
              <a:ea typeface="Arial"/>
              <a:cs typeface="Arial"/>
            </a:endParaRPr>
          </a:p>
        </p:txBody>
      </p:sp>
      <p:sp>
        <p:nvSpPr>
          <p:cNvPr id="4" name="Rettangolo 3">
            <a:extLst>
              <a:ext uri="{FF2B5EF4-FFF2-40B4-BE49-F238E27FC236}">
                <a16:creationId xmlns:a16="http://schemas.microsoft.com/office/drawing/2014/main" id="{00000005-0004-4000-8000-000000000000}"/>
              </a:ext>
            </a:extLst>
          </p:cNvPr>
          <p:cNvSpPr>
            <a:spLocks noGrp="1"/>
          </p:cNvSpPr>
          <p:nvPr/>
        </p:nvSpPr>
        <p:spPr>
          <a:xfrm>
            <a:off x="704088" y="1155346"/>
            <a:ext cx="10972800" cy="19202"/>
          </a:xfrm>
          <a:prstGeom prst="rect">
            <a:avLst/>
          </a:prstGeom>
          <a:solidFill>
            <a:srgbClr val="CEDDE8"/>
          </a:solidFill>
          <a:ln w="0">
            <a:noFill/>
          </a:ln>
        </p:spPr>
        <p:txBody>
          <a:bodyPr/>
          <a:lstStyle/>
          <a:p>
            <a:endParaRPr lang="it-IT"/>
          </a:p>
        </p:txBody>
      </p:sp>
      <p:sp>
        <p:nvSpPr>
          <p:cNvPr id="5" name="Rettangolo 4">
            <a:extLst>
              <a:ext uri="{FF2B5EF4-FFF2-40B4-BE49-F238E27FC236}">
                <a16:creationId xmlns:a16="http://schemas.microsoft.com/office/drawing/2014/main" id="{00000005-0005-4000-8000-000000000000}"/>
              </a:ext>
            </a:extLst>
          </p:cNvPr>
          <p:cNvSpPr>
            <a:spLocks noGrp="1"/>
          </p:cNvSpPr>
          <p:nvPr/>
        </p:nvSpPr>
        <p:spPr>
          <a:xfrm>
            <a:off x="704088" y="6601968"/>
            <a:ext cx="9906000" cy="219075"/>
          </a:xfrm>
          <a:prstGeom prst="rect">
            <a:avLst/>
          </a:prstGeom>
          <a:noFill/>
          <a:ln w="0">
            <a:noFill/>
          </a:ln>
        </p:spPr>
        <p:txBody>
          <a:bodyPr>
            <a:noAutofit/>
          </a:bodyPr>
          <a:lstStyle/>
          <a:p>
            <a:pPr>
              <a:defRPr sz="1200" b="0">
                <a:solidFill>
                  <a:srgbClr val="567082"/>
                </a:solidFill>
                <a:latin typeface="Arial"/>
                <a:ea typeface="Arial"/>
                <a:cs typeface="Arial"/>
              </a:defRPr>
            </a:pPr>
            <a:r>
              <a:rPr sz="1200" b="0">
                <a:solidFill>
                  <a:srgbClr val="567082"/>
                </a:solidFill>
                <a:latin typeface="Arial"/>
                <a:ea typeface="Arial"/>
                <a:cs typeface="Arial"/>
              </a:rPr>
              <a:t>Anatomia umana · Materiale didattico II.VV.</a:t>
            </a:r>
          </a:p>
        </p:txBody>
      </p:sp>
      <p:sp>
        <p:nvSpPr>
          <p:cNvPr id="6" name="Rettangolo 5">
            <a:extLst>
              <a:ext uri="{FF2B5EF4-FFF2-40B4-BE49-F238E27FC236}">
                <a16:creationId xmlns:a16="http://schemas.microsoft.com/office/drawing/2014/main" id="{00000005-0006-4000-8000-000000000000}"/>
              </a:ext>
            </a:extLst>
          </p:cNvPr>
          <p:cNvSpPr>
            <a:spLocks noGrp="1"/>
          </p:cNvSpPr>
          <p:nvPr/>
        </p:nvSpPr>
        <p:spPr>
          <a:xfrm>
            <a:off x="11049000" y="6583680"/>
            <a:ext cx="523875" cy="238125"/>
          </a:xfrm>
          <a:prstGeom prst="rect">
            <a:avLst/>
          </a:prstGeom>
          <a:noFill/>
          <a:ln w="0">
            <a:noFill/>
          </a:ln>
        </p:spPr>
        <p:txBody>
          <a:bodyPr wrap="square">
            <a:noAutofit/>
          </a:bodyPr>
          <a:lstStyle/>
          <a:p>
            <a:pPr>
              <a:defRPr sz="1350" b="1">
                <a:solidFill>
                  <a:srgbClr val="123F67"/>
                </a:solidFill>
                <a:latin typeface="Arial"/>
                <a:ea typeface="Arial"/>
                <a:cs typeface="Arial"/>
              </a:defRPr>
            </a:pPr>
            <a:r>
              <a:rPr lang="it-IT" sz="1350" b="1">
                <a:solidFill>
                  <a:srgbClr val="123F67"/>
                </a:solidFill>
                <a:latin typeface="Arial"/>
                <a:ea typeface="Arial"/>
                <a:cs typeface="Arial"/>
              </a:rPr>
              <a:t>63</a:t>
            </a:r>
            <a:endParaRPr sz="1350" b="1">
              <a:solidFill>
                <a:srgbClr val="123F67"/>
              </a:solidFill>
              <a:latin typeface="Arial"/>
              <a:ea typeface="Arial"/>
              <a:cs typeface="Arial"/>
            </a:endParaRPr>
          </a:p>
        </p:txBody>
      </p:sp>
      <p:sp>
        <p:nvSpPr>
          <p:cNvPr id="16" name="TextBox 15"/>
          <p:cNvSpPr txBox="1">
            <a:spLocks/>
          </p:cNvSpPr>
          <p:nvPr/>
        </p:nvSpPr>
        <p:spPr>
          <a:xfrm>
            <a:off x="704088" y="1335024"/>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Analgesici e antipiretici</a:t>
            </a:r>
          </a:p>
        </p:txBody>
      </p:sp>
      <p:sp>
        <p:nvSpPr>
          <p:cNvPr id="17" name="TextBox 16"/>
          <p:cNvSpPr txBox="1"/>
          <p:nvPr/>
        </p:nvSpPr>
        <p:spPr>
          <a:xfrm>
            <a:off x="704088" y="1591056"/>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paracetamolo</a:t>
            </a:r>
          </a:p>
        </p:txBody>
      </p:sp>
      <p:sp>
        <p:nvSpPr>
          <p:cNvPr id="18" name="TextBox 17"/>
          <p:cNvSpPr txBox="1"/>
          <p:nvPr/>
        </p:nvSpPr>
        <p:spPr>
          <a:xfrm>
            <a:off x="704088" y="1801368"/>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Dolore e febbre</a:t>
            </a:r>
          </a:p>
        </p:txBody>
      </p:sp>
      <p:sp>
        <p:nvSpPr>
          <p:cNvPr id="19" name="TextBox 18"/>
          <p:cNvSpPr txBox="1"/>
          <p:nvPr/>
        </p:nvSpPr>
        <p:spPr>
          <a:xfrm>
            <a:off x="704088" y="2194560"/>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Antinfiammatori non steroidei (FANS)</a:t>
            </a:r>
          </a:p>
        </p:txBody>
      </p:sp>
      <p:sp>
        <p:nvSpPr>
          <p:cNvPr id="20" name="TextBox 19"/>
          <p:cNvSpPr txBox="1"/>
          <p:nvPr/>
        </p:nvSpPr>
        <p:spPr>
          <a:xfrm>
            <a:off x="704088" y="2450591"/>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ibuprofene, nimesulide, ASA (acido acetilsalicilico)</a:t>
            </a:r>
          </a:p>
        </p:txBody>
      </p:sp>
      <p:sp>
        <p:nvSpPr>
          <p:cNvPr id="21" name="TextBox 20"/>
          <p:cNvSpPr txBox="1">
            <a:spLocks/>
          </p:cNvSpPr>
          <p:nvPr/>
        </p:nvSpPr>
        <p:spPr>
          <a:xfrm>
            <a:off x="704088" y="2660904"/>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Dolore e infiammazione</a:t>
            </a:r>
          </a:p>
        </p:txBody>
      </p:sp>
      <p:sp>
        <p:nvSpPr>
          <p:cNvPr id="22" name="TextBox 21"/>
          <p:cNvSpPr txBox="1"/>
          <p:nvPr/>
        </p:nvSpPr>
        <p:spPr>
          <a:xfrm>
            <a:off x="704088" y="3054096"/>
            <a:ext cx="5193792" cy="256032"/>
          </a:xfrm>
          <a:prstGeom prst="rect">
            <a:avLst/>
          </a:prstGeom>
          <a:noFill/>
        </p:spPr>
        <p:txBody>
          <a:bodyPr wrap="square" lIns="0" tIns="0" rIns="0" bIns="0">
            <a:spAutoFit/>
          </a:bodyPr>
          <a:lstStyle/>
          <a:p>
            <a:pPr>
              <a:lnSpc>
                <a:spcPts val="1950"/>
              </a:lnSpc>
              <a:spcAft>
                <a:spcPts val="0"/>
              </a:spcAft>
            </a:pPr>
            <a:r>
              <a:rPr sz="1750" b="1">
                <a:solidFill>
                  <a:srgbClr val="087E8B"/>
                </a:solidFill>
                <a:latin typeface="Arial"/>
              </a:rPr>
              <a:t>Oppioidi</a:t>
            </a:r>
          </a:p>
        </p:txBody>
      </p:sp>
      <p:sp>
        <p:nvSpPr>
          <p:cNvPr id="23" name="TextBox 22"/>
          <p:cNvSpPr txBox="1"/>
          <p:nvPr/>
        </p:nvSpPr>
        <p:spPr>
          <a:xfrm>
            <a:off x="704088" y="3310128"/>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morfina, tramadolo, codeina, ossicodone</a:t>
            </a:r>
          </a:p>
        </p:txBody>
      </p:sp>
      <p:sp>
        <p:nvSpPr>
          <p:cNvPr id="24" name="TextBox 23"/>
          <p:cNvSpPr txBox="1"/>
          <p:nvPr/>
        </p:nvSpPr>
        <p:spPr>
          <a:xfrm>
            <a:off x="704088" y="3520439"/>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Dolore intenso</a:t>
            </a:r>
          </a:p>
        </p:txBody>
      </p:sp>
      <p:sp>
        <p:nvSpPr>
          <p:cNvPr id="25" name="TextBox 24"/>
          <p:cNvSpPr txBox="1"/>
          <p:nvPr/>
        </p:nvSpPr>
        <p:spPr>
          <a:xfrm>
            <a:off x="704088" y="3913631"/>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Anti-aritmici</a:t>
            </a:r>
          </a:p>
        </p:txBody>
      </p:sp>
      <p:sp>
        <p:nvSpPr>
          <p:cNvPr id="26" name="TextBox 25"/>
          <p:cNvSpPr txBox="1">
            <a:spLocks/>
          </p:cNvSpPr>
          <p:nvPr/>
        </p:nvSpPr>
        <p:spPr>
          <a:xfrm>
            <a:off x="704088" y="4169663"/>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amiodarone, metoprololo, bisoprololo</a:t>
            </a:r>
          </a:p>
        </p:txBody>
      </p:sp>
      <p:sp>
        <p:nvSpPr>
          <p:cNvPr id="27" name="TextBox 26"/>
          <p:cNvSpPr txBox="1"/>
          <p:nvPr/>
        </p:nvSpPr>
        <p:spPr>
          <a:xfrm>
            <a:off x="704088" y="4379975"/>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Aritmie cardiache</a:t>
            </a:r>
          </a:p>
        </p:txBody>
      </p:sp>
      <p:sp>
        <p:nvSpPr>
          <p:cNvPr id="28" name="TextBox 27"/>
          <p:cNvSpPr txBox="1"/>
          <p:nvPr/>
        </p:nvSpPr>
        <p:spPr>
          <a:xfrm>
            <a:off x="704088" y="4773168"/>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Antidiabetici</a:t>
            </a:r>
          </a:p>
        </p:txBody>
      </p:sp>
      <p:sp>
        <p:nvSpPr>
          <p:cNvPr id="29" name="TextBox 28"/>
          <p:cNvSpPr txBox="1"/>
          <p:nvPr/>
        </p:nvSpPr>
        <p:spPr>
          <a:xfrm>
            <a:off x="704088" y="5029200"/>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insulina e metformina</a:t>
            </a:r>
          </a:p>
        </p:txBody>
      </p:sp>
      <p:sp>
        <p:nvSpPr>
          <p:cNvPr id="30" name="TextBox 29"/>
          <p:cNvSpPr txBox="1"/>
          <p:nvPr/>
        </p:nvSpPr>
        <p:spPr>
          <a:xfrm>
            <a:off x="704088" y="5239512"/>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Controllo della glicemia, secondo il tipo di diabete</a:t>
            </a:r>
          </a:p>
        </p:txBody>
      </p:sp>
      <p:sp>
        <p:nvSpPr>
          <p:cNvPr id="31" name="TextBox 30"/>
          <p:cNvSpPr txBox="1">
            <a:spLocks/>
          </p:cNvSpPr>
          <p:nvPr/>
        </p:nvSpPr>
        <p:spPr>
          <a:xfrm>
            <a:off x="704088" y="5632703"/>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Diuretici</a:t>
            </a:r>
          </a:p>
        </p:txBody>
      </p:sp>
      <p:sp>
        <p:nvSpPr>
          <p:cNvPr id="32" name="TextBox 31"/>
          <p:cNvSpPr txBox="1"/>
          <p:nvPr/>
        </p:nvSpPr>
        <p:spPr>
          <a:xfrm>
            <a:off x="704088" y="5888736"/>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furosemide, spironolattone</a:t>
            </a:r>
          </a:p>
        </p:txBody>
      </p:sp>
      <p:sp>
        <p:nvSpPr>
          <p:cNvPr id="33" name="TextBox 32"/>
          <p:cNvSpPr txBox="1"/>
          <p:nvPr/>
        </p:nvSpPr>
        <p:spPr>
          <a:xfrm>
            <a:off x="704088" y="6099047"/>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Edemi (ritenzione di liquidi)</a:t>
            </a:r>
          </a:p>
        </p:txBody>
      </p:sp>
      <p:sp>
        <p:nvSpPr>
          <p:cNvPr id="34" name="TextBox 33"/>
          <p:cNvSpPr txBox="1"/>
          <p:nvPr/>
        </p:nvSpPr>
        <p:spPr>
          <a:xfrm>
            <a:off x="6364224" y="1335024"/>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Antibiotici</a:t>
            </a:r>
          </a:p>
        </p:txBody>
      </p:sp>
      <p:sp>
        <p:nvSpPr>
          <p:cNvPr id="35" name="TextBox 34"/>
          <p:cNvSpPr txBox="1"/>
          <p:nvPr/>
        </p:nvSpPr>
        <p:spPr>
          <a:xfrm>
            <a:off x="6364224" y="1591056"/>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amoxicillina, azitromicina</a:t>
            </a:r>
          </a:p>
        </p:txBody>
      </p:sp>
      <p:sp>
        <p:nvSpPr>
          <p:cNvPr id="36" name="TextBox 35"/>
          <p:cNvSpPr txBox="1"/>
          <p:nvPr/>
        </p:nvSpPr>
        <p:spPr>
          <a:xfrm>
            <a:off x="6364224" y="1801368"/>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Infezioni batteriche</a:t>
            </a:r>
          </a:p>
        </p:txBody>
      </p:sp>
      <p:sp>
        <p:nvSpPr>
          <p:cNvPr id="37" name="TextBox 36"/>
          <p:cNvSpPr txBox="1"/>
          <p:nvPr/>
        </p:nvSpPr>
        <p:spPr>
          <a:xfrm>
            <a:off x="6364224" y="2194560"/>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Cortisonici </a:t>
            </a:r>
            <a:r>
              <a:rPr sz="1750" b="1">
                <a:solidFill>
                  <a:srgbClr val="087E8B"/>
                </a:solidFill>
                <a:latin typeface="Arial"/>
              </a:rPr>
              <a:t>(</a:t>
            </a:r>
            <a:r>
              <a:rPr lang="it-IT" sz="1750" b="1">
                <a:solidFill>
                  <a:srgbClr val="087E8B"/>
                </a:solidFill>
                <a:latin typeface="Arial"/>
              </a:rPr>
              <a:t>antinfiammatori steroidei</a:t>
            </a:r>
            <a:r>
              <a:rPr sz="1750" b="1">
                <a:solidFill>
                  <a:srgbClr val="087E8B"/>
                </a:solidFill>
                <a:latin typeface="Arial"/>
              </a:rPr>
              <a:t>)</a:t>
            </a:r>
          </a:p>
        </p:txBody>
      </p:sp>
      <p:sp>
        <p:nvSpPr>
          <p:cNvPr id="38" name="TextBox 37"/>
          <p:cNvSpPr txBox="1"/>
          <p:nvPr/>
        </p:nvSpPr>
        <p:spPr>
          <a:xfrm>
            <a:off x="6364224" y="2450591"/>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prednisone, betametasone</a:t>
            </a:r>
          </a:p>
        </p:txBody>
      </p:sp>
      <p:sp>
        <p:nvSpPr>
          <p:cNvPr id="39" name="TextBox 38"/>
          <p:cNvSpPr txBox="1"/>
          <p:nvPr/>
        </p:nvSpPr>
        <p:spPr>
          <a:xfrm>
            <a:off x="6364224" y="2660904"/>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Controllo dell’infiammazione</a:t>
            </a:r>
          </a:p>
        </p:txBody>
      </p:sp>
      <p:sp>
        <p:nvSpPr>
          <p:cNvPr id="40" name="TextBox 39"/>
          <p:cNvSpPr txBox="1"/>
          <p:nvPr/>
        </p:nvSpPr>
        <p:spPr>
          <a:xfrm>
            <a:off x="6364224" y="3054096"/>
            <a:ext cx="5193792" cy="256032"/>
          </a:xfrm>
          <a:prstGeom prst="rect">
            <a:avLst/>
          </a:prstGeom>
          <a:noFill/>
        </p:spPr>
        <p:txBody>
          <a:bodyPr wrap="square" lIns="0" tIns="0" rIns="0" bIns="0">
            <a:spAutoFit/>
          </a:bodyPr>
          <a:lstStyle/>
          <a:p>
            <a:pPr>
              <a:lnSpc>
                <a:spcPts val="1950"/>
              </a:lnSpc>
              <a:spcAft>
                <a:spcPts val="0"/>
              </a:spcAft>
            </a:pPr>
            <a:r>
              <a:rPr sz="1750" b="1">
                <a:solidFill>
                  <a:srgbClr val="087E8B"/>
                </a:solidFill>
                <a:latin typeface="Arial"/>
              </a:rPr>
              <a:t>Antistaminici</a:t>
            </a:r>
          </a:p>
        </p:txBody>
      </p:sp>
      <p:sp>
        <p:nvSpPr>
          <p:cNvPr id="41" name="TextBox 40"/>
          <p:cNvSpPr txBox="1"/>
          <p:nvPr/>
        </p:nvSpPr>
        <p:spPr>
          <a:xfrm>
            <a:off x="6364224" y="3310128"/>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loratadina, cetirizina</a:t>
            </a:r>
          </a:p>
        </p:txBody>
      </p:sp>
      <p:sp>
        <p:nvSpPr>
          <p:cNvPr id="42" name="TextBox 41"/>
          <p:cNvSpPr txBox="1"/>
          <p:nvPr/>
        </p:nvSpPr>
        <p:spPr>
          <a:xfrm>
            <a:off x="6364224" y="3520439"/>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Sintomi allergici</a:t>
            </a:r>
          </a:p>
        </p:txBody>
      </p:sp>
      <p:sp>
        <p:nvSpPr>
          <p:cNvPr id="43" name="TextBox 42"/>
          <p:cNvSpPr txBox="1"/>
          <p:nvPr/>
        </p:nvSpPr>
        <p:spPr>
          <a:xfrm>
            <a:off x="6364224" y="3913631"/>
            <a:ext cx="5193792" cy="256032"/>
          </a:xfrm>
          <a:prstGeom prst="rect">
            <a:avLst/>
          </a:prstGeom>
          <a:noFill/>
        </p:spPr>
        <p:txBody>
          <a:bodyPr wrap="square" lIns="0" tIns="0" rIns="0" bIns="0">
            <a:spAutoFit/>
          </a:bodyPr>
          <a:lstStyle/>
          <a:p>
            <a:pPr>
              <a:lnSpc>
                <a:spcPts val="1950"/>
              </a:lnSpc>
              <a:spcAft>
                <a:spcPts val="0"/>
              </a:spcAft>
            </a:pPr>
            <a:r>
              <a:rPr sz="1750" b="1">
                <a:solidFill>
                  <a:srgbClr val="087E8B"/>
                </a:solidFill>
                <a:latin typeface="Arial"/>
              </a:rPr>
              <a:t>Anti-emetici</a:t>
            </a:r>
          </a:p>
        </p:txBody>
      </p:sp>
      <p:sp>
        <p:nvSpPr>
          <p:cNvPr id="44" name="TextBox 43"/>
          <p:cNvSpPr txBox="1"/>
          <p:nvPr/>
        </p:nvSpPr>
        <p:spPr>
          <a:xfrm>
            <a:off x="6364224" y="4169663"/>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metoclopramide </a:t>
            </a:r>
          </a:p>
        </p:txBody>
      </p:sp>
      <p:sp>
        <p:nvSpPr>
          <p:cNvPr id="45" name="TextBox 44"/>
          <p:cNvSpPr txBox="1"/>
          <p:nvPr/>
        </p:nvSpPr>
        <p:spPr>
          <a:xfrm>
            <a:off x="6364224" y="4379975"/>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Nausea e vomito</a:t>
            </a:r>
          </a:p>
        </p:txBody>
      </p:sp>
      <p:sp>
        <p:nvSpPr>
          <p:cNvPr id="46" name="TextBox 45"/>
          <p:cNvSpPr txBox="1">
            <a:spLocks/>
          </p:cNvSpPr>
          <p:nvPr/>
        </p:nvSpPr>
        <p:spPr>
          <a:xfrm>
            <a:off x="6364224" y="4773168"/>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Anti-ipertensivi</a:t>
            </a:r>
          </a:p>
        </p:txBody>
      </p:sp>
      <p:sp>
        <p:nvSpPr>
          <p:cNvPr id="47" name="TextBox 46"/>
          <p:cNvSpPr txBox="1"/>
          <p:nvPr/>
        </p:nvSpPr>
        <p:spPr>
          <a:xfrm>
            <a:off x="6364224" y="5029200"/>
            <a:ext cx="5193792" cy="230832"/>
          </a:xfrm>
          <a:prstGeom prst="rect">
            <a:avLst/>
          </a:prstGeom>
          <a:noFill/>
        </p:spPr>
        <p:txBody>
          <a:bodyPr wrap="square" lIns="0" tIns="0" rIns="0" bIns="0">
            <a:spAutoFit/>
          </a:bodyPr>
          <a:lstStyle/>
          <a:p>
            <a:pPr>
              <a:lnSpc>
                <a:spcPts val="1750"/>
              </a:lnSpc>
              <a:spcAft>
                <a:spcPts val="0"/>
              </a:spcAft>
            </a:pPr>
            <a:r>
              <a:rPr lang="nn-NO" sz="1550" b="1" i="0">
                <a:solidFill>
                  <a:srgbClr val="193248"/>
                </a:solidFill>
                <a:latin typeface="Arial"/>
              </a:rPr>
              <a:t>enalapril, losartan, valsartan, irbesartan, olmesartan</a:t>
            </a:r>
          </a:p>
        </p:txBody>
      </p:sp>
      <p:sp>
        <p:nvSpPr>
          <p:cNvPr id="48" name="TextBox 47"/>
          <p:cNvSpPr txBox="1"/>
          <p:nvPr/>
        </p:nvSpPr>
        <p:spPr>
          <a:xfrm>
            <a:off x="6364224" y="5239512"/>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Pressione arteriosa elevata</a:t>
            </a:r>
          </a:p>
        </p:txBody>
      </p:sp>
      <p:sp>
        <p:nvSpPr>
          <p:cNvPr id="49" name="TextBox 48"/>
          <p:cNvSpPr txBox="1"/>
          <p:nvPr/>
        </p:nvSpPr>
        <p:spPr>
          <a:xfrm>
            <a:off x="6364224" y="5632703"/>
            <a:ext cx="5193792" cy="256032"/>
          </a:xfrm>
          <a:prstGeom prst="rect">
            <a:avLst/>
          </a:prstGeom>
          <a:noFill/>
        </p:spPr>
        <p:txBody>
          <a:bodyPr wrap="square" lIns="0" tIns="0" rIns="0" bIns="0">
            <a:spAutoFit/>
          </a:bodyPr>
          <a:lstStyle/>
          <a:p>
            <a:pPr>
              <a:lnSpc>
                <a:spcPts val="1950"/>
              </a:lnSpc>
              <a:spcAft>
                <a:spcPts val="0"/>
              </a:spcAft>
            </a:pPr>
            <a:r>
              <a:rPr lang="it-IT" sz="1750" b="1">
                <a:solidFill>
                  <a:srgbClr val="087E8B"/>
                </a:solidFill>
                <a:latin typeface="Arial"/>
              </a:rPr>
              <a:t>Anti-emorragici</a:t>
            </a:r>
          </a:p>
        </p:txBody>
      </p:sp>
      <p:sp>
        <p:nvSpPr>
          <p:cNvPr id="50" name="TextBox 49"/>
          <p:cNvSpPr txBox="1"/>
          <p:nvPr/>
        </p:nvSpPr>
        <p:spPr>
          <a:xfrm>
            <a:off x="6364224" y="5888736"/>
            <a:ext cx="5193792" cy="228600"/>
          </a:xfrm>
          <a:prstGeom prst="rect">
            <a:avLst/>
          </a:prstGeom>
          <a:noFill/>
        </p:spPr>
        <p:txBody>
          <a:bodyPr wrap="square" lIns="0" tIns="0" rIns="0" bIns="0">
            <a:spAutoFit/>
          </a:bodyPr>
          <a:lstStyle/>
          <a:p>
            <a:pPr>
              <a:lnSpc>
                <a:spcPts val="1750"/>
              </a:lnSpc>
              <a:spcAft>
                <a:spcPts val="0"/>
              </a:spcAft>
            </a:pPr>
            <a:r>
              <a:rPr lang="it-IT" sz="1550" b="1" i="0">
                <a:solidFill>
                  <a:srgbClr val="193248"/>
                </a:solidFill>
                <a:latin typeface="Arial"/>
              </a:rPr>
              <a:t>acido tranexamico</a:t>
            </a:r>
          </a:p>
        </p:txBody>
      </p:sp>
      <p:sp>
        <p:nvSpPr>
          <p:cNvPr id="51" name="TextBox 50"/>
          <p:cNvSpPr txBox="1">
            <a:spLocks/>
          </p:cNvSpPr>
          <p:nvPr/>
        </p:nvSpPr>
        <p:spPr>
          <a:xfrm>
            <a:off x="6364224" y="6099047"/>
            <a:ext cx="5193792" cy="230832"/>
          </a:xfrm>
          <a:prstGeom prst="rect">
            <a:avLst/>
          </a:prstGeom>
          <a:noFill/>
        </p:spPr>
        <p:txBody>
          <a:bodyPr wrap="square" lIns="0" tIns="0" rIns="0" bIns="0">
            <a:spAutoFit/>
          </a:bodyPr>
          <a:lstStyle/>
          <a:p>
            <a:pPr>
              <a:lnSpc>
                <a:spcPts val="1750"/>
              </a:lnSpc>
              <a:spcAft>
                <a:spcPts val="0"/>
              </a:spcAft>
            </a:pPr>
            <a:r>
              <a:rPr lang="it-IT" sz="1550" b="0" i="1">
                <a:solidFill>
                  <a:srgbClr val="567082"/>
                </a:solidFill>
                <a:latin typeface="Arial"/>
              </a:rPr>
              <a:t>Controllo di specifiche emorragie, su indicazione medica</a:t>
            </a:r>
          </a:p>
        </p:txBody>
      </p:sp>
      <p:cxnSp>
        <p:nvCxnSpPr>
          <p:cNvPr id="52" name="Connector 51"/>
          <p:cNvCxnSpPr/>
          <p:nvPr/>
        </p:nvCxnSpPr>
        <p:spPr>
          <a:xfrm>
            <a:off x="704088" y="2112264"/>
            <a:ext cx="5193791"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04088" y="2971800"/>
            <a:ext cx="5193791"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04088" y="3831335"/>
            <a:ext cx="5193791"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04088" y="4690871"/>
            <a:ext cx="5193791"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4088" y="5550407"/>
            <a:ext cx="5193791"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364224" y="2112264"/>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364224" y="2971800"/>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364224" y="3831335"/>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364224" y="4690871"/>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364224" y="5550407"/>
            <a:ext cx="5193792" cy="0"/>
          </a:xfrm>
          <a:prstGeom prst="line">
            <a:avLst/>
          </a:prstGeom>
          <a:ln w="8255">
            <a:solidFill>
              <a:srgbClr val="D3E2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2017</TotalTime>
  <Words>21329</Words>
  <Application>Microsoft Office PowerPoint</Application>
  <PresentationFormat>Widescreen</PresentationFormat>
  <Paragraphs>1904</Paragraphs>
  <Slides>63</Slides>
  <Notes>63</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63</vt:i4>
      </vt:variant>
    </vt:vector>
  </HeadingPairs>
  <TitlesOfParts>
    <vt:vector size="67" baseType="lpstr">
      <vt:lpstr>Aptos</vt:lpstr>
      <vt:lpstr>Arial</vt:lpstr>
      <vt:lpstr>Calibri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Carlino Carla Serena</dc:creator>
  <cp:lastModifiedBy>Bracelli Arianna - ASUFC</cp:lastModifiedBy>
  <cp:revision>2</cp:revision>
  <cp:lastPrinted>2026-10-13T06:10:15Z</cp:lastPrinted>
  <dcterms:created xsi:type="dcterms:W3CDTF">2026-10-08T14:25:10Z</dcterms:created>
  <dcterms:modified xsi:type="dcterms:W3CDTF">2026-10-13T06:10:39Z</dcterms:modified>
</cp:coreProperties>
</file>